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-2"/>
            <a:ext cx="9144000" cy="731524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365759" y="164592"/>
            <a:ext cx="841248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E8DFC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ORFEU CAFÉS ESPECIAIS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365759" y="841248"/>
            <a:ext cx="8412482" cy="542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3400">
                <a:solidFill>
                  <a:srgbClr val="1A3A2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Soluções B2B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365759" y="1353312"/>
            <a:ext cx="8412482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>
                <a:solidFill>
                  <a:srgbClr val="7A3B1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&amp; Hotéis  |  Office &amp; Empresas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365759" y="1783079"/>
            <a:ext cx="841248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Proposta estratégica — Personas · Jornada de Compra · Necessidades por Porte · Soluções · Benefícios · Referências</a:t>
            </a:r>
          </a:p>
        </p:txBody>
      </p:sp>
      <p:sp>
        <p:nvSpPr>
          <p:cNvPr id="99" name="Rectangle 6"/>
          <p:cNvSpPr/>
          <p:nvPr/>
        </p:nvSpPr>
        <p:spPr>
          <a:xfrm>
            <a:off x="320040" y="2240278"/>
            <a:ext cx="8503920" cy="16461"/>
          </a:xfrm>
          <a:prstGeom prst="rect">
            <a:avLst/>
          </a:prstGeom>
          <a:solidFill>
            <a:srgbClr val="E8DF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0" name="Rectangle 7"/>
          <p:cNvSpPr/>
          <p:nvPr/>
        </p:nvSpPr>
        <p:spPr>
          <a:xfrm>
            <a:off x="320038" y="2423160"/>
            <a:ext cx="4160523" cy="2011680"/>
          </a:xfrm>
          <a:prstGeom prst="rect">
            <a:avLst/>
          </a:prstGeom>
          <a:solidFill>
            <a:srgbClr val="F8F3E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1" name="TextBox 8"/>
          <p:cNvSpPr txBox="1"/>
          <p:nvPr/>
        </p:nvSpPr>
        <p:spPr>
          <a:xfrm>
            <a:off x="548638" y="2587751"/>
            <a:ext cx="37033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1300">
                <a:solidFill>
                  <a:srgbClr val="8B5E3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&amp; HOTÉIS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548638" y="2971801"/>
            <a:ext cx="3703322" cy="965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Hotéis boutique · Pousadas premium · Hotéis fazenda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Redes hoteleiras · Resorts · Centros de eventos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Café como detalhe de hospitalidade — "o café que você serve é como você recebe"</a:t>
            </a:r>
          </a:p>
        </p:txBody>
      </p:sp>
      <p:sp>
        <p:nvSpPr>
          <p:cNvPr id="103" name="Rectangle 10"/>
          <p:cNvSpPr/>
          <p:nvPr/>
        </p:nvSpPr>
        <p:spPr>
          <a:xfrm>
            <a:off x="4663440" y="2423160"/>
            <a:ext cx="4160521" cy="2011680"/>
          </a:xfrm>
          <a:prstGeom prst="rect">
            <a:avLst/>
          </a:prstGeom>
          <a:solidFill>
            <a:srgbClr val="ECF0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4" name="TextBox 11"/>
          <p:cNvSpPr txBox="1"/>
          <p:nvPr/>
        </p:nvSpPr>
        <p:spPr>
          <a:xfrm>
            <a:off x="4892040" y="2587751"/>
            <a:ext cx="3703321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1300">
                <a:solidFill>
                  <a:srgbClr val="2A406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OFFICE &amp; EMPRESAS</a:t>
            </a:r>
          </a:p>
        </p:txBody>
      </p:sp>
      <p:sp>
        <p:nvSpPr>
          <p:cNvPr id="105" name="TextBox 12"/>
          <p:cNvSpPr txBox="1"/>
          <p:nvPr/>
        </p:nvSpPr>
        <p:spPr>
          <a:xfrm>
            <a:off x="4892040" y="2971801"/>
            <a:ext cx="3703321" cy="965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PMEs 30-150 pessoas · Startups · Escritórios premium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Grandes corporações · Bancos · Empresas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Café como benefício de cultura — "employer branding que começa na xícara"</a:t>
            </a:r>
          </a:p>
        </p:txBody>
      </p:sp>
      <p:sp>
        <p:nvSpPr>
          <p:cNvPr id="106" name="TextBox 13"/>
          <p:cNvSpPr txBox="1"/>
          <p:nvPr/>
        </p:nvSpPr>
        <p:spPr>
          <a:xfrm>
            <a:off x="365759" y="4823460"/>
            <a:ext cx="8412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800">
                <a:solidFill>
                  <a:srgbClr val="99999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Documento Interno  ·  Orfeu Cafés Especiais  ·  Julho 2026  ·  Confidencial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CONTEXTO</a:t>
            </a:r>
          </a:p>
        </p:txBody>
      </p:sp>
      <p:sp>
        <p:nvSpPr>
          <p:cNvPr id="109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7A3B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0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CONTEXTO</a:t>
            </a:r>
          </a:p>
        </p:txBody>
      </p:sp>
      <p:sp>
        <p:nvSpPr>
          <p:cNvPr id="111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1A3A2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Por Que Turismo e Office?</a:t>
            </a:r>
          </a:p>
        </p:txBody>
      </p:sp>
      <p:sp>
        <p:nvSpPr>
          <p:cNvPr id="112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Dois canais com alta recorrência, predisposição para qualidade e sub coordenados pelo mercado de café specialty</a:t>
            </a:r>
          </a:p>
        </p:txBody>
      </p:sp>
      <p:grpSp>
        <p:nvGrpSpPr>
          <p:cNvPr id="115" name="Rectangle 6"/>
          <p:cNvGrpSpPr/>
          <p:nvPr/>
        </p:nvGrpSpPr>
        <p:grpSpPr>
          <a:xfrm>
            <a:off x="320040" y="960118"/>
            <a:ext cx="2743201" cy="3474725"/>
            <a:chOff x="0" y="0"/>
            <a:chExt cx="2743200" cy="3474723"/>
          </a:xfrm>
        </p:grpSpPr>
        <p:sp>
          <p:nvSpPr>
            <p:cNvPr id="113" name="Rectangle"/>
            <p:cNvSpPr/>
            <p:nvPr/>
          </p:nvSpPr>
          <p:spPr>
            <a:xfrm>
              <a:off x="0" y="-1"/>
              <a:ext cx="2743201" cy="3474725"/>
            </a:xfrm>
            <a:prstGeom prst="rect">
              <a:avLst/>
            </a:prstGeom>
            <a:solidFill>
              <a:srgbClr val="FBF8F3"/>
            </a:solidFill>
            <a:ln w="12700" cap="flat">
              <a:solidFill>
                <a:srgbClr val="7A3B1E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14" name="Oportunidade de Mercado…"/>
            <p:cNvSpPr txBox="1"/>
            <p:nvPr/>
          </p:nvSpPr>
          <p:spPr>
            <a:xfrm>
              <a:off x="52069" y="402503"/>
              <a:ext cx="2639063" cy="2669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spcBef>
                  <a:spcPts val="600"/>
                </a:spcBef>
                <a:defRPr b="1" sz="1100">
                  <a:solidFill>
                    <a:srgbClr val="7A3B1E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Oportunidade de Mercado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Brasil tem 34.000+ hotéis registrados (ABIH 2024) — apenas ~2.500 servem specialty coffee.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Mercado de Office Coffee cresce 12% a.a. no Brasil (ABIC 2024) — PMEs são 80% do volume não-atendido.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Nespresso Professional atua em 180 países; no Brasil foca redes 5 estrelas e corporativo grande. PME e boutique hotel = território pouco disputado.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Custo de servir café de qualidade: R$0,80–1,50/xícara vs. café convencional R$0,20. Para hotel 5* isso é imperceptível no custo/quarto.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LTV médio de uma conta B2B Orfeu bem atendida: R$12.000–60.000/ano por ponto de consumo.</a:t>
              </a:r>
            </a:p>
          </p:txBody>
        </p:sp>
      </p:grpSp>
      <p:grpSp>
        <p:nvGrpSpPr>
          <p:cNvPr id="118" name="Rectangle 7"/>
          <p:cNvGrpSpPr/>
          <p:nvPr/>
        </p:nvGrpSpPr>
        <p:grpSpPr>
          <a:xfrm>
            <a:off x="3200400" y="960118"/>
            <a:ext cx="2743200" cy="3474725"/>
            <a:chOff x="0" y="0"/>
            <a:chExt cx="2743200" cy="3474723"/>
          </a:xfrm>
        </p:grpSpPr>
        <p:sp>
          <p:nvSpPr>
            <p:cNvPr id="116" name="Rectangle"/>
            <p:cNvSpPr/>
            <p:nvPr/>
          </p:nvSpPr>
          <p:spPr>
            <a:xfrm>
              <a:off x="0" y="-1"/>
              <a:ext cx="2743200" cy="3474725"/>
            </a:xfrm>
            <a:prstGeom prst="rect">
              <a:avLst/>
            </a:prstGeom>
            <a:solidFill>
              <a:srgbClr val="E8F2EA"/>
            </a:solidFill>
            <a:ln w="1270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17" name="Por Que a Orfeu?…"/>
            <p:cNvSpPr txBox="1"/>
            <p:nvPr/>
          </p:nvSpPr>
          <p:spPr>
            <a:xfrm>
              <a:off x="52069" y="332653"/>
              <a:ext cx="2639062" cy="28094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spcBef>
                  <a:spcPts val="600"/>
                </a:spcBef>
                <a:defRPr b="1" sz="11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Por Que a Orfeu?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Specialty coffee com origem rastreável — diferencial de ESG e storytelling autêntico para qualquer conta premium.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Portfólio completo: grão, cápsula, filtrado, cold brew — uma marca, todos os momentos de consumo.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Modelo via parceiro de máquinas: Orfeu não exige CapEx do cliente — fornece o café, o parceiro traz o equipamento.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Ecossistema de suporte: Portal do Parceiro, materiais, treinamento, imersão fazenda — valor além do produto.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Posicionamento premium sem exclusividade de sistema (≠ Nespresso) — cliente não fica preso em cápsula proprietária.</a:t>
              </a:r>
            </a:p>
          </p:txBody>
        </p:sp>
      </p:grpSp>
      <p:grpSp>
        <p:nvGrpSpPr>
          <p:cNvPr id="121" name="Rectangle 8"/>
          <p:cNvGrpSpPr/>
          <p:nvPr/>
        </p:nvGrpSpPr>
        <p:grpSpPr>
          <a:xfrm>
            <a:off x="6080759" y="960118"/>
            <a:ext cx="2743202" cy="3474725"/>
            <a:chOff x="0" y="0"/>
            <a:chExt cx="2743200" cy="3474723"/>
          </a:xfrm>
        </p:grpSpPr>
        <p:sp>
          <p:nvSpPr>
            <p:cNvPr id="119" name="Rectangle"/>
            <p:cNvSpPr/>
            <p:nvPr/>
          </p:nvSpPr>
          <p:spPr>
            <a:xfrm>
              <a:off x="0" y="-1"/>
              <a:ext cx="2743201" cy="3474725"/>
            </a:xfrm>
            <a:prstGeom prst="rect">
              <a:avLst/>
            </a:prstGeom>
            <a:solidFill>
              <a:srgbClr val="ECF0F8"/>
            </a:solidFill>
            <a:ln w="12700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20" name="Prioridade Estratégica…"/>
            <p:cNvSpPr txBox="1"/>
            <p:nvPr/>
          </p:nvSpPr>
          <p:spPr>
            <a:xfrm>
              <a:off x="52069" y="402503"/>
              <a:ext cx="2639063" cy="2669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spcBef>
                  <a:spcPts val="600"/>
                </a:spcBef>
                <a:defRPr b="1" sz="11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Prioridade Estratégica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Meta 2030 Orfeu: R$500M — Hotel &amp; Office podem representar 15–20% da receita B2B se bem executados.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Recorrência: um hotel de 100 quartos = 1.500–3.000 xícaras/dia = 45–90 kg/mês de café.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Um escritório de 100 pessoas = 200–400 xícaras/dia = 6–12 kg/mês, com potencial de crescer via vending e eventos internos.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Pipeline target 2026: XX hotéis boutique + YY escritórios PME como base de aprendizado antes de escalar para redes.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b="1"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Ambos os canais são prioritários para o workshop B2B de julho 2026.</a:t>
              </a:r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256032" y="4604005"/>
            <a:ext cx="86319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i="1" sz="900">
                <a:solidFill>
                  <a:srgbClr val="C8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AÇÃO (Workshop B2B 27/07): destacar segmentação com foco em Escritórios (piloto SP) — sugestão a validar com o novo membro da equipe antes de fechar; deixar como pendência explícita no plano de ação.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5" name="Rectangle 2"/>
          <p:cNvSpPr/>
          <p:nvPr/>
        </p:nvSpPr>
        <p:spPr>
          <a:xfrm>
            <a:off x="0" y="-866"/>
            <a:ext cx="9144000" cy="12703"/>
          </a:xfrm>
          <a:prstGeom prst="rect">
            <a:avLst/>
          </a:prstGeom>
          <a:solidFill>
            <a:srgbClr val="E8DF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6" name="TextBox 3"/>
          <p:cNvSpPr txBox="1"/>
          <p:nvPr/>
        </p:nvSpPr>
        <p:spPr>
          <a:xfrm>
            <a:off x="365759" y="1371601"/>
            <a:ext cx="8412482" cy="280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i="1" sz="1400">
                <a:solidFill>
                  <a:srgbClr val="E8DFC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PARTE 1 DE 2</a:t>
            </a:r>
          </a:p>
        </p:txBody>
      </p:sp>
      <p:sp>
        <p:nvSpPr>
          <p:cNvPr id="127" name="TextBox 4"/>
          <p:cNvSpPr txBox="1"/>
          <p:nvPr/>
        </p:nvSpPr>
        <p:spPr>
          <a:xfrm>
            <a:off x="365759" y="1828800"/>
            <a:ext cx="8412482" cy="653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4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&amp; Hotéis</a:t>
            </a:r>
          </a:p>
        </p:txBody>
      </p:sp>
      <p:sp>
        <p:nvSpPr>
          <p:cNvPr id="128" name="TextBox 5"/>
          <p:cNvSpPr txBox="1"/>
          <p:nvPr/>
        </p:nvSpPr>
        <p:spPr>
          <a:xfrm>
            <a:off x="365759" y="2578607"/>
            <a:ext cx="841248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sz="1200">
                <a:solidFill>
                  <a:srgbClr val="E8DFC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Hotéis boutique · Pousadas premium · Hotel fazenda · Redes hoteleiras · Resorts · Centros de eventos · Hostels premium</a:t>
            </a:r>
          </a:p>
        </p:txBody>
      </p:sp>
      <p:sp>
        <p:nvSpPr>
          <p:cNvPr id="129" name="TextBox 6"/>
          <p:cNvSpPr txBox="1"/>
          <p:nvPr/>
        </p:nvSpPr>
        <p:spPr>
          <a:xfrm>
            <a:off x="365759" y="3200401"/>
            <a:ext cx="8412482" cy="280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i="1" sz="1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"O café que você serve é como você recebe. É o primeiro e o último sabor da hospedagem."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· PERSONAS</a:t>
            </a:r>
          </a:p>
        </p:txBody>
      </p:sp>
      <p:sp>
        <p:nvSpPr>
          <p:cNvPr id="132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3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· PERSONAS</a:t>
            </a:r>
          </a:p>
        </p:txBody>
      </p:sp>
      <p:sp>
        <p:nvSpPr>
          <p:cNvPr id="134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8B5E3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Quem É o Cliente e Quem Decide a Compra</a:t>
            </a:r>
          </a:p>
        </p:txBody>
      </p:sp>
      <p:sp>
        <p:nvSpPr>
          <p:cNvPr id="135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Duas perspectivas: o negócio (cliente) e a pessoa que assina a compra (comprador)</a:t>
            </a:r>
          </a:p>
        </p:txBody>
      </p:sp>
      <p:grpSp>
        <p:nvGrpSpPr>
          <p:cNvPr id="138" name="Rectangle 6"/>
          <p:cNvGrpSpPr/>
          <p:nvPr/>
        </p:nvGrpSpPr>
        <p:grpSpPr>
          <a:xfrm>
            <a:off x="320039" y="960118"/>
            <a:ext cx="4114803" cy="347476"/>
            <a:chOff x="0" y="-1"/>
            <a:chExt cx="4114801" cy="347475"/>
          </a:xfrm>
        </p:grpSpPr>
        <p:sp>
          <p:nvSpPr>
            <p:cNvPr id="136" name="Rectangle"/>
            <p:cNvSpPr/>
            <p:nvPr/>
          </p:nvSpPr>
          <p:spPr>
            <a:xfrm>
              <a:off x="-1" y="-2"/>
              <a:ext cx="4114803" cy="347477"/>
            </a:xfrm>
            <a:prstGeom prst="rect">
              <a:avLst/>
            </a:prstGeom>
            <a:solidFill>
              <a:srgbClr val="8B5E3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37" name="O Negócio (Cliente)"/>
            <p:cNvSpPr txBox="1"/>
            <p:nvPr/>
          </p:nvSpPr>
          <p:spPr>
            <a:xfrm>
              <a:off x="45718" y="59480"/>
              <a:ext cx="4023364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O Negócio (Cliente)</a:t>
              </a:r>
            </a:p>
          </p:txBody>
        </p:sp>
      </p:grpSp>
      <p:grpSp>
        <p:nvGrpSpPr>
          <p:cNvPr id="141" name="Rectangle 7"/>
          <p:cNvGrpSpPr/>
          <p:nvPr/>
        </p:nvGrpSpPr>
        <p:grpSpPr>
          <a:xfrm>
            <a:off x="320039" y="1307589"/>
            <a:ext cx="4114803" cy="1508766"/>
            <a:chOff x="0" y="-1"/>
            <a:chExt cx="4114801" cy="1508764"/>
          </a:xfrm>
        </p:grpSpPr>
        <p:sp>
          <p:nvSpPr>
            <p:cNvPr id="139" name="Rectangle"/>
            <p:cNvSpPr/>
            <p:nvPr/>
          </p:nvSpPr>
          <p:spPr>
            <a:xfrm>
              <a:off x="-1" y="-2"/>
              <a:ext cx="4114803" cy="1508765"/>
            </a:xfrm>
            <a:prstGeom prst="rect">
              <a:avLst/>
            </a:prstGeom>
            <a:solidFill>
              <a:srgbClr val="F8F3EC"/>
            </a:solidFill>
            <a:ln w="9525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40" name="Pequeno — Boutique / Pousada / Hotel Fazenda…"/>
            <p:cNvSpPr txBox="1"/>
            <p:nvPr/>
          </p:nvSpPr>
          <p:spPr>
            <a:xfrm>
              <a:off x="50481" y="67223"/>
              <a:ext cx="4013839" cy="1374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500"/>
                </a:spcBef>
                <a:defRPr b="1" sz="1000">
                  <a:solidFill>
                    <a:srgbClr val="8B5E3C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Pequeno — Boutique / Pousada / Hotel Fazenda</a:t>
              </a:r>
            </a:p>
            <a:p>
              <a:pPr algn="ctr">
                <a:spcBef>
                  <a:spcPts val="5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10–80 quartos · 3–4 estrelas ou charme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Dono-operador ou gerente geral próximo ao dia a dia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Diferenciação como estratégia central — não compete em preço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Café no café da manhã + social areas + frigobar (quarto)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Dor: fornecedor genérico não combina com a proposta premium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Desejo: café que reforce a identidade do lugar</a:t>
              </a:r>
            </a:p>
          </p:txBody>
        </p:sp>
      </p:grpSp>
      <p:grpSp>
        <p:nvGrpSpPr>
          <p:cNvPr id="144" name="Rectangle 8"/>
          <p:cNvGrpSpPr/>
          <p:nvPr/>
        </p:nvGrpSpPr>
        <p:grpSpPr>
          <a:xfrm>
            <a:off x="320039" y="2926077"/>
            <a:ext cx="4114803" cy="1508764"/>
            <a:chOff x="0" y="-1"/>
            <a:chExt cx="4114801" cy="1508763"/>
          </a:xfrm>
        </p:grpSpPr>
        <p:sp>
          <p:nvSpPr>
            <p:cNvPr id="142" name="Rectangle"/>
            <p:cNvSpPr/>
            <p:nvPr/>
          </p:nvSpPr>
          <p:spPr>
            <a:xfrm>
              <a:off x="-1" y="-2"/>
              <a:ext cx="4114803" cy="1508765"/>
            </a:xfrm>
            <a:prstGeom prst="rect">
              <a:avLst/>
            </a:prstGeom>
            <a:solidFill>
              <a:srgbClr val="F8F3EC"/>
            </a:solidFill>
            <a:ln w="9525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43" name="Grande — Rede / Resort / Centro de Eventos…"/>
            <p:cNvSpPr txBox="1"/>
            <p:nvPr/>
          </p:nvSpPr>
          <p:spPr>
            <a:xfrm>
              <a:off x="50481" y="67223"/>
              <a:ext cx="4013839" cy="1374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500"/>
                </a:spcBef>
                <a:defRPr b="1" sz="1000">
                  <a:solidFill>
                    <a:srgbClr val="8B5E3C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Grande — Rede / Resort / Centro de Eventos</a:t>
              </a:r>
            </a:p>
            <a:p>
              <a:pPr algn="ctr">
                <a:spcBef>
                  <a:spcPts val="5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150+ quartos · 4–5 estrelas ou grupos hoteleiros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Múltiplos pontos de café: quartos + lobbies + restaurante + eventos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Volume alto e consistência são imperativos operacionais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Decisão de compra por comitê (F&amp;B + Compras + Gerência)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Dor: padronizar qualidade em todos os pontos de contato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Desejo: parceiro de café com SLA e escala</a:t>
              </a:r>
            </a:p>
          </p:txBody>
        </p:sp>
      </p:grpSp>
      <p:grpSp>
        <p:nvGrpSpPr>
          <p:cNvPr id="147" name="Rectangle 9"/>
          <p:cNvGrpSpPr/>
          <p:nvPr/>
        </p:nvGrpSpPr>
        <p:grpSpPr>
          <a:xfrm>
            <a:off x="4709158" y="960118"/>
            <a:ext cx="4114803" cy="347476"/>
            <a:chOff x="0" y="-1"/>
            <a:chExt cx="4114801" cy="347475"/>
          </a:xfrm>
        </p:grpSpPr>
        <p:sp>
          <p:nvSpPr>
            <p:cNvPr id="145" name="Rectangle"/>
            <p:cNvSpPr/>
            <p:nvPr/>
          </p:nvSpPr>
          <p:spPr>
            <a:xfrm>
              <a:off x="-1" y="-2"/>
              <a:ext cx="4114803" cy="347477"/>
            </a:xfrm>
            <a:prstGeom prst="rect">
              <a:avLst/>
            </a:prstGeom>
            <a:solidFill>
              <a:srgbClr val="8B5E3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46" name="O Comprador (Quem Decide)"/>
            <p:cNvSpPr txBox="1"/>
            <p:nvPr/>
          </p:nvSpPr>
          <p:spPr>
            <a:xfrm>
              <a:off x="45718" y="59480"/>
              <a:ext cx="4023364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O Comprador (Quem Decide)</a:t>
              </a:r>
            </a:p>
          </p:txBody>
        </p:sp>
      </p:grpSp>
      <p:grpSp>
        <p:nvGrpSpPr>
          <p:cNvPr id="150" name="Rectangle 10"/>
          <p:cNvGrpSpPr/>
          <p:nvPr/>
        </p:nvGrpSpPr>
        <p:grpSpPr>
          <a:xfrm>
            <a:off x="4709158" y="1307589"/>
            <a:ext cx="4114803" cy="1508766"/>
            <a:chOff x="0" y="-1"/>
            <a:chExt cx="4114801" cy="1508764"/>
          </a:xfrm>
        </p:grpSpPr>
        <p:sp>
          <p:nvSpPr>
            <p:cNvPr id="148" name="Rectangle"/>
            <p:cNvSpPr/>
            <p:nvPr/>
          </p:nvSpPr>
          <p:spPr>
            <a:xfrm>
              <a:off x="-1" y="-2"/>
              <a:ext cx="4114803" cy="1508765"/>
            </a:xfrm>
            <a:prstGeom prst="rect">
              <a:avLst/>
            </a:prstGeom>
            <a:solidFill>
              <a:srgbClr val="F8F3EC"/>
            </a:solidFill>
            <a:ln w="9525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49" name="Pequeno Hotel — Dono-Operador / Gerente Geral…"/>
            <p:cNvSpPr txBox="1"/>
            <p:nvPr/>
          </p:nvSpPr>
          <p:spPr>
            <a:xfrm>
              <a:off x="50481" y="67223"/>
              <a:ext cx="4013839" cy="1374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500"/>
                </a:spcBef>
                <a:defRPr b="1" sz="1000">
                  <a:solidFill>
                    <a:srgbClr val="8B5E3C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Pequeno Hotel — Dono-Operador / Gerente Geral</a:t>
              </a:r>
            </a:p>
            <a:p>
              <a:pPr algn="ctr">
                <a:spcBef>
                  <a:spcPts val="5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Decide sozinho, processo curto (1–2 reuniões)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Motivado por qualidade e story do produto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Pensa em custo/quarto/dia — R$0,80–1,50 é tolerável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Quer simplicidade: um fornecedor, uma fatura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Gatilho: indicação de outro hoteleiro ou feira do setor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Dor com o atual: genérico, sem suporte, sem identidade</a:t>
              </a:r>
            </a:p>
          </p:txBody>
        </p:sp>
      </p:grpSp>
      <p:grpSp>
        <p:nvGrpSpPr>
          <p:cNvPr id="153" name="Rectangle 11"/>
          <p:cNvGrpSpPr/>
          <p:nvPr/>
        </p:nvGrpSpPr>
        <p:grpSpPr>
          <a:xfrm>
            <a:off x="4709158" y="2926077"/>
            <a:ext cx="4114803" cy="1508764"/>
            <a:chOff x="0" y="-1"/>
            <a:chExt cx="4114801" cy="1508763"/>
          </a:xfrm>
        </p:grpSpPr>
        <p:sp>
          <p:nvSpPr>
            <p:cNvPr id="151" name="Rectangle"/>
            <p:cNvSpPr/>
            <p:nvPr/>
          </p:nvSpPr>
          <p:spPr>
            <a:xfrm>
              <a:off x="-1" y="-2"/>
              <a:ext cx="4114803" cy="1508765"/>
            </a:xfrm>
            <a:prstGeom prst="rect">
              <a:avLst/>
            </a:prstGeom>
            <a:solidFill>
              <a:srgbClr val="F8F3EC"/>
            </a:solidFill>
            <a:ln w="9525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52" name="Grande Hotel — F&amp;B Manager + Compras + GM…"/>
            <p:cNvSpPr txBox="1"/>
            <p:nvPr/>
          </p:nvSpPr>
          <p:spPr>
            <a:xfrm>
              <a:off x="50481" y="67223"/>
              <a:ext cx="4013839" cy="1374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500"/>
                </a:spcBef>
                <a:defRPr b="1" sz="1000">
                  <a:solidFill>
                    <a:srgbClr val="8B5E3C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Grande Hotel — F&amp;B Manager + Compras + GM</a:t>
              </a:r>
            </a:p>
            <a:p>
              <a:pPr algn="ctr">
                <a:spcBef>
                  <a:spcPts val="5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Processo de compra formal: RFP + 3 cotações + aprovação GM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F&amp;B Manager: quer qualidade, treinamento, narrativa de menu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Compras: preço, contrato, SLA de entrega e manutenção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GM/Diretoria: ROI e alinhamento com posicionamento da marca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Ciclo de venda: 3–6 meses (RFP → contrato → implementação)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Gatilho: rebrand, abertura de novo hotel, troca de fornecedor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· JORNADA</a:t>
            </a:r>
          </a:p>
        </p:txBody>
      </p:sp>
      <p:sp>
        <p:nvSpPr>
          <p:cNvPr id="156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7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· JORNADA</a:t>
            </a:r>
          </a:p>
        </p:txBody>
      </p:sp>
      <p:sp>
        <p:nvSpPr>
          <p:cNvPr id="158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8B5E3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Jornada de Compra — Hotel</a:t>
            </a:r>
          </a:p>
        </p:txBody>
      </p:sp>
      <p:sp>
        <p:nvSpPr>
          <p:cNvPr id="159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Como o hoteleiro vai da necessidade ao contrato — e como a Orfeu entra em cada momento</a:t>
            </a:r>
          </a:p>
        </p:txBody>
      </p:sp>
      <p:sp>
        <p:nvSpPr>
          <p:cNvPr id="160" name="Rectangle 6"/>
          <p:cNvSpPr/>
          <p:nvPr/>
        </p:nvSpPr>
        <p:spPr>
          <a:xfrm>
            <a:off x="320039" y="960119"/>
            <a:ext cx="1627634" cy="347474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1" name="TextBox 7"/>
          <p:cNvSpPr txBox="1"/>
          <p:nvPr/>
        </p:nvSpPr>
        <p:spPr>
          <a:xfrm>
            <a:off x="411479" y="987553"/>
            <a:ext cx="144475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1  CONSCIÊNCIA</a:t>
            </a:r>
          </a:p>
        </p:txBody>
      </p:sp>
      <p:grpSp>
        <p:nvGrpSpPr>
          <p:cNvPr id="164" name="Rectangle 8"/>
          <p:cNvGrpSpPr/>
          <p:nvPr/>
        </p:nvGrpSpPr>
        <p:grpSpPr>
          <a:xfrm>
            <a:off x="320038" y="1307590"/>
            <a:ext cx="1627636" cy="3127252"/>
            <a:chOff x="0" y="0"/>
            <a:chExt cx="1627634" cy="3127251"/>
          </a:xfrm>
        </p:grpSpPr>
        <p:sp>
          <p:nvSpPr>
            <p:cNvPr id="162" name="Rectangle"/>
            <p:cNvSpPr/>
            <p:nvPr/>
          </p:nvSpPr>
          <p:spPr>
            <a:xfrm>
              <a:off x="-1" y="-1"/>
              <a:ext cx="1627636" cy="3127252"/>
            </a:xfrm>
            <a:prstGeom prst="rect">
              <a:avLst/>
            </a:prstGeom>
            <a:solidFill>
              <a:srgbClr val="F8F3EC"/>
            </a:solidFill>
            <a:ln w="6350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3" name="O hoteleiro reconhece que o café atual não está à altura do produto.…"/>
            <p:cNvSpPr txBox="1"/>
            <p:nvPr/>
          </p:nvSpPr>
          <p:spPr>
            <a:xfrm>
              <a:off x="48894" y="358731"/>
              <a:ext cx="1529846" cy="24097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 sz="800">
                  <a:solidFill>
                    <a:srgbClr val="8B5E3C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 hoteleiro reconhece que o café atual não está à altura do produto.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Café genérico no buffet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Reclamação de hóspede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Colega de setor comenta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Visita a hotel concorrente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800">
                  <a:solidFill>
                    <a:srgbClr val="8B5E3C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Orfeu aparece: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Indicação de outro parceiro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Presença em feiras (HOTELEX, ABrAHotel)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Conteúdo no Instagram (reels de origem)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Abordagem consultiva de consultor Orfeu</a:t>
              </a:r>
            </a:p>
          </p:txBody>
        </p:sp>
      </p:grpSp>
      <p:sp>
        <p:nvSpPr>
          <p:cNvPr id="165" name="Rectangle 9"/>
          <p:cNvSpPr/>
          <p:nvPr/>
        </p:nvSpPr>
        <p:spPr>
          <a:xfrm>
            <a:off x="2039111" y="960119"/>
            <a:ext cx="1627634" cy="347474"/>
          </a:xfrm>
          <a:prstGeom prst="rect">
            <a:avLst/>
          </a:prstGeom>
          <a:solidFill>
            <a:srgbClr val="7A3B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6" name="TextBox 10"/>
          <p:cNvSpPr txBox="1"/>
          <p:nvPr/>
        </p:nvSpPr>
        <p:spPr>
          <a:xfrm>
            <a:off x="2130551" y="987553"/>
            <a:ext cx="144475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2  PESQUISA</a:t>
            </a:r>
          </a:p>
        </p:txBody>
      </p:sp>
      <p:grpSp>
        <p:nvGrpSpPr>
          <p:cNvPr id="169" name="Rectangle 11"/>
          <p:cNvGrpSpPr/>
          <p:nvPr/>
        </p:nvGrpSpPr>
        <p:grpSpPr>
          <a:xfrm>
            <a:off x="2039109" y="1307590"/>
            <a:ext cx="1627636" cy="3127252"/>
            <a:chOff x="-1" y="0"/>
            <a:chExt cx="1627634" cy="3127251"/>
          </a:xfrm>
        </p:grpSpPr>
        <p:sp>
          <p:nvSpPr>
            <p:cNvPr id="167" name="Rectangle"/>
            <p:cNvSpPr/>
            <p:nvPr/>
          </p:nvSpPr>
          <p:spPr>
            <a:xfrm>
              <a:off x="-2" y="-1"/>
              <a:ext cx="1627636" cy="3127252"/>
            </a:xfrm>
            <a:prstGeom prst="rect">
              <a:avLst/>
            </a:prstGeom>
            <a:solidFill>
              <a:srgbClr val="F4EEE5"/>
            </a:solidFill>
            <a:ln w="6350" cap="flat">
              <a:solidFill>
                <a:srgbClr val="7A3B1E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8" name="Busca por alternativas — compara opções, pede referências.…"/>
            <p:cNvSpPr txBox="1"/>
            <p:nvPr/>
          </p:nvSpPr>
          <p:spPr>
            <a:xfrm>
              <a:off x="48894" y="295231"/>
              <a:ext cx="1529846" cy="25367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 sz="800">
                  <a:solidFill>
                    <a:srgbClr val="7A3B1E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Busca por alternativas — compara opções, pede referências.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Pesquisa online specialty coffee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Pede indicações no grupo de hoteleiros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Solicita 2–3 cotações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Visita stand em feira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800">
                  <a:solidFill>
                    <a:srgbClr val="7A3B1E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Orfeu entrega: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Kit de degustação profissional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Proposta personalizada por canal (quarto / lobby / restaurante)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Story de origem + certificações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Referências de outros hotéis</a:t>
              </a:r>
            </a:p>
          </p:txBody>
        </p:sp>
      </p:grpSp>
      <p:sp>
        <p:nvSpPr>
          <p:cNvPr id="170" name="Rectangle 12"/>
          <p:cNvSpPr/>
          <p:nvPr/>
        </p:nvSpPr>
        <p:spPr>
          <a:xfrm>
            <a:off x="3758184" y="960119"/>
            <a:ext cx="1627634" cy="347474"/>
          </a:xfrm>
          <a:prstGeom prst="rect">
            <a:avLst/>
          </a:prstGeom>
          <a:solidFill>
            <a:srgbClr val="5A3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" name="TextBox 13"/>
          <p:cNvSpPr txBox="1"/>
          <p:nvPr/>
        </p:nvSpPr>
        <p:spPr>
          <a:xfrm>
            <a:off x="3849623" y="987553"/>
            <a:ext cx="144475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3  AVALIAÇÃO</a:t>
            </a:r>
          </a:p>
        </p:txBody>
      </p:sp>
      <p:grpSp>
        <p:nvGrpSpPr>
          <p:cNvPr id="174" name="Rectangle 14"/>
          <p:cNvGrpSpPr/>
          <p:nvPr/>
        </p:nvGrpSpPr>
        <p:grpSpPr>
          <a:xfrm>
            <a:off x="3758183" y="1307590"/>
            <a:ext cx="1627636" cy="3127252"/>
            <a:chOff x="-1" y="0"/>
            <a:chExt cx="1627634" cy="3127251"/>
          </a:xfrm>
        </p:grpSpPr>
        <p:sp>
          <p:nvSpPr>
            <p:cNvPr id="172" name="Rectangle"/>
            <p:cNvSpPr/>
            <p:nvPr/>
          </p:nvSpPr>
          <p:spPr>
            <a:xfrm>
              <a:off x="-2" y="-1"/>
              <a:ext cx="1627636" cy="3127252"/>
            </a:xfrm>
            <a:prstGeom prst="rect">
              <a:avLst/>
            </a:prstGeom>
            <a:solidFill>
              <a:srgbClr val="EFE8DC"/>
            </a:solidFill>
            <a:ln w="6350" cap="flat">
              <a:solidFill>
                <a:srgbClr val="5A3A1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73" name="Decide comparando custo total, qualidade, suporte e adequação à marca.…"/>
            <p:cNvSpPr txBox="1"/>
            <p:nvPr/>
          </p:nvSpPr>
          <p:spPr>
            <a:xfrm>
              <a:off x="48894" y="231731"/>
              <a:ext cx="1529846" cy="26637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 sz="800">
                  <a:solidFill>
                    <a:srgbClr val="5A3A1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Decide comparando custo total, qualidade, suporte e adequação à marca.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Prova degustação com equipe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Avalia custo/quarto/dia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Verifica SLA de entrega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Cheque de treinamento disponível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800">
                  <a:solidFill>
                    <a:srgbClr val="5A3A1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Orfeu diferencia: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Degustação guiada com história do café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Cálculo de custo/xícara/quarto claro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Compromisso de SLA por escrito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Programa de treinamento barista para equipe</a:t>
              </a:r>
            </a:p>
          </p:txBody>
        </p:sp>
      </p:grpSp>
      <p:sp>
        <p:nvSpPr>
          <p:cNvPr id="175" name="Rectangle 15"/>
          <p:cNvSpPr/>
          <p:nvPr/>
        </p:nvSpPr>
        <p:spPr>
          <a:xfrm>
            <a:off x="5477254" y="960119"/>
            <a:ext cx="1627635" cy="347474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6" name="TextBox 16"/>
          <p:cNvSpPr txBox="1"/>
          <p:nvPr/>
        </p:nvSpPr>
        <p:spPr>
          <a:xfrm>
            <a:off x="5568696" y="987553"/>
            <a:ext cx="144475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4  DECISÃO</a:t>
            </a:r>
          </a:p>
        </p:txBody>
      </p:sp>
      <p:grpSp>
        <p:nvGrpSpPr>
          <p:cNvPr id="179" name="Rectangle 17"/>
          <p:cNvGrpSpPr/>
          <p:nvPr/>
        </p:nvGrpSpPr>
        <p:grpSpPr>
          <a:xfrm>
            <a:off x="5477253" y="1307590"/>
            <a:ext cx="1627636" cy="3127252"/>
            <a:chOff x="0" y="0"/>
            <a:chExt cx="1627634" cy="3127251"/>
          </a:xfrm>
        </p:grpSpPr>
        <p:sp>
          <p:nvSpPr>
            <p:cNvPr id="177" name="Rectangle"/>
            <p:cNvSpPr/>
            <p:nvPr/>
          </p:nvSpPr>
          <p:spPr>
            <a:xfrm>
              <a:off x="-1" y="-1"/>
              <a:ext cx="1627636" cy="3127252"/>
            </a:xfrm>
            <a:prstGeom prst="rect">
              <a:avLst/>
            </a:prstGeom>
            <a:solidFill>
              <a:srgbClr val="E8F2EA"/>
            </a:solidFill>
            <a:ln w="635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78" name="Fechamento do contrato — inicia parceria.…"/>
            <p:cNvSpPr txBox="1"/>
            <p:nvPr/>
          </p:nvSpPr>
          <p:spPr>
            <a:xfrm>
              <a:off x="48894" y="358731"/>
              <a:ext cx="1529846" cy="24097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 sz="8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Fechamento do contrato — inicia parceria.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Negociação de volume mínimo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Escolha de equipamento (parceiro máquina)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Definição de SKUs por ponto de uso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Assinatura de contrato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8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Orfeu facilita: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Proposta de máquina via parceiro (sem CapEx do hotel)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Portfólio segmentado por ambiente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Contrato simples, prazo flexível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Data de instalação acordada</a:t>
              </a:r>
            </a:p>
          </p:txBody>
        </p:sp>
      </p:grpSp>
      <p:sp>
        <p:nvSpPr>
          <p:cNvPr id="180" name="Rectangle 18"/>
          <p:cNvSpPr/>
          <p:nvPr/>
        </p:nvSpPr>
        <p:spPr>
          <a:xfrm>
            <a:off x="7196328" y="960119"/>
            <a:ext cx="1627634" cy="347474"/>
          </a:xfrm>
          <a:prstGeom prst="rect">
            <a:avLst/>
          </a:prstGeom>
          <a:solidFill>
            <a:srgbClr val="1A5C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1" name="TextBox 19"/>
          <p:cNvSpPr txBox="1"/>
          <p:nvPr/>
        </p:nvSpPr>
        <p:spPr>
          <a:xfrm>
            <a:off x="7287766" y="987553"/>
            <a:ext cx="144475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5  PÓS-ATIVAÇÃO</a:t>
            </a:r>
          </a:p>
        </p:txBody>
      </p:sp>
      <p:grpSp>
        <p:nvGrpSpPr>
          <p:cNvPr id="184" name="Rectangle 20"/>
          <p:cNvGrpSpPr/>
          <p:nvPr/>
        </p:nvGrpSpPr>
        <p:grpSpPr>
          <a:xfrm>
            <a:off x="7196327" y="1307590"/>
            <a:ext cx="1627636" cy="3127252"/>
            <a:chOff x="-1" y="0"/>
            <a:chExt cx="1627634" cy="3127251"/>
          </a:xfrm>
        </p:grpSpPr>
        <p:sp>
          <p:nvSpPr>
            <p:cNvPr id="182" name="Rectangle"/>
            <p:cNvSpPr/>
            <p:nvPr/>
          </p:nvSpPr>
          <p:spPr>
            <a:xfrm>
              <a:off x="-2" y="-1"/>
              <a:ext cx="1627636" cy="3127252"/>
            </a:xfrm>
            <a:prstGeom prst="rect">
              <a:avLst/>
            </a:prstGeom>
            <a:solidFill>
              <a:srgbClr val="E2F0E4"/>
            </a:solidFill>
            <a:ln w="6350" cap="flat">
              <a:solidFill>
                <a:srgbClr val="1A5C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83" name="Os primeiros 90 dias determinam a retenção.…"/>
            <p:cNvSpPr txBox="1"/>
            <p:nvPr/>
          </p:nvSpPr>
          <p:spPr>
            <a:xfrm>
              <a:off x="48894" y="422231"/>
              <a:ext cx="1529846" cy="22827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 sz="800">
                  <a:solidFill>
                    <a:srgbClr val="1A5C3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Os primeiros 90 dias determinam a retenção.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Instalação e setup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Treinamento da equipe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Primeiro pedido de reposição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 Check-in de satisfação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800">
                  <a:solidFill>
                    <a:srgbClr val="1A5C3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Orfeu retém: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Visita técnica na 1ª semana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Treinamento presencial da equipe de F&amp;B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Kit de materiais (menu, sinalização)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800">
                  <a:solidFill>
                    <a:srgbClr val="555555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NPS 30d + 90d + upgrade tier PRO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· NECESSIDADES</a:t>
            </a:r>
          </a:p>
        </p:txBody>
      </p:sp>
      <p:sp>
        <p:nvSpPr>
          <p:cNvPr id="187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8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· NECESSIDADES</a:t>
            </a:r>
          </a:p>
        </p:txBody>
      </p:sp>
      <p:sp>
        <p:nvSpPr>
          <p:cNvPr id="189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8B5E3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Necessidades por Porte — Hotel</a:t>
            </a:r>
          </a:p>
        </p:txBody>
      </p:sp>
      <p:sp>
        <p:nvSpPr>
          <p:cNvPr id="190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 que cada tipo de hotel precisa, como pensa, e o que a Orfeu deve entregar</a:t>
            </a:r>
          </a:p>
        </p:txBody>
      </p:sp>
      <p:grpSp>
        <p:nvGrpSpPr>
          <p:cNvPr id="193" name="Rectangle 6"/>
          <p:cNvGrpSpPr/>
          <p:nvPr/>
        </p:nvGrpSpPr>
        <p:grpSpPr>
          <a:xfrm>
            <a:off x="320039" y="960118"/>
            <a:ext cx="4114803" cy="347476"/>
            <a:chOff x="0" y="-1"/>
            <a:chExt cx="4114801" cy="347475"/>
          </a:xfrm>
        </p:grpSpPr>
        <p:sp>
          <p:nvSpPr>
            <p:cNvPr id="191" name="Rectangle"/>
            <p:cNvSpPr/>
            <p:nvPr/>
          </p:nvSpPr>
          <p:spPr>
            <a:xfrm>
              <a:off x="-1" y="-2"/>
              <a:ext cx="4114803" cy="347477"/>
            </a:xfrm>
            <a:prstGeom prst="rect">
              <a:avLst/>
            </a:prstGeom>
            <a:solidFill>
              <a:srgbClr val="8B5E3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92" name="Pequeno — Boutique / Pousada / Hotel Fazenda (10–80 qtos)"/>
            <p:cNvSpPr txBox="1"/>
            <p:nvPr/>
          </p:nvSpPr>
          <p:spPr>
            <a:xfrm>
              <a:off x="45718" y="59480"/>
              <a:ext cx="4023364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Pequeno — Boutique / Pousada / Hotel Fazenda (10–80 qtos)</a:t>
              </a:r>
            </a:p>
          </p:txBody>
        </p:sp>
      </p:grpSp>
      <p:grpSp>
        <p:nvGrpSpPr>
          <p:cNvPr id="196" name="Rectangle 7"/>
          <p:cNvGrpSpPr/>
          <p:nvPr/>
        </p:nvGrpSpPr>
        <p:grpSpPr>
          <a:xfrm>
            <a:off x="320039" y="1321619"/>
            <a:ext cx="4114803" cy="3719626"/>
            <a:chOff x="0" y="0"/>
            <a:chExt cx="4114801" cy="3719624"/>
          </a:xfrm>
        </p:grpSpPr>
        <p:sp>
          <p:nvSpPr>
            <p:cNvPr id="194" name="Rectangle"/>
            <p:cNvSpPr/>
            <p:nvPr/>
          </p:nvSpPr>
          <p:spPr>
            <a:xfrm>
              <a:off x="0" y="0"/>
              <a:ext cx="4114802" cy="3719625"/>
            </a:xfrm>
            <a:prstGeom prst="rect">
              <a:avLst/>
            </a:prstGeom>
            <a:solidFill>
              <a:srgbClr val="F8F3EC"/>
            </a:solidFill>
            <a:ln w="9525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95" name="O que pensa…"/>
            <p:cNvSpPr txBox="1"/>
            <p:nvPr/>
          </p:nvSpPr>
          <p:spPr>
            <a:xfrm>
              <a:off x="50481" y="222128"/>
              <a:ext cx="4013839" cy="3275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 sz="1000">
                  <a:solidFill>
                    <a:srgbClr val="8B5E3C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 que pensa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Custo total por quarto por dia (R$0,80–1,50 aceitável)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Simplicidade operacional — não quer gerir fornecedores múltiplos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Identidade: o café precisa combinar com a proposta do lugar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Suporte quando há problema — sem ficar sem café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1000">
                  <a:solidFill>
                    <a:srgbClr val="8B5E3C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Necessidades operacionais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Café da manhã: bean-to-cup ou filtrado automático, fácil de operar sem barista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Quartos: cápsula compacta (Nespresso-compat. ou cápsula Orfeu)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Social area: opção single-serve premium para "boas-vindas"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Quantidade: 1–3 máquinas, 15–50 kg/mês de café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Manutenção: parceiro de máquinas com SLA &lt; 24h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Volume mínimo baixo: começar com 10–15 kg/mês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10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 que a Orfeu entrega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Solução via parceiro de máquinas: máquina + café + suporte = um pacote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Portfólio curado: 2–3 SKUs adaptados ao perfil do hotel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Materiais de comunicação (menu, sinalização, QR code para origem)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Treinamento da equipe para contar a história do café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NPS e check-in bimestral pelo consultor</a:t>
              </a:r>
            </a:p>
          </p:txBody>
        </p:sp>
      </p:grpSp>
      <p:grpSp>
        <p:nvGrpSpPr>
          <p:cNvPr id="199" name="Rectangle 8"/>
          <p:cNvGrpSpPr/>
          <p:nvPr/>
        </p:nvGrpSpPr>
        <p:grpSpPr>
          <a:xfrm>
            <a:off x="4709158" y="960118"/>
            <a:ext cx="4114803" cy="347476"/>
            <a:chOff x="0" y="-1"/>
            <a:chExt cx="4114801" cy="347475"/>
          </a:xfrm>
        </p:grpSpPr>
        <p:sp>
          <p:nvSpPr>
            <p:cNvPr id="197" name="Rectangle"/>
            <p:cNvSpPr/>
            <p:nvPr/>
          </p:nvSpPr>
          <p:spPr>
            <a:xfrm>
              <a:off x="-1" y="-2"/>
              <a:ext cx="4114803" cy="347477"/>
            </a:xfrm>
            <a:prstGeom prst="rect">
              <a:avLst/>
            </a:prstGeom>
            <a:solidFill>
              <a:srgbClr val="8B5E3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98" name="Grande — Rede / Resort / Centro de Eventos (150+ qtos)"/>
            <p:cNvSpPr txBox="1"/>
            <p:nvPr/>
          </p:nvSpPr>
          <p:spPr>
            <a:xfrm>
              <a:off x="45718" y="59480"/>
              <a:ext cx="4023364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Grande — Rede / Resort / Centro de Eventos (150+ qtos)</a:t>
              </a:r>
            </a:p>
          </p:txBody>
        </p:sp>
      </p:grpSp>
      <p:grpSp>
        <p:nvGrpSpPr>
          <p:cNvPr id="202" name="Rectangle 9"/>
          <p:cNvGrpSpPr/>
          <p:nvPr/>
        </p:nvGrpSpPr>
        <p:grpSpPr>
          <a:xfrm>
            <a:off x="4709158" y="1349065"/>
            <a:ext cx="4114803" cy="3664735"/>
            <a:chOff x="0" y="0"/>
            <a:chExt cx="4114801" cy="3664734"/>
          </a:xfrm>
        </p:grpSpPr>
        <p:sp>
          <p:nvSpPr>
            <p:cNvPr id="200" name="Rectangle"/>
            <p:cNvSpPr/>
            <p:nvPr/>
          </p:nvSpPr>
          <p:spPr>
            <a:xfrm>
              <a:off x="0" y="0"/>
              <a:ext cx="4114802" cy="3664735"/>
            </a:xfrm>
            <a:prstGeom prst="rect">
              <a:avLst/>
            </a:prstGeom>
            <a:solidFill>
              <a:srgbClr val="F8F3EC"/>
            </a:solidFill>
            <a:ln w="9525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01" name="O que pensa…"/>
            <p:cNvSpPr txBox="1"/>
            <p:nvPr/>
          </p:nvSpPr>
          <p:spPr>
            <a:xfrm>
              <a:off x="50481" y="27438"/>
              <a:ext cx="4013839" cy="36098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 sz="1000">
                  <a:solidFill>
                    <a:srgbClr val="8B5E3C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 que pensa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Padronização: mesmo café em todos os pontos de uso e propriedades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SLA de entrega e manutenção com penalidade contratual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Relatório de consumo mensal por unidade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Parceria de longo prazo (24–36 meses), não só commodity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Alinhamento com estratégia de marca e ESG do grupo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1000">
                  <a:solidFill>
                    <a:srgbClr val="8B5E3C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Necessidades operacionais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Quartos (in-room): cápsula compacta, limpa, premium — 1 máquina/quarto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Lobby + restaurante: bean-to-cup de alto volume ou barista semi-auto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Eventos / meetingh rooms: bean-to-cup + filtrado + cold brew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Volume: 80–500 kg/mês total por propriedade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Programa de treinamento: 100% da equipe de F&amp;B certificada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ESG: café com certificação socioambiental (SCA, Rainforest)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10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 que a Orfeu entrega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Proposta técnica por ponto de uso: quartos vs. lobby vs. eventos vs. restaurante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Parceiro de máquinas escalável — sem CapEx para a rede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Contrato de volume com desconto progressivo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Relatório de consumo e NPS por propriedade (trimestral)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Treinamento presencial anual + acesso ao Portal do Parceiro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Certificações e relatório de impacto social/ambiental para ESG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· SOLUÇÕES</a:t>
            </a:r>
          </a:p>
        </p:txBody>
      </p:sp>
      <p:sp>
        <p:nvSpPr>
          <p:cNvPr id="205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6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· SOLUÇÕES</a:t>
            </a:r>
          </a:p>
        </p:txBody>
      </p:sp>
      <p:sp>
        <p:nvSpPr>
          <p:cNvPr id="207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8B5E3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Portfólio de Soluções Orfeu para Hotéis</a:t>
            </a:r>
          </a:p>
        </p:txBody>
      </p:sp>
      <p:sp>
        <p:nvSpPr>
          <p:cNvPr id="208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Cada ambiente do hotel tem uma solução específica — uma marca, vários momentos de consumo</a:t>
            </a:r>
          </a:p>
        </p:txBody>
      </p:sp>
      <p:sp>
        <p:nvSpPr>
          <p:cNvPr id="209" name="Rectangle 6"/>
          <p:cNvSpPr/>
          <p:nvPr/>
        </p:nvSpPr>
        <p:spPr>
          <a:xfrm>
            <a:off x="320040" y="914399"/>
            <a:ext cx="2057401" cy="347475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0" name="TextBox 7"/>
          <p:cNvSpPr txBox="1"/>
          <p:nvPr/>
        </p:nvSpPr>
        <p:spPr>
          <a:xfrm>
            <a:off x="411478" y="941833"/>
            <a:ext cx="1874524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Quarto (In-Room)</a:t>
            </a:r>
          </a:p>
        </p:txBody>
      </p:sp>
      <p:grpSp>
        <p:nvGrpSpPr>
          <p:cNvPr id="213" name="Rectangle 8"/>
          <p:cNvGrpSpPr/>
          <p:nvPr/>
        </p:nvGrpSpPr>
        <p:grpSpPr>
          <a:xfrm>
            <a:off x="320040" y="1207173"/>
            <a:ext cx="2057401" cy="1526713"/>
            <a:chOff x="0" y="-1"/>
            <a:chExt cx="2057400" cy="1526711"/>
          </a:xfrm>
        </p:grpSpPr>
        <p:sp>
          <p:nvSpPr>
            <p:cNvPr id="211" name="Rectangle"/>
            <p:cNvSpPr/>
            <p:nvPr/>
          </p:nvSpPr>
          <p:spPr>
            <a:xfrm>
              <a:off x="0" y="54696"/>
              <a:ext cx="2057401" cy="1417322"/>
            </a:xfrm>
            <a:prstGeom prst="rect">
              <a:avLst/>
            </a:prstGeom>
            <a:solidFill>
              <a:srgbClr val="F8F3EC"/>
            </a:solidFill>
            <a:ln w="6350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12" name="Cápsula compacta Orfeu…"/>
            <p:cNvSpPr txBox="1"/>
            <p:nvPr/>
          </p:nvSpPr>
          <p:spPr>
            <a:xfrm>
              <a:off x="48894" y="-2"/>
              <a:ext cx="1959613" cy="1526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Cápsula compacta Orfeu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ou Nespresso-compatível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Máquina via parceiro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(sem CapEx do hotel)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Kit degustação para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hóspede: 4 cápsulas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QR code para história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do café no quarto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Custo: ~R$0,90/xícara</a:t>
              </a:r>
            </a:p>
          </p:txBody>
        </p:sp>
      </p:grpSp>
      <p:sp>
        <p:nvSpPr>
          <p:cNvPr id="214" name="Rectangle 9"/>
          <p:cNvSpPr/>
          <p:nvPr/>
        </p:nvSpPr>
        <p:spPr>
          <a:xfrm>
            <a:off x="2468878" y="914399"/>
            <a:ext cx="2057402" cy="347475"/>
          </a:xfrm>
          <a:prstGeom prst="rect">
            <a:avLst/>
          </a:prstGeom>
          <a:solidFill>
            <a:srgbClr val="7A3B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" name="TextBox 10"/>
          <p:cNvSpPr txBox="1"/>
          <p:nvPr/>
        </p:nvSpPr>
        <p:spPr>
          <a:xfrm>
            <a:off x="2560318" y="941833"/>
            <a:ext cx="187452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Lobby &amp; Café da Manhã</a:t>
            </a:r>
          </a:p>
        </p:txBody>
      </p:sp>
      <p:grpSp>
        <p:nvGrpSpPr>
          <p:cNvPr id="218" name="Rectangle 11"/>
          <p:cNvGrpSpPr/>
          <p:nvPr/>
        </p:nvGrpSpPr>
        <p:grpSpPr>
          <a:xfrm>
            <a:off x="2468878" y="1207173"/>
            <a:ext cx="2057402" cy="1526713"/>
            <a:chOff x="0" y="-1"/>
            <a:chExt cx="2057400" cy="1526711"/>
          </a:xfrm>
        </p:grpSpPr>
        <p:sp>
          <p:nvSpPr>
            <p:cNvPr id="216" name="Rectangle"/>
            <p:cNvSpPr/>
            <p:nvPr/>
          </p:nvSpPr>
          <p:spPr>
            <a:xfrm>
              <a:off x="0" y="54696"/>
              <a:ext cx="2057401" cy="1417322"/>
            </a:xfrm>
            <a:prstGeom prst="rect">
              <a:avLst/>
            </a:prstGeom>
            <a:solidFill>
              <a:srgbClr val="FBF8F3"/>
            </a:solidFill>
            <a:ln w="6350" cap="flat">
              <a:solidFill>
                <a:srgbClr val="7A3B1E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17" name="Bean-to-cup automático…"/>
            <p:cNvSpPr txBox="1"/>
            <p:nvPr/>
          </p:nvSpPr>
          <p:spPr>
            <a:xfrm>
              <a:off x="48894" y="-2"/>
              <a:ext cx="1959613" cy="1526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Bean-to-cup automático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ou semi-automático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Grão Orfeu + moagem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no local (aroma ativo)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Menu de bebidas simples: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esp / cap / lungo / filtrado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Sinalização origin story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na área de breakfast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Custo: ~R$1,20/xícara</a:t>
              </a:r>
            </a:p>
          </p:txBody>
        </p:sp>
      </p:grpSp>
      <p:sp>
        <p:nvSpPr>
          <p:cNvPr id="219" name="Rectangle 12"/>
          <p:cNvSpPr/>
          <p:nvPr/>
        </p:nvSpPr>
        <p:spPr>
          <a:xfrm>
            <a:off x="4617720" y="914399"/>
            <a:ext cx="2057402" cy="347475"/>
          </a:xfrm>
          <a:prstGeom prst="rect">
            <a:avLst/>
          </a:prstGeom>
          <a:solidFill>
            <a:srgbClr val="5A2A1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" name="TextBox 13"/>
          <p:cNvSpPr txBox="1"/>
          <p:nvPr/>
        </p:nvSpPr>
        <p:spPr>
          <a:xfrm>
            <a:off x="4709159" y="941833"/>
            <a:ext cx="187452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Restaurante &amp; Bar</a:t>
            </a:r>
          </a:p>
        </p:txBody>
      </p:sp>
      <p:grpSp>
        <p:nvGrpSpPr>
          <p:cNvPr id="223" name="Rectangle 14"/>
          <p:cNvGrpSpPr/>
          <p:nvPr/>
        </p:nvGrpSpPr>
        <p:grpSpPr>
          <a:xfrm>
            <a:off x="4617720" y="1207173"/>
            <a:ext cx="2057402" cy="1526713"/>
            <a:chOff x="0" y="-1"/>
            <a:chExt cx="2057400" cy="1526711"/>
          </a:xfrm>
        </p:grpSpPr>
        <p:sp>
          <p:nvSpPr>
            <p:cNvPr id="221" name="Rectangle"/>
            <p:cNvSpPr/>
            <p:nvPr/>
          </p:nvSpPr>
          <p:spPr>
            <a:xfrm>
              <a:off x="0" y="54696"/>
              <a:ext cx="2057401" cy="1417322"/>
            </a:xfrm>
            <a:prstGeom prst="rect">
              <a:avLst/>
            </a:prstGeom>
            <a:solidFill>
              <a:srgbClr val="F2EBE3"/>
            </a:solidFill>
            <a:ln w="6350" cap="flat">
              <a:solidFill>
                <a:srgbClr val="5A2A1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22" name="Espresso semi-auto…"/>
            <p:cNvSpPr txBox="1"/>
            <p:nvPr/>
          </p:nvSpPr>
          <p:spPr>
            <a:xfrm>
              <a:off x="48894" y="-2"/>
              <a:ext cx="1959613" cy="1526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Espresso semi-auto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+ moedor profissional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Barista treinado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pela Orfeu (certificado)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Cardápio de café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como item de menu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Cold brew como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cocktail ingredient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Custo: ~R$1,50/xícara</a:t>
              </a:r>
            </a:p>
          </p:txBody>
        </p:sp>
      </p:grpSp>
      <p:sp>
        <p:nvSpPr>
          <p:cNvPr id="224" name="Rectangle 15"/>
          <p:cNvSpPr/>
          <p:nvPr/>
        </p:nvSpPr>
        <p:spPr>
          <a:xfrm>
            <a:off x="6766559" y="914399"/>
            <a:ext cx="2057402" cy="347475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5" name="TextBox 16"/>
          <p:cNvSpPr txBox="1"/>
          <p:nvPr/>
        </p:nvSpPr>
        <p:spPr>
          <a:xfrm>
            <a:off x="6857999" y="941833"/>
            <a:ext cx="1874523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Eventos &amp; Meeting</a:t>
            </a:r>
          </a:p>
        </p:txBody>
      </p:sp>
      <p:grpSp>
        <p:nvGrpSpPr>
          <p:cNvPr id="228" name="Rectangle 17"/>
          <p:cNvGrpSpPr/>
          <p:nvPr/>
        </p:nvGrpSpPr>
        <p:grpSpPr>
          <a:xfrm>
            <a:off x="6766559" y="1124624"/>
            <a:ext cx="2057402" cy="1691813"/>
            <a:chOff x="0" y="0"/>
            <a:chExt cx="2057400" cy="1691811"/>
          </a:xfrm>
        </p:grpSpPr>
        <p:sp>
          <p:nvSpPr>
            <p:cNvPr id="226" name="Rectangle"/>
            <p:cNvSpPr/>
            <p:nvPr/>
          </p:nvSpPr>
          <p:spPr>
            <a:xfrm>
              <a:off x="0" y="137246"/>
              <a:ext cx="2057401" cy="1417322"/>
            </a:xfrm>
            <a:prstGeom prst="rect">
              <a:avLst/>
            </a:prstGeom>
            <a:solidFill>
              <a:srgbClr val="E8F2EA"/>
            </a:solidFill>
            <a:ln w="635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27" name="Bean-to-cup portátil…"/>
            <p:cNvSpPr txBox="1"/>
            <p:nvPr/>
          </p:nvSpPr>
          <p:spPr>
            <a:xfrm>
              <a:off x="48894" y="0"/>
              <a:ext cx="1959613" cy="16918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Bean-to-cup portátil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ou filtrado de volume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Cold brew tower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para coffee breaks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Kit de materiais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para evento: tags, menus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Setup e desmontagem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pelo parceiro de máquina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Pacote por evento ou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contrato de volume</a:t>
              </a:r>
            </a:p>
          </p:txBody>
        </p:sp>
      </p:grpSp>
      <p:sp>
        <p:nvSpPr>
          <p:cNvPr id="229" name="Rectangle 18"/>
          <p:cNvSpPr/>
          <p:nvPr/>
        </p:nvSpPr>
        <p:spPr>
          <a:xfrm>
            <a:off x="320040" y="2862072"/>
            <a:ext cx="2743201" cy="292610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0" name="TextBox 19"/>
          <p:cNvSpPr txBox="1"/>
          <p:nvPr/>
        </p:nvSpPr>
        <p:spPr>
          <a:xfrm>
            <a:off x="457199" y="2898649"/>
            <a:ext cx="2468883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Para o Hoteleiro</a:t>
            </a:r>
          </a:p>
        </p:txBody>
      </p:sp>
      <p:grpSp>
        <p:nvGrpSpPr>
          <p:cNvPr id="233" name="Rectangle 20"/>
          <p:cNvGrpSpPr/>
          <p:nvPr/>
        </p:nvGrpSpPr>
        <p:grpSpPr>
          <a:xfrm>
            <a:off x="320040" y="3154678"/>
            <a:ext cx="2743201" cy="1714502"/>
            <a:chOff x="0" y="0"/>
            <a:chExt cx="2743200" cy="1714500"/>
          </a:xfrm>
        </p:grpSpPr>
        <p:sp>
          <p:nvSpPr>
            <p:cNvPr id="231" name="Rectangle"/>
            <p:cNvSpPr/>
            <p:nvPr/>
          </p:nvSpPr>
          <p:spPr>
            <a:xfrm>
              <a:off x="0" y="0"/>
              <a:ext cx="2743201" cy="1714501"/>
            </a:xfrm>
            <a:prstGeom prst="rect">
              <a:avLst/>
            </a:prstGeom>
            <a:solidFill>
              <a:srgbClr val="F8F3EC"/>
            </a:solidFill>
            <a:ln w="6350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32" name="Diferenciação real vs. café genérico…"/>
            <p:cNvSpPr txBox="1"/>
            <p:nvPr/>
          </p:nvSpPr>
          <p:spPr>
            <a:xfrm>
              <a:off x="48894" y="176443"/>
              <a:ext cx="2645413" cy="13616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Diferenciação real vs. café genérico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retorno de hóspede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Revenue add: café como item de menu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aumentam receita F&amp;B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Conteúdo para redes: "nosso café é Orfeu"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posts engajantes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SLA garantido: nunca falta café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no café da manhã</a:t>
              </a:r>
            </a:p>
          </p:txBody>
        </p:sp>
      </p:grpSp>
      <p:sp>
        <p:nvSpPr>
          <p:cNvPr id="234" name="Rectangle 21"/>
          <p:cNvSpPr/>
          <p:nvPr/>
        </p:nvSpPr>
        <p:spPr>
          <a:xfrm>
            <a:off x="3200400" y="2862072"/>
            <a:ext cx="2743200" cy="292610"/>
          </a:xfrm>
          <a:prstGeom prst="rect">
            <a:avLst/>
          </a:prstGeom>
          <a:solidFill>
            <a:srgbClr val="7A3B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5" name="TextBox 22"/>
          <p:cNvSpPr txBox="1"/>
          <p:nvPr/>
        </p:nvSpPr>
        <p:spPr>
          <a:xfrm>
            <a:off x="3337559" y="2898649"/>
            <a:ext cx="246888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Para o Hóspede</a:t>
            </a:r>
          </a:p>
        </p:txBody>
      </p:sp>
      <p:grpSp>
        <p:nvGrpSpPr>
          <p:cNvPr id="238" name="Rectangle 23"/>
          <p:cNvGrpSpPr/>
          <p:nvPr/>
        </p:nvGrpSpPr>
        <p:grpSpPr>
          <a:xfrm>
            <a:off x="3200400" y="3154678"/>
            <a:ext cx="2743200" cy="1714502"/>
            <a:chOff x="0" y="0"/>
            <a:chExt cx="2743200" cy="1714500"/>
          </a:xfrm>
        </p:grpSpPr>
        <p:sp>
          <p:nvSpPr>
            <p:cNvPr id="236" name="Rectangle"/>
            <p:cNvSpPr/>
            <p:nvPr/>
          </p:nvSpPr>
          <p:spPr>
            <a:xfrm>
              <a:off x="0" y="0"/>
              <a:ext cx="2743200" cy="1714501"/>
            </a:xfrm>
            <a:prstGeom prst="rect">
              <a:avLst/>
            </a:prstGeom>
            <a:solidFill>
              <a:srgbClr val="F8F3EC"/>
            </a:solidFill>
            <a:ln w="6350" cap="flat">
              <a:solidFill>
                <a:srgbClr val="7A3B1E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37" name="Primeiro e último sabor da estadia…"/>
            <p:cNvSpPr txBox="1"/>
            <p:nvPr/>
          </p:nvSpPr>
          <p:spPr>
            <a:xfrm>
              <a:off x="48894" y="176443"/>
              <a:ext cx="2645412" cy="13616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Primeiro e último sabor da estadia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memória afetiva da experiência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Rastreabilidade: conhece a origem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do café servido no quarto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Qualidade consistente em toda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 propriedade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Café especial como sinal de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cuidado e atenção aos detalhes</a:t>
              </a:r>
            </a:p>
          </p:txBody>
        </p:sp>
      </p:grpSp>
      <p:sp>
        <p:nvSpPr>
          <p:cNvPr id="239" name="Rectangle 24"/>
          <p:cNvSpPr/>
          <p:nvPr/>
        </p:nvSpPr>
        <p:spPr>
          <a:xfrm>
            <a:off x="6080759" y="2862072"/>
            <a:ext cx="2743202" cy="292610"/>
          </a:xfrm>
          <a:prstGeom prst="rect">
            <a:avLst/>
          </a:prstGeom>
          <a:solidFill>
            <a:srgbClr val="1A4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0" name="TextBox 25"/>
          <p:cNvSpPr txBox="1"/>
          <p:nvPr/>
        </p:nvSpPr>
        <p:spPr>
          <a:xfrm>
            <a:off x="6217920" y="2898649"/>
            <a:ext cx="246888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Para a Marca do Hotel</a:t>
            </a:r>
          </a:p>
        </p:txBody>
      </p:sp>
      <p:grpSp>
        <p:nvGrpSpPr>
          <p:cNvPr id="243" name="Rectangle 26"/>
          <p:cNvGrpSpPr/>
          <p:nvPr/>
        </p:nvGrpSpPr>
        <p:grpSpPr>
          <a:xfrm>
            <a:off x="6080759" y="3154678"/>
            <a:ext cx="2743202" cy="1714502"/>
            <a:chOff x="0" y="0"/>
            <a:chExt cx="2743200" cy="1714500"/>
          </a:xfrm>
        </p:grpSpPr>
        <p:sp>
          <p:nvSpPr>
            <p:cNvPr id="241" name="Rectangle"/>
            <p:cNvSpPr/>
            <p:nvPr/>
          </p:nvSpPr>
          <p:spPr>
            <a:xfrm>
              <a:off x="0" y="0"/>
              <a:ext cx="2743201" cy="1714501"/>
            </a:xfrm>
            <a:prstGeom prst="rect">
              <a:avLst/>
            </a:prstGeom>
            <a:solidFill>
              <a:srgbClr val="E8F2EA"/>
            </a:solidFill>
            <a:ln w="6350" cap="flat">
              <a:solidFill>
                <a:srgbClr val="1A4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42" name="Associação com specialty coffee…"/>
            <p:cNvSpPr txBox="1"/>
            <p:nvPr/>
          </p:nvSpPr>
          <p:spPr>
            <a:xfrm>
              <a:off x="48894" y="176443"/>
              <a:ext cx="2645413" cy="13616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Associação com specialty coffee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= posicionamento premium reforçado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ESG: café com impacto social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(pequeno produtor, certificado)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Co-branding: "Café Orfeu no Breakfast"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material de marketing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Pertencimento: "Parceiro Orfeu"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no mapa digital e nos materiais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1"/>
          <p:cNvSpPr txBox="1"/>
          <p:nvPr/>
        </p:nvSpPr>
        <p:spPr>
          <a:xfrm>
            <a:off x="411479" y="320040"/>
            <a:ext cx="832104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C8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Atualização — Workshop B2B (27/07)</a:t>
            </a:r>
          </a:p>
        </p:txBody>
      </p:sp>
      <p:sp>
        <p:nvSpPr>
          <p:cNvPr id="246" name="TextBox 2"/>
          <p:cNvSpPr txBox="1"/>
          <p:nvPr/>
        </p:nvSpPr>
        <p:spPr>
          <a:xfrm>
            <a:off x="411479" y="1051560"/>
            <a:ext cx="8321042" cy="1114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C8000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•  Pendente: montar matriz cruzando portfólio disponível, nível de atendimento e equipamentos por ambiente (quarto, lobby, restaurante, eventos). Ação crítica: organizar a proposta e o material de apresentação com base nesta matriz.</a:t>
            </a:r>
          </a:p>
          <a:p>
            <a:pPr>
              <a:spcBef>
                <a:spcPts val="1600"/>
              </a:spcBef>
              <a:defRPr i="1" sz="1100">
                <a:solidFill>
                  <a:srgbClr val="666666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Nota referente a Turismo · Soluções (slide anterior).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· REFERÊNCIAS</a:t>
            </a:r>
          </a:p>
        </p:txBody>
      </p:sp>
      <p:sp>
        <p:nvSpPr>
          <p:cNvPr id="249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0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TURISMO · REFERÊNCIAS</a:t>
            </a:r>
          </a:p>
        </p:txBody>
      </p:sp>
      <p:sp>
        <p:nvSpPr>
          <p:cNvPr id="251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8B5E3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Referências, Cases e Feiras — Hotel &amp; Turismo</a:t>
            </a:r>
          </a:p>
        </p:txBody>
      </p:sp>
      <p:sp>
        <p:nvSpPr>
          <p:cNvPr id="252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Como as melhores marcas de café endereçam o canal hoteleiro — lições e oportunidades</a:t>
            </a:r>
          </a:p>
        </p:txBody>
      </p:sp>
      <p:grpSp>
        <p:nvGrpSpPr>
          <p:cNvPr id="255" name="Rectangle 6"/>
          <p:cNvGrpSpPr/>
          <p:nvPr/>
        </p:nvGrpSpPr>
        <p:grpSpPr>
          <a:xfrm>
            <a:off x="320040" y="960118"/>
            <a:ext cx="2743201" cy="347476"/>
            <a:chOff x="0" y="-1"/>
            <a:chExt cx="2743200" cy="347475"/>
          </a:xfrm>
        </p:grpSpPr>
        <p:sp>
          <p:nvSpPr>
            <p:cNvPr id="253" name="Rectangle"/>
            <p:cNvSpPr/>
            <p:nvPr/>
          </p:nvSpPr>
          <p:spPr>
            <a:xfrm>
              <a:off x="0" y="-2"/>
              <a:ext cx="2743201" cy="347477"/>
            </a:xfrm>
            <a:prstGeom prst="rect">
              <a:avLst/>
            </a:prstGeom>
            <a:solidFill>
              <a:srgbClr val="8B5E3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54" name="Cases de Referência"/>
            <p:cNvSpPr txBox="1"/>
            <p:nvPr/>
          </p:nvSpPr>
          <p:spPr>
            <a:xfrm>
              <a:off x="45719" y="59480"/>
              <a:ext cx="2651763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Cases de Referência</a:t>
              </a:r>
            </a:p>
          </p:txBody>
        </p:sp>
      </p:grpSp>
      <p:grpSp>
        <p:nvGrpSpPr>
          <p:cNvPr id="258" name="Rectangle 7"/>
          <p:cNvGrpSpPr/>
          <p:nvPr/>
        </p:nvGrpSpPr>
        <p:grpSpPr>
          <a:xfrm>
            <a:off x="320040" y="1236505"/>
            <a:ext cx="2743201" cy="869116"/>
            <a:chOff x="0" y="-1"/>
            <a:chExt cx="2743200" cy="869114"/>
          </a:xfrm>
        </p:grpSpPr>
        <p:sp>
          <p:nvSpPr>
            <p:cNvPr id="256" name="Rectangle"/>
            <p:cNvSpPr/>
            <p:nvPr/>
          </p:nvSpPr>
          <p:spPr>
            <a:xfrm>
              <a:off x="0" y="71084"/>
              <a:ext cx="2743201" cy="726951"/>
            </a:xfrm>
            <a:prstGeom prst="rect">
              <a:avLst/>
            </a:prstGeom>
            <a:solidFill>
              <a:srgbClr val="F8F3EC"/>
            </a:solidFill>
            <a:ln w="5080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57" name="Nespresso Professional…"/>
            <p:cNvSpPr txBox="1"/>
            <p:nvPr/>
          </p:nvSpPr>
          <p:spPr>
            <a:xfrm>
              <a:off x="48258" y="-1"/>
              <a:ext cx="2646683" cy="8691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7A3B1E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Nespresso Professional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Presente em 90+ redes de hotéis 5* globalmente. Comodato de máquina + cápsula proprietária = lock-in total. Programa "Nespresso Moment" para lobbies. Treinamento de barista para equipe de F&amp;B. Fraqueza: cápsula proprietária = custo alto e amarração.</a:t>
              </a:r>
            </a:p>
          </p:txBody>
        </p:sp>
      </p:grpSp>
      <p:grpSp>
        <p:nvGrpSpPr>
          <p:cNvPr id="261" name="Rectangle 8"/>
          <p:cNvGrpSpPr/>
          <p:nvPr/>
        </p:nvGrpSpPr>
        <p:grpSpPr>
          <a:xfrm>
            <a:off x="320040" y="2100107"/>
            <a:ext cx="2743201" cy="742115"/>
            <a:chOff x="0" y="0"/>
            <a:chExt cx="2743200" cy="742114"/>
          </a:xfrm>
        </p:grpSpPr>
        <p:sp>
          <p:nvSpPr>
            <p:cNvPr id="259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F8F3EC"/>
            </a:solidFill>
            <a:ln w="5080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60" name="Lavazza (Itália)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7A3B1E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Lavazza (Itália)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Parceria com The Leading Hotels of the World (LHW). "Lavazza in-room experience" — máquina de design italiano em quartos premium. Café como objeto de decoração. Diferencial: estética e herança cultural italiana.</a:t>
              </a:r>
            </a:p>
          </p:txBody>
        </p:sp>
      </p:grpSp>
      <p:grpSp>
        <p:nvGrpSpPr>
          <p:cNvPr id="264" name="Rectangle 9"/>
          <p:cNvGrpSpPr/>
          <p:nvPr/>
        </p:nvGrpSpPr>
        <p:grpSpPr>
          <a:xfrm>
            <a:off x="320040" y="2900207"/>
            <a:ext cx="2743201" cy="742115"/>
            <a:chOff x="0" y="0"/>
            <a:chExt cx="2743200" cy="742114"/>
          </a:xfrm>
        </p:grpSpPr>
        <p:sp>
          <p:nvSpPr>
            <p:cNvPr id="262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F8F3EC"/>
            </a:solidFill>
            <a:ln w="5080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63" name="Nestlé Professional (Nescafé)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7A3B1E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Nestlé Professional (Nescafé)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Solução turn-key: máquina + café + treinamento em contrato único. Atua em scale: hotéis de 200+ quartos e redes. Foco em conveniência e volume. Fraqueza: percepção de qualidade abaixo de specialty.</a:t>
              </a:r>
            </a:p>
          </p:txBody>
        </p:sp>
      </p:grpSp>
      <p:grpSp>
        <p:nvGrpSpPr>
          <p:cNvPr id="267" name="Rectangle 10"/>
          <p:cNvGrpSpPr/>
          <p:nvPr/>
        </p:nvGrpSpPr>
        <p:grpSpPr>
          <a:xfrm>
            <a:off x="320040" y="3700307"/>
            <a:ext cx="2743201" cy="742115"/>
            <a:chOff x="0" y="0"/>
            <a:chExt cx="2743200" cy="742114"/>
          </a:xfrm>
        </p:grpSpPr>
        <p:sp>
          <p:nvSpPr>
            <p:cNvPr id="265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F8F3EC"/>
            </a:solidFill>
            <a:ln w="5080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66" name="STR Global / HOTELEX Cases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7A3B1E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STR Global / HOTELEX Cases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Dados de 2024: hotéis que investem em café premium como amenidade reportam aumento de 12% no NPS de F&amp;B e +8% no retorno de hóspedes. Café specialty é o 3º item mais citado nas avaliações positivas no TripAdvisor.</a:t>
              </a:r>
            </a:p>
          </p:txBody>
        </p:sp>
      </p:grpSp>
      <p:grpSp>
        <p:nvGrpSpPr>
          <p:cNvPr id="270" name="Rectangle 11"/>
          <p:cNvGrpSpPr/>
          <p:nvPr/>
        </p:nvGrpSpPr>
        <p:grpSpPr>
          <a:xfrm>
            <a:off x="3200400" y="960118"/>
            <a:ext cx="2743200" cy="347476"/>
            <a:chOff x="0" y="-1"/>
            <a:chExt cx="2743200" cy="347475"/>
          </a:xfrm>
        </p:grpSpPr>
        <p:sp>
          <p:nvSpPr>
            <p:cNvPr id="268" name="Rectangle"/>
            <p:cNvSpPr/>
            <p:nvPr/>
          </p:nvSpPr>
          <p:spPr>
            <a:xfrm>
              <a:off x="0" y="-2"/>
              <a:ext cx="2743200" cy="347477"/>
            </a:xfrm>
            <a:prstGeom prst="rect">
              <a:avLst/>
            </a:prstGeom>
            <a:solidFill>
              <a:srgbClr val="1A3A2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69" name="Feiras e Fontes"/>
            <p:cNvSpPr txBox="1"/>
            <p:nvPr/>
          </p:nvSpPr>
          <p:spPr>
            <a:xfrm>
              <a:off x="45719" y="59480"/>
              <a:ext cx="2651762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Feiras e Fontes</a:t>
              </a:r>
            </a:p>
          </p:txBody>
        </p:sp>
      </p:grpSp>
      <p:grpSp>
        <p:nvGrpSpPr>
          <p:cNvPr id="273" name="Rectangle 12"/>
          <p:cNvGrpSpPr/>
          <p:nvPr/>
        </p:nvGrpSpPr>
        <p:grpSpPr>
          <a:xfrm>
            <a:off x="3200400" y="1300006"/>
            <a:ext cx="2743200" cy="742116"/>
            <a:chOff x="0" y="0"/>
            <a:chExt cx="2743200" cy="742114"/>
          </a:xfrm>
        </p:grpSpPr>
        <p:sp>
          <p:nvSpPr>
            <p:cNvPr id="271" name="Rectangle"/>
            <p:cNvSpPr/>
            <p:nvPr/>
          </p:nvSpPr>
          <p:spPr>
            <a:xfrm>
              <a:off x="0" y="7584"/>
              <a:ext cx="2743200" cy="726951"/>
            </a:xfrm>
            <a:prstGeom prst="rect">
              <a:avLst/>
            </a:prstGeom>
            <a:solidFill>
              <a:srgbClr val="E8F2EA"/>
            </a:solidFill>
            <a:ln w="508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72" name="HOTELEX Shanghai…"/>
            <p:cNvSpPr txBox="1"/>
            <p:nvPr/>
          </p:nvSpPr>
          <p:spPr>
            <a:xfrm>
              <a:off x="48258" y="-1"/>
              <a:ext cx="2646682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HOTELEX Shanghai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Maior feira de hospitalidade da Ásia. Seção "Caffe Tec" exclusiva para café. Fornecedores de máquinas para hotelaria. Março, Shanghai. Participação recomendada para sourcing de equipamento in-room.</a:t>
              </a:r>
            </a:p>
          </p:txBody>
        </p:sp>
      </p:grpSp>
      <p:grpSp>
        <p:nvGrpSpPr>
          <p:cNvPr id="276" name="Rectangle 13"/>
          <p:cNvGrpSpPr/>
          <p:nvPr/>
        </p:nvGrpSpPr>
        <p:grpSpPr>
          <a:xfrm>
            <a:off x="3200400" y="2100107"/>
            <a:ext cx="2743200" cy="742115"/>
            <a:chOff x="0" y="0"/>
            <a:chExt cx="2743200" cy="742114"/>
          </a:xfrm>
        </p:grpSpPr>
        <p:sp>
          <p:nvSpPr>
            <p:cNvPr id="274" name="Rectangle"/>
            <p:cNvSpPr/>
            <p:nvPr/>
          </p:nvSpPr>
          <p:spPr>
            <a:xfrm>
              <a:off x="0" y="7584"/>
              <a:ext cx="2743200" cy="726951"/>
            </a:xfrm>
            <a:prstGeom prst="rect">
              <a:avLst/>
            </a:prstGeom>
            <a:solidFill>
              <a:srgbClr val="E8F2EA"/>
            </a:solidFill>
            <a:ln w="508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75" name="ABrAHotel Congress…"/>
            <p:cNvSpPr txBox="1"/>
            <p:nvPr/>
          </p:nvSpPr>
          <p:spPr>
            <a:xfrm>
              <a:off x="48258" y="-1"/>
              <a:ext cx="2646682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ABrAHotel Congress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Congresso da Associação Brasileira de Redes de Hotéis. Espaço para apresentar o programa hotel Orfeu. Encontro com decision-makers de redes nacionais (Wish, Mabu, Atlantica, Accor BR).</a:t>
              </a:r>
            </a:p>
          </p:txBody>
        </p:sp>
      </p:grpSp>
      <p:grpSp>
        <p:nvGrpSpPr>
          <p:cNvPr id="279" name="Rectangle 14"/>
          <p:cNvGrpSpPr/>
          <p:nvPr/>
        </p:nvGrpSpPr>
        <p:grpSpPr>
          <a:xfrm>
            <a:off x="3200400" y="2907791"/>
            <a:ext cx="2743200" cy="726952"/>
            <a:chOff x="0" y="-1"/>
            <a:chExt cx="2743200" cy="726951"/>
          </a:xfrm>
        </p:grpSpPr>
        <p:sp>
          <p:nvSpPr>
            <p:cNvPr id="277" name="Rectangle"/>
            <p:cNvSpPr/>
            <p:nvPr/>
          </p:nvSpPr>
          <p:spPr>
            <a:xfrm>
              <a:off x="0" y="-2"/>
              <a:ext cx="2743200" cy="726952"/>
            </a:xfrm>
            <a:prstGeom prst="rect">
              <a:avLst/>
            </a:prstGeom>
            <a:solidFill>
              <a:srgbClr val="E8F2EA"/>
            </a:solidFill>
            <a:ln w="508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78" name="ABIH (Assoc. Brasileira da Ind. de Hotéis)…"/>
            <p:cNvSpPr txBox="1"/>
            <p:nvPr/>
          </p:nvSpPr>
          <p:spPr>
            <a:xfrm>
              <a:off x="48258" y="55915"/>
              <a:ext cx="2646682" cy="6151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ABIH (Assoc. Brasileira da Ind. de Hotéis)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Dados de mercado hoteleiro BR. Canais de relacionamento com hoteleiros independentes. Publicação anual de benchmarks de custo operacional por segmento.</a:t>
              </a:r>
            </a:p>
          </p:txBody>
        </p:sp>
      </p:grpSp>
      <p:grpSp>
        <p:nvGrpSpPr>
          <p:cNvPr id="282" name="Rectangle 15"/>
          <p:cNvGrpSpPr/>
          <p:nvPr/>
        </p:nvGrpSpPr>
        <p:grpSpPr>
          <a:xfrm>
            <a:off x="3200400" y="3700307"/>
            <a:ext cx="2743200" cy="742115"/>
            <a:chOff x="0" y="0"/>
            <a:chExt cx="2743200" cy="742114"/>
          </a:xfrm>
        </p:grpSpPr>
        <p:sp>
          <p:nvSpPr>
            <p:cNvPr id="280" name="Rectangle"/>
            <p:cNvSpPr/>
            <p:nvPr/>
          </p:nvSpPr>
          <p:spPr>
            <a:xfrm>
              <a:off x="0" y="7584"/>
              <a:ext cx="2743200" cy="726951"/>
            </a:xfrm>
            <a:prstGeom prst="rect">
              <a:avLst/>
            </a:prstGeom>
            <a:solidFill>
              <a:srgbClr val="E8F2EA"/>
            </a:solidFill>
            <a:ln w="508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81" name="FOHB — Fórum de Operadores Hoteleiros do BR…"/>
            <p:cNvSpPr txBox="1"/>
            <p:nvPr/>
          </p:nvSpPr>
          <p:spPr>
            <a:xfrm>
              <a:off x="48258" y="-1"/>
              <a:ext cx="2646682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FOHB — Fórum de Operadores Hoteleiros do BR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Redes nacionais: networking e apresentações. Espaço para positioned case study do programa Orfeu + Hotel. Ciclo de decisão de compra coincide com planejamento anual (Set–Nov).</a:t>
              </a:r>
            </a:p>
          </p:txBody>
        </p:sp>
      </p:grpSp>
      <p:grpSp>
        <p:nvGrpSpPr>
          <p:cNvPr id="285" name="Rectangle 16"/>
          <p:cNvGrpSpPr/>
          <p:nvPr/>
        </p:nvGrpSpPr>
        <p:grpSpPr>
          <a:xfrm>
            <a:off x="6080759" y="960118"/>
            <a:ext cx="2743202" cy="347476"/>
            <a:chOff x="0" y="-1"/>
            <a:chExt cx="2743200" cy="347475"/>
          </a:xfrm>
        </p:grpSpPr>
        <p:sp>
          <p:nvSpPr>
            <p:cNvPr id="283" name="Rectangle"/>
            <p:cNvSpPr/>
            <p:nvPr/>
          </p:nvSpPr>
          <p:spPr>
            <a:xfrm>
              <a:off x="0" y="-2"/>
              <a:ext cx="2743201" cy="347477"/>
            </a:xfrm>
            <a:prstGeom prst="rect">
              <a:avLst/>
            </a:prstGeom>
            <a:solidFill>
              <a:srgbClr val="1A3A6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84" name="Programa Orfeu para Hotéis"/>
            <p:cNvSpPr txBox="1"/>
            <p:nvPr/>
          </p:nvSpPr>
          <p:spPr>
            <a:xfrm>
              <a:off x="45719" y="59480"/>
              <a:ext cx="2651763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Programa Orfeu para Hotéis</a:t>
              </a:r>
            </a:p>
          </p:txBody>
        </p:sp>
      </p:grpSp>
      <p:grpSp>
        <p:nvGrpSpPr>
          <p:cNvPr id="288" name="Rectangle 17"/>
          <p:cNvGrpSpPr/>
          <p:nvPr/>
        </p:nvGrpSpPr>
        <p:grpSpPr>
          <a:xfrm>
            <a:off x="6080759" y="1300006"/>
            <a:ext cx="2743202" cy="742116"/>
            <a:chOff x="0" y="0"/>
            <a:chExt cx="2743200" cy="742114"/>
          </a:xfrm>
        </p:grpSpPr>
        <p:sp>
          <p:nvSpPr>
            <p:cNvPr id="286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1A3A6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87" name="Proposta de Entrada (Boutique)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6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Proposta de Entrada (Boutique)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3 SKUs curados por ambiente: 1 para quarto (cápsula), 1 para café da manhã (grão filtrado), 1 para social area (bean-to-cup). Volume mínimo 15 kg/mês. SLA 24h via parceiro de máquinas. Consultor dedicado a cada 2 meses.</a:t>
              </a:r>
            </a:p>
          </p:txBody>
        </p:sp>
      </p:grpSp>
      <p:grpSp>
        <p:nvGrpSpPr>
          <p:cNvPr id="291" name="Rectangle 18"/>
          <p:cNvGrpSpPr/>
          <p:nvPr/>
        </p:nvGrpSpPr>
        <p:grpSpPr>
          <a:xfrm>
            <a:off x="6080759" y="2100107"/>
            <a:ext cx="2743202" cy="742115"/>
            <a:chOff x="0" y="0"/>
            <a:chExt cx="2743200" cy="742114"/>
          </a:xfrm>
        </p:grpSpPr>
        <p:sp>
          <p:nvSpPr>
            <p:cNvPr id="289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1A3A6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90" name="Proposta Premium (Rede/Resort)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6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Proposta Premium (Rede/Resort)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Programa completo: mapeamento de pontos de uso → seleção de máquinas → proposta de mix → treinamento F&amp;B → materiais → relatório mensal. Contrato 24 meses com volume mínimo garantido e desconto progressivo.</a:t>
              </a:r>
            </a:p>
          </p:txBody>
        </p:sp>
      </p:grpSp>
      <p:grpSp>
        <p:nvGrpSpPr>
          <p:cNvPr id="294" name="Rectangle 19"/>
          <p:cNvGrpSpPr/>
          <p:nvPr/>
        </p:nvGrpSpPr>
        <p:grpSpPr>
          <a:xfrm>
            <a:off x="6080759" y="2836706"/>
            <a:ext cx="2743202" cy="869115"/>
            <a:chOff x="0" y="-1"/>
            <a:chExt cx="2743200" cy="869114"/>
          </a:xfrm>
        </p:grpSpPr>
        <p:sp>
          <p:nvSpPr>
            <p:cNvPr id="292" name="Rectangle"/>
            <p:cNvSpPr/>
            <p:nvPr/>
          </p:nvSpPr>
          <p:spPr>
            <a:xfrm>
              <a:off x="0" y="710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1A3A6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93" name="Diferencial Orfeu…"/>
            <p:cNvSpPr txBox="1"/>
            <p:nvPr/>
          </p:nvSpPr>
          <p:spPr>
            <a:xfrm>
              <a:off x="48258" y="-1"/>
              <a:ext cx="2646683" cy="8691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6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Diferencial Orfeu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Rastreabilidade da origem, certificações SCA, impacto social em pequenos produtores. Material de storytelling para hóspede (QR code, menu origin, card no quarto). ESG ready: relatório de impacto para relatório de sustentabilidade do hotel.</a:t>
              </a:r>
            </a:p>
          </p:txBody>
        </p:sp>
      </p:grpSp>
      <p:grpSp>
        <p:nvGrpSpPr>
          <p:cNvPr id="297" name="Rectangle 20"/>
          <p:cNvGrpSpPr/>
          <p:nvPr/>
        </p:nvGrpSpPr>
        <p:grpSpPr>
          <a:xfrm>
            <a:off x="6080759" y="3707890"/>
            <a:ext cx="2743202" cy="726952"/>
            <a:chOff x="0" y="-1"/>
            <a:chExt cx="2743200" cy="726951"/>
          </a:xfrm>
        </p:grpSpPr>
        <p:sp>
          <p:nvSpPr>
            <p:cNvPr id="295" name="Rectangle"/>
            <p:cNvSpPr/>
            <p:nvPr/>
          </p:nvSpPr>
          <p:spPr>
            <a:xfrm>
              <a:off x="0" y="-2"/>
              <a:ext cx="2743201" cy="726952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1A3A6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96" name="Próximos Passos para o Canal…"/>
            <p:cNvSpPr txBox="1"/>
            <p:nvPr/>
          </p:nvSpPr>
          <p:spPr>
            <a:xfrm>
              <a:off x="48258" y="55915"/>
              <a:ext cx="2646683" cy="6151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6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Próximos Passos para o Canal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Pilotar com 3–5 hotéis boutique em SP/RJ até Q3/2026. Validar: proposta de parceiro de máquinas + mix Orfeu + materiais. Dados para proposta a redes em Q4/2026.</a:t>
              </a:r>
            </a:p>
          </p:txBody>
        </p:sp>
      </p:grpSp>
      <p:sp>
        <p:nvSpPr>
          <p:cNvPr id="298" name="TextBox 293"/>
          <p:cNvSpPr txBox="1"/>
          <p:nvPr/>
        </p:nvSpPr>
        <p:spPr>
          <a:xfrm>
            <a:off x="256032" y="4573489"/>
            <a:ext cx="86319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i="1" sz="900">
                <a:solidFill>
                  <a:srgbClr val="C8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AÇÃO (Workshop B2B 27/07): estruturar a captação dos leads já gerados nessas feiras (HOTELEX, ABrAHotel, ABIH, FOHB) e dos novos eventos do calendário, integrando ao CRM de leads B2B. Incluir case de sucesso Orfeu — Hilton (hotel), com fotos, vídeos e citações da liderança do cliente.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4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1" name="Rectangle 2"/>
          <p:cNvSpPr/>
          <p:nvPr/>
        </p:nvSpPr>
        <p:spPr>
          <a:xfrm>
            <a:off x="0" y="-866"/>
            <a:ext cx="9144000" cy="12703"/>
          </a:xfrm>
          <a:prstGeom prst="rect">
            <a:avLst/>
          </a:prstGeom>
          <a:solidFill>
            <a:srgbClr val="ECF0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2" name="TextBox 3"/>
          <p:cNvSpPr txBox="1"/>
          <p:nvPr/>
        </p:nvSpPr>
        <p:spPr>
          <a:xfrm>
            <a:off x="365759" y="1371601"/>
            <a:ext cx="8412482" cy="280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i="1" sz="1400">
                <a:solidFill>
                  <a:srgbClr val="AABBC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PARTE 2 DE 2</a:t>
            </a:r>
          </a:p>
        </p:txBody>
      </p:sp>
      <p:sp>
        <p:nvSpPr>
          <p:cNvPr id="303" name="TextBox 4"/>
          <p:cNvSpPr txBox="1"/>
          <p:nvPr/>
        </p:nvSpPr>
        <p:spPr>
          <a:xfrm>
            <a:off x="365759" y="1828800"/>
            <a:ext cx="8412482" cy="653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4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Office &amp; Empresas</a:t>
            </a:r>
          </a:p>
        </p:txBody>
      </p:sp>
      <p:sp>
        <p:nvSpPr>
          <p:cNvPr id="304" name="TextBox 5"/>
          <p:cNvSpPr txBox="1"/>
          <p:nvPr/>
        </p:nvSpPr>
        <p:spPr>
          <a:xfrm>
            <a:off x="365759" y="2578607"/>
            <a:ext cx="841248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sz="1200">
                <a:solidFill>
                  <a:srgbClr val="AABBC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PMEs · Startups · Escritórios premium · Grandes corporações · Bancos · Empresas · Coworkings</a:t>
            </a:r>
          </a:p>
        </p:txBody>
      </p:sp>
      <p:sp>
        <p:nvSpPr>
          <p:cNvPr id="305" name="TextBox 6"/>
          <p:cNvSpPr txBox="1"/>
          <p:nvPr/>
        </p:nvSpPr>
        <p:spPr>
          <a:xfrm>
            <a:off x="365759" y="3200401"/>
            <a:ext cx="8412482" cy="280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i="1" sz="1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"O café no escritório não é mais um custo. É cultura, é benefício, é o sabor do employer branding."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OFFICE · PERSONAS</a:t>
            </a:r>
          </a:p>
        </p:txBody>
      </p:sp>
      <p:sp>
        <p:nvSpPr>
          <p:cNvPr id="308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2A4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9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OFFICE · PERSONAS</a:t>
            </a:r>
          </a:p>
        </p:txBody>
      </p:sp>
      <p:sp>
        <p:nvSpPr>
          <p:cNvPr id="310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2A406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Quem É o Cliente e Quem Decide a Compra</a:t>
            </a:r>
          </a:p>
        </p:txBody>
      </p:sp>
      <p:sp>
        <p:nvSpPr>
          <p:cNvPr id="311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Do CEO de startup ao Facilities Manager de corporativo — motivações muito distintas, mesma necessidade de qualidade</a:t>
            </a:r>
          </a:p>
        </p:txBody>
      </p:sp>
      <p:grpSp>
        <p:nvGrpSpPr>
          <p:cNvPr id="314" name="Rectangle 6"/>
          <p:cNvGrpSpPr/>
          <p:nvPr/>
        </p:nvGrpSpPr>
        <p:grpSpPr>
          <a:xfrm>
            <a:off x="320039" y="960118"/>
            <a:ext cx="4114803" cy="347476"/>
            <a:chOff x="0" y="-1"/>
            <a:chExt cx="4114801" cy="347475"/>
          </a:xfrm>
        </p:grpSpPr>
        <p:sp>
          <p:nvSpPr>
            <p:cNvPr id="312" name="Rectangle"/>
            <p:cNvSpPr/>
            <p:nvPr/>
          </p:nvSpPr>
          <p:spPr>
            <a:xfrm>
              <a:off x="-1" y="-2"/>
              <a:ext cx="4114803" cy="347477"/>
            </a:xfrm>
            <a:prstGeom prst="rect">
              <a:avLst/>
            </a:prstGeom>
            <a:solidFill>
              <a:srgbClr val="2A406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13" name="O Negócio (Cliente)"/>
            <p:cNvSpPr txBox="1"/>
            <p:nvPr/>
          </p:nvSpPr>
          <p:spPr>
            <a:xfrm>
              <a:off x="45718" y="59480"/>
              <a:ext cx="4023364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O Negócio (Cliente)</a:t>
              </a:r>
            </a:p>
          </p:txBody>
        </p:sp>
      </p:grpSp>
      <p:grpSp>
        <p:nvGrpSpPr>
          <p:cNvPr id="317" name="Rectangle 7"/>
          <p:cNvGrpSpPr/>
          <p:nvPr/>
        </p:nvGrpSpPr>
        <p:grpSpPr>
          <a:xfrm>
            <a:off x="320039" y="1307589"/>
            <a:ext cx="4114803" cy="1508766"/>
            <a:chOff x="0" y="-1"/>
            <a:chExt cx="4114801" cy="1508764"/>
          </a:xfrm>
        </p:grpSpPr>
        <p:sp>
          <p:nvSpPr>
            <p:cNvPr id="315" name="Rectangle"/>
            <p:cNvSpPr/>
            <p:nvPr/>
          </p:nvSpPr>
          <p:spPr>
            <a:xfrm>
              <a:off x="-1" y="-2"/>
              <a:ext cx="4114803" cy="1508765"/>
            </a:xfrm>
            <a:prstGeom prst="rect">
              <a:avLst/>
            </a:prstGeom>
            <a:solidFill>
              <a:srgbClr val="ECF0F8"/>
            </a:solidFill>
            <a:ln w="9525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16" name="PME / Startup (30–150 pessoas)…"/>
            <p:cNvSpPr txBox="1"/>
            <p:nvPr/>
          </p:nvSpPr>
          <p:spPr>
            <a:xfrm>
              <a:off x="50481" y="257723"/>
              <a:ext cx="4013839" cy="993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500"/>
                </a:spcBef>
                <a:defRPr b="1" sz="10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PME / Startup (30–150 pessoas)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Escritório de 1–3 andares, open space ou salas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Cultura: café como símbolo de energia, comunidade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Situação atual: máquina de vending genérica ou cápsula convencional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Dor: café ruim = moral baixo + custo alto de delivery (Starbucks)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Desejo: "café legal que eu possa mostrar pros clientes"</a:t>
              </a:r>
            </a:p>
          </p:txBody>
        </p:sp>
      </p:grpSp>
      <p:grpSp>
        <p:nvGrpSpPr>
          <p:cNvPr id="320" name="Rectangle 8"/>
          <p:cNvGrpSpPr/>
          <p:nvPr/>
        </p:nvGrpSpPr>
        <p:grpSpPr>
          <a:xfrm>
            <a:off x="320039" y="2926077"/>
            <a:ext cx="4114803" cy="1508764"/>
            <a:chOff x="0" y="-1"/>
            <a:chExt cx="4114801" cy="1508763"/>
          </a:xfrm>
        </p:grpSpPr>
        <p:sp>
          <p:nvSpPr>
            <p:cNvPr id="318" name="Rectangle"/>
            <p:cNvSpPr/>
            <p:nvPr/>
          </p:nvSpPr>
          <p:spPr>
            <a:xfrm>
              <a:off x="-1" y="-2"/>
              <a:ext cx="4114803" cy="1508765"/>
            </a:xfrm>
            <a:prstGeom prst="rect">
              <a:avLst/>
            </a:prstGeom>
            <a:solidFill>
              <a:srgbClr val="ECF0F8"/>
            </a:solidFill>
            <a:ln w="9525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19" name="Corporativo / Enterprise (500+ pessoas)…"/>
            <p:cNvSpPr txBox="1"/>
            <p:nvPr/>
          </p:nvSpPr>
          <p:spPr>
            <a:xfrm>
              <a:off x="50481" y="257723"/>
              <a:ext cx="4013839" cy="993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500"/>
                </a:spcBef>
                <a:defRPr b="1" sz="10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Corporativo / Enterprise (500+ pessoas)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Múltiplos andares, copa por andar, espaços colaborativos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Café como benefício de RH — componente de EVP (employer value prop.)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Volume alto: 20–100 kg/mês por sede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Exige: SLA de entrega, fatura centralizada, relatório de consumo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Oportunidade ESG: café com certificação e rastreabilidade</a:t>
              </a:r>
            </a:p>
          </p:txBody>
        </p:sp>
      </p:grpSp>
      <p:grpSp>
        <p:nvGrpSpPr>
          <p:cNvPr id="323" name="Rectangle 9"/>
          <p:cNvGrpSpPr/>
          <p:nvPr/>
        </p:nvGrpSpPr>
        <p:grpSpPr>
          <a:xfrm>
            <a:off x="4709158" y="960118"/>
            <a:ext cx="4114803" cy="347476"/>
            <a:chOff x="0" y="-1"/>
            <a:chExt cx="4114801" cy="347475"/>
          </a:xfrm>
        </p:grpSpPr>
        <p:sp>
          <p:nvSpPr>
            <p:cNvPr id="321" name="Rectangle"/>
            <p:cNvSpPr/>
            <p:nvPr/>
          </p:nvSpPr>
          <p:spPr>
            <a:xfrm>
              <a:off x="-1" y="-2"/>
              <a:ext cx="4114803" cy="347477"/>
            </a:xfrm>
            <a:prstGeom prst="rect">
              <a:avLst/>
            </a:prstGeom>
            <a:solidFill>
              <a:srgbClr val="2A406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22" name="O Comprador (Quem Decide)"/>
            <p:cNvSpPr txBox="1"/>
            <p:nvPr/>
          </p:nvSpPr>
          <p:spPr>
            <a:xfrm>
              <a:off x="45718" y="59480"/>
              <a:ext cx="4023364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O Comprador (Quem Decide)</a:t>
              </a:r>
            </a:p>
          </p:txBody>
        </p:sp>
      </p:grpSp>
      <p:grpSp>
        <p:nvGrpSpPr>
          <p:cNvPr id="326" name="Rectangle 10"/>
          <p:cNvGrpSpPr/>
          <p:nvPr/>
        </p:nvGrpSpPr>
        <p:grpSpPr>
          <a:xfrm>
            <a:off x="4709158" y="1307589"/>
            <a:ext cx="4114803" cy="1508766"/>
            <a:chOff x="0" y="-1"/>
            <a:chExt cx="4114801" cy="1508764"/>
          </a:xfrm>
        </p:grpSpPr>
        <p:sp>
          <p:nvSpPr>
            <p:cNvPr id="324" name="Rectangle"/>
            <p:cNvSpPr/>
            <p:nvPr/>
          </p:nvSpPr>
          <p:spPr>
            <a:xfrm>
              <a:off x="-1" y="-2"/>
              <a:ext cx="4114803" cy="1508765"/>
            </a:xfrm>
            <a:prstGeom prst="rect">
              <a:avLst/>
            </a:prstGeom>
            <a:solidFill>
              <a:srgbClr val="ECF0F8"/>
            </a:solidFill>
            <a:ln w="9525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25" name="PME — CEO / Office Manager / RH…"/>
            <p:cNvSpPr txBox="1"/>
            <p:nvPr/>
          </p:nvSpPr>
          <p:spPr>
            <a:xfrm>
              <a:off x="50481" y="181523"/>
              <a:ext cx="4013839" cy="1145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500"/>
                </a:spcBef>
                <a:defRPr b="1" sz="10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PME — CEO / Office Manager / RH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Decide em 1–2 semanas, sozinho ou com sócio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Motivado por: "o time vai adorar" + preço justo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Pensa em custo/pessoa/mês (teto: R$25–40/p/mês)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Quer: sem complicação — máquina + café + serviço = 1 fatura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Gatilho: colega de empresa indicou, saiu do escritório compartilhado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Dor: delivery diário do Starbucks custa R$30+/pessoa/mês</a:t>
              </a:r>
            </a:p>
          </p:txBody>
        </p:sp>
      </p:grpSp>
      <p:grpSp>
        <p:nvGrpSpPr>
          <p:cNvPr id="329" name="Rectangle 11"/>
          <p:cNvGrpSpPr/>
          <p:nvPr/>
        </p:nvGrpSpPr>
        <p:grpSpPr>
          <a:xfrm>
            <a:off x="4709158" y="2926077"/>
            <a:ext cx="4114803" cy="1508764"/>
            <a:chOff x="0" y="-1"/>
            <a:chExt cx="4114801" cy="1508763"/>
          </a:xfrm>
        </p:grpSpPr>
        <p:sp>
          <p:nvSpPr>
            <p:cNvPr id="327" name="Rectangle"/>
            <p:cNvSpPr/>
            <p:nvPr/>
          </p:nvSpPr>
          <p:spPr>
            <a:xfrm>
              <a:off x="-1" y="-2"/>
              <a:ext cx="4114803" cy="1508765"/>
            </a:xfrm>
            <a:prstGeom prst="rect">
              <a:avLst/>
            </a:prstGeom>
            <a:solidFill>
              <a:srgbClr val="ECF0F8"/>
            </a:solidFill>
            <a:ln w="9525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28" name="Corporativo — Facilities + RH + Procurement…"/>
            <p:cNvSpPr txBox="1"/>
            <p:nvPr/>
          </p:nvSpPr>
          <p:spPr>
            <a:xfrm>
              <a:off x="50481" y="181523"/>
              <a:ext cx="4013839" cy="1145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500"/>
                </a:spcBef>
                <a:defRPr b="1" sz="10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Corporativo — Facilities + RH + Procurement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Facilities: máquina funcionando, manutenção rápida, SLA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RH: café como benefício — engajamento e retenção de talentos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Procurement: processo formal, 3 cotações, prazo 24+ meses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Ciclo: 3–6 meses de avaliação antes de decisão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ESG: café com certificação socioambiental para relatório anual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Gatilho: renovação de contrato existente, novo escritório, rebranding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OFFICE · NECESSIDADES</a:t>
            </a:r>
          </a:p>
        </p:txBody>
      </p:sp>
      <p:sp>
        <p:nvSpPr>
          <p:cNvPr id="332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2A4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3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OFFICE · NECESSIDADES</a:t>
            </a:r>
          </a:p>
        </p:txBody>
      </p:sp>
      <p:sp>
        <p:nvSpPr>
          <p:cNvPr id="334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2A406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Necessidades por Porte — Office &amp; Empresas</a:t>
            </a:r>
          </a:p>
        </p:txBody>
      </p:sp>
      <p:sp>
        <p:nvSpPr>
          <p:cNvPr id="335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Do open space de 50 pessoas ao escritório corporativo de 1.000 — soluções distintas, mesma premissa</a:t>
            </a:r>
          </a:p>
        </p:txBody>
      </p:sp>
      <p:grpSp>
        <p:nvGrpSpPr>
          <p:cNvPr id="338" name="Rectangle 6"/>
          <p:cNvGrpSpPr/>
          <p:nvPr/>
        </p:nvGrpSpPr>
        <p:grpSpPr>
          <a:xfrm>
            <a:off x="320039" y="960118"/>
            <a:ext cx="4114803" cy="347476"/>
            <a:chOff x="0" y="-1"/>
            <a:chExt cx="4114801" cy="347475"/>
          </a:xfrm>
        </p:grpSpPr>
        <p:sp>
          <p:nvSpPr>
            <p:cNvPr id="336" name="Rectangle"/>
            <p:cNvSpPr/>
            <p:nvPr/>
          </p:nvSpPr>
          <p:spPr>
            <a:xfrm>
              <a:off x="-1" y="-2"/>
              <a:ext cx="4114803" cy="347477"/>
            </a:xfrm>
            <a:prstGeom prst="rect">
              <a:avLst/>
            </a:prstGeom>
            <a:solidFill>
              <a:srgbClr val="2A406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37" name="Pequeno — PME / Startup (30–150 pessoas)"/>
            <p:cNvSpPr txBox="1"/>
            <p:nvPr/>
          </p:nvSpPr>
          <p:spPr>
            <a:xfrm>
              <a:off x="45718" y="59480"/>
              <a:ext cx="4023364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Pequeno — PME / Startup (30–150 pessoas)</a:t>
              </a:r>
            </a:p>
          </p:txBody>
        </p:sp>
      </p:grpSp>
      <p:grpSp>
        <p:nvGrpSpPr>
          <p:cNvPr id="341" name="Rectangle 7"/>
          <p:cNvGrpSpPr/>
          <p:nvPr/>
        </p:nvGrpSpPr>
        <p:grpSpPr>
          <a:xfrm>
            <a:off x="320039" y="1314945"/>
            <a:ext cx="4114803" cy="3599900"/>
            <a:chOff x="0" y="0"/>
            <a:chExt cx="4114801" cy="3599898"/>
          </a:xfrm>
        </p:grpSpPr>
        <p:sp>
          <p:nvSpPr>
            <p:cNvPr id="339" name="Rectangle"/>
            <p:cNvSpPr/>
            <p:nvPr/>
          </p:nvSpPr>
          <p:spPr>
            <a:xfrm>
              <a:off x="0" y="0"/>
              <a:ext cx="4114802" cy="3599899"/>
            </a:xfrm>
            <a:prstGeom prst="rect">
              <a:avLst/>
            </a:prstGeom>
            <a:solidFill>
              <a:srgbClr val="ECF0F8"/>
            </a:solidFill>
            <a:ln w="9525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40" name="Como pensa…"/>
            <p:cNvSpPr txBox="1"/>
            <p:nvPr/>
          </p:nvSpPr>
          <p:spPr>
            <a:xfrm>
              <a:off x="50481" y="187665"/>
              <a:ext cx="4013839" cy="3224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 sz="10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Como pensa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R$15–35/pessoa/mês é o teto psicológico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Qualidade percebível (não precisa ser barista para notar)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Zero manutenção própria — qualquer problema, liga e resolvem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"Nosso café é Orfeu" = argumento de cultura para recrutar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10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Necessidades operacionais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1–2 máquinas bean-to-cup ou super-automática (sem skill)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6–20 kg/mês de grão Orfeu (espresso blend ou single origin)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Volume mínimo acessível: começar com 8–10 kg/mês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Contrato flexível: 12 meses com opção de renovação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Entrega semanal ou quinzenal de café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App ou WhatsApp para pedido de reposição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10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 que a Orfeu entrega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Super-automática via parceiro de máquinas — sem CapEx da empresa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Mix curado: 2 SKUs (blend espresso + single origin para "momento especial")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Materiais: display de grão na copa + card "nosso café" para visita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Acesso ao Portal do Parceiro: receitas, conteúdo, treinamento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Check-in mensal por WhatsApp + visita trimestral do consultor</a:t>
              </a:r>
            </a:p>
          </p:txBody>
        </p:sp>
      </p:grpSp>
      <p:grpSp>
        <p:nvGrpSpPr>
          <p:cNvPr id="344" name="Rectangle 8"/>
          <p:cNvGrpSpPr/>
          <p:nvPr/>
        </p:nvGrpSpPr>
        <p:grpSpPr>
          <a:xfrm>
            <a:off x="4709158" y="960118"/>
            <a:ext cx="4114803" cy="347476"/>
            <a:chOff x="0" y="-1"/>
            <a:chExt cx="4114801" cy="347475"/>
          </a:xfrm>
        </p:grpSpPr>
        <p:sp>
          <p:nvSpPr>
            <p:cNvPr id="342" name="Rectangle"/>
            <p:cNvSpPr/>
            <p:nvPr/>
          </p:nvSpPr>
          <p:spPr>
            <a:xfrm>
              <a:off x="-1" y="-2"/>
              <a:ext cx="4114803" cy="347477"/>
            </a:xfrm>
            <a:prstGeom prst="rect">
              <a:avLst/>
            </a:prstGeom>
            <a:solidFill>
              <a:srgbClr val="2A406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43" name="Grande — Enterprise (500+ pessoas)"/>
            <p:cNvSpPr txBox="1"/>
            <p:nvPr/>
          </p:nvSpPr>
          <p:spPr>
            <a:xfrm>
              <a:off x="45718" y="59480"/>
              <a:ext cx="4023364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Grande — Enterprise (500+ pessoas)</a:t>
              </a:r>
            </a:p>
          </p:txBody>
        </p:sp>
      </p:grpSp>
      <p:grpSp>
        <p:nvGrpSpPr>
          <p:cNvPr id="347" name="Rectangle 9"/>
          <p:cNvGrpSpPr/>
          <p:nvPr/>
        </p:nvGrpSpPr>
        <p:grpSpPr>
          <a:xfrm>
            <a:off x="4709158" y="1335365"/>
            <a:ext cx="4114803" cy="3559060"/>
            <a:chOff x="0" y="0"/>
            <a:chExt cx="4114801" cy="3559058"/>
          </a:xfrm>
        </p:grpSpPr>
        <p:sp>
          <p:nvSpPr>
            <p:cNvPr id="345" name="Rectangle"/>
            <p:cNvSpPr/>
            <p:nvPr/>
          </p:nvSpPr>
          <p:spPr>
            <a:xfrm>
              <a:off x="0" y="1790"/>
              <a:ext cx="4114802" cy="3555477"/>
            </a:xfrm>
            <a:prstGeom prst="rect">
              <a:avLst/>
            </a:prstGeom>
            <a:solidFill>
              <a:srgbClr val="ECF0F8"/>
            </a:solidFill>
            <a:ln w="9525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46" name="Como pensa…"/>
            <p:cNvSpPr txBox="1"/>
            <p:nvPr/>
          </p:nvSpPr>
          <p:spPr>
            <a:xfrm>
              <a:off x="50481" y="0"/>
              <a:ext cx="4013839" cy="35590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 sz="10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Como pensa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Parceiro estratégico: não compra café, compra uma solução gerida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Rastreabilidade e certificação para relatório ESG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Variedade: espresso + filtrado + cold brew + opções descafeinadas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Experiência diferenciada na área de liderança (lounge C-level)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SLA formal: manutenção ≤4h, entrega garantida sem ruptura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10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Necessidades operacionais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Copa por andar: bean-to-cup de alto volume ou semi-auto (2+ máquinas/andar)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Áreas colaborativas: cold brew tap ou sistema batch brew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Sala de reunião premium: barista portátil ou cápsula gourmet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Volume: 50–300 kg/mês, contrato 24–36 meses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Relatório mensal: consumo por andar/ponto, custo/xícara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·  Protocolo de manutenção: SLA 4h para máquina crítica, 24h demais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b="1" sz="10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 que a Orfeu entrega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Proposta técnica por ponto de consumo: copa, collab area, C-level lounge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Parceiro de máquinas IoT (Kalerm) para monitoramento remoto de uso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Contrato de volume com desconto progressivo e SLA formal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Relatório de consumo + impacto social (kg por produtor)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Certificação ESG: organic, SCA, Rainforest Alliance (conforme mix)</a:t>
              </a:r>
              <a:endPara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100"/>
                </a:spcBef>
                <a:defRPr sz="900">
                  <a:solidFill>
                    <a:srgbClr val="1A3A2A"/>
                  </a:solidFill>
                </a:defRPr>
              </a:pPr>
              <a:r>
                <a:t>✓ 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Treinamento anual de "coffee champion" interno para engajamento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OFFICE · SOLUÇÕES</a:t>
            </a:r>
          </a:p>
        </p:txBody>
      </p:sp>
      <p:sp>
        <p:nvSpPr>
          <p:cNvPr id="350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2A4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1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OFFICE · SOLUÇÕES</a:t>
            </a:r>
          </a:p>
        </p:txBody>
      </p:sp>
      <p:sp>
        <p:nvSpPr>
          <p:cNvPr id="352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2A406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Portfólio de Soluções Orfeu para Escritórios</a:t>
            </a:r>
          </a:p>
        </p:txBody>
      </p:sp>
      <p:sp>
        <p:nvSpPr>
          <p:cNvPr id="353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Uma solução para cada espaço e momento — sem CapEx da empresa, via parceiro de máquinas</a:t>
            </a:r>
          </a:p>
        </p:txBody>
      </p:sp>
      <p:sp>
        <p:nvSpPr>
          <p:cNvPr id="354" name="Rectangle 6"/>
          <p:cNvSpPr/>
          <p:nvPr/>
        </p:nvSpPr>
        <p:spPr>
          <a:xfrm>
            <a:off x="320040" y="914399"/>
            <a:ext cx="2057401" cy="347475"/>
          </a:xfrm>
          <a:prstGeom prst="rect">
            <a:avLst/>
          </a:prstGeom>
          <a:solidFill>
            <a:srgbClr val="2A4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5" name="TextBox 7"/>
          <p:cNvSpPr txBox="1"/>
          <p:nvPr/>
        </p:nvSpPr>
        <p:spPr>
          <a:xfrm>
            <a:off x="411478" y="941833"/>
            <a:ext cx="1874524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Copa / Kitchen</a:t>
            </a:r>
          </a:p>
        </p:txBody>
      </p:sp>
      <p:grpSp>
        <p:nvGrpSpPr>
          <p:cNvPr id="358" name="Rectangle 8"/>
          <p:cNvGrpSpPr/>
          <p:nvPr/>
        </p:nvGrpSpPr>
        <p:grpSpPr>
          <a:xfrm>
            <a:off x="320040" y="1207173"/>
            <a:ext cx="2057401" cy="1526713"/>
            <a:chOff x="0" y="-1"/>
            <a:chExt cx="2057400" cy="1526711"/>
          </a:xfrm>
        </p:grpSpPr>
        <p:sp>
          <p:nvSpPr>
            <p:cNvPr id="356" name="Rectangle"/>
            <p:cNvSpPr/>
            <p:nvPr/>
          </p:nvSpPr>
          <p:spPr>
            <a:xfrm>
              <a:off x="0" y="54696"/>
              <a:ext cx="2057401" cy="1417322"/>
            </a:xfrm>
            <a:prstGeom prst="rect">
              <a:avLst/>
            </a:prstGeom>
            <a:solidFill>
              <a:srgbClr val="ECF0F8"/>
            </a:solidFill>
            <a:ln w="6350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57" name="Bean-to-cup ou…"/>
            <p:cNvSpPr txBox="1"/>
            <p:nvPr/>
          </p:nvSpPr>
          <p:spPr>
            <a:xfrm>
              <a:off x="48894" y="-2"/>
              <a:ext cx="1959613" cy="1526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Bean-to-cup ou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super-automática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Grão Orfeu blend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→ espresso + lungo + cap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Sem barista, sem falha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(1-touch, autolimpeza)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Display de origem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na copa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R$15–25/pessoa/mês</a:t>
              </a:r>
            </a:p>
          </p:txBody>
        </p:sp>
      </p:grpSp>
      <p:sp>
        <p:nvSpPr>
          <p:cNvPr id="359" name="Rectangle 9"/>
          <p:cNvSpPr/>
          <p:nvPr/>
        </p:nvSpPr>
        <p:spPr>
          <a:xfrm>
            <a:off x="2468878" y="914399"/>
            <a:ext cx="2057402" cy="347475"/>
          </a:xfrm>
          <a:prstGeom prst="rect">
            <a:avLst/>
          </a:prstGeom>
          <a:solidFill>
            <a:srgbClr val="1A55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0" name="TextBox 10"/>
          <p:cNvSpPr txBox="1"/>
          <p:nvPr/>
        </p:nvSpPr>
        <p:spPr>
          <a:xfrm>
            <a:off x="2560318" y="941833"/>
            <a:ext cx="1874522" cy="233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200"/>
              </a:spcBef>
              <a:defRPr b="1" sz="900">
                <a:solidFill>
                  <a:srgbClr val="FFFFFF"/>
                </a:solidFill>
              </a:defRPr>
            </a:pPr>
            <a:r>
              <a:t>A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rea Collab / Lounge</a:t>
            </a:r>
          </a:p>
        </p:txBody>
      </p:sp>
      <p:grpSp>
        <p:nvGrpSpPr>
          <p:cNvPr id="363" name="Rectangle 11"/>
          <p:cNvGrpSpPr/>
          <p:nvPr/>
        </p:nvGrpSpPr>
        <p:grpSpPr>
          <a:xfrm>
            <a:off x="2468878" y="1207173"/>
            <a:ext cx="2057402" cy="1526713"/>
            <a:chOff x="0" y="-1"/>
            <a:chExt cx="2057400" cy="1526711"/>
          </a:xfrm>
        </p:grpSpPr>
        <p:sp>
          <p:nvSpPr>
            <p:cNvPr id="361" name="Rectangle"/>
            <p:cNvSpPr/>
            <p:nvPr/>
          </p:nvSpPr>
          <p:spPr>
            <a:xfrm>
              <a:off x="0" y="54696"/>
              <a:ext cx="2057401" cy="1417322"/>
            </a:xfrm>
            <a:prstGeom prst="rect">
              <a:avLst/>
            </a:prstGeom>
            <a:solidFill>
              <a:srgbClr val="ECF0F8"/>
            </a:solidFill>
            <a:ln w="6350" cap="flat">
              <a:solidFill>
                <a:srgbClr val="1A558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62" name="Cold brew tap ou…"/>
            <p:cNvSpPr txBox="1"/>
            <p:nvPr/>
          </p:nvSpPr>
          <p:spPr>
            <a:xfrm>
              <a:off x="48894" y="-2"/>
              <a:ext cx="1959613" cy="1526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Cold brew tap ou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batch brew filtrado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Opção "iced coffee"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cold brew + leite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Mesa de café curado: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4 origens rotativas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Sinalização premium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 origin story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Ancoragem: "our coffee"</a:t>
              </a:r>
            </a:p>
          </p:txBody>
        </p:sp>
      </p:grpSp>
      <p:sp>
        <p:nvSpPr>
          <p:cNvPr id="364" name="Rectangle 12"/>
          <p:cNvSpPr/>
          <p:nvPr/>
        </p:nvSpPr>
        <p:spPr>
          <a:xfrm>
            <a:off x="4617720" y="914399"/>
            <a:ext cx="2057402" cy="347475"/>
          </a:xfrm>
          <a:prstGeom prst="rect">
            <a:avLst/>
          </a:prstGeom>
          <a:solidFill>
            <a:srgbClr val="122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5" name="TextBox 13"/>
          <p:cNvSpPr txBox="1"/>
          <p:nvPr/>
        </p:nvSpPr>
        <p:spPr>
          <a:xfrm>
            <a:off x="4709159" y="941833"/>
            <a:ext cx="187452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Sala de Reunião / C-Level</a:t>
            </a:r>
          </a:p>
        </p:txBody>
      </p:sp>
      <p:grpSp>
        <p:nvGrpSpPr>
          <p:cNvPr id="368" name="Rectangle 14"/>
          <p:cNvGrpSpPr/>
          <p:nvPr/>
        </p:nvGrpSpPr>
        <p:grpSpPr>
          <a:xfrm>
            <a:off x="4617720" y="1261872"/>
            <a:ext cx="2057402" cy="1417324"/>
            <a:chOff x="0" y="0"/>
            <a:chExt cx="2057400" cy="1417322"/>
          </a:xfrm>
        </p:grpSpPr>
        <p:sp>
          <p:nvSpPr>
            <p:cNvPr id="366" name="Rectangle"/>
            <p:cNvSpPr/>
            <p:nvPr/>
          </p:nvSpPr>
          <p:spPr>
            <a:xfrm>
              <a:off x="0" y="0"/>
              <a:ext cx="2057401" cy="1417323"/>
            </a:xfrm>
            <a:prstGeom prst="rect">
              <a:avLst/>
            </a:prstGeom>
            <a:solidFill>
              <a:srgbClr val="E0E8F4"/>
            </a:solidFill>
            <a:ln w="6350" cap="flat">
              <a:solidFill>
                <a:srgbClr val="122A4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67" name="Cápsula premium…"/>
            <p:cNvSpPr/>
            <p:nvPr/>
          </p:nvSpPr>
          <p:spPr>
            <a:xfrm>
              <a:off x="48894" y="708661"/>
              <a:ext cx="195961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Cápsula premium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ou portátil barista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Kits de degustação para visitante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Story card do café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+ QR de origem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Apresentação do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café como pauta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"Nosso café é Orfeu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 origem única"</a:t>
              </a:r>
            </a:p>
          </p:txBody>
        </p:sp>
      </p:grpSp>
      <p:sp>
        <p:nvSpPr>
          <p:cNvPr id="369" name="Rectangle 15"/>
          <p:cNvSpPr/>
          <p:nvPr/>
        </p:nvSpPr>
        <p:spPr>
          <a:xfrm>
            <a:off x="6766559" y="914399"/>
            <a:ext cx="2057402" cy="347475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0" name="TextBox 16"/>
          <p:cNvSpPr txBox="1"/>
          <p:nvPr/>
        </p:nvSpPr>
        <p:spPr>
          <a:xfrm>
            <a:off x="6857999" y="941833"/>
            <a:ext cx="1874523" cy="233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200"/>
              </a:spcBef>
              <a:defRPr b="1" sz="900">
                <a:solidFill>
                  <a:srgbClr val="FFFFFF"/>
                </a:solidFill>
              </a:defRPr>
            </a:pPr>
            <a:r>
              <a:t>E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ventos Internos</a:t>
            </a:r>
          </a:p>
        </p:txBody>
      </p:sp>
      <p:grpSp>
        <p:nvGrpSpPr>
          <p:cNvPr id="373" name="Rectangle 17"/>
          <p:cNvGrpSpPr/>
          <p:nvPr/>
        </p:nvGrpSpPr>
        <p:grpSpPr>
          <a:xfrm>
            <a:off x="6766559" y="1261872"/>
            <a:ext cx="2057402" cy="1417324"/>
            <a:chOff x="0" y="0"/>
            <a:chExt cx="2057400" cy="1417322"/>
          </a:xfrm>
        </p:grpSpPr>
        <p:sp>
          <p:nvSpPr>
            <p:cNvPr id="371" name="Rectangle"/>
            <p:cNvSpPr/>
            <p:nvPr/>
          </p:nvSpPr>
          <p:spPr>
            <a:xfrm>
              <a:off x="0" y="0"/>
              <a:ext cx="2057401" cy="1417323"/>
            </a:xfrm>
            <a:prstGeom prst="rect">
              <a:avLst/>
            </a:prstGeom>
            <a:solidFill>
              <a:srgbClr val="E8F2EA"/>
            </a:solidFill>
            <a:ln w="635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72" name="Setup de café…"/>
            <p:cNvSpPr/>
            <p:nvPr/>
          </p:nvSpPr>
          <p:spPr>
            <a:xfrm>
              <a:off x="48894" y="708661"/>
              <a:ext cx="195961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Setup de café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 barista para evento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Cold brew e hot brew de volume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Kit de materiais: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menu + sinalização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Coffee break com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story de origem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Conteúdo para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redes do evento</a:t>
              </a:r>
            </a:p>
          </p:txBody>
        </p:sp>
      </p:grpSp>
      <p:sp>
        <p:nvSpPr>
          <p:cNvPr id="374" name="Rectangle 18"/>
          <p:cNvSpPr/>
          <p:nvPr/>
        </p:nvSpPr>
        <p:spPr>
          <a:xfrm>
            <a:off x="320040" y="2862072"/>
            <a:ext cx="2743201" cy="292610"/>
          </a:xfrm>
          <a:prstGeom prst="rect">
            <a:avLst/>
          </a:prstGeom>
          <a:solidFill>
            <a:srgbClr val="2A4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5" name="TextBox 19"/>
          <p:cNvSpPr txBox="1"/>
          <p:nvPr/>
        </p:nvSpPr>
        <p:spPr>
          <a:xfrm>
            <a:off x="457199" y="2898649"/>
            <a:ext cx="2468883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Para a Empresa</a:t>
            </a:r>
          </a:p>
        </p:txBody>
      </p:sp>
      <p:grpSp>
        <p:nvGrpSpPr>
          <p:cNvPr id="378" name="Rectangle 20"/>
          <p:cNvGrpSpPr/>
          <p:nvPr/>
        </p:nvGrpSpPr>
        <p:grpSpPr>
          <a:xfrm>
            <a:off x="320040" y="3154678"/>
            <a:ext cx="2743201" cy="1714502"/>
            <a:chOff x="0" y="0"/>
            <a:chExt cx="2743200" cy="1714500"/>
          </a:xfrm>
        </p:grpSpPr>
        <p:sp>
          <p:nvSpPr>
            <p:cNvPr id="376" name="Rectangle"/>
            <p:cNvSpPr/>
            <p:nvPr/>
          </p:nvSpPr>
          <p:spPr>
            <a:xfrm>
              <a:off x="0" y="0"/>
              <a:ext cx="2743201" cy="1714501"/>
            </a:xfrm>
            <a:prstGeom prst="rect">
              <a:avLst/>
            </a:prstGeom>
            <a:solidFill>
              <a:srgbClr val="ECF0F8"/>
            </a:solidFill>
            <a:ln w="6350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77" name="Employer branding real:…"/>
            <p:cNvSpPr txBox="1"/>
            <p:nvPr/>
          </p:nvSpPr>
          <p:spPr>
            <a:xfrm>
              <a:off x="48894" y="93893"/>
              <a:ext cx="2645413" cy="1526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Employer branding real: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"nosso café é specialty"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em job ads e onboarding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Custo vs. delivery: R$18/p/mês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vs. R$35+/p/mês em Starbucks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Retenção de talentos: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café de qualidade = sinal de cuidado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ESG: impacto social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rastreável no relatório anual</a:t>
              </a:r>
            </a:p>
          </p:txBody>
        </p:sp>
      </p:grpSp>
      <p:sp>
        <p:nvSpPr>
          <p:cNvPr id="379" name="Rectangle 21"/>
          <p:cNvSpPr/>
          <p:nvPr/>
        </p:nvSpPr>
        <p:spPr>
          <a:xfrm>
            <a:off x="3200400" y="2862072"/>
            <a:ext cx="2743200" cy="292610"/>
          </a:xfrm>
          <a:prstGeom prst="rect">
            <a:avLst/>
          </a:prstGeom>
          <a:solidFill>
            <a:srgbClr val="1A4A7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80" name="TextBox 22"/>
          <p:cNvSpPr txBox="1"/>
          <p:nvPr/>
        </p:nvSpPr>
        <p:spPr>
          <a:xfrm>
            <a:off x="3337559" y="2898649"/>
            <a:ext cx="246888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Para o Time</a:t>
            </a:r>
          </a:p>
        </p:txBody>
      </p:sp>
      <p:grpSp>
        <p:nvGrpSpPr>
          <p:cNvPr id="383" name="Rectangle 23"/>
          <p:cNvGrpSpPr/>
          <p:nvPr/>
        </p:nvGrpSpPr>
        <p:grpSpPr>
          <a:xfrm>
            <a:off x="3200400" y="3154678"/>
            <a:ext cx="2743200" cy="1714502"/>
            <a:chOff x="0" y="0"/>
            <a:chExt cx="2743200" cy="1714500"/>
          </a:xfrm>
        </p:grpSpPr>
        <p:sp>
          <p:nvSpPr>
            <p:cNvPr id="381" name="Rectangle"/>
            <p:cNvSpPr/>
            <p:nvPr/>
          </p:nvSpPr>
          <p:spPr>
            <a:xfrm>
              <a:off x="0" y="0"/>
              <a:ext cx="2743200" cy="1714501"/>
            </a:xfrm>
            <a:prstGeom prst="rect">
              <a:avLst/>
            </a:prstGeom>
            <a:solidFill>
              <a:srgbClr val="ECF0F8"/>
            </a:solidFill>
            <a:ln w="6350" cap="flat">
              <a:solidFill>
                <a:srgbClr val="1A4A7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82" name="Melhor café = mais energia,…"/>
            <p:cNvSpPr txBox="1"/>
            <p:nvPr/>
          </p:nvSpPr>
          <p:spPr>
            <a:xfrm>
              <a:off x="48894" y="176443"/>
              <a:ext cx="2645412" cy="13616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Melhor café = mais energia,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mais colaboração, menos stress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Ritual de pausa: café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como momento de comunidade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"Coffee champions": pessoas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que ensinam e engajam o time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Experiência sensorial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diária que diferencia o escritório</a:t>
              </a:r>
            </a:p>
          </p:txBody>
        </p:sp>
      </p:grpSp>
      <p:sp>
        <p:nvSpPr>
          <p:cNvPr id="384" name="Rectangle 24"/>
          <p:cNvSpPr/>
          <p:nvPr/>
        </p:nvSpPr>
        <p:spPr>
          <a:xfrm>
            <a:off x="6080759" y="2862072"/>
            <a:ext cx="2743202" cy="292610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85" name="TextBox 25"/>
          <p:cNvSpPr txBox="1"/>
          <p:nvPr/>
        </p:nvSpPr>
        <p:spPr>
          <a:xfrm>
            <a:off x="6217920" y="2898649"/>
            <a:ext cx="246888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Para o RH</a:t>
            </a:r>
          </a:p>
        </p:txBody>
      </p:sp>
      <p:grpSp>
        <p:nvGrpSpPr>
          <p:cNvPr id="388" name="Rectangle 26"/>
          <p:cNvGrpSpPr/>
          <p:nvPr/>
        </p:nvGrpSpPr>
        <p:grpSpPr>
          <a:xfrm>
            <a:off x="6080759" y="3154678"/>
            <a:ext cx="2743202" cy="1714502"/>
            <a:chOff x="0" y="0"/>
            <a:chExt cx="2743200" cy="1714500"/>
          </a:xfrm>
        </p:grpSpPr>
        <p:sp>
          <p:nvSpPr>
            <p:cNvPr id="386" name="Rectangle"/>
            <p:cNvSpPr/>
            <p:nvPr/>
          </p:nvSpPr>
          <p:spPr>
            <a:xfrm>
              <a:off x="0" y="0"/>
              <a:ext cx="2743201" cy="1714501"/>
            </a:xfrm>
            <a:prstGeom prst="rect">
              <a:avLst/>
            </a:prstGeom>
            <a:solidFill>
              <a:srgbClr val="ECF0F8"/>
            </a:solidFill>
            <a:ln w="635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87" name="Benefício visível…"/>
            <p:cNvSpPr txBox="1"/>
            <p:nvPr/>
          </p:nvSpPr>
          <p:spPr>
            <a:xfrm>
              <a:off x="48894" y="176443"/>
              <a:ext cx="2645413" cy="13616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Benefício visível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 mensurável (NPS interno)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"O café" vira pauta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 engagement survey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Argumento em entrevista: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"aqui servimos Orfeu"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Base para programa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 bem-estar (wellness)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Box 1"/>
          <p:cNvSpPr txBox="1"/>
          <p:nvPr/>
        </p:nvSpPr>
        <p:spPr>
          <a:xfrm>
            <a:off x="411479" y="320040"/>
            <a:ext cx="832104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C8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Atualização — Workshop B2B (27/07)</a:t>
            </a:r>
          </a:p>
        </p:txBody>
      </p:sp>
      <p:sp>
        <p:nvSpPr>
          <p:cNvPr id="391" name="TextBox 2"/>
          <p:cNvSpPr txBox="1"/>
          <p:nvPr/>
        </p:nvSpPr>
        <p:spPr>
          <a:xfrm>
            <a:off x="411479" y="1051560"/>
            <a:ext cx="8321042" cy="886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C8000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•  Pendente: mesma matriz de portfólio/atendimento/equipamentos do canal Hotel, aplicada ao canal Office (copa, área colaborativa, sala de reunião, eventos internos).</a:t>
            </a:r>
          </a:p>
          <a:p>
            <a:pPr>
              <a:spcBef>
                <a:spcPts val="1600"/>
              </a:spcBef>
              <a:defRPr i="1" sz="1100">
                <a:solidFill>
                  <a:srgbClr val="666666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Nota referente a Office · Soluções (slide anterior).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OFFICE · REFERÊNCIAS</a:t>
            </a:r>
          </a:p>
        </p:txBody>
      </p:sp>
      <p:sp>
        <p:nvSpPr>
          <p:cNvPr id="394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2A4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5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OFFICE · REFERÊNCIAS</a:t>
            </a:r>
          </a:p>
        </p:txBody>
      </p:sp>
      <p:sp>
        <p:nvSpPr>
          <p:cNvPr id="396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2A406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Referências, Cases e Feiras — Office &amp; Empresas</a:t>
            </a:r>
          </a:p>
        </p:txBody>
      </p:sp>
      <p:sp>
        <p:nvSpPr>
          <p:cNvPr id="397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Como os melhores endereçam office coffee — oportunidades para a Orfeu no canal corporativo</a:t>
            </a:r>
          </a:p>
        </p:txBody>
      </p:sp>
      <p:grpSp>
        <p:nvGrpSpPr>
          <p:cNvPr id="400" name="Rectangle 6"/>
          <p:cNvGrpSpPr/>
          <p:nvPr/>
        </p:nvGrpSpPr>
        <p:grpSpPr>
          <a:xfrm>
            <a:off x="320040" y="960118"/>
            <a:ext cx="2743201" cy="347476"/>
            <a:chOff x="0" y="-1"/>
            <a:chExt cx="2743200" cy="347475"/>
          </a:xfrm>
        </p:grpSpPr>
        <p:sp>
          <p:nvSpPr>
            <p:cNvPr id="398" name="Rectangle"/>
            <p:cNvSpPr/>
            <p:nvPr/>
          </p:nvSpPr>
          <p:spPr>
            <a:xfrm>
              <a:off x="0" y="-2"/>
              <a:ext cx="2743201" cy="347477"/>
            </a:xfrm>
            <a:prstGeom prst="rect">
              <a:avLst/>
            </a:prstGeom>
            <a:solidFill>
              <a:srgbClr val="2A406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99" name="Cases de Referência"/>
            <p:cNvSpPr txBox="1"/>
            <p:nvPr/>
          </p:nvSpPr>
          <p:spPr>
            <a:xfrm>
              <a:off x="45719" y="59480"/>
              <a:ext cx="2651763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Cases de Referência</a:t>
              </a:r>
            </a:p>
          </p:txBody>
        </p:sp>
      </p:grpSp>
      <p:grpSp>
        <p:nvGrpSpPr>
          <p:cNvPr id="403" name="Rectangle 7"/>
          <p:cNvGrpSpPr/>
          <p:nvPr/>
        </p:nvGrpSpPr>
        <p:grpSpPr>
          <a:xfrm>
            <a:off x="320040" y="1300006"/>
            <a:ext cx="2743201" cy="742116"/>
            <a:chOff x="0" y="0"/>
            <a:chExt cx="2743200" cy="742114"/>
          </a:xfrm>
        </p:grpSpPr>
        <p:sp>
          <p:nvSpPr>
            <p:cNvPr id="401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02" name="Nespresso Professional Office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Nespresso Professional Office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Presente em 60.000+ escritórios no Brasil. Comodato de máquina + cápsula proprietária. "Nespresso Moments" para salas de reunião premium. Fraqueza: cápsula cara, sistema fechado, percepção de marca massificada.</a:t>
              </a:r>
            </a:p>
          </p:txBody>
        </p:sp>
      </p:grpSp>
      <p:grpSp>
        <p:nvGrpSpPr>
          <p:cNvPr id="406" name="Rectangle 8"/>
          <p:cNvGrpSpPr/>
          <p:nvPr/>
        </p:nvGrpSpPr>
        <p:grpSpPr>
          <a:xfrm>
            <a:off x="320040" y="2100107"/>
            <a:ext cx="2743201" cy="742115"/>
            <a:chOff x="0" y="0"/>
            <a:chExt cx="2743200" cy="742114"/>
          </a:xfrm>
        </p:grpSpPr>
        <p:sp>
          <p:nvSpPr>
            <p:cNvPr id="404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05" name="Nestlé Professional (Nescafé Dolce Gusto)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Nestlé Professional (Nescafé Dolce Gusto)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Atua em PMEs com proposta de conveniência + preço. Bundle: máquina + sachê (café + chocolate + chá). Forte em mid-market. Fraqueza: não é specialty — falha na narrativa de qualidade premium.</a:t>
              </a:r>
            </a:p>
          </p:txBody>
        </p:sp>
      </p:grpSp>
      <p:grpSp>
        <p:nvGrpSpPr>
          <p:cNvPr id="409" name="Rectangle 9"/>
          <p:cNvGrpSpPr/>
          <p:nvPr/>
        </p:nvGrpSpPr>
        <p:grpSpPr>
          <a:xfrm>
            <a:off x="320040" y="2900207"/>
            <a:ext cx="2743201" cy="742115"/>
            <a:chOff x="0" y="0"/>
            <a:chExt cx="2743200" cy="742114"/>
          </a:xfrm>
        </p:grpSpPr>
        <p:sp>
          <p:nvSpPr>
            <p:cNvPr id="407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08" name="Starbucks at Work (EUA/UK)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Starbucks at Work (EUA/UK)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Programa de office coffee com máquinas dedicadas a empresas. "Starbucks branded experience" no escritório. No Brasil: ainda não lançado — oportunidade para specialty coffee tomar esse espaço antes.</a:t>
              </a:r>
            </a:p>
          </p:txBody>
        </p:sp>
      </p:grpSp>
      <p:grpSp>
        <p:nvGrpSpPr>
          <p:cNvPr id="412" name="Rectangle 10"/>
          <p:cNvGrpSpPr/>
          <p:nvPr/>
        </p:nvGrpSpPr>
        <p:grpSpPr>
          <a:xfrm>
            <a:off x="320040" y="3700307"/>
            <a:ext cx="2743201" cy="742115"/>
            <a:chOff x="0" y="0"/>
            <a:chExt cx="2743200" cy="742114"/>
          </a:xfrm>
        </p:grpSpPr>
        <p:sp>
          <p:nvSpPr>
            <p:cNvPr id="410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11" name="3 Corações Office (Brasil)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2A406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3 Corações Office (Brasil)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Forte em vending machines e escritório mass market. Maior penetração por volume em Brasil corporativo. Fraqueza: percepção commodity — porta aberta para specialty em contas premium.</a:t>
              </a:r>
            </a:p>
          </p:txBody>
        </p:sp>
      </p:grpSp>
      <p:grpSp>
        <p:nvGrpSpPr>
          <p:cNvPr id="415" name="Rectangle 11"/>
          <p:cNvGrpSpPr/>
          <p:nvPr/>
        </p:nvGrpSpPr>
        <p:grpSpPr>
          <a:xfrm>
            <a:off x="3200400" y="960118"/>
            <a:ext cx="2743200" cy="347476"/>
            <a:chOff x="0" y="-1"/>
            <a:chExt cx="2743200" cy="347475"/>
          </a:xfrm>
        </p:grpSpPr>
        <p:sp>
          <p:nvSpPr>
            <p:cNvPr id="413" name="Rectangle"/>
            <p:cNvSpPr/>
            <p:nvPr/>
          </p:nvSpPr>
          <p:spPr>
            <a:xfrm>
              <a:off x="0" y="-2"/>
              <a:ext cx="2743200" cy="347477"/>
            </a:xfrm>
            <a:prstGeom prst="rect">
              <a:avLst/>
            </a:prstGeom>
            <a:solidFill>
              <a:srgbClr val="1A3A2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14" name="Feiras e Fontes"/>
            <p:cNvSpPr txBox="1"/>
            <p:nvPr/>
          </p:nvSpPr>
          <p:spPr>
            <a:xfrm>
              <a:off x="45719" y="59480"/>
              <a:ext cx="2651762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Feiras e Fontes</a:t>
              </a:r>
            </a:p>
          </p:txBody>
        </p:sp>
      </p:grpSp>
      <p:grpSp>
        <p:nvGrpSpPr>
          <p:cNvPr id="418" name="Rectangle 12"/>
          <p:cNvGrpSpPr/>
          <p:nvPr/>
        </p:nvGrpSpPr>
        <p:grpSpPr>
          <a:xfrm>
            <a:off x="3200400" y="1300006"/>
            <a:ext cx="2743200" cy="742116"/>
            <a:chOff x="0" y="0"/>
            <a:chExt cx="2743200" cy="742114"/>
          </a:xfrm>
        </p:grpSpPr>
        <p:sp>
          <p:nvSpPr>
            <p:cNvPr id="416" name="Rectangle"/>
            <p:cNvSpPr/>
            <p:nvPr/>
          </p:nvSpPr>
          <p:spPr>
            <a:xfrm>
              <a:off x="0" y="7584"/>
              <a:ext cx="2743200" cy="726951"/>
            </a:xfrm>
            <a:prstGeom prst="rect">
              <a:avLst/>
            </a:prstGeom>
            <a:solidFill>
              <a:srgbClr val="E8F2EA"/>
            </a:solidFill>
            <a:ln w="508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17" name="SCA Expo (Specialty Coffee Assoc.)…"/>
            <p:cNvSpPr txBox="1"/>
            <p:nvPr/>
          </p:nvSpPr>
          <p:spPr>
            <a:xfrm>
              <a:off x="48258" y="-1"/>
              <a:ext cx="2646682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SCA Expo (Specialty Coffee Assoc.)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Principal feira global de specialty coffee. Cases de office coffee programs de marcas premium. Networking com compradores corporativos globais. Próxima edição: Portland OR, Maio 2027.</a:t>
              </a:r>
            </a:p>
          </p:txBody>
        </p:sp>
      </p:grpSp>
      <p:grpSp>
        <p:nvGrpSpPr>
          <p:cNvPr id="421" name="Rectangle 13"/>
          <p:cNvGrpSpPr/>
          <p:nvPr/>
        </p:nvGrpSpPr>
        <p:grpSpPr>
          <a:xfrm>
            <a:off x="3200400" y="2100107"/>
            <a:ext cx="2743200" cy="742115"/>
            <a:chOff x="0" y="0"/>
            <a:chExt cx="2743200" cy="742114"/>
          </a:xfrm>
        </p:grpSpPr>
        <p:sp>
          <p:nvSpPr>
            <p:cNvPr id="419" name="Rectangle"/>
            <p:cNvSpPr/>
            <p:nvPr/>
          </p:nvSpPr>
          <p:spPr>
            <a:xfrm>
              <a:off x="0" y="7584"/>
              <a:ext cx="2743200" cy="726951"/>
            </a:xfrm>
            <a:prstGeom prst="rect">
              <a:avLst/>
            </a:prstGeom>
            <a:solidFill>
              <a:srgbClr val="E8F2EA"/>
            </a:solidFill>
            <a:ln w="508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20" name="CoffeeOps Brasil / ABIC…"/>
            <p:cNvSpPr txBox="1"/>
            <p:nvPr/>
          </p:nvSpPr>
          <p:spPr>
            <a:xfrm>
              <a:off x="48258" y="-1"/>
              <a:ext cx="2646682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CoffeeOps Brasil / ABIC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Dados de consumo de café em empresas brasileiras. Benchmark de custo/xícara por canal. Evolução do mercado de specialty no corporativo. ABIC: Associação Brasileira da Indústria de Café.</a:t>
              </a:r>
            </a:p>
          </p:txBody>
        </p:sp>
      </p:grpSp>
      <p:grpSp>
        <p:nvGrpSpPr>
          <p:cNvPr id="424" name="Rectangle 14"/>
          <p:cNvGrpSpPr/>
          <p:nvPr/>
        </p:nvGrpSpPr>
        <p:grpSpPr>
          <a:xfrm>
            <a:off x="3200400" y="2900207"/>
            <a:ext cx="2743200" cy="742115"/>
            <a:chOff x="0" y="0"/>
            <a:chExt cx="2743200" cy="742114"/>
          </a:xfrm>
        </p:grpSpPr>
        <p:sp>
          <p:nvSpPr>
            <p:cNvPr id="422" name="Rectangle"/>
            <p:cNvSpPr/>
            <p:nvPr/>
          </p:nvSpPr>
          <p:spPr>
            <a:xfrm>
              <a:off x="0" y="7584"/>
              <a:ext cx="2743200" cy="726951"/>
            </a:xfrm>
            <a:prstGeom prst="rect">
              <a:avLst/>
            </a:prstGeom>
            <a:solidFill>
              <a:srgbClr val="E8F2EA"/>
            </a:solidFill>
            <a:ln w="508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23" name="ABF Franchising Expo…"/>
            <p:cNvSpPr txBox="1"/>
            <p:nvPr/>
          </p:nvSpPr>
          <p:spPr>
            <a:xfrm>
              <a:off x="48258" y="-1"/>
              <a:ext cx="2646682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ABF Franchising Expo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Abordagem de franquias de escritório (coworking, flex office). Canal para contato com gestores de espaços compartilhados. WeWork, JustWork, VentureHub = grandes contas de escritório captive.</a:t>
              </a:r>
            </a:p>
          </p:txBody>
        </p:sp>
      </p:grpSp>
      <p:grpSp>
        <p:nvGrpSpPr>
          <p:cNvPr id="427" name="Rectangle 15"/>
          <p:cNvGrpSpPr/>
          <p:nvPr/>
        </p:nvGrpSpPr>
        <p:grpSpPr>
          <a:xfrm>
            <a:off x="3200400" y="3700307"/>
            <a:ext cx="2743200" cy="742115"/>
            <a:chOff x="0" y="0"/>
            <a:chExt cx="2743200" cy="742114"/>
          </a:xfrm>
        </p:grpSpPr>
        <p:sp>
          <p:nvSpPr>
            <p:cNvPr id="425" name="Rectangle"/>
            <p:cNvSpPr/>
            <p:nvPr/>
          </p:nvSpPr>
          <p:spPr>
            <a:xfrm>
              <a:off x="0" y="7584"/>
              <a:ext cx="2743200" cy="726951"/>
            </a:xfrm>
            <a:prstGeom prst="rect">
              <a:avLst/>
            </a:prstGeom>
            <a:solidFill>
              <a:srgbClr val="E8F2EA"/>
            </a:solidFill>
            <a:ln w="5080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26" name="Great Place to Work / GPTW…"/>
            <p:cNvSpPr txBox="1"/>
            <p:nvPr/>
          </p:nvSpPr>
          <p:spPr>
            <a:xfrm>
              <a:off x="48258" y="-1"/>
              <a:ext cx="2646682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2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Great Place to Work / GPTW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Pesquisa anual: entre top benefits de empresas certificadas GPTW, café de qualidade é citado por 41% dos colaboradores. Parceria potencial: ser o "café oficial das melhores empresas para trabalhar".</a:t>
              </a:r>
            </a:p>
          </p:txBody>
        </p:sp>
      </p:grpSp>
      <p:grpSp>
        <p:nvGrpSpPr>
          <p:cNvPr id="430" name="Rectangle 16"/>
          <p:cNvGrpSpPr/>
          <p:nvPr/>
        </p:nvGrpSpPr>
        <p:grpSpPr>
          <a:xfrm>
            <a:off x="6080759" y="960118"/>
            <a:ext cx="2743202" cy="347476"/>
            <a:chOff x="0" y="-1"/>
            <a:chExt cx="2743200" cy="347475"/>
          </a:xfrm>
        </p:grpSpPr>
        <p:sp>
          <p:nvSpPr>
            <p:cNvPr id="428" name="Rectangle"/>
            <p:cNvSpPr/>
            <p:nvPr/>
          </p:nvSpPr>
          <p:spPr>
            <a:xfrm>
              <a:off x="0" y="-2"/>
              <a:ext cx="2743201" cy="347477"/>
            </a:xfrm>
            <a:prstGeom prst="rect">
              <a:avLst/>
            </a:prstGeom>
            <a:solidFill>
              <a:srgbClr val="1A3A6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4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29" name="Programa Orfeu para Escritórios"/>
            <p:cNvSpPr txBox="1"/>
            <p:nvPr/>
          </p:nvSpPr>
          <p:spPr>
            <a:xfrm>
              <a:off x="45719" y="59480"/>
              <a:ext cx="2651763" cy="228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spcBef>
                  <a:spcPts val="400"/>
                </a:spcBef>
                <a:defRPr b="1"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Programa Orfeu para Escritórios</a:t>
              </a:r>
            </a:p>
          </p:txBody>
        </p:sp>
      </p:grpSp>
      <p:grpSp>
        <p:nvGrpSpPr>
          <p:cNvPr id="433" name="Rectangle 17"/>
          <p:cNvGrpSpPr/>
          <p:nvPr/>
        </p:nvGrpSpPr>
        <p:grpSpPr>
          <a:xfrm>
            <a:off x="6080759" y="1300006"/>
            <a:ext cx="2743202" cy="742116"/>
            <a:chOff x="0" y="0"/>
            <a:chExt cx="2743200" cy="742114"/>
          </a:xfrm>
        </p:grpSpPr>
        <p:sp>
          <p:nvSpPr>
            <p:cNvPr id="431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1A3A6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32" name="Proposta PME (30–150 pessoas)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6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Proposta PME (30–150 pessoas)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Entrada via "Orfeu Office Starter": 1 bean-to-cup (parceiro de máquina), 1 blend espresso Orfeu, entrega quinzenal. R$20/pessoa/mês all-in. Contrato 12 meses. Consultor digital (WhatsApp + portal).</a:t>
              </a:r>
            </a:p>
          </p:txBody>
        </p:sp>
      </p:grpSp>
      <p:grpSp>
        <p:nvGrpSpPr>
          <p:cNvPr id="436" name="Rectangle 18"/>
          <p:cNvGrpSpPr/>
          <p:nvPr/>
        </p:nvGrpSpPr>
        <p:grpSpPr>
          <a:xfrm>
            <a:off x="6080759" y="2100107"/>
            <a:ext cx="2743202" cy="742115"/>
            <a:chOff x="0" y="0"/>
            <a:chExt cx="2743200" cy="742114"/>
          </a:xfrm>
        </p:grpSpPr>
        <p:sp>
          <p:nvSpPr>
            <p:cNvPr id="434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1A3A6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35" name="Proposta Enterprise (500+)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6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Proposta Enterprise (500+)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Diagnóstico de pontos de consumo → proposta técnica → implantação faseada por andar → relatório mensal. Volume: 50+ kg/mês. Parceiro de máquina IoT para gestão remota. SLA formal. Certificação ESG inclusa.</a:t>
              </a:r>
            </a:p>
          </p:txBody>
        </p:sp>
      </p:grpSp>
      <p:grpSp>
        <p:nvGrpSpPr>
          <p:cNvPr id="439" name="Rectangle 19"/>
          <p:cNvGrpSpPr/>
          <p:nvPr/>
        </p:nvGrpSpPr>
        <p:grpSpPr>
          <a:xfrm>
            <a:off x="6080759" y="2900207"/>
            <a:ext cx="2743202" cy="742115"/>
            <a:chOff x="0" y="0"/>
            <a:chExt cx="2743200" cy="742114"/>
          </a:xfrm>
        </p:grpSpPr>
        <p:sp>
          <p:nvSpPr>
            <p:cNvPr id="437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1A3A6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38" name="Diferencial Orfeu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6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Diferencial Orfeu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Specialty com rastreabilidade = argumento ESG real, não greenwashing. Narrativa de origem para "coffee champions" internos. Zero silo: grão, cápsula, filtrado, cold brew = 1 marca, todos os momentos.</a:t>
              </a:r>
            </a:p>
          </p:txBody>
        </p:sp>
      </p:grpSp>
      <p:grpSp>
        <p:nvGrpSpPr>
          <p:cNvPr id="442" name="Rectangle 20"/>
          <p:cNvGrpSpPr/>
          <p:nvPr/>
        </p:nvGrpSpPr>
        <p:grpSpPr>
          <a:xfrm>
            <a:off x="6080759" y="3700307"/>
            <a:ext cx="2743202" cy="742115"/>
            <a:chOff x="0" y="0"/>
            <a:chExt cx="2743200" cy="742114"/>
          </a:xfrm>
        </p:grpSpPr>
        <p:sp>
          <p:nvSpPr>
            <p:cNvPr id="440" name="Rectangle"/>
            <p:cNvSpPr/>
            <p:nvPr/>
          </p:nvSpPr>
          <p:spPr>
            <a:xfrm>
              <a:off x="0" y="7584"/>
              <a:ext cx="2743201" cy="726951"/>
            </a:xfrm>
            <a:prstGeom prst="rect">
              <a:avLst/>
            </a:prstGeom>
            <a:solidFill>
              <a:srgbClr val="ECF0F8"/>
            </a:solidFill>
            <a:ln w="5080" cap="flat">
              <a:solidFill>
                <a:srgbClr val="1A3A6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41" name="Próximos Passos para o Canal…"/>
            <p:cNvSpPr txBox="1"/>
            <p:nvPr/>
          </p:nvSpPr>
          <p:spPr>
            <a:xfrm>
              <a:off x="48258" y="-1"/>
              <a:ext cx="2646683" cy="742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300"/>
                </a:spcBef>
                <a:defRPr b="1" sz="900">
                  <a:solidFill>
                    <a:srgbClr val="1A3A6A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Próximos Passos para o Canal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8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Pilotar com 5–10 PMEs em SP tech/criativo até Q3/2026. Mapear 3 contas enterprise via indicação Cris e rede Orfeu. Validar preço, proposta técnica e proposta ESG. Dados para pitch de redes em Q4/2026.</a:t>
              </a:r>
            </a:p>
          </p:txBody>
        </p:sp>
      </p:grpSp>
      <p:sp>
        <p:nvSpPr>
          <p:cNvPr id="443" name="TextBox 434"/>
          <p:cNvSpPr txBox="1"/>
          <p:nvPr/>
        </p:nvSpPr>
        <p:spPr>
          <a:xfrm>
            <a:off x="256032" y="4598889"/>
            <a:ext cx="86319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i="1" sz="900">
                <a:solidFill>
                  <a:srgbClr val="C8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AÇÃO (Workshop B2B 27/07): estruturar a captação dos leads de feiras (SCA Expo, ABF Franchising, GPTW) e novos eventos do calendário para o CRM. Incluir case de sucesso Orfeu — Eletromidia (escritório), com fotos, vídeos e citações da liderança do cliente.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Box 1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PRÓXIMOS PASSOS</a:t>
            </a:r>
          </a:p>
        </p:txBody>
      </p:sp>
      <p:sp>
        <p:nvSpPr>
          <p:cNvPr id="446" name="Rectangle 2"/>
          <p:cNvSpPr/>
          <p:nvPr/>
        </p:nvSpPr>
        <p:spPr>
          <a:xfrm>
            <a:off x="6812280" y="128015"/>
            <a:ext cx="2011680" cy="274322"/>
          </a:xfrm>
          <a:prstGeom prst="rect">
            <a:avLst/>
          </a:prstGeom>
          <a:solidFill>
            <a:srgbClr val="7A3B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7" name="TextBox 3"/>
          <p:cNvSpPr txBox="1"/>
          <p:nvPr/>
        </p:nvSpPr>
        <p:spPr>
          <a:xfrm>
            <a:off x="6858000" y="128016"/>
            <a:ext cx="1920239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spcBef>
                <a:spcPts val="200"/>
              </a:spcBef>
              <a:defRPr b="1" sz="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PRÓXIMOS PASSOS</a:t>
            </a:r>
          </a:p>
        </p:txBody>
      </p:sp>
      <p:sp>
        <p:nvSpPr>
          <p:cNvPr id="448" name="TextBox 4"/>
          <p:cNvSpPr txBox="1"/>
          <p:nvPr/>
        </p:nvSpPr>
        <p:spPr>
          <a:xfrm>
            <a:off x="365758" y="109729"/>
            <a:ext cx="6217923" cy="36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1A3A2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Plano de Ação — Workshop B2B Julho 2026</a:t>
            </a:r>
          </a:p>
        </p:txBody>
      </p:sp>
      <p:sp>
        <p:nvSpPr>
          <p:cNvPr id="449" name="TextBox 5"/>
          <p:cNvSpPr txBox="1"/>
          <p:nvPr/>
        </p:nvSpPr>
        <p:spPr>
          <a:xfrm>
            <a:off x="365759" y="530352"/>
            <a:ext cx="84124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200"/>
              </a:spcBef>
              <a:defRPr i="1" sz="1000">
                <a:solidFill>
                  <a:srgbClr val="555555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 que definir hoje para que os canais Hotel e Office saiam do workshop com proposta estruturada e piloto pronto</a:t>
            </a:r>
          </a:p>
        </p:txBody>
      </p:sp>
      <p:sp>
        <p:nvSpPr>
          <p:cNvPr id="450" name="Rectangle 6"/>
          <p:cNvSpPr/>
          <p:nvPr/>
        </p:nvSpPr>
        <p:spPr>
          <a:xfrm>
            <a:off x="320040" y="960119"/>
            <a:ext cx="2043684" cy="384050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1" name="TextBox 7"/>
          <p:cNvSpPr txBox="1"/>
          <p:nvPr/>
        </p:nvSpPr>
        <p:spPr>
          <a:xfrm>
            <a:off x="411479" y="996697"/>
            <a:ext cx="1860806" cy="419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200"/>
              </a:spcBef>
              <a:defRPr b="1"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Q3 2026</a:t>
            </a:r>
          </a:p>
          <a:p>
            <a:pPr algn="ctr">
              <a:spcBef>
                <a:spcPts val="200"/>
              </a:spcBef>
              <a:defRPr b="1"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Jul–Set</a:t>
            </a:r>
          </a:p>
        </p:txBody>
      </p:sp>
      <p:grpSp>
        <p:nvGrpSpPr>
          <p:cNvPr id="454" name="Rectangle 8"/>
          <p:cNvGrpSpPr/>
          <p:nvPr/>
        </p:nvGrpSpPr>
        <p:grpSpPr>
          <a:xfrm>
            <a:off x="320040" y="1344165"/>
            <a:ext cx="2043685" cy="3090677"/>
            <a:chOff x="0" y="-1"/>
            <a:chExt cx="2043684" cy="3090675"/>
          </a:xfrm>
        </p:grpSpPr>
        <p:sp>
          <p:nvSpPr>
            <p:cNvPr id="452" name="Rectangle"/>
            <p:cNvSpPr/>
            <p:nvPr/>
          </p:nvSpPr>
          <p:spPr>
            <a:xfrm>
              <a:off x="0" y="-2"/>
              <a:ext cx="2043685" cy="3090677"/>
            </a:xfrm>
            <a:prstGeom prst="rect">
              <a:avLst/>
            </a:prstGeom>
            <a:solidFill>
              <a:srgbClr val="F8F3EC"/>
            </a:solidFill>
            <a:ln w="9525" cap="flat">
              <a:solidFill>
                <a:srgbClr val="8B5E3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53" name="Validar proposta de parceiro…"/>
            <p:cNvSpPr txBox="1"/>
            <p:nvPr/>
          </p:nvSpPr>
          <p:spPr>
            <a:xfrm>
              <a:off x="50482" y="451779"/>
              <a:ext cx="1942721" cy="21871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Validar proposta de parceiro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 máquinas com Cris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Pilotar 3–5 hotéis boutique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em SP / RJ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Pilotar 5–8 PMEs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no canal Office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Definir mix Orfeu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por canal (hotel vs. office)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Criar proposta técnica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por ambiente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Material: "Orfeu no Hotel"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 "Orfeu no Escritório"</a:t>
              </a:r>
            </a:p>
          </p:txBody>
        </p:sp>
      </p:grpSp>
      <p:sp>
        <p:nvSpPr>
          <p:cNvPr id="455" name="Rectangle 9"/>
          <p:cNvSpPr/>
          <p:nvPr/>
        </p:nvSpPr>
        <p:spPr>
          <a:xfrm>
            <a:off x="2473450" y="960119"/>
            <a:ext cx="2043686" cy="384050"/>
          </a:xfrm>
          <a:prstGeom prst="rect">
            <a:avLst/>
          </a:prstGeom>
          <a:solidFill>
            <a:srgbClr val="2A4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6" name="TextBox 10"/>
          <p:cNvSpPr txBox="1"/>
          <p:nvPr/>
        </p:nvSpPr>
        <p:spPr>
          <a:xfrm>
            <a:off x="2564892" y="996697"/>
            <a:ext cx="1860806" cy="419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200"/>
              </a:spcBef>
              <a:defRPr b="1"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Q3 2026</a:t>
            </a:r>
          </a:p>
          <a:p>
            <a:pPr algn="ctr">
              <a:spcBef>
                <a:spcPts val="200"/>
              </a:spcBef>
              <a:defRPr b="1"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Workshop</a:t>
            </a:r>
          </a:p>
        </p:txBody>
      </p:sp>
      <p:grpSp>
        <p:nvGrpSpPr>
          <p:cNvPr id="459" name="Rectangle 11"/>
          <p:cNvGrpSpPr/>
          <p:nvPr/>
        </p:nvGrpSpPr>
        <p:grpSpPr>
          <a:xfrm>
            <a:off x="2473451" y="1344165"/>
            <a:ext cx="2043685" cy="3090677"/>
            <a:chOff x="0" y="-1"/>
            <a:chExt cx="2043684" cy="3090675"/>
          </a:xfrm>
        </p:grpSpPr>
        <p:sp>
          <p:nvSpPr>
            <p:cNvPr id="457" name="Rectangle"/>
            <p:cNvSpPr/>
            <p:nvPr/>
          </p:nvSpPr>
          <p:spPr>
            <a:xfrm>
              <a:off x="0" y="-2"/>
              <a:ext cx="2043685" cy="3090677"/>
            </a:xfrm>
            <a:prstGeom prst="rect">
              <a:avLst/>
            </a:prstGeom>
            <a:solidFill>
              <a:srgbClr val="ECF0F8"/>
            </a:solidFill>
            <a:ln w="9525" cap="flat">
              <a:solidFill>
                <a:srgbClr val="2A40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58" name="Definir: parceiro de máquinas…"/>
            <p:cNvSpPr txBox="1"/>
            <p:nvPr/>
          </p:nvSpPr>
          <p:spPr>
            <a:xfrm>
              <a:off x="50482" y="451779"/>
              <a:ext cx="1942722" cy="21871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Definir: parceiro de máquinas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formal (SLA + exclusividade)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Definir: preço bundled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(máquina + café + serviço)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Criar: RACI de gestão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do canal (Cris + Silvia)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Validar: volume mínimo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por porte de conta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Definir: materiais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necessários para o canal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Go/no-go: enterprise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vs. foco em PME first</a:t>
              </a:r>
            </a:p>
          </p:txBody>
        </p:sp>
      </p:grpSp>
      <p:sp>
        <p:nvSpPr>
          <p:cNvPr id="460" name="Rectangle 12"/>
          <p:cNvSpPr/>
          <p:nvPr/>
        </p:nvSpPr>
        <p:spPr>
          <a:xfrm>
            <a:off x="4626864" y="960119"/>
            <a:ext cx="2043686" cy="384050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1" name="TextBox 13"/>
          <p:cNvSpPr txBox="1"/>
          <p:nvPr/>
        </p:nvSpPr>
        <p:spPr>
          <a:xfrm>
            <a:off x="4718303" y="996697"/>
            <a:ext cx="1860806" cy="419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200"/>
              </a:spcBef>
              <a:defRPr b="1"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Q4 2026</a:t>
            </a:r>
          </a:p>
          <a:p>
            <a:pPr algn="ctr">
              <a:spcBef>
                <a:spcPts val="200"/>
              </a:spcBef>
              <a:defRPr b="1"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Out–Dez</a:t>
            </a:r>
          </a:p>
        </p:txBody>
      </p:sp>
      <p:grpSp>
        <p:nvGrpSpPr>
          <p:cNvPr id="464" name="Rectangle 14"/>
          <p:cNvGrpSpPr/>
          <p:nvPr/>
        </p:nvGrpSpPr>
        <p:grpSpPr>
          <a:xfrm>
            <a:off x="4626864" y="1344165"/>
            <a:ext cx="2043686" cy="3090677"/>
            <a:chOff x="0" y="-1"/>
            <a:chExt cx="2043684" cy="3090675"/>
          </a:xfrm>
        </p:grpSpPr>
        <p:sp>
          <p:nvSpPr>
            <p:cNvPr id="462" name="Rectangle"/>
            <p:cNvSpPr/>
            <p:nvPr/>
          </p:nvSpPr>
          <p:spPr>
            <a:xfrm>
              <a:off x="0" y="-2"/>
              <a:ext cx="2043685" cy="3090677"/>
            </a:xfrm>
            <a:prstGeom prst="rect">
              <a:avLst/>
            </a:prstGeom>
            <a:solidFill>
              <a:srgbClr val="E8F2EA"/>
            </a:solidFill>
            <a:ln w="9525" cap="flat">
              <a:solidFill>
                <a:srgbClr val="1A3A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63" name="Avaliar resultado…"/>
            <p:cNvSpPr txBox="1"/>
            <p:nvPr/>
          </p:nvSpPr>
          <p:spPr>
            <a:xfrm>
              <a:off x="50482" y="451779"/>
              <a:ext cx="1942722" cy="21871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Avaliar resultado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do piloto hotel + office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Refinar proposta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com dados reais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Pitch para primeiras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contas enterprise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Participação em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feira do setor (ABrAHotel)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Proposta para rede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hoteleira (se piloto OK)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Meta: 10 hotéis +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20 escritórios ativos</a:t>
              </a:r>
            </a:p>
          </p:txBody>
        </p:sp>
      </p:grpSp>
      <p:sp>
        <p:nvSpPr>
          <p:cNvPr id="465" name="Rectangle 15"/>
          <p:cNvSpPr/>
          <p:nvPr/>
        </p:nvSpPr>
        <p:spPr>
          <a:xfrm>
            <a:off x="6780276" y="960119"/>
            <a:ext cx="2043686" cy="384050"/>
          </a:xfrm>
          <a:prstGeom prst="rect">
            <a:avLst/>
          </a:prstGeom>
          <a:solidFill>
            <a:srgbClr val="1A3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6" name="TextBox 16"/>
          <p:cNvSpPr txBox="1"/>
          <p:nvPr/>
        </p:nvSpPr>
        <p:spPr>
          <a:xfrm>
            <a:off x="6871714" y="996697"/>
            <a:ext cx="1860806" cy="419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200"/>
              </a:spcBef>
              <a:defRPr b="1"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2027+</a:t>
            </a:r>
          </a:p>
          <a:p>
            <a:pPr algn="ctr">
              <a:spcBef>
                <a:spcPts val="200"/>
              </a:spcBef>
              <a:defRPr b="1"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Escala</a:t>
            </a:r>
          </a:p>
        </p:txBody>
      </p:sp>
      <p:grpSp>
        <p:nvGrpSpPr>
          <p:cNvPr id="469" name="Rectangle 17"/>
          <p:cNvGrpSpPr/>
          <p:nvPr/>
        </p:nvGrpSpPr>
        <p:grpSpPr>
          <a:xfrm>
            <a:off x="6780276" y="1344165"/>
            <a:ext cx="2043686" cy="3090677"/>
            <a:chOff x="0" y="-1"/>
            <a:chExt cx="2043684" cy="3090675"/>
          </a:xfrm>
        </p:grpSpPr>
        <p:sp>
          <p:nvSpPr>
            <p:cNvPr id="467" name="Rectangle"/>
            <p:cNvSpPr/>
            <p:nvPr/>
          </p:nvSpPr>
          <p:spPr>
            <a:xfrm>
              <a:off x="0" y="-2"/>
              <a:ext cx="2043685" cy="3090677"/>
            </a:xfrm>
            <a:prstGeom prst="rect">
              <a:avLst/>
            </a:prstGeom>
            <a:solidFill>
              <a:srgbClr val="E0E8F0"/>
            </a:solidFill>
            <a:ln w="9525" cap="flat">
              <a:solidFill>
                <a:srgbClr val="1A3A6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68" name="Programa formal…"/>
            <p:cNvSpPr txBox="1"/>
            <p:nvPr/>
          </p:nvSpPr>
          <p:spPr>
            <a:xfrm>
              <a:off x="50482" y="451779"/>
              <a:ext cx="1942722" cy="21871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Programa formal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"Orfeu no Hotel" lançado</a:t>
              </a:r>
            </a:p>
            <a:p>
              <a:pPr algn="ctr">
                <a:spcBef>
                  <a:spcPts val="200"/>
                </a:spcBef>
                <a:defRPr sz="9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Enterprise office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como canal dedicado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Consultor específico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para Hotel + Office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Parceiro de máquinas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por região (SP, RJ, Sul)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Meta: 50 hotéis +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100 escritórios 2027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Contribuição de</a:t>
              </a:r>
            </a:p>
            <a:p>
              <a:pPr>
                <a:spcBef>
                  <a:spcPts val="200"/>
                </a:spcBef>
                <a:defRPr sz="900">
                  <a:solidFill>
                    <a:srgbClr val="222222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r>
                <a:t>10–15% da receita B2B</a:t>
              </a:r>
            </a:p>
          </p:txBody>
        </p:sp>
      </p:grpSp>
      <p:sp>
        <p:nvSpPr>
          <p:cNvPr id="470" name="TextBox 460"/>
          <p:cNvSpPr txBox="1"/>
          <p:nvPr/>
        </p:nvSpPr>
        <p:spPr>
          <a:xfrm>
            <a:off x="256032" y="4604003"/>
            <a:ext cx="8631936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i="1" sz="900">
                <a:solidFill>
                  <a:srgbClr val="C8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AÇÃO (Workshop B2B 27/07): garantir NPS e PRAZO DE ENTREGA como indicadores-chave desta e de qualquer outra frente do projeto. Modelo de negócio do piloto SP (v1 em slide): meta R$300 mil/mês em até 1 ano — Cris. Garantir FTE dedicado ao canal Escritórios — Augusto.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