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half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half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422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9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29000" y="411480"/>
            <a:ext cx="1572165" cy="1234440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TextBox 3"/>
          <p:cNvSpPr txBox="1"/>
          <p:nvPr/>
        </p:nvSpPr>
        <p:spPr>
          <a:xfrm>
            <a:off x="640079" y="2057399"/>
            <a:ext cx="786384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5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Gerenciamento de Categoria — Café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640079" y="2578607"/>
            <a:ext cx="786384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400">
                <a:solidFill>
                  <a:srgbClr val="D8E4D6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35 ideias para revigorar a área de café do Grupo Pão de Açúcar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640079" y="3063239"/>
            <a:ext cx="786384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11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Um fluxo de 7 etapas, do primeiro contato ao teatro de loja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640079" y="4434840"/>
            <a:ext cx="78638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1000">
                <a:solidFill>
                  <a:srgbClr val="B8C8B6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Briefing interno Orfeu  ·  Preparado por Alquemia  ·  Agosto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TextBox 2"/>
          <p:cNvSpPr txBox="1"/>
          <p:nvPr/>
        </p:nvSpPr>
        <p:spPr>
          <a:xfrm>
            <a:off x="365759" y="156464"/>
            <a:ext cx="73152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O Fluxo — Da Atração ao Teatro de Loja</a:t>
            </a:r>
          </a:p>
        </p:txBody>
      </p:sp>
      <p:sp>
        <p:nvSpPr>
          <p:cNvPr id="103" name="TextBox 3"/>
          <p:cNvSpPr txBox="1"/>
          <p:nvPr/>
        </p:nvSpPr>
        <p:spPr>
          <a:xfrm>
            <a:off x="365759" y="566928"/>
            <a:ext cx="84124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9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7 etapas da jornada do shopper de café no GPA, com 5 ideias criativas cada</a:t>
            </a:r>
          </a:p>
        </p:txBody>
      </p:sp>
      <p:sp>
        <p:nvSpPr>
          <p:cNvPr id="104" name="Rounded Rectangle 4"/>
          <p:cNvSpPr/>
          <p:nvPr/>
        </p:nvSpPr>
        <p:spPr>
          <a:xfrm>
            <a:off x="320040" y="1417319"/>
            <a:ext cx="1152145" cy="1417321"/>
          </a:xfrm>
          <a:prstGeom prst="roundRect">
            <a:avLst>
              <a:gd name="adj" fmla="val 12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Rounded Rectangle 5"/>
          <p:cNvSpPr/>
          <p:nvPr/>
        </p:nvSpPr>
        <p:spPr>
          <a:xfrm>
            <a:off x="320040" y="1417319"/>
            <a:ext cx="1152145" cy="292609"/>
          </a:xfrm>
          <a:prstGeom prst="roundRect">
            <a:avLst>
              <a:gd name="adj" fmla="val 50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TextBox 6"/>
          <p:cNvSpPr txBox="1"/>
          <p:nvPr/>
        </p:nvSpPr>
        <p:spPr>
          <a:xfrm>
            <a:off x="320040" y="1474723"/>
            <a:ext cx="115214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07" name="TextBox 7"/>
          <p:cNvSpPr txBox="1"/>
          <p:nvPr/>
        </p:nvSpPr>
        <p:spPr>
          <a:xfrm>
            <a:off x="374903" y="1783079"/>
            <a:ext cx="1042418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Atrair novos clientes para a loja</a:t>
            </a:r>
          </a:p>
        </p:txBody>
      </p:sp>
      <p:sp>
        <p:nvSpPr>
          <p:cNvPr id="108" name="Right Arrow 8"/>
          <p:cNvSpPr/>
          <p:nvPr/>
        </p:nvSpPr>
        <p:spPr>
          <a:xfrm>
            <a:off x="1471184" y="2043683"/>
            <a:ext cx="75153" cy="16459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E6E6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Rounded Rectangle 9"/>
          <p:cNvSpPr/>
          <p:nvPr/>
        </p:nvSpPr>
        <p:spPr>
          <a:xfrm>
            <a:off x="1545336" y="1417319"/>
            <a:ext cx="1152145" cy="1417321"/>
          </a:xfrm>
          <a:prstGeom prst="roundRect">
            <a:avLst>
              <a:gd name="adj" fmla="val 12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Rounded Rectangle 10"/>
          <p:cNvSpPr/>
          <p:nvPr/>
        </p:nvSpPr>
        <p:spPr>
          <a:xfrm>
            <a:off x="1545336" y="1417319"/>
            <a:ext cx="1152145" cy="292609"/>
          </a:xfrm>
          <a:prstGeom prst="roundRect">
            <a:avLst>
              <a:gd name="adj" fmla="val 50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TextBox 11"/>
          <p:cNvSpPr txBox="1"/>
          <p:nvPr/>
        </p:nvSpPr>
        <p:spPr>
          <a:xfrm>
            <a:off x="1545335" y="1474723"/>
            <a:ext cx="1152146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2" name="TextBox 12"/>
          <p:cNvSpPr txBox="1"/>
          <p:nvPr/>
        </p:nvSpPr>
        <p:spPr>
          <a:xfrm>
            <a:off x="1600199" y="1783079"/>
            <a:ext cx="1042418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Converter mais clientes da loja para a categoria</a:t>
            </a:r>
          </a:p>
        </p:txBody>
      </p:sp>
      <p:sp>
        <p:nvSpPr>
          <p:cNvPr id="113" name="Right Arrow 13"/>
          <p:cNvSpPr/>
          <p:nvPr/>
        </p:nvSpPr>
        <p:spPr>
          <a:xfrm>
            <a:off x="2696479" y="2043683"/>
            <a:ext cx="75153" cy="16459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E6E6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Rounded Rectangle 14"/>
          <p:cNvSpPr/>
          <p:nvPr/>
        </p:nvSpPr>
        <p:spPr>
          <a:xfrm>
            <a:off x="2770632" y="1417319"/>
            <a:ext cx="1152145" cy="1417321"/>
          </a:xfrm>
          <a:prstGeom prst="roundRect">
            <a:avLst>
              <a:gd name="adj" fmla="val 12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Rounded Rectangle 15"/>
          <p:cNvSpPr/>
          <p:nvPr/>
        </p:nvSpPr>
        <p:spPr>
          <a:xfrm>
            <a:off x="2770632" y="1417319"/>
            <a:ext cx="1152145" cy="292609"/>
          </a:xfrm>
          <a:prstGeom prst="roundRect">
            <a:avLst>
              <a:gd name="adj" fmla="val 50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TextBox 16"/>
          <p:cNvSpPr txBox="1"/>
          <p:nvPr/>
        </p:nvSpPr>
        <p:spPr>
          <a:xfrm>
            <a:off x="2770632" y="1474723"/>
            <a:ext cx="115214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17" name="TextBox 17"/>
          <p:cNvSpPr txBox="1"/>
          <p:nvPr/>
        </p:nvSpPr>
        <p:spPr>
          <a:xfrm>
            <a:off x="2825495" y="1783079"/>
            <a:ext cx="1042417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Educar e fidelizar clientes</a:t>
            </a:r>
          </a:p>
        </p:txBody>
      </p:sp>
      <p:sp>
        <p:nvSpPr>
          <p:cNvPr id="118" name="Right Arrow 18"/>
          <p:cNvSpPr/>
          <p:nvPr/>
        </p:nvSpPr>
        <p:spPr>
          <a:xfrm>
            <a:off x="3921776" y="2043683"/>
            <a:ext cx="75153" cy="16459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E6E6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Rounded Rectangle 19"/>
          <p:cNvSpPr/>
          <p:nvPr/>
        </p:nvSpPr>
        <p:spPr>
          <a:xfrm>
            <a:off x="3995928" y="1417319"/>
            <a:ext cx="1152145" cy="1417321"/>
          </a:xfrm>
          <a:prstGeom prst="roundRect">
            <a:avLst>
              <a:gd name="adj" fmla="val 12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Rounded Rectangle 20"/>
          <p:cNvSpPr/>
          <p:nvPr/>
        </p:nvSpPr>
        <p:spPr>
          <a:xfrm>
            <a:off x="3995928" y="1417319"/>
            <a:ext cx="1152145" cy="292609"/>
          </a:xfrm>
          <a:prstGeom prst="roundRect">
            <a:avLst>
              <a:gd name="adj" fmla="val 50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TextBox 21"/>
          <p:cNvSpPr txBox="1"/>
          <p:nvPr/>
        </p:nvSpPr>
        <p:spPr>
          <a:xfrm>
            <a:off x="3995928" y="1474723"/>
            <a:ext cx="115214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22" name="TextBox 22"/>
          <p:cNvSpPr txBox="1"/>
          <p:nvPr/>
        </p:nvSpPr>
        <p:spPr>
          <a:xfrm>
            <a:off x="4050791" y="1783079"/>
            <a:ext cx="1042417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Fazer o trade up de produtos</a:t>
            </a:r>
          </a:p>
        </p:txBody>
      </p:sp>
      <p:sp>
        <p:nvSpPr>
          <p:cNvPr id="123" name="Right Arrow 23"/>
          <p:cNvSpPr/>
          <p:nvPr/>
        </p:nvSpPr>
        <p:spPr>
          <a:xfrm>
            <a:off x="5147071" y="2043683"/>
            <a:ext cx="75153" cy="16459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E6E6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Rounded Rectangle 24"/>
          <p:cNvSpPr/>
          <p:nvPr/>
        </p:nvSpPr>
        <p:spPr>
          <a:xfrm>
            <a:off x="5221223" y="1417319"/>
            <a:ext cx="1152145" cy="1417321"/>
          </a:xfrm>
          <a:prstGeom prst="roundRect">
            <a:avLst>
              <a:gd name="adj" fmla="val 12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Rounded Rectangle 25"/>
          <p:cNvSpPr/>
          <p:nvPr/>
        </p:nvSpPr>
        <p:spPr>
          <a:xfrm>
            <a:off x="5221223" y="1417319"/>
            <a:ext cx="1152145" cy="292609"/>
          </a:xfrm>
          <a:prstGeom prst="roundRect">
            <a:avLst>
              <a:gd name="adj" fmla="val 50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TextBox 26"/>
          <p:cNvSpPr txBox="1"/>
          <p:nvPr/>
        </p:nvSpPr>
        <p:spPr>
          <a:xfrm>
            <a:off x="5221223" y="1474723"/>
            <a:ext cx="115214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27" name="TextBox 27"/>
          <p:cNvSpPr txBox="1"/>
          <p:nvPr/>
        </p:nvSpPr>
        <p:spPr>
          <a:xfrm>
            <a:off x="5276088" y="1783079"/>
            <a:ext cx="1042417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Embalagens para produtos premium e de maior margem</a:t>
            </a:r>
          </a:p>
        </p:txBody>
      </p:sp>
      <p:sp>
        <p:nvSpPr>
          <p:cNvPr id="128" name="Right Arrow 28"/>
          <p:cNvSpPr/>
          <p:nvPr/>
        </p:nvSpPr>
        <p:spPr>
          <a:xfrm>
            <a:off x="6372368" y="2043683"/>
            <a:ext cx="75153" cy="16459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E6E6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Rounded Rectangle 29"/>
          <p:cNvSpPr/>
          <p:nvPr/>
        </p:nvSpPr>
        <p:spPr>
          <a:xfrm>
            <a:off x="6446520" y="1417319"/>
            <a:ext cx="1152145" cy="1417321"/>
          </a:xfrm>
          <a:prstGeom prst="roundRect">
            <a:avLst>
              <a:gd name="adj" fmla="val 12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Rounded Rectangle 30"/>
          <p:cNvSpPr/>
          <p:nvPr/>
        </p:nvSpPr>
        <p:spPr>
          <a:xfrm>
            <a:off x="6446520" y="1417319"/>
            <a:ext cx="1152145" cy="292609"/>
          </a:xfrm>
          <a:prstGeom prst="roundRect">
            <a:avLst>
              <a:gd name="adj" fmla="val 50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TextBox 31"/>
          <p:cNvSpPr txBox="1"/>
          <p:nvPr/>
        </p:nvSpPr>
        <p:spPr>
          <a:xfrm>
            <a:off x="6446520" y="1474723"/>
            <a:ext cx="115214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32" name="TextBox 32"/>
          <p:cNvSpPr txBox="1"/>
          <p:nvPr/>
        </p:nvSpPr>
        <p:spPr>
          <a:xfrm>
            <a:off x="6501384" y="1783079"/>
            <a:ext cx="1042417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Diferenciar o cliente dos demais varejistas</a:t>
            </a:r>
          </a:p>
        </p:txBody>
      </p:sp>
      <p:sp>
        <p:nvSpPr>
          <p:cNvPr id="133" name="Right Arrow 33"/>
          <p:cNvSpPr/>
          <p:nvPr/>
        </p:nvSpPr>
        <p:spPr>
          <a:xfrm>
            <a:off x="7597664" y="2043683"/>
            <a:ext cx="75153" cy="164593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E6E6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" name="Rounded Rectangle 34"/>
          <p:cNvSpPr/>
          <p:nvPr/>
        </p:nvSpPr>
        <p:spPr>
          <a:xfrm>
            <a:off x="7671816" y="1417319"/>
            <a:ext cx="1152145" cy="1417321"/>
          </a:xfrm>
          <a:prstGeom prst="roundRect">
            <a:avLst>
              <a:gd name="adj" fmla="val 12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Rounded Rectangle 35"/>
          <p:cNvSpPr/>
          <p:nvPr/>
        </p:nvSpPr>
        <p:spPr>
          <a:xfrm>
            <a:off x="7671816" y="1417319"/>
            <a:ext cx="1152145" cy="292609"/>
          </a:xfrm>
          <a:prstGeom prst="roundRect">
            <a:avLst>
              <a:gd name="adj" fmla="val 50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extBox 36"/>
          <p:cNvSpPr txBox="1"/>
          <p:nvPr/>
        </p:nvSpPr>
        <p:spPr>
          <a:xfrm>
            <a:off x="7671816" y="1474723"/>
            <a:ext cx="115214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37" name="TextBox 37"/>
          <p:cNvSpPr txBox="1"/>
          <p:nvPr/>
        </p:nvSpPr>
        <p:spPr>
          <a:xfrm>
            <a:off x="7726680" y="1783079"/>
            <a:ext cx="1042417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Melhorar a experiência e o in-store theater</a:t>
            </a:r>
          </a:p>
        </p:txBody>
      </p:sp>
      <p:sp>
        <p:nvSpPr>
          <p:cNvPr id="138" name="TextBox 38"/>
          <p:cNvSpPr txBox="1"/>
          <p:nvPr/>
        </p:nvSpPr>
        <p:spPr>
          <a:xfrm>
            <a:off x="365759" y="3063239"/>
            <a:ext cx="841248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10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Cada etapa reúne 5 ideias inspiradas na Orfeu e em referências de gerenciamento de categoria de vinhos, queijos, destilados e outros produtos premium.</a:t>
            </a:r>
          </a:p>
        </p:txBody>
      </p:sp>
      <p:sp>
        <p:nvSpPr>
          <p:cNvPr id="139" name="Rounded Rectangle 39"/>
          <p:cNvSpPr/>
          <p:nvPr/>
        </p:nvSpPr>
        <p:spPr>
          <a:xfrm>
            <a:off x="365759" y="3520440"/>
            <a:ext cx="8412482" cy="1234441"/>
          </a:xfrm>
          <a:prstGeom prst="roundRect">
            <a:avLst>
              <a:gd name="adj" fmla="val 8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TextBox 40"/>
          <p:cNvSpPr txBox="1"/>
          <p:nvPr/>
        </p:nvSpPr>
        <p:spPr>
          <a:xfrm>
            <a:off x="594360" y="3639311"/>
            <a:ext cx="7955279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Como usar este material</a:t>
            </a:r>
          </a:p>
        </p:txBody>
      </p:sp>
      <p:sp>
        <p:nvSpPr>
          <p:cNvPr id="141" name="TextBox 41"/>
          <p:cNvSpPr txBox="1"/>
          <p:nvPr/>
        </p:nvSpPr>
        <p:spPr>
          <a:xfrm>
            <a:off x="594360" y="3913632"/>
            <a:ext cx="7955279" cy="461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Cada etapa do fluxo tem seu próprio slide com as 5 ideias. Priorizar 1–2 ideias por etapa para levar como proposta concreta à reunião com o time comercial/marketing do GPA (Bloco 3 do roteiro de reunião), evitando sobrecarregar com as 35 de uma vez. As ideias de teatro de loja (etapa 7) e embalagem (etapa 5) são as de menor complexidade de execução e maior impacto visual imediato — bons candidatos a piloto rápido.</a:t>
            </a:r>
          </a:p>
        </p:txBody>
      </p:sp>
      <p:sp>
        <p:nvSpPr>
          <p:cNvPr id="142" name="TextBox 43"/>
          <p:cNvSpPr txBox="1"/>
          <p:nvPr/>
        </p:nvSpPr>
        <p:spPr>
          <a:xfrm>
            <a:off x="8321040" y="4956047"/>
            <a:ext cx="457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TextBox 2"/>
          <p:cNvSpPr txBox="1"/>
          <p:nvPr/>
        </p:nvSpPr>
        <p:spPr>
          <a:xfrm>
            <a:off x="365759" y="156464"/>
            <a:ext cx="73152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Etapa 1 — Atrair novos clientes para a loja</a:t>
            </a:r>
          </a:p>
        </p:txBody>
      </p:sp>
      <p:sp>
        <p:nvSpPr>
          <p:cNvPr id="146" name="Rounded Rectangle 3"/>
          <p:cNvSpPr/>
          <p:nvPr/>
        </p:nvSpPr>
        <p:spPr>
          <a:xfrm>
            <a:off x="365759" y="914400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TextBox 4"/>
          <p:cNvSpPr txBox="1"/>
          <p:nvPr/>
        </p:nvSpPr>
        <p:spPr>
          <a:xfrm>
            <a:off x="365759" y="1168654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48" name="Rounded Rectangle 5"/>
          <p:cNvSpPr/>
          <p:nvPr/>
        </p:nvSpPr>
        <p:spPr>
          <a:xfrm>
            <a:off x="877824" y="914400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" name="TextBox 6"/>
          <p:cNvSpPr txBox="1"/>
          <p:nvPr/>
        </p:nvSpPr>
        <p:spPr>
          <a:xfrm>
            <a:off x="1060703" y="987552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Aroma marketing na entrada</a:t>
            </a:r>
          </a:p>
        </p:txBody>
      </p:sp>
      <p:sp>
        <p:nvSpPr>
          <p:cNvPr id="150" name="TextBox 7"/>
          <p:cNvSpPr txBox="1"/>
          <p:nvPr/>
        </p:nvSpPr>
        <p:spPr>
          <a:xfrm>
            <a:off x="1060703" y="1243583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Moedor visível liberando aroma de torra fresca perto da entrada/hortifruti — mesmo gatilho olfativo que padarias usam com pão quente.</a:t>
            </a:r>
          </a:p>
        </p:txBody>
      </p:sp>
      <p:sp>
        <p:nvSpPr>
          <p:cNvPr id="151" name="Rounded Rectangle 8"/>
          <p:cNvSpPr/>
          <p:nvPr/>
        </p:nvSpPr>
        <p:spPr>
          <a:xfrm>
            <a:off x="365759" y="1719072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" name="TextBox 9"/>
          <p:cNvSpPr txBox="1"/>
          <p:nvPr/>
        </p:nvSpPr>
        <p:spPr>
          <a:xfrm>
            <a:off x="365759" y="1973326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53" name="Rounded Rectangle 10"/>
          <p:cNvSpPr/>
          <p:nvPr/>
        </p:nvSpPr>
        <p:spPr>
          <a:xfrm>
            <a:off x="877824" y="1719072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TextBox 11"/>
          <p:cNvSpPr txBox="1"/>
          <p:nvPr/>
        </p:nvSpPr>
        <p:spPr>
          <a:xfrm>
            <a:off x="1060703" y="1792223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"Orfeu on Wheels" — provador itinerante</a:t>
            </a:r>
          </a:p>
        </p:txBody>
      </p:sp>
      <p:sp>
        <p:nvSpPr>
          <p:cNvPr id="155" name="TextBox 12"/>
          <p:cNvSpPr txBox="1"/>
          <p:nvPr/>
        </p:nvSpPr>
        <p:spPr>
          <a:xfrm>
            <a:off x="1060703" y="2048255"/>
            <a:ext cx="7589520" cy="28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Carrinho de degustação em pontos de alto fluxo do bairro (portaria de prédios, feiras, eventos do Clube Mais), com cupom direcionando à loja mais próxima.</a:t>
            </a:r>
          </a:p>
        </p:txBody>
      </p:sp>
      <p:sp>
        <p:nvSpPr>
          <p:cNvPr id="156" name="Rounded Rectangle 13"/>
          <p:cNvSpPr/>
          <p:nvPr/>
        </p:nvSpPr>
        <p:spPr>
          <a:xfrm>
            <a:off x="365759" y="2523744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14"/>
          <p:cNvSpPr txBox="1"/>
          <p:nvPr/>
        </p:nvSpPr>
        <p:spPr>
          <a:xfrm>
            <a:off x="365759" y="2777998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58" name="Rounded Rectangle 15"/>
          <p:cNvSpPr/>
          <p:nvPr/>
        </p:nvSpPr>
        <p:spPr>
          <a:xfrm>
            <a:off x="877824" y="2523744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TextBox 16"/>
          <p:cNvSpPr txBox="1"/>
          <p:nvPr/>
        </p:nvSpPr>
        <p:spPr>
          <a:xfrm>
            <a:off x="1060703" y="2596895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Isca de tráfego em eventos do Clube Mais</a:t>
            </a:r>
          </a:p>
        </p:txBody>
      </p:sp>
      <p:sp>
        <p:nvSpPr>
          <p:cNvPr id="160" name="TextBox 17"/>
          <p:cNvSpPr txBox="1"/>
          <p:nvPr/>
        </p:nvSpPr>
        <p:spPr>
          <a:xfrm>
            <a:off x="1060703" y="2852927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Café de boas-vindas Orfeu na entrada de SP Arte, Casa Cor e experiências exclusivas do clube, redirecionando o fluxo para a loja física.</a:t>
            </a:r>
          </a:p>
        </p:txBody>
      </p:sp>
      <p:sp>
        <p:nvSpPr>
          <p:cNvPr id="161" name="Rounded Rectangle 18"/>
          <p:cNvSpPr/>
          <p:nvPr/>
        </p:nvSpPr>
        <p:spPr>
          <a:xfrm>
            <a:off x="365759" y="3328415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TextBox 19"/>
          <p:cNvSpPr txBox="1"/>
          <p:nvPr/>
        </p:nvSpPr>
        <p:spPr>
          <a:xfrm>
            <a:off x="365759" y="3582669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3" name="Rounded Rectangle 20"/>
          <p:cNvSpPr/>
          <p:nvPr/>
        </p:nvSpPr>
        <p:spPr>
          <a:xfrm>
            <a:off x="877824" y="3328415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4" name="TextBox 21"/>
          <p:cNvSpPr txBox="1"/>
          <p:nvPr/>
        </p:nvSpPr>
        <p:spPr>
          <a:xfrm>
            <a:off x="1060703" y="3401567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Vitrine "Safra do Mês" na fachada</a:t>
            </a:r>
          </a:p>
        </p:txBody>
      </p:sp>
      <p:sp>
        <p:nvSpPr>
          <p:cNvPr id="165" name="TextBox 22"/>
          <p:cNvSpPr txBox="1"/>
          <p:nvPr/>
        </p:nvSpPr>
        <p:spPr>
          <a:xfrm>
            <a:off x="1060703" y="3657600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Urgência e novidade visíveis de fora da loja — mesmo efeito do lançamento anual de um vinho de vindima (ex. Beaujolais Nouveau).</a:t>
            </a:r>
          </a:p>
        </p:txBody>
      </p:sp>
      <p:sp>
        <p:nvSpPr>
          <p:cNvPr id="166" name="Rounded Rectangle 23"/>
          <p:cNvSpPr/>
          <p:nvPr/>
        </p:nvSpPr>
        <p:spPr>
          <a:xfrm>
            <a:off x="365759" y="4133088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TextBox 24"/>
          <p:cNvSpPr txBox="1"/>
          <p:nvPr/>
        </p:nvSpPr>
        <p:spPr>
          <a:xfrm>
            <a:off x="365759" y="4387342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68" name="Rounded Rectangle 25"/>
          <p:cNvSpPr/>
          <p:nvPr/>
        </p:nvSpPr>
        <p:spPr>
          <a:xfrm>
            <a:off x="877824" y="4133088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TextBox 26"/>
          <p:cNvSpPr txBox="1"/>
          <p:nvPr/>
        </p:nvSpPr>
        <p:spPr>
          <a:xfrm>
            <a:off x="1060703" y="4206240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Retail media geolocalizado</a:t>
            </a:r>
          </a:p>
        </p:txBody>
      </p:sp>
      <p:sp>
        <p:nvSpPr>
          <p:cNvPr id="170" name="TextBox 27"/>
          <p:cNvSpPr txBox="1"/>
          <p:nvPr/>
        </p:nvSpPr>
        <p:spPr>
          <a:xfrm>
            <a:off x="1060703" y="4462271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Push do Clube Mais — "seu café favorito está esgotando" ou "novo lote chegou" — para clientes num raio da loja.</a:t>
            </a:r>
          </a:p>
        </p:txBody>
      </p:sp>
      <p:sp>
        <p:nvSpPr>
          <p:cNvPr id="171" name="TextBox 28"/>
          <p:cNvSpPr txBox="1"/>
          <p:nvPr/>
        </p:nvSpPr>
        <p:spPr>
          <a:xfrm>
            <a:off x="365759" y="4956047"/>
            <a:ext cx="6858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Briefing interno Orfeu — ideias para discussão, não compromissos assumidos com o GPA</a:t>
            </a:r>
          </a:p>
        </p:txBody>
      </p:sp>
      <p:sp>
        <p:nvSpPr>
          <p:cNvPr id="172" name="TextBox 29"/>
          <p:cNvSpPr txBox="1"/>
          <p:nvPr/>
        </p:nvSpPr>
        <p:spPr>
          <a:xfrm>
            <a:off x="8321040" y="4956047"/>
            <a:ext cx="457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TextBox 2"/>
          <p:cNvSpPr txBox="1"/>
          <p:nvPr/>
        </p:nvSpPr>
        <p:spPr>
          <a:xfrm>
            <a:off x="365759" y="156464"/>
            <a:ext cx="73152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Etapa 2 — Converter mais clientes da loja para a categoria</a:t>
            </a:r>
          </a:p>
        </p:txBody>
      </p:sp>
      <p:sp>
        <p:nvSpPr>
          <p:cNvPr id="176" name="Rounded Rectangle 3"/>
          <p:cNvSpPr/>
          <p:nvPr/>
        </p:nvSpPr>
        <p:spPr>
          <a:xfrm>
            <a:off x="365759" y="914400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TextBox 4"/>
          <p:cNvSpPr txBox="1"/>
          <p:nvPr/>
        </p:nvSpPr>
        <p:spPr>
          <a:xfrm>
            <a:off x="365759" y="1168654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8" name="Rounded Rectangle 5"/>
          <p:cNvSpPr/>
          <p:nvPr/>
        </p:nvSpPr>
        <p:spPr>
          <a:xfrm>
            <a:off x="877824" y="914400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" name="TextBox 6"/>
          <p:cNvSpPr txBox="1"/>
          <p:nvPr/>
        </p:nvSpPr>
        <p:spPr>
          <a:xfrm>
            <a:off x="1060703" y="987552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Corner de degustação com barista</a:t>
            </a:r>
          </a:p>
        </p:txBody>
      </p:sp>
      <p:sp>
        <p:nvSpPr>
          <p:cNvPr id="180" name="TextBox 7"/>
          <p:cNvSpPr txBox="1"/>
          <p:nvPr/>
        </p:nvSpPr>
        <p:spPr>
          <a:xfrm>
            <a:off x="1060703" y="1243583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Prova grátis na entrada da seção de café — mesmo modelo de corners de queijo e vinho com degustação guiada.</a:t>
            </a:r>
          </a:p>
        </p:txBody>
      </p:sp>
      <p:sp>
        <p:nvSpPr>
          <p:cNvPr id="181" name="Rounded Rectangle 8"/>
          <p:cNvSpPr/>
          <p:nvPr/>
        </p:nvSpPr>
        <p:spPr>
          <a:xfrm>
            <a:off x="365759" y="1719072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2" name="TextBox 9"/>
          <p:cNvSpPr txBox="1"/>
          <p:nvPr/>
        </p:nvSpPr>
        <p:spPr>
          <a:xfrm>
            <a:off x="365759" y="1973326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83" name="Rounded Rectangle 10"/>
          <p:cNvSpPr/>
          <p:nvPr/>
        </p:nvSpPr>
        <p:spPr>
          <a:xfrm>
            <a:off x="877824" y="1719072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TextBox 11"/>
          <p:cNvSpPr txBox="1"/>
          <p:nvPr/>
        </p:nvSpPr>
        <p:spPr>
          <a:xfrm>
            <a:off x="1060703" y="1792223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Sinalização de harmonização cruzada</a:t>
            </a:r>
          </a:p>
        </p:txBody>
      </p:sp>
      <p:sp>
        <p:nvSpPr>
          <p:cNvPr id="185" name="TextBox 12"/>
          <p:cNvSpPr txBox="1"/>
          <p:nvPr/>
        </p:nvSpPr>
        <p:spPr>
          <a:xfrm>
            <a:off x="1060703" y="2048255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Placas na padaria/doces/chocolates sugerindo "combina com Orfeu Lote X", puxando fluxo de outras categorias para o café.</a:t>
            </a:r>
          </a:p>
        </p:txBody>
      </p:sp>
      <p:sp>
        <p:nvSpPr>
          <p:cNvPr id="186" name="Rounded Rectangle 13"/>
          <p:cNvSpPr/>
          <p:nvPr/>
        </p:nvSpPr>
        <p:spPr>
          <a:xfrm>
            <a:off x="365759" y="2523744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TextBox 14"/>
          <p:cNvSpPr txBox="1"/>
          <p:nvPr/>
        </p:nvSpPr>
        <p:spPr>
          <a:xfrm>
            <a:off x="365759" y="2777998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88" name="Rounded Rectangle 15"/>
          <p:cNvSpPr/>
          <p:nvPr/>
        </p:nvSpPr>
        <p:spPr>
          <a:xfrm>
            <a:off x="877824" y="2523744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9" name="TextBox 16"/>
          <p:cNvSpPr txBox="1"/>
          <p:nvPr/>
        </p:nvSpPr>
        <p:spPr>
          <a:xfrm>
            <a:off x="1060703" y="2596895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Kit de entrada de baixo risco</a:t>
            </a:r>
          </a:p>
        </p:txBody>
      </p:sp>
      <p:sp>
        <p:nvSpPr>
          <p:cNvPr id="190" name="TextBox 17"/>
          <p:cNvSpPr txBox="1"/>
          <p:nvPr/>
        </p:nvSpPr>
        <p:spPr>
          <a:xfrm>
            <a:off x="1060703" y="2852927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Mini-flight de 3 origens em doses pequenas por preço acessível, reduzindo a barreira de decisão da primeira compra.</a:t>
            </a:r>
          </a:p>
        </p:txBody>
      </p:sp>
      <p:sp>
        <p:nvSpPr>
          <p:cNvPr id="191" name="Rounded Rectangle 18"/>
          <p:cNvSpPr/>
          <p:nvPr/>
        </p:nvSpPr>
        <p:spPr>
          <a:xfrm>
            <a:off x="365759" y="3328415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19"/>
          <p:cNvSpPr txBox="1"/>
          <p:nvPr/>
        </p:nvSpPr>
        <p:spPr>
          <a:xfrm>
            <a:off x="365759" y="3582669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93" name="Rounded Rectangle 20"/>
          <p:cNvSpPr/>
          <p:nvPr/>
        </p:nvSpPr>
        <p:spPr>
          <a:xfrm>
            <a:off x="877824" y="3328415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" name="TextBox 21"/>
          <p:cNvSpPr txBox="1"/>
          <p:nvPr/>
        </p:nvSpPr>
        <p:spPr>
          <a:xfrm>
            <a:off x="1060703" y="3401567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Quiosque "sommelier digital"</a:t>
            </a:r>
          </a:p>
        </p:txBody>
      </p:sp>
      <p:sp>
        <p:nvSpPr>
          <p:cNvPr id="195" name="TextBox 22"/>
          <p:cNvSpPr txBox="1"/>
          <p:nvPr/>
        </p:nvSpPr>
        <p:spPr>
          <a:xfrm>
            <a:off x="1060703" y="3657600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3 perguntas simples de perfil de sabor (doce/ácido/encorpado) recomendam o lote ideal — como apps de recomendação de vinho.</a:t>
            </a:r>
          </a:p>
        </p:txBody>
      </p:sp>
      <p:sp>
        <p:nvSpPr>
          <p:cNvPr id="196" name="Rounded Rectangle 23"/>
          <p:cNvSpPr/>
          <p:nvPr/>
        </p:nvSpPr>
        <p:spPr>
          <a:xfrm>
            <a:off x="365759" y="4133088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" name="TextBox 24"/>
          <p:cNvSpPr txBox="1"/>
          <p:nvPr/>
        </p:nvSpPr>
        <p:spPr>
          <a:xfrm>
            <a:off x="365759" y="4387342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98" name="Rounded Rectangle 25"/>
          <p:cNvSpPr/>
          <p:nvPr/>
        </p:nvSpPr>
        <p:spPr>
          <a:xfrm>
            <a:off x="877824" y="4133088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" name="TextBox 26"/>
          <p:cNvSpPr txBox="1"/>
          <p:nvPr/>
        </p:nvSpPr>
        <p:spPr>
          <a:xfrm>
            <a:off x="1060703" y="4206240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Cross-merchandising com máquinas</a:t>
            </a:r>
          </a:p>
        </p:txBody>
      </p:sp>
      <p:sp>
        <p:nvSpPr>
          <p:cNvPr id="200" name="TextBox 27"/>
          <p:cNvSpPr txBox="1"/>
          <p:nvPr/>
        </p:nvSpPr>
        <p:spPr>
          <a:xfrm>
            <a:off x="1060703" y="4462271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Presença na seção de eletros/utilidades domésticas, reduzindo a fricção entre "quero começar" e "não tenho onde comprar máquina".</a:t>
            </a:r>
          </a:p>
        </p:txBody>
      </p:sp>
      <p:sp>
        <p:nvSpPr>
          <p:cNvPr id="201" name="TextBox 28"/>
          <p:cNvSpPr txBox="1"/>
          <p:nvPr/>
        </p:nvSpPr>
        <p:spPr>
          <a:xfrm>
            <a:off x="365759" y="4956047"/>
            <a:ext cx="6858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Briefing interno Orfeu — ideias para discussão, não compromissos assumidos com o GPA</a:t>
            </a:r>
          </a:p>
        </p:txBody>
      </p:sp>
      <p:sp>
        <p:nvSpPr>
          <p:cNvPr id="202" name="TextBox 29"/>
          <p:cNvSpPr txBox="1"/>
          <p:nvPr/>
        </p:nvSpPr>
        <p:spPr>
          <a:xfrm>
            <a:off x="8321040" y="4956047"/>
            <a:ext cx="457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TextBox 2"/>
          <p:cNvSpPr txBox="1"/>
          <p:nvPr/>
        </p:nvSpPr>
        <p:spPr>
          <a:xfrm>
            <a:off x="365759" y="156464"/>
            <a:ext cx="73152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Etapa 3 — Educar e fidelizar clientes</a:t>
            </a:r>
          </a:p>
        </p:txBody>
      </p:sp>
      <p:sp>
        <p:nvSpPr>
          <p:cNvPr id="206" name="Rounded Rectangle 3"/>
          <p:cNvSpPr/>
          <p:nvPr/>
        </p:nvSpPr>
        <p:spPr>
          <a:xfrm>
            <a:off x="365759" y="914400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" name="TextBox 4"/>
          <p:cNvSpPr txBox="1"/>
          <p:nvPr/>
        </p:nvSpPr>
        <p:spPr>
          <a:xfrm>
            <a:off x="365759" y="1168654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08" name="Rounded Rectangle 5"/>
          <p:cNvSpPr/>
          <p:nvPr/>
        </p:nvSpPr>
        <p:spPr>
          <a:xfrm>
            <a:off x="877824" y="914400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" name="TextBox 6"/>
          <p:cNvSpPr txBox="1"/>
          <p:nvPr/>
        </p:nvSpPr>
        <p:spPr>
          <a:xfrm>
            <a:off x="1060703" y="987552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Passaporte do Café carimbado</a:t>
            </a:r>
          </a:p>
        </p:txBody>
      </p:sp>
      <p:sp>
        <p:nvSpPr>
          <p:cNvPr id="210" name="TextBox 7"/>
          <p:cNvSpPr txBox="1"/>
          <p:nvPr/>
        </p:nvSpPr>
        <p:spPr>
          <a:xfrm>
            <a:off x="1060703" y="1243583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Cartão físico carimbado a cada origem experimentada — ao completar, acesso a um lote raro ou visita à fazenda, como clubes de vinho fazem.</a:t>
            </a:r>
          </a:p>
        </p:txBody>
      </p:sp>
      <p:sp>
        <p:nvSpPr>
          <p:cNvPr id="211" name="Rounded Rectangle 8"/>
          <p:cNvSpPr/>
          <p:nvPr/>
        </p:nvSpPr>
        <p:spPr>
          <a:xfrm>
            <a:off x="365759" y="1719072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" name="TextBox 9"/>
          <p:cNvSpPr txBox="1"/>
          <p:nvPr/>
        </p:nvSpPr>
        <p:spPr>
          <a:xfrm>
            <a:off x="365759" y="1973326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13" name="Rounded Rectangle 10"/>
          <p:cNvSpPr/>
          <p:nvPr/>
        </p:nvSpPr>
        <p:spPr>
          <a:xfrm>
            <a:off x="877824" y="1719072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" name="TextBox 11"/>
          <p:cNvSpPr txBox="1"/>
          <p:nvPr/>
        </p:nvSpPr>
        <p:spPr>
          <a:xfrm>
            <a:off x="1060703" y="1792223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Masterclasses mensais com o time Orfeu</a:t>
            </a:r>
          </a:p>
        </p:txBody>
      </p:sp>
      <p:sp>
        <p:nvSpPr>
          <p:cNvPr id="215" name="TextBox 12"/>
          <p:cNvSpPr txBox="1"/>
          <p:nvPr/>
        </p:nvSpPr>
        <p:spPr>
          <a:xfrm>
            <a:off x="1060703" y="2048255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Curso de barista amador em loja ou live, oferecido como benefício exclusivo aos tiers Mais Gold/Black.</a:t>
            </a:r>
          </a:p>
        </p:txBody>
      </p:sp>
      <p:sp>
        <p:nvSpPr>
          <p:cNvPr id="216" name="Rounded Rectangle 13"/>
          <p:cNvSpPr/>
          <p:nvPr/>
        </p:nvSpPr>
        <p:spPr>
          <a:xfrm>
            <a:off x="365759" y="2523744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TextBox 14"/>
          <p:cNvSpPr txBox="1"/>
          <p:nvPr/>
        </p:nvSpPr>
        <p:spPr>
          <a:xfrm>
            <a:off x="365759" y="2777998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18" name="Rounded Rectangle 15"/>
          <p:cNvSpPr/>
          <p:nvPr/>
        </p:nvSpPr>
        <p:spPr>
          <a:xfrm>
            <a:off x="877824" y="2523744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" name="TextBox 16"/>
          <p:cNvSpPr txBox="1"/>
          <p:nvPr/>
        </p:nvSpPr>
        <p:spPr>
          <a:xfrm>
            <a:off x="1060703" y="2596895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Etiqueta com QR — história do produtor</a:t>
            </a:r>
          </a:p>
        </p:txBody>
      </p:sp>
      <p:sp>
        <p:nvSpPr>
          <p:cNvPr id="220" name="TextBox 17"/>
          <p:cNvSpPr txBox="1"/>
          <p:nvPr/>
        </p:nvSpPr>
        <p:spPr>
          <a:xfrm>
            <a:off x="1060703" y="2852927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Vídeo curto do produtor contando a safra do lote, replicando o storytelling "da fazenda ao copo" das vinícolas premium.</a:t>
            </a:r>
          </a:p>
        </p:txBody>
      </p:sp>
      <p:sp>
        <p:nvSpPr>
          <p:cNvPr id="221" name="Rounded Rectangle 18"/>
          <p:cNvSpPr/>
          <p:nvPr/>
        </p:nvSpPr>
        <p:spPr>
          <a:xfrm>
            <a:off x="365759" y="3328415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2" name="TextBox 19"/>
          <p:cNvSpPr txBox="1"/>
          <p:nvPr/>
        </p:nvSpPr>
        <p:spPr>
          <a:xfrm>
            <a:off x="365759" y="3582669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23" name="Rounded Rectangle 20"/>
          <p:cNvSpPr/>
          <p:nvPr/>
        </p:nvSpPr>
        <p:spPr>
          <a:xfrm>
            <a:off x="877824" y="3328415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TextBox 21"/>
          <p:cNvSpPr txBox="1"/>
          <p:nvPr/>
        </p:nvSpPr>
        <p:spPr>
          <a:xfrm>
            <a:off x="1060703" y="3401567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Programa "Adote uma Fileira"</a:t>
            </a:r>
          </a:p>
        </p:txBody>
      </p:sp>
      <p:sp>
        <p:nvSpPr>
          <p:cNvPr id="225" name="TextBox 22"/>
          <p:cNvSpPr txBox="1"/>
          <p:nvPr/>
        </p:nvSpPr>
        <p:spPr>
          <a:xfrm>
            <a:off x="1060703" y="3657600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Cliente recorrente acompanha a safra de uma fileira da fazenda Orfeu e recebe o lote colhido dela ao final do ciclo.</a:t>
            </a:r>
          </a:p>
        </p:txBody>
      </p:sp>
      <p:sp>
        <p:nvSpPr>
          <p:cNvPr id="226" name="Rounded Rectangle 23"/>
          <p:cNvSpPr/>
          <p:nvPr/>
        </p:nvSpPr>
        <p:spPr>
          <a:xfrm>
            <a:off x="365759" y="4133088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7" name="TextBox 24"/>
          <p:cNvSpPr txBox="1"/>
          <p:nvPr/>
        </p:nvSpPr>
        <p:spPr>
          <a:xfrm>
            <a:off x="365759" y="4387342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28" name="Rounded Rectangle 25"/>
          <p:cNvSpPr/>
          <p:nvPr/>
        </p:nvSpPr>
        <p:spPr>
          <a:xfrm>
            <a:off x="877824" y="4133088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9" name="TextBox 26"/>
          <p:cNvSpPr txBox="1"/>
          <p:nvPr/>
        </p:nvSpPr>
        <p:spPr>
          <a:xfrm>
            <a:off x="1060703" y="4206240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Clube de assinatura com curadoria mensal</a:t>
            </a:r>
          </a:p>
        </p:txBody>
      </p:sp>
      <p:sp>
        <p:nvSpPr>
          <p:cNvPr id="230" name="TextBox 27"/>
          <p:cNvSpPr txBox="1"/>
          <p:nvPr/>
        </p:nvSpPr>
        <p:spPr>
          <a:xfrm>
            <a:off x="1060703" y="4462271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Modelo "clube do vinho" — envio mensal com ficha de degustação e nota de prova incluída. Talvez vinculando a Confraria.</a:t>
            </a:r>
          </a:p>
        </p:txBody>
      </p:sp>
      <p:sp>
        <p:nvSpPr>
          <p:cNvPr id="231" name="TextBox 28"/>
          <p:cNvSpPr txBox="1"/>
          <p:nvPr/>
        </p:nvSpPr>
        <p:spPr>
          <a:xfrm>
            <a:off x="365759" y="4956047"/>
            <a:ext cx="6858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Briefing interno Orfeu — ideias para discussão, não compromissos assumidos com o GPA</a:t>
            </a:r>
          </a:p>
        </p:txBody>
      </p:sp>
      <p:sp>
        <p:nvSpPr>
          <p:cNvPr id="232" name="TextBox 29"/>
          <p:cNvSpPr txBox="1"/>
          <p:nvPr/>
        </p:nvSpPr>
        <p:spPr>
          <a:xfrm>
            <a:off x="8321040" y="4956047"/>
            <a:ext cx="457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  <a:ln w="12700">
            <a:miter lim="400000"/>
          </a:ln>
        </p:spPr>
      </p:pic>
      <p:sp>
        <p:nvSpPr>
          <p:cNvPr id="235" name="TextBox 2"/>
          <p:cNvSpPr txBox="1"/>
          <p:nvPr/>
        </p:nvSpPr>
        <p:spPr>
          <a:xfrm>
            <a:off x="365759" y="156464"/>
            <a:ext cx="73152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Etapa 4 — Fazer o trade up de produtos</a:t>
            </a:r>
          </a:p>
        </p:txBody>
      </p:sp>
      <p:sp>
        <p:nvSpPr>
          <p:cNvPr id="236" name="Rounded Rectangle 3"/>
          <p:cNvSpPr/>
          <p:nvPr/>
        </p:nvSpPr>
        <p:spPr>
          <a:xfrm>
            <a:off x="365759" y="914400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7" name="TextBox 4"/>
          <p:cNvSpPr txBox="1"/>
          <p:nvPr/>
        </p:nvSpPr>
        <p:spPr>
          <a:xfrm>
            <a:off x="365759" y="1168654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38" name="Rounded Rectangle 5"/>
          <p:cNvSpPr/>
          <p:nvPr/>
        </p:nvSpPr>
        <p:spPr>
          <a:xfrm>
            <a:off x="877824" y="914400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9" name="TextBox 6"/>
          <p:cNvSpPr txBox="1"/>
          <p:nvPr/>
        </p:nvSpPr>
        <p:spPr>
          <a:xfrm>
            <a:off x="1060703" y="987552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Prova cega guiada em loja</a:t>
            </a:r>
          </a:p>
        </p:txBody>
      </p:sp>
      <p:sp>
        <p:nvSpPr>
          <p:cNvPr id="240" name="TextBox 7"/>
          <p:cNvSpPr txBox="1"/>
          <p:nvPr/>
        </p:nvSpPr>
        <p:spPr>
          <a:xfrm>
            <a:off x="1060703" y="1243583"/>
            <a:ext cx="7589520" cy="28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Cliente compara o café mainstream que já compra com um lote Orfeu — o momento "aha" de diferença, técnica clássica de degustação de vinho/whisky.</a:t>
            </a:r>
          </a:p>
        </p:txBody>
      </p:sp>
      <p:sp>
        <p:nvSpPr>
          <p:cNvPr id="241" name="Rounded Rectangle 8"/>
          <p:cNvSpPr/>
          <p:nvPr/>
        </p:nvSpPr>
        <p:spPr>
          <a:xfrm>
            <a:off x="365759" y="1719072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TextBox 9"/>
          <p:cNvSpPr txBox="1"/>
          <p:nvPr/>
        </p:nvSpPr>
        <p:spPr>
          <a:xfrm>
            <a:off x="365759" y="1973326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43" name="Rounded Rectangle 10"/>
          <p:cNvSpPr/>
          <p:nvPr/>
        </p:nvSpPr>
        <p:spPr>
          <a:xfrm>
            <a:off x="877824" y="1719072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TextBox 11"/>
          <p:cNvSpPr txBox="1"/>
          <p:nvPr/>
        </p:nvSpPr>
        <p:spPr>
          <a:xfrm>
            <a:off x="1060703" y="1792223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Escada de portfólio na gôndola</a:t>
            </a:r>
          </a:p>
        </p:txBody>
      </p:sp>
      <p:sp>
        <p:nvSpPr>
          <p:cNvPr id="245" name="TextBox 12"/>
          <p:cNvSpPr txBox="1"/>
          <p:nvPr/>
        </p:nvSpPr>
        <p:spPr>
          <a:xfrm>
            <a:off x="1060703" y="2048255"/>
            <a:ext cx="7589520" cy="28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Do "entrada" ao "reserva", com pontuação SCA na etiqueta — como a pontuação Parker/Wine Spectator dá ao cliente um critério objetivo para subir de nível.</a:t>
            </a:r>
          </a:p>
        </p:txBody>
      </p:sp>
      <p:sp>
        <p:nvSpPr>
          <p:cNvPr id="246" name="Rounded Rectangle 13"/>
          <p:cNvSpPr/>
          <p:nvPr/>
        </p:nvSpPr>
        <p:spPr>
          <a:xfrm>
            <a:off x="365759" y="2523744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" name="TextBox 14"/>
          <p:cNvSpPr txBox="1"/>
          <p:nvPr/>
        </p:nvSpPr>
        <p:spPr>
          <a:xfrm>
            <a:off x="365759" y="2777998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48" name="Rounded Rectangle 15"/>
          <p:cNvSpPr/>
          <p:nvPr/>
        </p:nvSpPr>
        <p:spPr>
          <a:xfrm>
            <a:off x="877824" y="2523744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TextBox 16"/>
          <p:cNvSpPr txBox="1"/>
          <p:nvPr/>
        </p:nvSpPr>
        <p:spPr>
          <a:xfrm>
            <a:off x="1060703" y="2596895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Upgrade sugerido no caixa/app</a:t>
            </a:r>
          </a:p>
        </p:txBody>
      </p:sp>
      <p:sp>
        <p:nvSpPr>
          <p:cNvPr id="250" name="TextBox 17"/>
          <p:cNvSpPr txBox="1"/>
          <p:nvPr/>
        </p:nvSpPr>
        <p:spPr>
          <a:xfrm>
            <a:off x="1060703" y="2852927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Se o cliente leva café mainstream, cupom digital de troca por um Orfeu entrada com desconto de primeira experimentação.</a:t>
            </a:r>
          </a:p>
        </p:txBody>
      </p:sp>
      <p:sp>
        <p:nvSpPr>
          <p:cNvPr id="251" name="Rounded Rectangle 18"/>
          <p:cNvSpPr/>
          <p:nvPr/>
        </p:nvSpPr>
        <p:spPr>
          <a:xfrm>
            <a:off x="365759" y="3328415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TextBox 19"/>
          <p:cNvSpPr txBox="1"/>
          <p:nvPr/>
        </p:nvSpPr>
        <p:spPr>
          <a:xfrm>
            <a:off x="365759" y="3582669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53" name="Rounded Rectangle 20"/>
          <p:cNvSpPr/>
          <p:nvPr/>
        </p:nvSpPr>
        <p:spPr>
          <a:xfrm>
            <a:off x="877824" y="3328415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TextBox 21"/>
          <p:cNvSpPr txBox="1"/>
          <p:nvPr/>
        </p:nvSpPr>
        <p:spPr>
          <a:xfrm>
            <a:off x="1060703" y="3401567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"Clube dos 100 pontos"</a:t>
            </a:r>
          </a:p>
        </p:txBody>
      </p:sp>
      <p:sp>
        <p:nvSpPr>
          <p:cNvPr id="255" name="TextBox 22"/>
          <p:cNvSpPr txBox="1"/>
          <p:nvPr/>
        </p:nvSpPr>
        <p:spPr>
          <a:xfrm>
            <a:off x="1060703" y="3657600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Destaque para lotes premiados (Cup of Excellence) com storytelling de prestígio — o equivalente cafeeiro de um vinho "100 pontos".</a:t>
            </a:r>
          </a:p>
        </p:txBody>
      </p:sp>
      <p:sp>
        <p:nvSpPr>
          <p:cNvPr id="256" name="Rounded Rectangle 23"/>
          <p:cNvSpPr/>
          <p:nvPr/>
        </p:nvSpPr>
        <p:spPr>
          <a:xfrm>
            <a:off x="365759" y="4133088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" name="TextBox 24"/>
          <p:cNvSpPr txBox="1"/>
          <p:nvPr/>
        </p:nvSpPr>
        <p:spPr>
          <a:xfrm>
            <a:off x="365759" y="4387342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58" name="Rounded Rectangle 25"/>
          <p:cNvSpPr/>
          <p:nvPr/>
        </p:nvSpPr>
        <p:spPr>
          <a:xfrm>
            <a:off x="877824" y="4133088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" name="TextBox 26"/>
          <p:cNvSpPr txBox="1"/>
          <p:nvPr/>
        </p:nvSpPr>
        <p:spPr>
          <a:xfrm>
            <a:off x="1060703" y="4206240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Concierge de trade-up para Black/Gold</a:t>
            </a:r>
          </a:p>
        </p:txBody>
      </p:sp>
      <p:sp>
        <p:nvSpPr>
          <p:cNvPr id="260" name="TextBox 27"/>
          <p:cNvSpPr txBox="1"/>
          <p:nvPr/>
        </p:nvSpPr>
        <p:spPr>
          <a:xfrm>
            <a:off x="1060703" y="4462271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Time do Clube Mais oferece upgrade de portfólio personalizado com base no histórico de compra do cliente.</a:t>
            </a:r>
          </a:p>
        </p:txBody>
      </p:sp>
      <p:sp>
        <p:nvSpPr>
          <p:cNvPr id="261" name="TextBox 28"/>
          <p:cNvSpPr txBox="1"/>
          <p:nvPr/>
        </p:nvSpPr>
        <p:spPr>
          <a:xfrm>
            <a:off x="365759" y="4956047"/>
            <a:ext cx="6858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Briefing interno Orfeu — ideias para discussão, não compromissos assumidos com o GPA</a:t>
            </a:r>
          </a:p>
        </p:txBody>
      </p:sp>
      <p:sp>
        <p:nvSpPr>
          <p:cNvPr id="262" name="TextBox 29"/>
          <p:cNvSpPr txBox="1"/>
          <p:nvPr/>
        </p:nvSpPr>
        <p:spPr>
          <a:xfrm>
            <a:off x="8321040" y="4956047"/>
            <a:ext cx="457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TextBox 2"/>
          <p:cNvSpPr txBox="1"/>
          <p:nvPr/>
        </p:nvSpPr>
        <p:spPr>
          <a:xfrm>
            <a:off x="365759" y="156464"/>
            <a:ext cx="73152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Etapa 5 — Embalagens para produtos premium e de maior margem</a:t>
            </a:r>
          </a:p>
        </p:txBody>
      </p:sp>
      <p:sp>
        <p:nvSpPr>
          <p:cNvPr id="266" name="Rounded Rectangle 3"/>
          <p:cNvSpPr/>
          <p:nvPr/>
        </p:nvSpPr>
        <p:spPr>
          <a:xfrm>
            <a:off x="365759" y="914400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" name="TextBox 4"/>
          <p:cNvSpPr txBox="1"/>
          <p:nvPr/>
        </p:nvSpPr>
        <p:spPr>
          <a:xfrm>
            <a:off x="365759" y="1168654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68" name="Rounded Rectangle 5"/>
          <p:cNvSpPr/>
          <p:nvPr/>
        </p:nvSpPr>
        <p:spPr>
          <a:xfrm>
            <a:off x="877824" y="914400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TextBox 6"/>
          <p:cNvSpPr txBox="1"/>
          <p:nvPr/>
        </p:nvSpPr>
        <p:spPr>
          <a:xfrm>
            <a:off x="1060703" y="987552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Edição numerada por lote</a:t>
            </a:r>
          </a:p>
        </p:txBody>
      </p:sp>
      <p:sp>
        <p:nvSpPr>
          <p:cNvPr id="270" name="TextBox 7"/>
          <p:cNvSpPr txBox="1"/>
          <p:nvPr/>
        </p:nvSpPr>
        <p:spPr>
          <a:xfrm>
            <a:off x="1060703" y="1243583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Cada pacote traz número de série e safra — como garrafas de whisky de edição limitada — reforçando exclusividade e colecionismo.</a:t>
            </a:r>
          </a:p>
        </p:txBody>
      </p:sp>
      <p:sp>
        <p:nvSpPr>
          <p:cNvPr id="271" name="Rounded Rectangle 8"/>
          <p:cNvSpPr/>
          <p:nvPr/>
        </p:nvSpPr>
        <p:spPr>
          <a:xfrm>
            <a:off x="365759" y="1719072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TextBox 9"/>
          <p:cNvSpPr txBox="1"/>
          <p:nvPr/>
        </p:nvSpPr>
        <p:spPr>
          <a:xfrm>
            <a:off x="365759" y="1973326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73" name="Rounded Rectangle 10"/>
          <p:cNvSpPr/>
          <p:nvPr/>
        </p:nvSpPr>
        <p:spPr>
          <a:xfrm>
            <a:off x="877824" y="1719072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TextBox 11"/>
          <p:cNvSpPr txBox="1"/>
          <p:nvPr/>
        </p:nvSpPr>
        <p:spPr>
          <a:xfrm>
            <a:off x="1060703" y="1792223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Embalagem-presente com selo de autenticidade</a:t>
            </a:r>
          </a:p>
        </p:txBody>
      </p:sp>
      <p:sp>
        <p:nvSpPr>
          <p:cNvPr id="275" name="TextBox 12"/>
          <p:cNvSpPr txBox="1"/>
          <p:nvPr/>
        </p:nvSpPr>
        <p:spPr>
          <a:xfrm>
            <a:off x="1060703" y="2048255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Caixa pronta para presentear, com nota de degustação destacável — inspirada em caixas de queijo maturado e vinho para presente.</a:t>
            </a:r>
          </a:p>
        </p:txBody>
      </p:sp>
      <p:sp>
        <p:nvSpPr>
          <p:cNvPr id="276" name="Rounded Rectangle 13"/>
          <p:cNvSpPr/>
          <p:nvPr/>
        </p:nvSpPr>
        <p:spPr>
          <a:xfrm>
            <a:off x="365759" y="2523744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" name="TextBox 14"/>
          <p:cNvSpPr txBox="1"/>
          <p:nvPr/>
        </p:nvSpPr>
        <p:spPr>
          <a:xfrm>
            <a:off x="365759" y="2777998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78" name="Rounded Rectangle 15"/>
          <p:cNvSpPr/>
          <p:nvPr/>
        </p:nvSpPr>
        <p:spPr>
          <a:xfrm>
            <a:off x="877824" y="2523744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" name="TextBox 16"/>
          <p:cNvSpPr txBox="1"/>
          <p:nvPr/>
        </p:nvSpPr>
        <p:spPr>
          <a:xfrm>
            <a:off x="1060703" y="2596895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Lata retornável</a:t>
            </a:r>
          </a:p>
        </p:txBody>
      </p:sp>
      <p:sp>
        <p:nvSpPr>
          <p:cNvPr id="280" name="TextBox 17"/>
          <p:cNvSpPr txBox="1"/>
          <p:nvPr/>
        </p:nvSpPr>
        <p:spPr>
          <a:xfrm>
            <a:off x="1060703" y="2852927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Sistema de "garrafa retornável" de destilarias premium — cria ritual de recompra e reduz custo percebido da embalagem.</a:t>
            </a:r>
          </a:p>
        </p:txBody>
      </p:sp>
      <p:sp>
        <p:nvSpPr>
          <p:cNvPr id="281" name="Rounded Rectangle 18"/>
          <p:cNvSpPr/>
          <p:nvPr/>
        </p:nvSpPr>
        <p:spPr>
          <a:xfrm>
            <a:off x="365759" y="3328415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TextBox 19"/>
          <p:cNvSpPr txBox="1"/>
          <p:nvPr/>
        </p:nvSpPr>
        <p:spPr>
          <a:xfrm>
            <a:off x="365759" y="3582669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83" name="Rounded Rectangle 20"/>
          <p:cNvSpPr/>
          <p:nvPr/>
        </p:nvSpPr>
        <p:spPr>
          <a:xfrm>
            <a:off x="877824" y="3328415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" name="TextBox 21"/>
          <p:cNvSpPr txBox="1"/>
          <p:nvPr/>
        </p:nvSpPr>
        <p:spPr>
          <a:xfrm>
            <a:off x="1060703" y="3401567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Caixa degustação multi-origem</a:t>
            </a:r>
          </a:p>
        </p:txBody>
      </p:sp>
      <p:sp>
        <p:nvSpPr>
          <p:cNvPr id="285" name="TextBox 22"/>
          <p:cNvSpPr txBox="1"/>
          <p:nvPr/>
        </p:nvSpPr>
        <p:spPr>
          <a:xfrm>
            <a:off x="1060703" y="3657600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3–4 origens em doses seladas a vácuo — formato de caixa de charutos ou queijos sortidos, ideal para presente ou experimentação.</a:t>
            </a:r>
          </a:p>
        </p:txBody>
      </p:sp>
      <p:sp>
        <p:nvSpPr>
          <p:cNvPr id="286" name="Rounded Rectangle 23"/>
          <p:cNvSpPr/>
          <p:nvPr/>
        </p:nvSpPr>
        <p:spPr>
          <a:xfrm>
            <a:off x="365759" y="4133088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TextBox 24"/>
          <p:cNvSpPr txBox="1"/>
          <p:nvPr/>
        </p:nvSpPr>
        <p:spPr>
          <a:xfrm>
            <a:off x="365759" y="4387342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88" name="Rounded Rectangle 25"/>
          <p:cNvSpPr/>
          <p:nvPr/>
        </p:nvSpPr>
        <p:spPr>
          <a:xfrm>
            <a:off x="877824" y="4133088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9" name="TextBox 26"/>
          <p:cNvSpPr txBox="1"/>
          <p:nvPr/>
        </p:nvSpPr>
        <p:spPr>
          <a:xfrm>
            <a:off x="1060703" y="4206240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Edições sazonais/calendário</a:t>
            </a:r>
          </a:p>
        </p:txBody>
      </p:sp>
      <p:sp>
        <p:nvSpPr>
          <p:cNvPr id="290" name="TextBox 27"/>
          <p:cNvSpPr txBox="1"/>
          <p:nvPr/>
        </p:nvSpPr>
        <p:spPr>
          <a:xfrm>
            <a:off x="1060703" y="4462271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Calendário do advento, edição de fim de ano — como caixas de chocolate e vinho sazonais, gerando recorrência de compra por data.</a:t>
            </a:r>
          </a:p>
        </p:txBody>
      </p:sp>
      <p:sp>
        <p:nvSpPr>
          <p:cNvPr id="291" name="TextBox 28"/>
          <p:cNvSpPr txBox="1"/>
          <p:nvPr/>
        </p:nvSpPr>
        <p:spPr>
          <a:xfrm>
            <a:off x="365759" y="4956047"/>
            <a:ext cx="6858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Briefing interno Orfeu — ideias para discussão, não compromissos assumidos com o GPA</a:t>
            </a:r>
          </a:p>
        </p:txBody>
      </p:sp>
      <p:sp>
        <p:nvSpPr>
          <p:cNvPr id="292" name="TextBox 29"/>
          <p:cNvSpPr txBox="1"/>
          <p:nvPr/>
        </p:nvSpPr>
        <p:spPr>
          <a:xfrm>
            <a:off x="8321040" y="4956047"/>
            <a:ext cx="457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  <a:ln w="12700">
            <a:miter lim="400000"/>
          </a:ln>
        </p:spPr>
      </p:pic>
      <p:sp>
        <p:nvSpPr>
          <p:cNvPr id="295" name="TextBox 2"/>
          <p:cNvSpPr txBox="1"/>
          <p:nvPr/>
        </p:nvSpPr>
        <p:spPr>
          <a:xfrm>
            <a:off x="365759" y="156464"/>
            <a:ext cx="73152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Etapa 6 — Diferenciar o cliente dos demais varejistas</a:t>
            </a:r>
          </a:p>
        </p:txBody>
      </p:sp>
      <p:sp>
        <p:nvSpPr>
          <p:cNvPr id="296" name="Rounded Rectangle 3"/>
          <p:cNvSpPr/>
          <p:nvPr/>
        </p:nvSpPr>
        <p:spPr>
          <a:xfrm>
            <a:off x="365759" y="914400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" name="TextBox 4"/>
          <p:cNvSpPr txBox="1"/>
          <p:nvPr/>
        </p:nvSpPr>
        <p:spPr>
          <a:xfrm>
            <a:off x="365759" y="1168654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98" name="Rounded Rectangle 5"/>
          <p:cNvSpPr/>
          <p:nvPr/>
        </p:nvSpPr>
        <p:spPr>
          <a:xfrm>
            <a:off x="877824" y="914400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TextBox 6"/>
          <p:cNvSpPr txBox="1"/>
          <p:nvPr/>
        </p:nvSpPr>
        <p:spPr>
          <a:xfrm>
            <a:off x="1060703" y="987552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Lote exclusivo Pão de Açúcar</a:t>
            </a:r>
          </a:p>
        </p:txBody>
      </p:sp>
      <p:sp>
        <p:nvSpPr>
          <p:cNvPr id="300" name="TextBox 7"/>
          <p:cNvSpPr txBox="1"/>
          <p:nvPr/>
        </p:nvSpPr>
        <p:spPr>
          <a:xfrm>
            <a:off x="1060703" y="1243583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Uma safra/corte vendido apenas na rede — modelo de vinícola boutique com distribuição exclusiva a um único varejista premium.</a:t>
            </a:r>
          </a:p>
        </p:txBody>
      </p:sp>
      <p:sp>
        <p:nvSpPr>
          <p:cNvPr id="301" name="Rounded Rectangle 8"/>
          <p:cNvSpPr/>
          <p:nvPr/>
        </p:nvSpPr>
        <p:spPr>
          <a:xfrm>
            <a:off x="365759" y="1719072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TextBox 9"/>
          <p:cNvSpPr txBox="1"/>
          <p:nvPr/>
        </p:nvSpPr>
        <p:spPr>
          <a:xfrm>
            <a:off x="365759" y="1973326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03" name="Rounded Rectangle 10"/>
          <p:cNvSpPr/>
          <p:nvPr/>
        </p:nvSpPr>
        <p:spPr>
          <a:xfrm>
            <a:off x="877824" y="1719072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TextBox 11"/>
          <p:cNvSpPr txBox="1"/>
          <p:nvPr/>
        </p:nvSpPr>
        <p:spPr>
          <a:xfrm>
            <a:off x="1060703" y="1792223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Selo "Curadoria Pão de Açúcar" co-branded</a:t>
            </a:r>
          </a:p>
        </p:txBody>
      </p:sp>
      <p:sp>
        <p:nvSpPr>
          <p:cNvPr id="305" name="TextBox 12"/>
          <p:cNvSpPr txBox="1"/>
          <p:nvPr/>
        </p:nvSpPr>
        <p:spPr>
          <a:xfrm>
            <a:off x="1060703" y="2048255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Reforça o posicionamento do próprio varejista, como parcerias de vinícolas com redes premium (ex. Zona Sul, St Marche).</a:t>
            </a:r>
          </a:p>
        </p:txBody>
      </p:sp>
      <p:sp>
        <p:nvSpPr>
          <p:cNvPr id="306" name="Rounded Rectangle 13"/>
          <p:cNvSpPr/>
          <p:nvPr/>
        </p:nvSpPr>
        <p:spPr>
          <a:xfrm>
            <a:off x="365759" y="2523744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TextBox 14"/>
          <p:cNvSpPr txBox="1"/>
          <p:nvPr/>
        </p:nvSpPr>
        <p:spPr>
          <a:xfrm>
            <a:off x="365759" y="2777998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08" name="Rounded Rectangle 15"/>
          <p:cNvSpPr/>
          <p:nvPr/>
        </p:nvSpPr>
        <p:spPr>
          <a:xfrm>
            <a:off x="877824" y="2523744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TextBox 16"/>
          <p:cNvSpPr txBox="1"/>
          <p:nvPr/>
        </p:nvSpPr>
        <p:spPr>
          <a:xfrm>
            <a:off x="1060703" y="2596895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Corner "Casa Orfeu" nas lojas-flagship</a:t>
            </a:r>
          </a:p>
        </p:txBody>
      </p:sp>
      <p:sp>
        <p:nvSpPr>
          <p:cNvPr id="310" name="TextBox 17"/>
          <p:cNvSpPr txBox="1"/>
          <p:nvPr/>
        </p:nvSpPr>
        <p:spPr>
          <a:xfrm>
            <a:off x="1060703" y="2852927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Shop-in-shop dedicado, como as lojas de queijo e vinho dentro de supermercados premium europeus.</a:t>
            </a:r>
          </a:p>
        </p:txBody>
      </p:sp>
      <p:sp>
        <p:nvSpPr>
          <p:cNvPr id="311" name="Rounded Rectangle 18"/>
          <p:cNvSpPr/>
          <p:nvPr/>
        </p:nvSpPr>
        <p:spPr>
          <a:xfrm>
            <a:off x="365759" y="3328415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2" name="TextBox 19"/>
          <p:cNvSpPr txBox="1"/>
          <p:nvPr/>
        </p:nvSpPr>
        <p:spPr>
          <a:xfrm>
            <a:off x="365759" y="3582669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13" name="Rounded Rectangle 20"/>
          <p:cNvSpPr/>
          <p:nvPr/>
        </p:nvSpPr>
        <p:spPr>
          <a:xfrm>
            <a:off x="877824" y="3328415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TextBox 21"/>
          <p:cNvSpPr txBox="1"/>
          <p:nvPr/>
        </p:nvSpPr>
        <p:spPr>
          <a:xfrm>
            <a:off x="1060703" y="3401567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Pre-release para Clube Mais Black</a:t>
            </a:r>
          </a:p>
        </p:txBody>
      </p:sp>
      <p:sp>
        <p:nvSpPr>
          <p:cNvPr id="315" name="TextBox 22"/>
          <p:cNvSpPr txBox="1"/>
          <p:nvPr/>
        </p:nvSpPr>
        <p:spPr>
          <a:xfrm>
            <a:off x="1060703" y="3657600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Acesso antecipado ao lançamento nacional, replicando o modelo de "alocação" (wine allocation) de vinícolas de baixa produção.</a:t>
            </a:r>
          </a:p>
        </p:txBody>
      </p:sp>
      <p:sp>
        <p:nvSpPr>
          <p:cNvPr id="316" name="Rounded Rectangle 23"/>
          <p:cNvSpPr/>
          <p:nvPr/>
        </p:nvSpPr>
        <p:spPr>
          <a:xfrm>
            <a:off x="365759" y="4133088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" name="TextBox 24"/>
          <p:cNvSpPr txBox="1"/>
          <p:nvPr/>
        </p:nvSpPr>
        <p:spPr>
          <a:xfrm>
            <a:off x="365759" y="4387342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18" name="Rounded Rectangle 25"/>
          <p:cNvSpPr/>
          <p:nvPr/>
        </p:nvSpPr>
        <p:spPr>
          <a:xfrm>
            <a:off x="877824" y="4133088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F7E9D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TextBox 26"/>
          <p:cNvSpPr txBox="1"/>
          <p:nvPr/>
        </p:nvSpPr>
        <p:spPr>
          <a:xfrm>
            <a:off x="1060703" y="4206240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C07028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Conteúdo exclusivo "por trás do grão"</a:t>
            </a:r>
          </a:p>
        </p:txBody>
      </p:sp>
      <p:sp>
        <p:nvSpPr>
          <p:cNvPr id="320" name="TextBox 27"/>
          <p:cNvSpPr txBox="1"/>
          <p:nvPr/>
        </p:nvSpPr>
        <p:spPr>
          <a:xfrm>
            <a:off x="1060703" y="4462271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Série de vídeos só para assinantes do Clube Mais — indisponível em qualquer outro canal ou marketplace.</a:t>
            </a:r>
          </a:p>
        </p:txBody>
      </p:sp>
      <p:sp>
        <p:nvSpPr>
          <p:cNvPr id="321" name="TextBox 28"/>
          <p:cNvSpPr txBox="1"/>
          <p:nvPr/>
        </p:nvSpPr>
        <p:spPr>
          <a:xfrm>
            <a:off x="365759" y="4956047"/>
            <a:ext cx="6858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Briefing interno Orfeu — ideias para discussão, não compromissos assumidos com o GPA</a:t>
            </a:r>
          </a:p>
        </p:txBody>
      </p:sp>
      <p:sp>
        <p:nvSpPr>
          <p:cNvPr id="322" name="TextBox 29"/>
          <p:cNvSpPr txBox="1"/>
          <p:nvPr/>
        </p:nvSpPr>
        <p:spPr>
          <a:xfrm>
            <a:off x="8321040" y="4956047"/>
            <a:ext cx="457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  <a:ln w="12700">
            <a:miter lim="400000"/>
          </a:ln>
        </p:spPr>
      </p:pic>
      <p:sp>
        <p:nvSpPr>
          <p:cNvPr id="325" name="TextBox 2"/>
          <p:cNvSpPr txBox="1"/>
          <p:nvPr/>
        </p:nvSpPr>
        <p:spPr>
          <a:xfrm>
            <a:off x="365759" y="156464"/>
            <a:ext cx="73152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Etapa 7 — Melhorar a experiência e o in-store theater</a:t>
            </a:r>
          </a:p>
        </p:txBody>
      </p:sp>
      <p:sp>
        <p:nvSpPr>
          <p:cNvPr id="326" name="Rounded Rectangle 3"/>
          <p:cNvSpPr/>
          <p:nvPr/>
        </p:nvSpPr>
        <p:spPr>
          <a:xfrm>
            <a:off x="365759" y="914400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TextBox 4"/>
          <p:cNvSpPr txBox="1"/>
          <p:nvPr/>
        </p:nvSpPr>
        <p:spPr>
          <a:xfrm>
            <a:off x="365759" y="1168654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28" name="Rounded Rectangle 5"/>
          <p:cNvSpPr/>
          <p:nvPr/>
        </p:nvSpPr>
        <p:spPr>
          <a:xfrm>
            <a:off x="877824" y="914400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9" name="TextBox 6"/>
          <p:cNvSpPr txBox="1"/>
          <p:nvPr/>
        </p:nvSpPr>
        <p:spPr>
          <a:xfrm>
            <a:off x="1060703" y="987552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Moagem na hora, à vista do cliente</a:t>
            </a:r>
          </a:p>
        </p:txBody>
      </p:sp>
      <p:sp>
        <p:nvSpPr>
          <p:cNvPr id="330" name="TextBox 7"/>
          <p:cNvSpPr txBox="1"/>
          <p:nvPr/>
        </p:nvSpPr>
        <p:spPr>
          <a:xfrm>
            <a:off x="1060703" y="1243583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Moedor exposto perto do caixa/entrada — mesmo teatro visual de padarias e queijarias cortando/assando na hora.</a:t>
            </a:r>
          </a:p>
        </p:txBody>
      </p:sp>
      <p:sp>
        <p:nvSpPr>
          <p:cNvPr id="331" name="Rounded Rectangle 8"/>
          <p:cNvSpPr/>
          <p:nvPr/>
        </p:nvSpPr>
        <p:spPr>
          <a:xfrm>
            <a:off x="365759" y="1719072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2" name="TextBox 9"/>
          <p:cNvSpPr txBox="1"/>
          <p:nvPr/>
        </p:nvSpPr>
        <p:spPr>
          <a:xfrm>
            <a:off x="365759" y="1973326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33" name="Rounded Rectangle 10"/>
          <p:cNvSpPr/>
          <p:nvPr/>
        </p:nvSpPr>
        <p:spPr>
          <a:xfrm>
            <a:off x="877824" y="1719072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4" name="TextBox 11"/>
          <p:cNvSpPr txBox="1"/>
          <p:nvPr/>
        </p:nvSpPr>
        <p:spPr>
          <a:xfrm>
            <a:off x="1060703" y="1792223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Corner do sommelier de café</a:t>
            </a:r>
          </a:p>
        </p:txBody>
      </p:sp>
      <p:sp>
        <p:nvSpPr>
          <p:cNvPr id="335" name="TextBox 12"/>
          <p:cNvSpPr txBox="1"/>
          <p:nvPr/>
        </p:nvSpPr>
        <p:spPr>
          <a:xfrm>
            <a:off x="1060703" y="2048255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Atendente certificado guiando degustação ao vivo — réplica do modelo de sommelier de vinho em lojas premium.</a:t>
            </a:r>
          </a:p>
        </p:txBody>
      </p:sp>
      <p:sp>
        <p:nvSpPr>
          <p:cNvPr id="336" name="Rounded Rectangle 13"/>
          <p:cNvSpPr/>
          <p:nvPr/>
        </p:nvSpPr>
        <p:spPr>
          <a:xfrm>
            <a:off x="365759" y="2523744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7" name="TextBox 14"/>
          <p:cNvSpPr txBox="1"/>
          <p:nvPr/>
        </p:nvSpPr>
        <p:spPr>
          <a:xfrm>
            <a:off x="365759" y="2777998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38" name="Rounded Rectangle 15"/>
          <p:cNvSpPr/>
          <p:nvPr/>
        </p:nvSpPr>
        <p:spPr>
          <a:xfrm>
            <a:off x="877824" y="2523744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" name="TextBox 16"/>
          <p:cNvSpPr txBox="1"/>
          <p:nvPr/>
        </p:nvSpPr>
        <p:spPr>
          <a:xfrm>
            <a:off x="1060703" y="2596895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"Cave" de café para lotes raros</a:t>
            </a:r>
          </a:p>
        </p:txBody>
      </p:sp>
      <p:sp>
        <p:nvSpPr>
          <p:cNvPr id="340" name="TextBox 17"/>
          <p:cNvSpPr txBox="1"/>
          <p:nvPr/>
        </p:nvSpPr>
        <p:spPr>
          <a:xfrm>
            <a:off x="1060703" y="2852927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Vitrine climatizada e iluminada, como adegas de vinho ou câmaras de maturação de queijo — teatro visual de "tesouro guardado".</a:t>
            </a:r>
          </a:p>
        </p:txBody>
      </p:sp>
      <p:sp>
        <p:nvSpPr>
          <p:cNvPr id="341" name="Rounded Rectangle 18"/>
          <p:cNvSpPr/>
          <p:nvPr/>
        </p:nvSpPr>
        <p:spPr>
          <a:xfrm>
            <a:off x="365759" y="3328415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2" name="TextBox 19"/>
          <p:cNvSpPr txBox="1"/>
          <p:nvPr/>
        </p:nvSpPr>
        <p:spPr>
          <a:xfrm>
            <a:off x="365759" y="3582669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43" name="Rounded Rectangle 20"/>
          <p:cNvSpPr/>
          <p:nvPr/>
        </p:nvSpPr>
        <p:spPr>
          <a:xfrm>
            <a:off x="877824" y="3328415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4" name="TextBox 21"/>
          <p:cNvSpPr txBox="1"/>
          <p:nvPr/>
        </p:nvSpPr>
        <p:spPr>
          <a:xfrm>
            <a:off x="1060703" y="3401567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Estação de harmonização sensorial</a:t>
            </a:r>
          </a:p>
        </p:txBody>
      </p:sp>
      <p:sp>
        <p:nvSpPr>
          <p:cNvPr id="345" name="TextBox 22"/>
          <p:cNvSpPr txBox="1"/>
          <p:nvPr/>
        </p:nvSpPr>
        <p:spPr>
          <a:xfrm>
            <a:off x="1060703" y="3657600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Display para cheirar notas aromáticas (floral, achocolatado, frutado) antes de escolher — a "roda de aromas" usada em vinícolas.</a:t>
            </a:r>
          </a:p>
        </p:txBody>
      </p:sp>
      <p:sp>
        <p:nvSpPr>
          <p:cNvPr id="346" name="Rounded Rectangle 23"/>
          <p:cNvSpPr/>
          <p:nvPr/>
        </p:nvSpPr>
        <p:spPr>
          <a:xfrm>
            <a:off x="365759" y="4133088"/>
            <a:ext cx="457201" cy="749809"/>
          </a:xfrm>
          <a:prstGeom prst="roundRect">
            <a:avLst>
              <a:gd name="adj" fmla="val 15000"/>
            </a:avLst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TextBox 24"/>
          <p:cNvSpPr txBox="1"/>
          <p:nvPr/>
        </p:nvSpPr>
        <p:spPr>
          <a:xfrm>
            <a:off x="365759" y="4387342"/>
            <a:ext cx="457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48" name="Rounded Rectangle 25"/>
          <p:cNvSpPr/>
          <p:nvPr/>
        </p:nvSpPr>
        <p:spPr>
          <a:xfrm>
            <a:off x="877824" y="4133088"/>
            <a:ext cx="7900417" cy="749809"/>
          </a:xfrm>
          <a:prstGeom prst="roundRect">
            <a:avLst>
              <a:gd name="adj" fmla="val 6000"/>
            </a:avLst>
          </a:prstGeom>
          <a:solidFill>
            <a:srgbClr val="E8EE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" name="TextBox 26"/>
          <p:cNvSpPr txBox="1"/>
          <p:nvPr/>
        </p:nvSpPr>
        <p:spPr>
          <a:xfrm>
            <a:off x="1060703" y="4206240"/>
            <a:ext cx="758952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Momento Instagramável</a:t>
            </a:r>
          </a:p>
        </p:txBody>
      </p:sp>
      <p:sp>
        <p:nvSpPr>
          <p:cNvPr id="350" name="TextBox 27"/>
          <p:cNvSpPr txBox="1"/>
          <p:nvPr/>
        </p:nvSpPr>
        <p:spPr>
          <a:xfrm>
            <a:off x="1060703" y="4462271"/>
            <a:ext cx="75895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Parede ou vitrine "da fazenda à xícara" com mapa e fotos da fazenda Orfeu, gerando conteúdo espontâneo de redes sociais dentro da loja.</a:t>
            </a:r>
          </a:p>
        </p:txBody>
      </p:sp>
      <p:sp>
        <p:nvSpPr>
          <p:cNvPr id="351" name="TextBox 28"/>
          <p:cNvSpPr txBox="1"/>
          <p:nvPr/>
        </p:nvSpPr>
        <p:spPr>
          <a:xfrm>
            <a:off x="365759" y="4956047"/>
            <a:ext cx="6858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7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Briefing interno Orfeu — ideias para discussão, não compromissos assumidos com o GPA</a:t>
            </a:r>
          </a:p>
        </p:txBody>
      </p:sp>
      <p:sp>
        <p:nvSpPr>
          <p:cNvPr id="352" name="TextBox 29"/>
          <p:cNvSpPr txBox="1"/>
          <p:nvPr/>
        </p:nvSpPr>
        <p:spPr>
          <a:xfrm>
            <a:off x="8321040" y="4956047"/>
            <a:ext cx="457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566928"/>
          </a:xfrm>
          <a:prstGeom prst="rect">
            <a:avLst/>
          </a:prstGeom>
          <a:ln w="12700">
            <a:miter lim="400000"/>
          </a:ln>
        </p:spPr>
      </p:pic>
      <p:sp>
        <p:nvSpPr>
          <p:cNvPr id="355" name="TextBox 2"/>
          <p:cNvSpPr txBox="1"/>
          <p:nvPr/>
        </p:nvSpPr>
        <p:spPr>
          <a:xfrm>
            <a:off x="365759" y="156464"/>
            <a:ext cx="73152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FFFF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Próximos Passos</a:t>
            </a:r>
          </a:p>
        </p:txBody>
      </p:sp>
      <p:sp>
        <p:nvSpPr>
          <p:cNvPr id="356" name="TextBox 3"/>
          <p:cNvSpPr txBox="1"/>
          <p:nvPr/>
        </p:nvSpPr>
        <p:spPr>
          <a:xfrm>
            <a:off x="365759" y="566928"/>
            <a:ext cx="84124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9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Conectando com o Bloco 3 do roteiro de reunião (propostas ao GPA)</a:t>
            </a:r>
          </a:p>
        </p:txBody>
      </p:sp>
      <p:sp>
        <p:nvSpPr>
          <p:cNvPr id="357" name="TextBox 4"/>
          <p:cNvSpPr txBox="1"/>
          <p:nvPr/>
        </p:nvSpPr>
        <p:spPr>
          <a:xfrm>
            <a:off x="365759" y="914399"/>
            <a:ext cx="8412482" cy="327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Este documento é um banco de ideias para o time Orfeu preparar as Propostas 1–5 do roteiro de reunião com vendas e marketing do GPA — não substitui o roteiro, complementa-o com opções concretas de execução.</a:t>
            </a:r>
          </a:p>
        </p:txBody>
      </p:sp>
      <p:sp>
        <p:nvSpPr>
          <p:cNvPr id="358" name="Rounded Rectangle 5"/>
          <p:cNvSpPr/>
          <p:nvPr/>
        </p:nvSpPr>
        <p:spPr>
          <a:xfrm>
            <a:off x="365759" y="1508760"/>
            <a:ext cx="8412482" cy="512065"/>
          </a:xfrm>
          <a:prstGeom prst="roundRect">
            <a:avLst>
              <a:gd name="adj" fmla="val 8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9" name="TextBox 6"/>
          <p:cNvSpPr txBox="1"/>
          <p:nvPr/>
        </p:nvSpPr>
        <p:spPr>
          <a:xfrm>
            <a:off x="548639" y="1694942"/>
            <a:ext cx="29260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A5C2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Proposta 1 — Gestão de Categoria</a:t>
            </a:r>
          </a:p>
        </p:txBody>
      </p:sp>
      <p:sp>
        <p:nvSpPr>
          <p:cNvPr id="360" name="TextBox 7"/>
          <p:cNvSpPr txBox="1"/>
          <p:nvPr/>
        </p:nvSpPr>
        <p:spPr>
          <a:xfrm>
            <a:off x="3566159" y="1694942"/>
            <a:ext cx="5029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Etapas 2, 4 e 6 — conversão, trade-up e diferenciação frente a outros varejistas.</a:t>
            </a:r>
          </a:p>
        </p:txBody>
      </p:sp>
      <p:sp>
        <p:nvSpPr>
          <p:cNvPr id="361" name="Rounded Rectangle 8"/>
          <p:cNvSpPr/>
          <p:nvPr/>
        </p:nvSpPr>
        <p:spPr>
          <a:xfrm>
            <a:off x="365759" y="2075688"/>
            <a:ext cx="8412482" cy="512065"/>
          </a:xfrm>
          <a:prstGeom prst="roundRect">
            <a:avLst>
              <a:gd name="adj" fmla="val 8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" name="TextBox 9"/>
          <p:cNvSpPr txBox="1"/>
          <p:nvPr/>
        </p:nvSpPr>
        <p:spPr>
          <a:xfrm>
            <a:off x="548639" y="2261869"/>
            <a:ext cx="29260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A5C2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Proposta 2 — Sortimento por praça/tipo de loja</a:t>
            </a:r>
          </a:p>
        </p:txBody>
      </p:sp>
      <p:sp>
        <p:nvSpPr>
          <p:cNvPr id="363" name="TextBox 10"/>
          <p:cNvSpPr txBox="1"/>
          <p:nvPr/>
        </p:nvSpPr>
        <p:spPr>
          <a:xfrm>
            <a:off x="3566159" y="2261869"/>
            <a:ext cx="5029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Etapas 4 e 5 — trade-up e embalagem, adaptados por formato (Pão de Açúcar, Minuto, Extra).</a:t>
            </a:r>
          </a:p>
        </p:txBody>
      </p:sp>
      <p:sp>
        <p:nvSpPr>
          <p:cNvPr id="364" name="Rounded Rectangle 11"/>
          <p:cNvSpPr/>
          <p:nvPr/>
        </p:nvSpPr>
        <p:spPr>
          <a:xfrm>
            <a:off x="365759" y="2642616"/>
            <a:ext cx="8412482" cy="512065"/>
          </a:xfrm>
          <a:prstGeom prst="roundRect">
            <a:avLst>
              <a:gd name="adj" fmla="val 8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" name="TextBox 12"/>
          <p:cNvSpPr txBox="1"/>
          <p:nvPr/>
        </p:nvSpPr>
        <p:spPr>
          <a:xfrm>
            <a:off x="548639" y="2828797"/>
            <a:ext cx="29260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A5C2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Proposta 3 — Motor de ticket médio e margem</a:t>
            </a:r>
          </a:p>
        </p:txBody>
      </p:sp>
      <p:sp>
        <p:nvSpPr>
          <p:cNvPr id="366" name="TextBox 13"/>
          <p:cNvSpPr txBox="1"/>
          <p:nvPr/>
        </p:nvSpPr>
        <p:spPr>
          <a:xfrm>
            <a:off x="3566159" y="2828797"/>
            <a:ext cx="5029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Etapas 4 e 5 — trade-up e embalagens premium de maior margem.</a:t>
            </a:r>
          </a:p>
        </p:txBody>
      </p:sp>
      <p:sp>
        <p:nvSpPr>
          <p:cNvPr id="367" name="Rounded Rectangle 14"/>
          <p:cNvSpPr/>
          <p:nvPr/>
        </p:nvSpPr>
        <p:spPr>
          <a:xfrm>
            <a:off x="365759" y="3209544"/>
            <a:ext cx="8412482" cy="512065"/>
          </a:xfrm>
          <a:prstGeom prst="roundRect">
            <a:avLst>
              <a:gd name="adj" fmla="val 8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8" name="TextBox 15"/>
          <p:cNvSpPr txBox="1"/>
          <p:nvPr/>
        </p:nvSpPr>
        <p:spPr>
          <a:xfrm>
            <a:off x="548639" y="3395726"/>
            <a:ext cx="29260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A5C2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Proposta 4 — Clube Pão de Açúcar Mais</a:t>
            </a:r>
          </a:p>
        </p:txBody>
      </p:sp>
      <p:sp>
        <p:nvSpPr>
          <p:cNvPr id="369" name="TextBox 16"/>
          <p:cNvSpPr txBox="1"/>
          <p:nvPr/>
        </p:nvSpPr>
        <p:spPr>
          <a:xfrm>
            <a:off x="3566159" y="3395726"/>
            <a:ext cx="5029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Etapas 1, 3 e 6 — atração, fidelização e diferenciação via retail media e conteúdo exclusivo.</a:t>
            </a:r>
          </a:p>
        </p:txBody>
      </p:sp>
      <p:sp>
        <p:nvSpPr>
          <p:cNvPr id="370" name="Rounded Rectangle 17"/>
          <p:cNvSpPr/>
          <p:nvPr/>
        </p:nvSpPr>
        <p:spPr>
          <a:xfrm>
            <a:off x="365759" y="3776471"/>
            <a:ext cx="8412482" cy="512065"/>
          </a:xfrm>
          <a:prstGeom prst="roundRect">
            <a:avLst>
              <a:gd name="adj" fmla="val 8000"/>
            </a:avLst>
          </a:prstGeom>
          <a:solidFill>
            <a:srgbClr val="F0F0E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" name="TextBox 18"/>
          <p:cNvSpPr txBox="1"/>
          <p:nvPr/>
        </p:nvSpPr>
        <p:spPr>
          <a:xfrm>
            <a:off x="548639" y="3962653"/>
            <a:ext cx="292608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2A5C2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Proposta 5 — Cafeterias das lojas</a:t>
            </a:r>
          </a:p>
        </p:txBody>
      </p:sp>
      <p:sp>
        <p:nvSpPr>
          <p:cNvPr id="372" name="TextBox 19"/>
          <p:cNvSpPr txBox="1"/>
          <p:nvPr/>
        </p:nvSpPr>
        <p:spPr>
          <a:xfrm>
            <a:off x="3566159" y="3962653"/>
            <a:ext cx="5029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1A1A1A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Etapa 7 — experiência e in-store theater.</a:t>
            </a:r>
          </a:p>
        </p:txBody>
      </p:sp>
      <p:sp>
        <p:nvSpPr>
          <p:cNvPr id="373" name="TextBox 20"/>
          <p:cNvSpPr txBox="1"/>
          <p:nvPr/>
        </p:nvSpPr>
        <p:spPr>
          <a:xfrm>
            <a:off x="365759" y="4398264"/>
            <a:ext cx="8412482" cy="293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i="1" sz="900">
                <a:solidFill>
                  <a:srgbClr val="1E4221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Recomendação: escolher 1 ideia "quick win" (baixa complexidade) e 1 ideia "marco" (alto impacto) por proposta antes da reunião, para chegar com escolhas concretas em vez do banco completo de 35 ideias.</a:t>
            </a:r>
          </a:p>
        </p:txBody>
      </p:sp>
      <p:sp>
        <p:nvSpPr>
          <p:cNvPr id="374" name="TextBox 22"/>
          <p:cNvSpPr txBox="1"/>
          <p:nvPr/>
        </p:nvSpPr>
        <p:spPr>
          <a:xfrm>
            <a:off x="8321040" y="4956047"/>
            <a:ext cx="4572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800">
                <a:solidFill>
                  <a:srgbClr val="6E6E6E"/>
                </a:solidFill>
                <a:latin typeface="Avenir Next LT Pro"/>
                <a:ea typeface="Avenir Next LT Pro"/>
                <a:cs typeface="Avenir Next LT Pro"/>
                <a:sym typeface="Avenir Next LT Pro"/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