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36576"/>
            <a:ext cx="9052560" cy="182880"/>
          </a:xfrm>
          <a:prstGeom prst="rect">
            <a:avLst/>
          </a:prstGeom>
          <a:noFill/>
        </p:spPr>
        <p:txBody>
          <a:bodyPr wrap="square" lIns="0" rIns="18288" tIns="0" bIns="4572">
            <a:spAutoFit/>
          </a:bodyPr>
          <a:lstStyle/>
          <a:p>
            <a:pPr algn="l"/>
            <a:r>
              <a:rPr sz="1200" b="1" i="0">
                <a:solidFill>
                  <a:srgbClr val="C07028"/>
                </a:solidFill>
                <a:latin typeface="Calibri"/>
              </a:rPr>
              <a:t>CALENDÁRIO OMNICHANNEL ORFEU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210312"/>
            <a:ext cx="9052560" cy="109728"/>
          </a:xfrm>
          <a:prstGeom prst="rect">
            <a:avLst/>
          </a:prstGeom>
          <a:noFill/>
        </p:spPr>
        <p:txBody>
          <a:bodyPr wrap="square" lIns="0" rIns="18288" tIns="0" bIns="4572">
            <a:spAutoFit/>
          </a:bodyPr>
          <a:lstStyle/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>Julho 2026 – Junho 2027  ·  Campanhas, Always On, B2B, Varejo e Experiential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" y="321868"/>
            <a:ext cx="877824" cy="35661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4516" y="321868"/>
            <a:ext cx="4076396" cy="155448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4516" y="321868"/>
            <a:ext cx="4076396" cy="155448"/>
          </a:xfrm>
          <a:prstGeom prst="rect">
            <a:avLst/>
          </a:prstGeom>
          <a:noFill/>
        </p:spPr>
        <p:txBody>
          <a:bodyPr wrap="square" lIns="36576" rIns="18288" tIns="27432" bIns="4572">
            <a:spAutoFit/>
          </a:bodyPr>
          <a:lstStyle/>
          <a:p>
            <a:pPr algn="ctr"/>
            <a:r>
              <a:rPr sz="750" b="1" i="0">
                <a:solidFill>
                  <a:srgbClr val="F7F4ED"/>
                </a:solidFill>
                <a:latin typeface="Calibri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0912" y="321868"/>
            <a:ext cx="10972" cy="482163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1884" y="321868"/>
            <a:ext cx="4076396" cy="155448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1884" y="321868"/>
            <a:ext cx="4076396" cy="155448"/>
          </a:xfrm>
          <a:prstGeom prst="rect">
            <a:avLst/>
          </a:prstGeom>
          <a:noFill/>
        </p:spPr>
        <p:txBody>
          <a:bodyPr wrap="square" lIns="36576" rIns="18288" tIns="27432" bIns="4572">
            <a:spAutoFit/>
          </a:bodyPr>
          <a:lstStyle/>
          <a:p>
            <a:pPr algn="ctr"/>
            <a:r>
              <a:rPr sz="750" b="1" i="0">
                <a:solidFill>
                  <a:srgbClr val="F7F4ED"/>
                </a:solidFill>
                <a:latin typeface="Calibri"/>
              </a:rP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" y="477316"/>
            <a:ext cx="877824" cy="201168"/>
          </a:xfrm>
          <a:prstGeom prst="rect">
            <a:avLst/>
          </a:prstGeom>
          <a:noFill/>
        </p:spPr>
        <p:txBody>
          <a:bodyPr wrap="square" lIns="36576" rIns="18288" bIns="4572">
            <a:spAutoFit/>
          </a:bodyPr>
          <a:lstStyle/>
          <a:p>
            <a:pPr algn="ctr"/>
            <a:r>
              <a:rPr sz="650" b="1" i="0">
                <a:solidFill>
                  <a:srgbClr val="F7F4ED"/>
                </a:solidFill>
                <a:latin typeface="Calibri"/>
              </a:rPr>
              <a:t>MÊS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4516" y="477316"/>
            <a:ext cx="670256" cy="20116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516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JUL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5744" y="477316"/>
            <a:ext cx="670256" cy="20116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5744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96972" y="477316"/>
            <a:ext cx="670256" cy="20116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96972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8200" y="477316"/>
            <a:ext cx="670256" cy="20116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8200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9428" y="477316"/>
            <a:ext cx="670256" cy="20116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9428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NOV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0656" y="477316"/>
            <a:ext cx="670256" cy="20116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0656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DEZ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1884" y="477316"/>
            <a:ext cx="670256" cy="201168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1884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JAN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03112" y="477316"/>
            <a:ext cx="670256" cy="201168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3112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FEV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4340" y="477316"/>
            <a:ext cx="670256" cy="201168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4340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65568" y="477316"/>
            <a:ext cx="670256" cy="201168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65568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ABR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46796" y="477316"/>
            <a:ext cx="670256" cy="201168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46796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28024" y="477316"/>
            <a:ext cx="670256" cy="201168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8024" y="477316"/>
            <a:ext cx="670256" cy="201168"/>
          </a:xfrm>
          <a:prstGeom prst="rect">
            <a:avLst/>
          </a:prstGeom>
          <a:noFill/>
        </p:spPr>
        <p:txBody>
          <a:bodyPr wrap="square" lIns="36576" rIns="18288" tIns="41148" bIns="4572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JUN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" y="689456"/>
            <a:ext cx="877824" cy="728625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" y="689456"/>
            <a:ext cx="32004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" y="689456"/>
            <a:ext cx="841248" cy="728625"/>
          </a:xfrm>
          <a:prstGeom prst="rect">
            <a:avLst/>
          </a:prstGeom>
          <a:noFill/>
        </p:spPr>
        <p:txBody>
          <a:bodyPr wrap="square" lIns="36576" rIns="18288" tIns="54864" bIns="4572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CAMPANHA</a:t>
            </a:r>
          </a:p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DE MARCA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4516" y="689456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4516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Posiciona-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mento premium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15744" y="689456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15744" y="689456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15744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Dia dos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Pais 09/08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96972" y="689456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96972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Marca premium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origem &amp; café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8200" y="689456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78200" y="689456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78200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Dia Intl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Café 01/10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9428" y="689456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9428" y="689456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9428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Black Friday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estruturada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0656" y="689456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40656" y="689456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40656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Natal &amp;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Fim de Ano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1884" y="689456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1884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Posiciona-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mento premium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03112" y="689456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03112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Carnaval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(anti-massa)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84340" y="689456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84340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Outono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café &amp; casa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65568" y="689456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65568" y="689456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65568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Dia Mundial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Café 14/04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46796" y="689456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46796" y="689456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46796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Dia Nacional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24/05 + Mães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28024" y="689456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28024" y="689456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28024" y="689456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SP Coffee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Festival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10912" y="689456"/>
            <a:ext cx="10972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" y="1429053"/>
            <a:ext cx="877824" cy="728625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720" y="1429053"/>
            <a:ext cx="32004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" y="1429053"/>
            <a:ext cx="841248" cy="728625"/>
          </a:xfrm>
          <a:prstGeom prst="rect">
            <a:avLst/>
          </a:prstGeom>
          <a:noFill/>
        </p:spPr>
        <p:txBody>
          <a:bodyPr wrap="square" lIns="36576" rIns="18288" tIns="54864" bIns="4572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ALWAYS ON</a:t>
            </a:r>
          </a:p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+ DATAS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4516" y="1429053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4516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Rituais · Festivais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Inverno SC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15744" y="1429053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15744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Rituais ·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Dia dos Pais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96972" y="1429053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96972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Rituais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premium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78200" y="1429053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978200" y="1429053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78200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Dia Intl Café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01/10 · reels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9428" y="1429053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9428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BF digital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lives · oferta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40656" y="1429053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40656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Xmas content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Réveillon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1884" y="1429053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1884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Rituais ·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novo ano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03112" y="1429053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03112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Rituais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Carnaval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84340" y="1429053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84340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Rituais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outono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65568" y="1429053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065568" y="1429053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65568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Dia Mundial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Café 14/04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46796" y="1429053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46796" y="1429053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746796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Dia Nacional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24/05 · Mães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428024" y="1429053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428024" y="1429053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SP Coffee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Fest coverage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10912" y="1429053"/>
            <a:ext cx="10972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5720" y="2168650"/>
            <a:ext cx="877824" cy="728625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5720" y="2168650"/>
            <a:ext cx="32004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6868" y="2168650"/>
            <a:ext cx="841248" cy="728625"/>
          </a:xfrm>
          <a:prstGeom prst="rect">
            <a:avLst/>
          </a:prstGeom>
          <a:noFill/>
        </p:spPr>
        <p:txBody>
          <a:bodyPr wrap="square" lIns="36576" rIns="18288" tIns="54864" bIns="4572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B2B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34516" y="2168650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34516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Prospecção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H2 · novos cli.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615744" y="2168650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615744" y="2168650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615744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Dia dos Pais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5 cli/vendedor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96972" y="2168650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296972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Follow-up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pipeline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978200" y="2168650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978200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Dia Intl Café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ação B2B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9428" y="2168650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659428" y="2168650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659428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Black Friday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meta H2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40656" y="2168650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340656" y="2168650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340656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Puxar pedidos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recesso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1884" y="2168650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21884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Planej. H1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meta &amp; prosp.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703112" y="2168650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03112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Pipeline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ativo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384340" y="2168650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84340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Grandes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contas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065568" y="2168650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065568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Dia Mundial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Café B2B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746796" y="2168650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746796" y="2168650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746796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APAS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feira B2B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428024" y="2168650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428024" y="2168650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428024" y="2168650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Fispal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SP Coffee Fest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010912" y="2168650"/>
            <a:ext cx="10972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5720" y="2908248"/>
            <a:ext cx="877824" cy="728625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720" y="2908248"/>
            <a:ext cx="32004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6868" y="2908248"/>
            <a:ext cx="841248" cy="728625"/>
          </a:xfrm>
          <a:prstGeom prst="rect">
            <a:avLst/>
          </a:prstGeom>
          <a:noFill/>
        </p:spPr>
        <p:txBody>
          <a:bodyPr wrap="square" lIns="36576" rIns="18288" tIns="54864" bIns="4572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VAREJO</a:t>
            </a:r>
          </a:p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TOP REDES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34516" y="2908248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34516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Bistek SC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Zona Sul RJ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615744" y="2908248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615744" y="2908248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615744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GPA aniv.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Marche tabloid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296972" y="2908248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296972" y="2908248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296972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Carrefour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Zaffari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978200" y="2908248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978200" y="2908248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978200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Sam's Club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FortAtacad. SC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659428" y="2908248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659428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Marche aniv.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Archer SC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340656" y="2908248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340656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Santa Luzia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021884" y="2908248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021884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JBP H1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acordo anual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703112" y="2908248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703112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Tabloide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verão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384340" y="2908248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84340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Ativação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outono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065568" y="2908248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065568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SP-Arte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ativação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746796" y="2908248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746796" y="2908248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746796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Angeloni SC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Prezunic RJ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428024" y="2908248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428024" y="2908248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Giassi SC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SP Coffee Fest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010912" y="2908248"/>
            <a:ext cx="10972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5720" y="3647845"/>
            <a:ext cx="877824" cy="728625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5720" y="3647845"/>
            <a:ext cx="32004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6868" y="3647845"/>
            <a:ext cx="841248" cy="728625"/>
          </a:xfrm>
          <a:prstGeom prst="rect">
            <a:avLst/>
          </a:prstGeom>
          <a:noFill/>
        </p:spPr>
        <p:txBody>
          <a:bodyPr wrap="square" lIns="36576" rIns="18288" tIns="54864" bIns="4572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EXPERI-</a:t>
            </a:r>
          </a:p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ENTIAL</a:t>
            </a:r>
          </a:p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&amp; EVENTOS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34516" y="3647845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34516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1">
                <a:solidFill>
                  <a:srgbClr val="8A8A8A"/>
                </a:solidFill>
                <a:latin typeface="Calibri"/>
              </a:rPr>
              <a:t>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615744" y="3647845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615744" y="3647845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615744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SP-Arte 2ª ed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26–30/ago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96972" y="3647845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296972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1">
                <a:solidFill>
                  <a:srgbClr val="8A8A8A"/>
                </a:solidFill>
                <a:latin typeface="Calibri"/>
              </a:rPr>
              <a:t>—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978200" y="3647845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978200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1">
                <a:solidFill>
                  <a:srgbClr val="8A8A8A"/>
                </a:solidFill>
                <a:latin typeface="Calibri"/>
              </a:rPr>
              <a:t>—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659428" y="3647845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659428" y="3647845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659428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SIC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11–13/nov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340656" y="3647845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340656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1">
                <a:solidFill>
                  <a:srgbClr val="8A8A8A"/>
                </a:solidFill>
                <a:latin typeface="Calibri"/>
              </a:rPr>
              <a:t>—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021884" y="3647845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021884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1">
                <a:solidFill>
                  <a:srgbClr val="8A8A8A"/>
                </a:solidFill>
                <a:latin typeface="Calibri"/>
              </a:rPr>
              <a:t>—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703112" y="3647845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703112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1">
                <a:solidFill>
                  <a:srgbClr val="8A8A8A"/>
                </a:solidFill>
                <a:latin typeface="Calibri"/>
              </a:rPr>
              <a:t>—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384340" y="3647845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84340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1">
                <a:solidFill>
                  <a:srgbClr val="8A8A8A"/>
                </a:solidFill>
                <a:latin typeface="Calibr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065568" y="3647845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065568" y="3647845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065568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SP-Arte 1ª ed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início abr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746796" y="3647845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746796" y="3647845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746796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APAS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feira B2B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8428024" y="3647845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428024" y="3647845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8428024" y="3647845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SP Coffee Fest</a:t>
            </a:r>
          </a:p>
          <a:p>
            <a:pPr algn="l"/>
            <a:r>
              <a:rPr sz="580" b="0" i="0">
                <a:solidFill>
                  <a:srgbClr val="2D2D2D"/>
                </a:solidFill>
                <a:latin typeface="Calibri"/>
              </a:rPr>
              <a:t>Fispal · jun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010912" y="3647845"/>
            <a:ext cx="10972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5720" y="4387442"/>
            <a:ext cx="877824" cy="728625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45720" y="4387442"/>
            <a:ext cx="32004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6868" y="4387442"/>
            <a:ext cx="841248" cy="728625"/>
          </a:xfrm>
          <a:prstGeom prst="rect">
            <a:avLst/>
          </a:prstGeom>
          <a:noFill/>
        </p:spPr>
        <p:txBody>
          <a:bodyPr wrap="square" lIns="36576" rIns="18288" tIns="54864" bIns="4572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E-COMM</a:t>
            </a:r>
          </a:p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AMAZON</a:t>
            </a:r>
          </a:p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&amp; ML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34516" y="4387442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4516" y="4387442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34516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07.07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Prime Day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615744" y="4387442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615744" y="4387442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615744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08.08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Mega Oferta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96972" y="4387442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296972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09.09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Amazon · ML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2978200" y="4387442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978200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10.10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Amazon · ML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3659428" y="4387442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3659428" y="4387442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3659428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11.11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Black Friday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340656" y="4387442"/>
            <a:ext cx="670256" cy="728625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340656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12.12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Amazon · ML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5021884" y="4387442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021884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01.01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Amazon · ML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5703112" y="4387442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5703112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02.02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Amazon · ML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6384340" y="4387442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384340" y="4387442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84340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03.03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S. Consumidor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065568" y="4387442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065568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04.04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Amazon · ML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7746796" y="4387442"/>
            <a:ext cx="670256" cy="728625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746796" y="4387442"/>
            <a:ext cx="670256" cy="2286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746796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05.05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S.Café · Mães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428024" y="4387442"/>
            <a:ext cx="670256" cy="72862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428024" y="4387442"/>
            <a:ext cx="670256" cy="728625"/>
          </a:xfrm>
          <a:prstGeom prst="rect">
            <a:avLst/>
          </a:prstGeom>
          <a:noFill/>
        </p:spPr>
        <p:txBody>
          <a:bodyPr wrap="square" lIns="32004" rIns="18288" tIns="36576" bIns="4572">
            <a:spAutoFit/>
          </a:bodyPr>
          <a:lstStyle/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06.06 Dupla</a:t>
            </a:r>
          </a:p>
          <a:p>
            <a:pPr algn="l"/>
            <a:r>
              <a:rPr sz="550" b="0" i="0">
                <a:solidFill>
                  <a:srgbClr val="2D2D2D"/>
                </a:solidFill>
                <a:latin typeface="Calibri"/>
              </a:rPr>
              <a:t>Amazon · ML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010912" y="4387442"/>
            <a:ext cx="10972" cy="728625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