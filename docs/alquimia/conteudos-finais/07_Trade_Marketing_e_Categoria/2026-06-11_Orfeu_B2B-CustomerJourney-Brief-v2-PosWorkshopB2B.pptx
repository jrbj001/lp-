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half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half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005">
              <a:alpha val="68000"/>
            </a:srgbClr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6" name="Rectangle 3"/>
          <p:cNvSpPr/>
          <p:nvPr/>
        </p:nvSpPr>
        <p:spPr>
          <a:xfrm>
            <a:off x="347471" y="1463038"/>
            <a:ext cx="8449058" cy="54866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7" name="TextBox 4"/>
          <p:cNvSpPr txBox="1"/>
          <p:nvPr/>
        </p:nvSpPr>
        <p:spPr>
          <a:xfrm>
            <a:off x="393191" y="1645921"/>
            <a:ext cx="8357618" cy="549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JORNADA DO CLIENTE B2B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393191" y="2377439"/>
            <a:ext cx="8357618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13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Brief Estratégico — Cafeterias, Empórios e Parceiros Ho.Re.Ca.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393191" y="2816351"/>
            <a:ext cx="8357618" cy="205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AABBA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Documento Interno · Orfeu · Junho 2026</a:t>
            </a:r>
          </a:p>
        </p:txBody>
      </p:sp>
      <p:pic>
        <p:nvPicPr>
          <p:cNvPr id="100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83877" y="137160"/>
            <a:ext cx="685803" cy="5384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extBox 3"/>
          <p:cNvSpPr txBox="1"/>
          <p:nvPr/>
        </p:nvSpPr>
        <p:spPr>
          <a:xfrm>
            <a:off x="393192" y="201167"/>
            <a:ext cx="7680960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Sumário</a:t>
            </a:r>
          </a:p>
        </p:txBody>
      </p:sp>
      <p:sp>
        <p:nvSpPr>
          <p:cNvPr id="104" name="TextBox 4"/>
          <p:cNvSpPr txBox="1"/>
          <p:nvPr/>
        </p:nvSpPr>
        <p:spPr>
          <a:xfrm>
            <a:off x="393192" y="694945"/>
            <a:ext cx="7680960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8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Estrutura do documento</a:t>
            </a:r>
          </a:p>
        </p:txBody>
      </p:sp>
      <p:sp>
        <p:nvSpPr>
          <p:cNvPr id="105" name="Rectangle 5"/>
          <p:cNvSpPr/>
          <p:nvPr/>
        </p:nvSpPr>
        <p:spPr>
          <a:xfrm>
            <a:off x="182878" y="1521966"/>
            <a:ext cx="201171" cy="256033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6" name="TextBox 6"/>
          <p:cNvSpPr txBox="1"/>
          <p:nvPr/>
        </p:nvSpPr>
        <p:spPr>
          <a:xfrm>
            <a:off x="502918" y="1540256"/>
            <a:ext cx="3895347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1.  Contexto: quem é o cliente B2B da Orfeu</a:t>
            </a:r>
          </a:p>
        </p:txBody>
      </p:sp>
      <p:sp>
        <p:nvSpPr>
          <p:cNvPr id="107" name="Rectangle 7"/>
          <p:cNvSpPr/>
          <p:nvPr/>
        </p:nvSpPr>
        <p:spPr>
          <a:xfrm>
            <a:off x="182878" y="1997455"/>
            <a:ext cx="201171" cy="256033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8" name="TextBox 8"/>
          <p:cNvSpPr txBox="1"/>
          <p:nvPr/>
        </p:nvSpPr>
        <p:spPr>
          <a:xfrm>
            <a:off x="502918" y="2015745"/>
            <a:ext cx="3895347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2.  Visão geral: mapa da jornada em 5 estágios</a:t>
            </a:r>
          </a:p>
        </p:txBody>
      </p:sp>
      <p:sp>
        <p:nvSpPr>
          <p:cNvPr id="109" name="Rectangle 9"/>
          <p:cNvSpPr/>
          <p:nvPr/>
        </p:nvSpPr>
        <p:spPr>
          <a:xfrm>
            <a:off x="182878" y="2472943"/>
            <a:ext cx="201171" cy="256033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0" name="TextBox 10"/>
          <p:cNvSpPr txBox="1"/>
          <p:nvPr/>
        </p:nvSpPr>
        <p:spPr>
          <a:xfrm>
            <a:off x="502918" y="2491233"/>
            <a:ext cx="3895347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3.  Estágio 1 — Descoberta</a:t>
            </a:r>
          </a:p>
        </p:txBody>
      </p:sp>
      <p:sp>
        <p:nvSpPr>
          <p:cNvPr id="111" name="Rectangle 11"/>
          <p:cNvSpPr/>
          <p:nvPr/>
        </p:nvSpPr>
        <p:spPr>
          <a:xfrm>
            <a:off x="182878" y="2948432"/>
            <a:ext cx="201171" cy="256033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2" name="TextBox 12"/>
          <p:cNvSpPr txBox="1"/>
          <p:nvPr/>
        </p:nvSpPr>
        <p:spPr>
          <a:xfrm>
            <a:off x="502918" y="2966721"/>
            <a:ext cx="3895347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4.  Estágio 2 — Consideração &amp; Avaliação</a:t>
            </a:r>
          </a:p>
        </p:txBody>
      </p:sp>
      <p:sp>
        <p:nvSpPr>
          <p:cNvPr id="113" name="Rectangle 13"/>
          <p:cNvSpPr/>
          <p:nvPr/>
        </p:nvSpPr>
        <p:spPr>
          <a:xfrm>
            <a:off x="182878" y="3423920"/>
            <a:ext cx="201171" cy="256033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4" name="TextBox 14"/>
          <p:cNvSpPr txBox="1"/>
          <p:nvPr/>
        </p:nvSpPr>
        <p:spPr>
          <a:xfrm>
            <a:off x="502918" y="3442207"/>
            <a:ext cx="3895347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5.  Estágio 3 — Ativação &amp; Onboarding</a:t>
            </a:r>
          </a:p>
        </p:txBody>
      </p:sp>
      <p:sp>
        <p:nvSpPr>
          <p:cNvPr id="115" name="Rectangle 15"/>
          <p:cNvSpPr/>
          <p:nvPr/>
        </p:nvSpPr>
        <p:spPr>
          <a:xfrm>
            <a:off x="182878" y="3899408"/>
            <a:ext cx="201171" cy="256033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6" name="TextBox 16"/>
          <p:cNvSpPr txBox="1"/>
          <p:nvPr/>
        </p:nvSpPr>
        <p:spPr>
          <a:xfrm>
            <a:off x="502918" y="3917697"/>
            <a:ext cx="3895347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6.  Estágio 4 — Crescimento &amp; Aprofundamento</a:t>
            </a:r>
          </a:p>
        </p:txBody>
      </p:sp>
      <p:sp>
        <p:nvSpPr>
          <p:cNvPr id="117" name="Rectangle 17"/>
          <p:cNvSpPr/>
          <p:nvPr/>
        </p:nvSpPr>
        <p:spPr>
          <a:xfrm>
            <a:off x="4663440" y="1521966"/>
            <a:ext cx="201170" cy="256033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8" name="TextBox 18"/>
          <p:cNvSpPr txBox="1"/>
          <p:nvPr/>
        </p:nvSpPr>
        <p:spPr>
          <a:xfrm>
            <a:off x="4983479" y="1540256"/>
            <a:ext cx="3895346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7.  Estágio 5 — Retenção &amp; Advocacia</a:t>
            </a:r>
          </a:p>
        </p:txBody>
      </p:sp>
      <p:sp>
        <p:nvSpPr>
          <p:cNvPr id="119" name="Rectangle 19"/>
          <p:cNvSpPr/>
          <p:nvPr/>
        </p:nvSpPr>
        <p:spPr>
          <a:xfrm>
            <a:off x="4663440" y="1997455"/>
            <a:ext cx="201170" cy="256033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0" name="TextBox 20"/>
          <p:cNvSpPr txBox="1"/>
          <p:nvPr/>
        </p:nvSpPr>
        <p:spPr>
          <a:xfrm>
            <a:off x="4983479" y="2015745"/>
            <a:ext cx="3895346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8.  Referências: Nespresso Professional &amp; Nestlé Professional</a:t>
            </a:r>
          </a:p>
        </p:txBody>
      </p:sp>
      <p:sp>
        <p:nvSpPr>
          <p:cNvPr id="121" name="Rectangle 21"/>
          <p:cNvSpPr/>
          <p:nvPr/>
        </p:nvSpPr>
        <p:spPr>
          <a:xfrm>
            <a:off x="4663440" y="2472943"/>
            <a:ext cx="201170" cy="256033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2" name="TextBox 22"/>
          <p:cNvSpPr txBox="1"/>
          <p:nvPr/>
        </p:nvSpPr>
        <p:spPr>
          <a:xfrm>
            <a:off x="4983479" y="2491233"/>
            <a:ext cx="3895346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9.  Ecossistema de suporte: 12 ferramentas mapeadas</a:t>
            </a:r>
          </a:p>
        </p:txBody>
      </p:sp>
      <p:sp>
        <p:nvSpPr>
          <p:cNvPr id="123" name="Rectangle 23"/>
          <p:cNvSpPr/>
          <p:nvPr/>
        </p:nvSpPr>
        <p:spPr>
          <a:xfrm>
            <a:off x="4663440" y="2948432"/>
            <a:ext cx="201170" cy="256033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4" name="TextBox 24"/>
          <p:cNvSpPr txBox="1"/>
          <p:nvPr/>
        </p:nvSpPr>
        <p:spPr>
          <a:xfrm>
            <a:off x="4983479" y="2966721"/>
            <a:ext cx="3895346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10. Tiers de parceria</a:t>
            </a:r>
          </a:p>
        </p:txBody>
      </p:sp>
      <p:sp>
        <p:nvSpPr>
          <p:cNvPr id="125" name="Rectangle 25"/>
          <p:cNvSpPr/>
          <p:nvPr/>
        </p:nvSpPr>
        <p:spPr>
          <a:xfrm>
            <a:off x="4663440" y="3423920"/>
            <a:ext cx="201170" cy="256033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6" name="TextBox 26"/>
          <p:cNvSpPr txBox="1"/>
          <p:nvPr/>
        </p:nvSpPr>
        <p:spPr>
          <a:xfrm>
            <a:off x="4983479" y="3442207"/>
            <a:ext cx="3895346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11. KPIs e métricas da jornada</a:t>
            </a:r>
          </a:p>
        </p:txBody>
      </p:sp>
      <p:sp>
        <p:nvSpPr>
          <p:cNvPr id="127" name="Rectangle 27"/>
          <p:cNvSpPr/>
          <p:nvPr/>
        </p:nvSpPr>
        <p:spPr>
          <a:xfrm>
            <a:off x="4663440" y="3899408"/>
            <a:ext cx="201170" cy="256033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8" name="TextBox 28"/>
          <p:cNvSpPr txBox="1"/>
          <p:nvPr/>
        </p:nvSpPr>
        <p:spPr>
          <a:xfrm>
            <a:off x="4983479" y="3917697"/>
            <a:ext cx="3895346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12. Gaps e próximos passos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TextBox 3"/>
          <p:cNvSpPr txBox="1"/>
          <p:nvPr/>
        </p:nvSpPr>
        <p:spPr>
          <a:xfrm>
            <a:off x="393192" y="201167"/>
            <a:ext cx="7680960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Quem É o Cliente B2B da Orfeu</a:t>
            </a:r>
          </a:p>
        </p:txBody>
      </p:sp>
      <p:sp>
        <p:nvSpPr>
          <p:cNvPr id="132" name="TextBox 4"/>
          <p:cNvSpPr txBox="1"/>
          <p:nvPr/>
        </p:nvSpPr>
        <p:spPr>
          <a:xfrm>
            <a:off x="393192" y="694945"/>
            <a:ext cx="7680960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8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Perfis, necessidades e motivadores de compra</a:t>
            </a:r>
          </a:p>
        </p:txBody>
      </p:sp>
      <p:sp>
        <p:nvSpPr>
          <p:cNvPr id="133" name="Rectangle 5"/>
          <p:cNvSpPr/>
          <p:nvPr/>
        </p:nvSpPr>
        <p:spPr>
          <a:xfrm>
            <a:off x="182880" y="1078990"/>
            <a:ext cx="2121408" cy="3858771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4" name="Rectangle 6"/>
          <p:cNvSpPr/>
          <p:nvPr/>
        </p:nvSpPr>
        <p:spPr>
          <a:xfrm>
            <a:off x="182880" y="1078991"/>
            <a:ext cx="2121408" cy="475490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5" name="TextBox 8"/>
          <p:cNvSpPr txBox="1"/>
          <p:nvPr/>
        </p:nvSpPr>
        <p:spPr>
          <a:xfrm>
            <a:off x="317499" y="1114045"/>
            <a:ext cx="1517906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CAFETERIA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INDEPENDENTE</a:t>
            </a:r>
          </a:p>
        </p:txBody>
      </p:sp>
      <p:sp>
        <p:nvSpPr>
          <p:cNvPr id="136" name="TextBox 9"/>
          <p:cNvSpPr txBox="1"/>
          <p:nvPr/>
        </p:nvSpPr>
        <p:spPr>
          <a:xfrm>
            <a:off x="301752" y="1609344"/>
            <a:ext cx="1920240" cy="154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Dono-operador, 1–3 lojas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Foco em qualidade e experiência do cliente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Precisa de consistência de produto + suporte de cardápio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Motivador: diferenciar-se de redes e commodities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Dor: pouco tempo, equipe sem treinamento, baixo marketing</a:t>
            </a:r>
          </a:p>
        </p:txBody>
      </p:sp>
      <p:sp>
        <p:nvSpPr>
          <p:cNvPr id="137" name="Rectangle 10"/>
          <p:cNvSpPr/>
          <p:nvPr/>
        </p:nvSpPr>
        <p:spPr>
          <a:xfrm>
            <a:off x="2359150" y="1078990"/>
            <a:ext cx="2121411" cy="3858771"/>
          </a:xfrm>
          <a:prstGeom prst="rect">
            <a:avLst/>
          </a:prstGeom>
          <a:solidFill>
            <a:srgbClr val="FDF3E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8" name="Rectangle 11"/>
          <p:cNvSpPr/>
          <p:nvPr/>
        </p:nvSpPr>
        <p:spPr>
          <a:xfrm>
            <a:off x="2359150" y="1078991"/>
            <a:ext cx="2121411" cy="475490"/>
          </a:xfrm>
          <a:prstGeom prst="rect">
            <a:avLst/>
          </a:prstGeom>
          <a:solidFill>
            <a:srgbClr val="C06A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9" name="TextBox 13"/>
          <p:cNvSpPr txBox="1"/>
          <p:nvPr/>
        </p:nvSpPr>
        <p:spPr>
          <a:xfrm>
            <a:off x="2493771" y="1114045"/>
            <a:ext cx="1517905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EMPÓRIO &amp;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CASA GOURMET</a:t>
            </a:r>
          </a:p>
        </p:txBody>
      </p:sp>
      <p:sp>
        <p:nvSpPr>
          <p:cNvPr id="140" name="TextBox 14"/>
          <p:cNvSpPr txBox="1"/>
          <p:nvPr/>
        </p:nvSpPr>
        <p:spPr>
          <a:xfrm>
            <a:off x="2478023" y="1609344"/>
            <a:ext cx="1920241" cy="1714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Canal de varejo premium + consumo local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Vende café embalado + oferece consumo no ponto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Precisa de portfólio visual e narrativa de origem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Motivador: oferecer produtos que justifiquem ticket premium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Dor: giro lento, dificuldade de explicar o produto</a:t>
            </a:r>
          </a:p>
        </p:txBody>
      </p:sp>
      <p:sp>
        <p:nvSpPr>
          <p:cNvPr id="141" name="Rectangle 15"/>
          <p:cNvSpPr/>
          <p:nvPr/>
        </p:nvSpPr>
        <p:spPr>
          <a:xfrm>
            <a:off x="4535423" y="1078990"/>
            <a:ext cx="2121410" cy="3858771"/>
          </a:xfrm>
          <a:prstGeom prst="rect">
            <a:avLst/>
          </a:prstGeom>
          <a:solidFill>
            <a:srgbClr val="E3EF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2" name="Rectangle 16"/>
          <p:cNvSpPr/>
          <p:nvPr/>
        </p:nvSpPr>
        <p:spPr>
          <a:xfrm>
            <a:off x="4535423" y="1078991"/>
            <a:ext cx="2121410" cy="475490"/>
          </a:xfrm>
          <a:prstGeom prst="rect">
            <a:avLst/>
          </a:prstGeom>
          <a:solidFill>
            <a:srgbClr val="1A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3" name="TextBox 18"/>
          <p:cNvSpPr txBox="1"/>
          <p:nvPr/>
        </p:nvSpPr>
        <p:spPr>
          <a:xfrm>
            <a:off x="4670043" y="1114045"/>
            <a:ext cx="1517906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RESTAURANTE &amp;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HO.RE.CA.</a:t>
            </a:r>
          </a:p>
        </p:txBody>
      </p:sp>
      <p:sp>
        <p:nvSpPr>
          <p:cNvPr id="144" name="TextBox 19"/>
          <p:cNvSpPr txBox="1"/>
          <p:nvPr/>
        </p:nvSpPr>
        <p:spPr>
          <a:xfrm>
            <a:off x="4654296" y="1609344"/>
            <a:ext cx="1920241" cy="1879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Restaurantes fine dining, hotéis boutique, coworking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Café como detalhe de hospitalidade, não produto principal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Precisa de consistência silenciosa — não quer gerir isso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Motivador: elevar experiência sem complexidade operacional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Dor: barista instável, máquina cara, custo por dose alto</a:t>
            </a:r>
          </a:p>
        </p:txBody>
      </p:sp>
      <p:sp>
        <p:nvSpPr>
          <p:cNvPr id="145" name="Rectangle 20"/>
          <p:cNvSpPr/>
          <p:nvPr/>
        </p:nvSpPr>
        <p:spPr>
          <a:xfrm>
            <a:off x="6711694" y="1078990"/>
            <a:ext cx="2121411" cy="3858771"/>
          </a:xfrm>
          <a:prstGeom prst="rect">
            <a:avLst/>
          </a:prstGeom>
          <a:solidFill>
            <a:srgbClr val="E0F7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6" name="Rectangle 21"/>
          <p:cNvSpPr/>
          <p:nvPr/>
        </p:nvSpPr>
        <p:spPr>
          <a:xfrm>
            <a:off x="6711694" y="1078991"/>
            <a:ext cx="2121411" cy="475490"/>
          </a:xfrm>
          <a:prstGeom prst="rect">
            <a:avLst/>
          </a:prstGeom>
          <a:solidFill>
            <a:srgbClr val="00606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7" name="TextBox 23"/>
          <p:cNvSpPr txBox="1"/>
          <p:nvPr/>
        </p:nvSpPr>
        <p:spPr>
          <a:xfrm>
            <a:off x="6846314" y="1114045"/>
            <a:ext cx="1517905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ESCRITÓRIO &amp;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CORPORATIVO</a:t>
            </a:r>
          </a:p>
        </p:txBody>
      </p:sp>
      <p:sp>
        <p:nvSpPr>
          <p:cNvPr id="148" name="TextBox 24"/>
          <p:cNvSpPr txBox="1"/>
          <p:nvPr/>
        </p:nvSpPr>
        <p:spPr>
          <a:xfrm>
            <a:off x="6830566" y="1609344"/>
            <a:ext cx="1920241" cy="1879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RH / Facilities de empresas médias e grandes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Café como benefício de cultura e employer branding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Precisa de solução completa: máquina + insumo + serviço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Motivador: reter talentos, sinalizar cultura de qualidade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Dor: contrato complexo, manutenção, padronização de filiais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TextBox 3"/>
          <p:cNvSpPr txBox="1"/>
          <p:nvPr/>
        </p:nvSpPr>
        <p:spPr>
          <a:xfrm>
            <a:off x="393192" y="201167"/>
            <a:ext cx="7680960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Mapa da Jornada B2B — Visão Geral</a:t>
            </a:r>
          </a:p>
        </p:txBody>
      </p:sp>
      <p:sp>
        <p:nvSpPr>
          <p:cNvPr id="152" name="TextBox 4"/>
          <p:cNvSpPr txBox="1"/>
          <p:nvPr/>
        </p:nvSpPr>
        <p:spPr>
          <a:xfrm>
            <a:off x="393192" y="694945"/>
            <a:ext cx="7680960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8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 estágios do primeiro contato à advocacia ativa</a:t>
            </a:r>
          </a:p>
        </p:txBody>
      </p:sp>
      <p:sp>
        <p:nvSpPr>
          <p:cNvPr id="153" name="Rectangle 5"/>
          <p:cNvSpPr/>
          <p:nvPr/>
        </p:nvSpPr>
        <p:spPr>
          <a:xfrm>
            <a:off x="109728" y="1078990"/>
            <a:ext cx="1664207" cy="3621027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" name="Rectangle 6"/>
          <p:cNvSpPr/>
          <p:nvPr/>
        </p:nvSpPr>
        <p:spPr>
          <a:xfrm>
            <a:off x="109728" y="1078991"/>
            <a:ext cx="1664207" cy="420626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" name="TextBox 7"/>
          <p:cNvSpPr txBox="1"/>
          <p:nvPr/>
        </p:nvSpPr>
        <p:spPr>
          <a:xfrm>
            <a:off x="210310" y="1097281"/>
            <a:ext cx="182884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6" name="TextBox 8"/>
          <p:cNvSpPr txBox="1"/>
          <p:nvPr/>
        </p:nvSpPr>
        <p:spPr>
          <a:xfrm>
            <a:off x="521208" y="1115567"/>
            <a:ext cx="1152146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DESCOBERTA</a:t>
            </a:r>
          </a:p>
        </p:txBody>
      </p:sp>
      <p:sp>
        <p:nvSpPr>
          <p:cNvPr id="157" name="TextBox 9"/>
          <p:cNvSpPr txBox="1"/>
          <p:nvPr/>
        </p:nvSpPr>
        <p:spPr>
          <a:xfrm>
            <a:off x="228599" y="1554481"/>
            <a:ext cx="1463043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F4A1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CONTEXTO</a:t>
            </a:r>
          </a:p>
        </p:txBody>
      </p:sp>
      <p:sp>
        <p:nvSpPr>
          <p:cNvPr id="158" name="TextBox 10"/>
          <p:cNvSpPr txBox="1"/>
          <p:nvPr/>
        </p:nvSpPr>
        <p:spPr>
          <a:xfrm>
            <a:off x="228599" y="1755649"/>
            <a:ext cx="1463043" cy="345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Como o parceiro encontra a Orfeu</a:t>
            </a:r>
          </a:p>
        </p:txBody>
      </p:sp>
      <p:sp>
        <p:nvSpPr>
          <p:cNvPr id="159" name="TextBox 11"/>
          <p:cNvSpPr txBox="1"/>
          <p:nvPr/>
        </p:nvSpPr>
        <p:spPr>
          <a:xfrm>
            <a:off x="228599" y="2176273"/>
            <a:ext cx="1463043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F4A1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TOUCHPOINTS</a:t>
            </a:r>
          </a:p>
        </p:txBody>
      </p:sp>
      <p:sp>
        <p:nvSpPr>
          <p:cNvPr id="160" name="TextBox 12"/>
          <p:cNvSpPr txBox="1"/>
          <p:nvPr/>
        </p:nvSpPr>
        <p:spPr>
          <a:xfrm>
            <a:off x="228599" y="2377439"/>
            <a:ext cx="1463043" cy="485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Indicação · Feiras · Redes sociais · Abordagem comercial</a:t>
            </a:r>
          </a:p>
        </p:txBody>
      </p:sp>
      <p:sp>
        <p:nvSpPr>
          <p:cNvPr id="161" name="TextBox 13"/>
          <p:cNvSpPr txBox="1"/>
          <p:nvPr/>
        </p:nvSpPr>
        <p:spPr>
          <a:xfrm>
            <a:off x="228599" y="3054095"/>
            <a:ext cx="1463043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F4A1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OBJETIVO</a:t>
            </a:r>
          </a:p>
        </p:txBody>
      </p:sp>
      <p:sp>
        <p:nvSpPr>
          <p:cNvPr id="162" name="TextBox 14"/>
          <p:cNvSpPr txBox="1"/>
          <p:nvPr/>
        </p:nvSpPr>
        <p:spPr>
          <a:xfrm>
            <a:off x="228599" y="3255265"/>
            <a:ext cx="1463043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1000"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Gerar awareness qualificado</a:t>
            </a:r>
          </a:p>
        </p:txBody>
      </p:sp>
      <p:sp>
        <p:nvSpPr>
          <p:cNvPr id="163" name="Rectangle 15"/>
          <p:cNvSpPr/>
          <p:nvPr/>
        </p:nvSpPr>
        <p:spPr>
          <a:xfrm>
            <a:off x="1737360" y="2670048"/>
            <a:ext cx="109730" cy="237744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" name="Rectangle 16"/>
          <p:cNvSpPr/>
          <p:nvPr/>
        </p:nvSpPr>
        <p:spPr>
          <a:xfrm>
            <a:off x="1828800" y="1078990"/>
            <a:ext cx="1664207" cy="3621027"/>
          </a:xfrm>
          <a:prstGeom prst="rect">
            <a:avLst/>
          </a:prstGeom>
          <a:solidFill>
            <a:srgbClr val="FDF3E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" name="Rectangle 17"/>
          <p:cNvSpPr/>
          <p:nvPr/>
        </p:nvSpPr>
        <p:spPr>
          <a:xfrm>
            <a:off x="1828800" y="1078991"/>
            <a:ext cx="1664207" cy="420626"/>
          </a:xfrm>
          <a:prstGeom prst="rect">
            <a:avLst/>
          </a:prstGeom>
          <a:solidFill>
            <a:srgbClr val="C06A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6" name="TextBox 18"/>
          <p:cNvSpPr txBox="1"/>
          <p:nvPr/>
        </p:nvSpPr>
        <p:spPr>
          <a:xfrm>
            <a:off x="1929383" y="1097281"/>
            <a:ext cx="182882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7" name="TextBox 19"/>
          <p:cNvSpPr txBox="1"/>
          <p:nvPr/>
        </p:nvSpPr>
        <p:spPr>
          <a:xfrm>
            <a:off x="2240279" y="1115567"/>
            <a:ext cx="1152146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CONSIDERAÇÃO</a:t>
            </a:r>
          </a:p>
        </p:txBody>
      </p:sp>
      <p:sp>
        <p:nvSpPr>
          <p:cNvPr id="168" name="TextBox 21"/>
          <p:cNvSpPr txBox="1"/>
          <p:nvPr/>
        </p:nvSpPr>
        <p:spPr>
          <a:xfrm>
            <a:off x="1947671" y="1755649"/>
            <a:ext cx="1463043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Avaliação da parceria</a:t>
            </a:r>
          </a:p>
        </p:txBody>
      </p:sp>
      <p:sp>
        <p:nvSpPr>
          <p:cNvPr id="169" name="TextBox 23"/>
          <p:cNvSpPr txBox="1"/>
          <p:nvPr/>
        </p:nvSpPr>
        <p:spPr>
          <a:xfrm>
            <a:off x="1947671" y="2377439"/>
            <a:ext cx="1463043" cy="485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Degustação · Proposta · Visita · Comparação de fornecedores</a:t>
            </a:r>
          </a:p>
        </p:txBody>
      </p:sp>
      <p:sp>
        <p:nvSpPr>
          <p:cNvPr id="170" name="TextBox 25"/>
          <p:cNvSpPr txBox="1"/>
          <p:nvPr/>
        </p:nvSpPr>
        <p:spPr>
          <a:xfrm>
            <a:off x="1947671" y="3255265"/>
            <a:ext cx="1463043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1000"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Converter interesse em trial</a:t>
            </a:r>
          </a:p>
        </p:txBody>
      </p:sp>
      <p:sp>
        <p:nvSpPr>
          <p:cNvPr id="171" name="Rectangle 26"/>
          <p:cNvSpPr/>
          <p:nvPr/>
        </p:nvSpPr>
        <p:spPr>
          <a:xfrm>
            <a:off x="3456432" y="2670048"/>
            <a:ext cx="109730" cy="237744"/>
          </a:xfrm>
          <a:prstGeom prst="rect">
            <a:avLst/>
          </a:prstGeom>
          <a:solidFill>
            <a:srgbClr val="C06A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" name="Rectangle 27"/>
          <p:cNvSpPr/>
          <p:nvPr/>
        </p:nvSpPr>
        <p:spPr>
          <a:xfrm>
            <a:off x="3547871" y="1078990"/>
            <a:ext cx="1664208" cy="3621027"/>
          </a:xfrm>
          <a:prstGeom prst="rect">
            <a:avLst/>
          </a:prstGeom>
          <a:solidFill>
            <a:srgbClr val="E3EF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" name="Rectangle 28"/>
          <p:cNvSpPr/>
          <p:nvPr/>
        </p:nvSpPr>
        <p:spPr>
          <a:xfrm>
            <a:off x="3547871" y="1078991"/>
            <a:ext cx="1664208" cy="420626"/>
          </a:xfrm>
          <a:prstGeom prst="rect">
            <a:avLst/>
          </a:prstGeom>
          <a:solidFill>
            <a:srgbClr val="1A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4" name="TextBox 29"/>
          <p:cNvSpPr txBox="1"/>
          <p:nvPr/>
        </p:nvSpPr>
        <p:spPr>
          <a:xfrm>
            <a:off x="3648454" y="1097281"/>
            <a:ext cx="182882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75" name="TextBox 30"/>
          <p:cNvSpPr txBox="1"/>
          <p:nvPr/>
        </p:nvSpPr>
        <p:spPr>
          <a:xfrm>
            <a:off x="3959352" y="1115567"/>
            <a:ext cx="1152146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ATIVAÇÃO</a:t>
            </a:r>
          </a:p>
        </p:txBody>
      </p:sp>
      <p:sp>
        <p:nvSpPr>
          <p:cNvPr id="176" name="TextBox 32"/>
          <p:cNvSpPr txBox="1"/>
          <p:nvPr/>
        </p:nvSpPr>
        <p:spPr>
          <a:xfrm>
            <a:off x="3666744" y="1755649"/>
            <a:ext cx="1463042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Início da operação conjunta</a:t>
            </a:r>
          </a:p>
        </p:txBody>
      </p:sp>
      <p:sp>
        <p:nvSpPr>
          <p:cNvPr id="177" name="TextBox 34"/>
          <p:cNvSpPr txBox="1"/>
          <p:nvPr/>
        </p:nvSpPr>
        <p:spPr>
          <a:xfrm>
            <a:off x="3666744" y="2377439"/>
            <a:ext cx="1463042" cy="485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Onboarding · Treinamento · Setup de materiais · 1º pedido</a:t>
            </a:r>
          </a:p>
        </p:txBody>
      </p:sp>
      <p:sp>
        <p:nvSpPr>
          <p:cNvPr id="178" name="TextBox 36"/>
          <p:cNvSpPr txBox="1"/>
          <p:nvPr/>
        </p:nvSpPr>
        <p:spPr>
          <a:xfrm>
            <a:off x="3666744" y="3255265"/>
            <a:ext cx="1463042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1000"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Garantir uma 1ª experiência perfeita</a:t>
            </a:r>
          </a:p>
        </p:txBody>
      </p:sp>
      <p:sp>
        <p:nvSpPr>
          <p:cNvPr id="179" name="Rectangle 37"/>
          <p:cNvSpPr/>
          <p:nvPr/>
        </p:nvSpPr>
        <p:spPr>
          <a:xfrm>
            <a:off x="5175503" y="2670048"/>
            <a:ext cx="109730" cy="237744"/>
          </a:xfrm>
          <a:prstGeom prst="rect">
            <a:avLst/>
          </a:prstGeom>
          <a:solidFill>
            <a:srgbClr val="1A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" name="Rectangle 38"/>
          <p:cNvSpPr/>
          <p:nvPr/>
        </p:nvSpPr>
        <p:spPr>
          <a:xfrm>
            <a:off x="5266944" y="1078990"/>
            <a:ext cx="1664207" cy="3621027"/>
          </a:xfrm>
          <a:prstGeom prst="rect">
            <a:avLst/>
          </a:prstGeom>
          <a:solidFill>
            <a:srgbClr val="E0F7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1" name="Rectangle 39"/>
          <p:cNvSpPr/>
          <p:nvPr/>
        </p:nvSpPr>
        <p:spPr>
          <a:xfrm>
            <a:off x="5266944" y="1078991"/>
            <a:ext cx="1664207" cy="420626"/>
          </a:xfrm>
          <a:prstGeom prst="rect">
            <a:avLst/>
          </a:prstGeom>
          <a:solidFill>
            <a:srgbClr val="00606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2" name="TextBox 40"/>
          <p:cNvSpPr txBox="1"/>
          <p:nvPr/>
        </p:nvSpPr>
        <p:spPr>
          <a:xfrm>
            <a:off x="5367527" y="1097281"/>
            <a:ext cx="182882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83" name="TextBox 41"/>
          <p:cNvSpPr txBox="1"/>
          <p:nvPr/>
        </p:nvSpPr>
        <p:spPr>
          <a:xfrm>
            <a:off x="5678423" y="1115567"/>
            <a:ext cx="1152146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CRESCIMENTO</a:t>
            </a:r>
          </a:p>
        </p:txBody>
      </p:sp>
      <p:sp>
        <p:nvSpPr>
          <p:cNvPr id="184" name="TextBox 43"/>
          <p:cNvSpPr txBox="1"/>
          <p:nvPr/>
        </p:nvSpPr>
        <p:spPr>
          <a:xfrm>
            <a:off x="5385815" y="1755649"/>
            <a:ext cx="1463042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Aprofundamento da relação</a:t>
            </a:r>
          </a:p>
        </p:txBody>
      </p:sp>
      <p:sp>
        <p:nvSpPr>
          <p:cNvPr id="185" name="TextBox 45"/>
          <p:cNvSpPr txBox="1"/>
          <p:nvPr/>
        </p:nvSpPr>
        <p:spPr>
          <a:xfrm>
            <a:off x="5385815" y="2377439"/>
            <a:ext cx="1463042" cy="485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Programa PRO · Edições limitadas · Suporte técnico · Upsell</a:t>
            </a:r>
          </a:p>
        </p:txBody>
      </p:sp>
      <p:sp>
        <p:nvSpPr>
          <p:cNvPr id="186" name="TextBox 47"/>
          <p:cNvSpPr txBox="1"/>
          <p:nvPr/>
        </p:nvSpPr>
        <p:spPr>
          <a:xfrm>
            <a:off x="5385815" y="3255265"/>
            <a:ext cx="1463042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1000"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Aumentar LTV e engajamento</a:t>
            </a:r>
          </a:p>
        </p:txBody>
      </p:sp>
      <p:sp>
        <p:nvSpPr>
          <p:cNvPr id="187" name="Rectangle 48"/>
          <p:cNvSpPr/>
          <p:nvPr/>
        </p:nvSpPr>
        <p:spPr>
          <a:xfrm>
            <a:off x="6894576" y="2670048"/>
            <a:ext cx="109730" cy="237744"/>
          </a:xfrm>
          <a:prstGeom prst="rect">
            <a:avLst/>
          </a:prstGeom>
          <a:solidFill>
            <a:srgbClr val="00606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8" name="Rectangle 49"/>
          <p:cNvSpPr/>
          <p:nvPr/>
        </p:nvSpPr>
        <p:spPr>
          <a:xfrm>
            <a:off x="6986016" y="1078990"/>
            <a:ext cx="1664208" cy="3621027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9" name="Rectangle 50"/>
          <p:cNvSpPr/>
          <p:nvPr/>
        </p:nvSpPr>
        <p:spPr>
          <a:xfrm>
            <a:off x="6986016" y="1078991"/>
            <a:ext cx="1664208" cy="420626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0" name="TextBox 51"/>
          <p:cNvSpPr txBox="1"/>
          <p:nvPr/>
        </p:nvSpPr>
        <p:spPr>
          <a:xfrm>
            <a:off x="7086597" y="1097281"/>
            <a:ext cx="182882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91" name="TextBox 52"/>
          <p:cNvSpPr txBox="1"/>
          <p:nvPr/>
        </p:nvSpPr>
        <p:spPr>
          <a:xfrm>
            <a:off x="7397494" y="1115567"/>
            <a:ext cx="1152146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ADVOCACIA</a:t>
            </a:r>
          </a:p>
        </p:txBody>
      </p:sp>
      <p:sp>
        <p:nvSpPr>
          <p:cNvPr id="192" name="TextBox 54"/>
          <p:cNvSpPr txBox="1"/>
          <p:nvPr/>
        </p:nvSpPr>
        <p:spPr>
          <a:xfrm>
            <a:off x="7104888" y="1755649"/>
            <a:ext cx="1463042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Parceiro vira embaixador</a:t>
            </a:r>
          </a:p>
        </p:txBody>
      </p:sp>
      <p:sp>
        <p:nvSpPr>
          <p:cNvPr id="193" name="TextBox 56"/>
          <p:cNvSpPr txBox="1"/>
          <p:nvPr/>
        </p:nvSpPr>
        <p:spPr>
          <a:xfrm>
            <a:off x="7104888" y="2377439"/>
            <a:ext cx="1463042" cy="485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Mapa de parceiros · Co-branding · Indicações · Conteúdo</a:t>
            </a:r>
          </a:p>
        </p:txBody>
      </p:sp>
      <p:sp>
        <p:nvSpPr>
          <p:cNvPr id="194" name="TextBox 58"/>
          <p:cNvSpPr txBox="1"/>
          <p:nvPr/>
        </p:nvSpPr>
        <p:spPr>
          <a:xfrm>
            <a:off x="7104888" y="3255265"/>
            <a:ext cx="1463042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1000"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Multiplicar a rede de forma orgânica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TextBox 3"/>
          <p:cNvSpPr txBox="1"/>
          <p:nvPr/>
        </p:nvSpPr>
        <p:spPr>
          <a:xfrm>
            <a:off x="393192" y="201167"/>
            <a:ext cx="7680960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Estágio 1 — Descoberta</a:t>
            </a:r>
          </a:p>
        </p:txBody>
      </p:sp>
      <p:sp>
        <p:nvSpPr>
          <p:cNvPr id="198" name="TextBox 4"/>
          <p:cNvSpPr txBox="1"/>
          <p:nvPr/>
        </p:nvSpPr>
        <p:spPr>
          <a:xfrm>
            <a:off x="393192" y="694945"/>
            <a:ext cx="7680960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8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Como o cliente B2B encontra e conhece a Orfeu pela primeira vez</a:t>
            </a:r>
          </a:p>
        </p:txBody>
      </p:sp>
      <p:sp>
        <p:nvSpPr>
          <p:cNvPr id="199" name="Rectangle 5"/>
          <p:cNvSpPr/>
          <p:nvPr/>
        </p:nvSpPr>
        <p:spPr>
          <a:xfrm>
            <a:off x="182879" y="1042413"/>
            <a:ext cx="8778242" cy="274322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0" name="TextBox 6"/>
          <p:cNvSpPr txBox="1"/>
          <p:nvPr/>
        </p:nvSpPr>
        <p:spPr>
          <a:xfrm>
            <a:off x="320040" y="1060703"/>
            <a:ext cx="8503920" cy="205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Objetivo: gerar awareness qualificado no público certo — quem serve café e precisa de parceiro, não só fornecedor</a:t>
            </a:r>
          </a:p>
        </p:txBody>
      </p:sp>
      <p:sp>
        <p:nvSpPr>
          <p:cNvPr id="201" name="Rectangle 7"/>
          <p:cNvSpPr/>
          <p:nvPr/>
        </p:nvSpPr>
        <p:spPr>
          <a:xfrm>
            <a:off x="182879" y="1371599"/>
            <a:ext cx="2852929" cy="3566161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2" name="Rectangle 8"/>
          <p:cNvSpPr/>
          <p:nvPr/>
        </p:nvSpPr>
        <p:spPr>
          <a:xfrm>
            <a:off x="182879" y="1371600"/>
            <a:ext cx="2852929" cy="310896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3" name="TextBox 9"/>
          <p:cNvSpPr txBox="1"/>
          <p:nvPr/>
        </p:nvSpPr>
        <p:spPr>
          <a:xfrm>
            <a:off x="301751" y="1351789"/>
            <a:ext cx="2615186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GATILHOS DE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DESCOBERTA</a:t>
            </a:r>
          </a:p>
        </p:txBody>
      </p:sp>
      <p:sp>
        <p:nvSpPr>
          <p:cNvPr id="204" name="TextBox 10"/>
          <p:cNvSpPr txBox="1"/>
          <p:nvPr/>
        </p:nvSpPr>
        <p:spPr>
          <a:xfrm>
            <a:off x="301751" y="1737361"/>
            <a:ext cx="2615186" cy="1879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Indicação de outro parceiro (canal mais eficiente — NPS como ferramenta)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Visita a feiras: Specialty Coffee, Fispal, World of Coffee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Redes sociais: Instagram, reels com origem e produto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Busca ativa por torrefadores premium (Google, mapa de cafés)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Abordagem ativa do consultor comercial Orfeu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Evento de degustação ou imersão aberta</a:t>
            </a:r>
          </a:p>
        </p:txBody>
      </p:sp>
      <p:sp>
        <p:nvSpPr>
          <p:cNvPr id="205" name="Rectangle 11"/>
          <p:cNvSpPr/>
          <p:nvPr/>
        </p:nvSpPr>
        <p:spPr>
          <a:xfrm>
            <a:off x="3127248" y="1371599"/>
            <a:ext cx="2852930" cy="3566161"/>
          </a:xfrm>
          <a:prstGeom prst="rect">
            <a:avLst/>
          </a:prstGeom>
          <a:solidFill>
            <a:srgbClr val="FDF3E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6" name="Rectangle 12"/>
          <p:cNvSpPr/>
          <p:nvPr/>
        </p:nvSpPr>
        <p:spPr>
          <a:xfrm>
            <a:off x="3127248" y="1371600"/>
            <a:ext cx="2852930" cy="310896"/>
          </a:xfrm>
          <a:prstGeom prst="rect">
            <a:avLst/>
          </a:prstGeom>
          <a:solidFill>
            <a:srgbClr val="C06A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7" name="TextBox 13"/>
          <p:cNvSpPr txBox="1"/>
          <p:nvPr/>
        </p:nvSpPr>
        <p:spPr>
          <a:xfrm>
            <a:off x="3246119" y="1351789"/>
            <a:ext cx="2615186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O QUE A ORFEU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ENTREGA AQUI</a:t>
            </a:r>
          </a:p>
        </p:txBody>
      </p:sp>
      <p:sp>
        <p:nvSpPr>
          <p:cNvPr id="208" name="TextBox 14"/>
          <p:cNvSpPr txBox="1"/>
          <p:nvPr/>
        </p:nvSpPr>
        <p:spPr>
          <a:xfrm>
            <a:off x="3246119" y="1737361"/>
            <a:ext cx="2615186" cy="2044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Presença editorial forte nas redes com linguagem de parceiro, não só de consumidor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Consultores treinados para abordagem consultiva (não vendedora)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Kit de degustação de impacto: primeira experiência memorável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Deck de apresentação claro: o ecossistema, não só o café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Referência: Nespresso Professional usa consultores especializados por segmento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Referência: Nestlé Professional entra via foodservice com solução completa</a:t>
            </a:r>
          </a:p>
        </p:txBody>
      </p:sp>
      <p:sp>
        <p:nvSpPr>
          <p:cNvPr id="209" name="Rectangle 15"/>
          <p:cNvSpPr/>
          <p:nvPr/>
        </p:nvSpPr>
        <p:spPr>
          <a:xfrm>
            <a:off x="6071615" y="1371599"/>
            <a:ext cx="2852930" cy="3566161"/>
          </a:xfrm>
          <a:prstGeom prst="rect">
            <a:avLst/>
          </a:prstGeom>
          <a:solidFill>
            <a:srgbClr val="E3EF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0" name="Rectangle 16"/>
          <p:cNvSpPr/>
          <p:nvPr/>
        </p:nvSpPr>
        <p:spPr>
          <a:xfrm>
            <a:off x="6071615" y="1371600"/>
            <a:ext cx="2852930" cy="310896"/>
          </a:xfrm>
          <a:prstGeom prst="rect">
            <a:avLst/>
          </a:prstGeom>
          <a:solidFill>
            <a:srgbClr val="1A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1" name="TextBox 17"/>
          <p:cNvSpPr txBox="1"/>
          <p:nvPr/>
        </p:nvSpPr>
        <p:spPr>
          <a:xfrm>
            <a:off x="6190488" y="1351789"/>
            <a:ext cx="2615186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MÉTRICAS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DE SUCESSO</a:t>
            </a:r>
          </a:p>
        </p:txBody>
      </p:sp>
      <p:sp>
        <p:nvSpPr>
          <p:cNvPr id="212" name="TextBox 18"/>
          <p:cNvSpPr txBox="1"/>
          <p:nvPr/>
        </p:nvSpPr>
        <p:spPr>
          <a:xfrm>
            <a:off x="6190488" y="1737361"/>
            <a:ext cx="2615186" cy="1219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Leads qualificados por mês por canal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Taxa de conversão de contato → degustação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NPS de parceiros ativos (como fonte de indicação)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Share of wallet: % dos novos parceiros que vieram via indicação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Custo de aquisição de parceiro (CAP) por canal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Box 1"/>
          <p:cNvSpPr txBox="1"/>
          <p:nvPr/>
        </p:nvSpPr>
        <p:spPr>
          <a:xfrm>
            <a:off x="411479" y="320040"/>
            <a:ext cx="8321042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C8000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Atualização — Workshop B2B (27/07)</a:t>
            </a:r>
          </a:p>
        </p:txBody>
      </p:sp>
      <p:sp>
        <p:nvSpPr>
          <p:cNvPr id="215" name="TextBox 2"/>
          <p:cNvSpPr txBox="1"/>
          <p:nvPr/>
        </p:nvSpPr>
        <p:spPr>
          <a:xfrm>
            <a:off x="411479" y="1051560"/>
            <a:ext cx="8321042" cy="886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500">
                <a:solidFill>
                  <a:srgbClr val="C80000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Como capturar os leads que já temos de feiras/eventos (ou direto do consumidor) e os novos eventos incluídos no calendário? Incluir ação/sugestão de captação, integrando ao CRM de leads B2B.</a:t>
            </a:r>
          </a:p>
          <a:p>
            <a:pPr>
              <a:spcBef>
                <a:spcPts val="1600"/>
              </a:spcBef>
              <a:defRPr i="1" sz="1100">
                <a:solidFill>
                  <a:srgbClr val="666666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Nota referente ao Estágio 1 — Descoberta (slide anterior).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  <a:ln w="12700">
            <a:miter lim="400000"/>
          </a:ln>
        </p:spPr>
      </p:pic>
      <p:sp>
        <p:nvSpPr>
          <p:cNvPr id="218" name="TextBox 3"/>
          <p:cNvSpPr txBox="1"/>
          <p:nvPr/>
        </p:nvSpPr>
        <p:spPr>
          <a:xfrm>
            <a:off x="393192" y="201167"/>
            <a:ext cx="7680960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Estágio 2 — Consideração &amp; Avaliação</a:t>
            </a:r>
          </a:p>
        </p:txBody>
      </p:sp>
      <p:sp>
        <p:nvSpPr>
          <p:cNvPr id="219" name="TextBox 4"/>
          <p:cNvSpPr txBox="1"/>
          <p:nvPr/>
        </p:nvSpPr>
        <p:spPr>
          <a:xfrm>
            <a:off x="393192" y="694945"/>
            <a:ext cx="7680960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8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 parceiro compara, testa e decide se a Orfeu é o fornecedor certo</a:t>
            </a:r>
          </a:p>
        </p:txBody>
      </p:sp>
      <p:sp>
        <p:nvSpPr>
          <p:cNvPr id="220" name="Rectangle 5"/>
          <p:cNvSpPr/>
          <p:nvPr/>
        </p:nvSpPr>
        <p:spPr>
          <a:xfrm>
            <a:off x="182879" y="1042413"/>
            <a:ext cx="8778242" cy="274322"/>
          </a:xfrm>
          <a:prstGeom prst="rect">
            <a:avLst/>
          </a:prstGeom>
          <a:solidFill>
            <a:srgbClr val="C06A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" name="TextBox 6"/>
          <p:cNvSpPr txBox="1"/>
          <p:nvPr/>
        </p:nvSpPr>
        <p:spPr>
          <a:xfrm>
            <a:off x="320040" y="1060703"/>
            <a:ext cx="8503920" cy="205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Objetivo: converter interesse em trial — o parceiro precisa viver o ecossistema, não só avaliar o café</a:t>
            </a:r>
          </a:p>
        </p:txBody>
      </p:sp>
      <p:sp>
        <p:nvSpPr>
          <p:cNvPr id="222" name="Rectangle 7"/>
          <p:cNvSpPr/>
          <p:nvPr/>
        </p:nvSpPr>
        <p:spPr>
          <a:xfrm>
            <a:off x="182879" y="1371599"/>
            <a:ext cx="2852929" cy="3566161"/>
          </a:xfrm>
          <a:prstGeom prst="rect">
            <a:avLst/>
          </a:prstGeom>
          <a:solidFill>
            <a:srgbClr val="FDF3E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3" name="Rectangle 8"/>
          <p:cNvSpPr/>
          <p:nvPr/>
        </p:nvSpPr>
        <p:spPr>
          <a:xfrm>
            <a:off x="182879" y="1371600"/>
            <a:ext cx="2852929" cy="310896"/>
          </a:xfrm>
          <a:prstGeom prst="rect">
            <a:avLst/>
          </a:prstGeom>
          <a:solidFill>
            <a:srgbClr val="C06A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4" name="TextBox 9"/>
          <p:cNvSpPr txBox="1"/>
          <p:nvPr/>
        </p:nvSpPr>
        <p:spPr>
          <a:xfrm>
            <a:off x="301751" y="1351789"/>
            <a:ext cx="2615186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GATILHOS DE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CONSIDERAÇÃO</a:t>
            </a:r>
          </a:p>
        </p:txBody>
      </p:sp>
      <p:sp>
        <p:nvSpPr>
          <p:cNvPr id="225" name="TextBox 10"/>
          <p:cNvSpPr txBox="1"/>
          <p:nvPr/>
        </p:nvSpPr>
        <p:spPr>
          <a:xfrm>
            <a:off x="301751" y="1737361"/>
            <a:ext cx="2615186" cy="1549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Pedido de proposta comercial após contato inicial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Solicitação de amostra ou degustação técnica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Visita do consultor à cafeteria para diagnóstico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Participação em evento ou imersão na fábrica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Comparação com fornecedor atual (preço, suporte, qualidade)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Avaliação do portfólio: blends fixos + edições limitadas</a:t>
            </a:r>
          </a:p>
        </p:txBody>
      </p:sp>
      <p:sp>
        <p:nvSpPr>
          <p:cNvPr id="226" name="Rectangle 11"/>
          <p:cNvSpPr/>
          <p:nvPr/>
        </p:nvSpPr>
        <p:spPr>
          <a:xfrm>
            <a:off x="3127248" y="1371599"/>
            <a:ext cx="2852930" cy="3566161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7" name="Rectangle 12"/>
          <p:cNvSpPr/>
          <p:nvPr/>
        </p:nvSpPr>
        <p:spPr>
          <a:xfrm>
            <a:off x="3127248" y="1371600"/>
            <a:ext cx="2852930" cy="310896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" name="TextBox 13"/>
          <p:cNvSpPr txBox="1"/>
          <p:nvPr/>
        </p:nvSpPr>
        <p:spPr>
          <a:xfrm>
            <a:off x="3246119" y="1351789"/>
            <a:ext cx="2615186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O QUE A ORFEU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ENTREGA AQUI</a:t>
            </a:r>
          </a:p>
        </p:txBody>
      </p:sp>
      <p:sp>
        <p:nvSpPr>
          <p:cNvPr id="229" name="TextBox 14"/>
          <p:cNvSpPr txBox="1"/>
          <p:nvPr/>
        </p:nvSpPr>
        <p:spPr>
          <a:xfrm>
            <a:off x="3246119" y="1737361"/>
            <a:ext cx="2615186" cy="2209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Diagnóstico consultivo: qual é o perfil da cafeteria e o que ela precisa?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Proposta customizada por perfil: cafeteria ≠ restaurante ≠ empório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Degustação guiada com story de origem — o café tem narrativa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Apresentação do ecossistema completo: além do produto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Referência: Nespresso Professional oferece máquina em comodato como redutor de barreira de entrada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Referência: Nestlé Professional resolve a equação custo-por-dose na proposta</a:t>
            </a:r>
          </a:p>
        </p:txBody>
      </p:sp>
      <p:sp>
        <p:nvSpPr>
          <p:cNvPr id="230" name="Rectangle 15"/>
          <p:cNvSpPr/>
          <p:nvPr/>
        </p:nvSpPr>
        <p:spPr>
          <a:xfrm>
            <a:off x="6071615" y="1371599"/>
            <a:ext cx="2852930" cy="3566161"/>
          </a:xfrm>
          <a:prstGeom prst="rect">
            <a:avLst/>
          </a:prstGeom>
          <a:solidFill>
            <a:srgbClr val="E3EF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1" name="Rectangle 16"/>
          <p:cNvSpPr/>
          <p:nvPr/>
        </p:nvSpPr>
        <p:spPr>
          <a:xfrm>
            <a:off x="6071615" y="1371600"/>
            <a:ext cx="2852930" cy="310896"/>
          </a:xfrm>
          <a:prstGeom prst="rect">
            <a:avLst/>
          </a:prstGeom>
          <a:solidFill>
            <a:srgbClr val="1A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2" name="TextBox 17"/>
          <p:cNvSpPr txBox="1"/>
          <p:nvPr/>
        </p:nvSpPr>
        <p:spPr>
          <a:xfrm>
            <a:off x="6190488" y="1351789"/>
            <a:ext cx="2615186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MÉTRICAS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DE SUCESSO</a:t>
            </a:r>
          </a:p>
        </p:txBody>
      </p:sp>
      <p:sp>
        <p:nvSpPr>
          <p:cNvPr id="233" name="TextBox 18"/>
          <p:cNvSpPr txBox="1"/>
          <p:nvPr/>
        </p:nvSpPr>
        <p:spPr>
          <a:xfrm>
            <a:off x="6190488" y="1737361"/>
            <a:ext cx="2615186" cy="1714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Taxa de conversão: degustação → primeiro pedido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Tempo médio de ciclo de vendas (contato → ativação)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% de propostas que incluem o ecossistema completo vs. só café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Net Revenue por tipo de parceiro no 1º pedido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Score de diagnóstico consultivo (qualidade da proposta)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TextBox 3"/>
          <p:cNvSpPr txBox="1"/>
          <p:nvPr/>
        </p:nvSpPr>
        <p:spPr>
          <a:xfrm>
            <a:off x="393192" y="201167"/>
            <a:ext cx="7680960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Estágio 3 — Ativação &amp; Onboarding</a:t>
            </a:r>
          </a:p>
        </p:txBody>
      </p:sp>
      <p:sp>
        <p:nvSpPr>
          <p:cNvPr id="237" name="TextBox 4"/>
          <p:cNvSpPr txBox="1"/>
          <p:nvPr/>
        </p:nvSpPr>
        <p:spPr>
          <a:xfrm>
            <a:off x="393192" y="694945"/>
            <a:ext cx="7680960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8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Os primeiros 90 dias da parceria determinam o LTV</a:t>
            </a:r>
          </a:p>
        </p:txBody>
      </p:sp>
      <p:sp>
        <p:nvSpPr>
          <p:cNvPr id="238" name="Rectangle 5"/>
          <p:cNvSpPr/>
          <p:nvPr/>
        </p:nvSpPr>
        <p:spPr>
          <a:xfrm>
            <a:off x="182879" y="1042413"/>
            <a:ext cx="8778242" cy="274322"/>
          </a:xfrm>
          <a:prstGeom prst="rect">
            <a:avLst/>
          </a:prstGeom>
          <a:solidFill>
            <a:srgbClr val="1A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" name="TextBox 6"/>
          <p:cNvSpPr txBox="1"/>
          <p:nvPr/>
        </p:nvSpPr>
        <p:spPr>
          <a:xfrm>
            <a:off x="320040" y="1060703"/>
            <a:ext cx="8503920" cy="205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Objetivo: garantir que a primeira experiência operacional seja impecável — 70% do churn acontece nos primeiros 90 dias</a:t>
            </a:r>
          </a:p>
        </p:txBody>
      </p:sp>
      <p:sp>
        <p:nvSpPr>
          <p:cNvPr id="240" name="Rectangle 7"/>
          <p:cNvSpPr/>
          <p:nvPr/>
        </p:nvSpPr>
        <p:spPr>
          <a:xfrm>
            <a:off x="182879" y="1371599"/>
            <a:ext cx="2852929" cy="3566161"/>
          </a:xfrm>
          <a:prstGeom prst="rect">
            <a:avLst/>
          </a:prstGeom>
          <a:solidFill>
            <a:srgbClr val="E3EF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" name="Rectangle 8"/>
          <p:cNvSpPr/>
          <p:nvPr/>
        </p:nvSpPr>
        <p:spPr>
          <a:xfrm>
            <a:off x="182879" y="1371600"/>
            <a:ext cx="2852929" cy="310896"/>
          </a:xfrm>
          <a:prstGeom prst="rect">
            <a:avLst/>
          </a:prstGeom>
          <a:solidFill>
            <a:srgbClr val="1A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" name="TextBox 9"/>
          <p:cNvSpPr txBox="1"/>
          <p:nvPr/>
        </p:nvSpPr>
        <p:spPr>
          <a:xfrm>
            <a:off x="301751" y="1364489"/>
            <a:ext cx="2615186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O QUE ACONTECE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NOS PRIMEIROS 90 DIAS</a:t>
            </a:r>
          </a:p>
        </p:txBody>
      </p:sp>
      <p:sp>
        <p:nvSpPr>
          <p:cNvPr id="243" name="TextBox 10"/>
          <p:cNvSpPr txBox="1"/>
          <p:nvPr/>
        </p:nvSpPr>
        <p:spPr>
          <a:xfrm>
            <a:off x="301751" y="1737361"/>
            <a:ext cx="2615186" cy="2044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Dia 1–7: setup operacional (máquina, moagem, fichas técnicas)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Dia 1–7: acesso ao Portal do Parceiro e onboarding digital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Dia 8–30: treinamento da equipe (presencial ou online)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Dia 8–30: instalação de materiais promocionais no espaço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Dia 30–60: 1ª visita de acompanhamento do consultor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Dia 60–90: avaliação de qualidade e NPS de ativação</a:t>
            </a:r>
          </a:p>
        </p:txBody>
      </p:sp>
      <p:sp>
        <p:nvSpPr>
          <p:cNvPr id="244" name="Rectangle 11"/>
          <p:cNvSpPr/>
          <p:nvPr/>
        </p:nvSpPr>
        <p:spPr>
          <a:xfrm>
            <a:off x="3127248" y="1371599"/>
            <a:ext cx="2852930" cy="3566161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5" name="Rectangle 12"/>
          <p:cNvSpPr/>
          <p:nvPr/>
        </p:nvSpPr>
        <p:spPr>
          <a:xfrm>
            <a:off x="3127248" y="1371600"/>
            <a:ext cx="2852930" cy="310896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6" name="TextBox 13"/>
          <p:cNvSpPr txBox="1"/>
          <p:nvPr/>
        </p:nvSpPr>
        <p:spPr>
          <a:xfrm>
            <a:off x="3246119" y="1364489"/>
            <a:ext cx="2615186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FERRAMENTAS DO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ECOSSISTEMA ATIVADAS</a:t>
            </a:r>
          </a:p>
        </p:txBody>
      </p:sp>
      <p:sp>
        <p:nvSpPr>
          <p:cNvPr id="247" name="TextBox 14"/>
          <p:cNvSpPr txBox="1"/>
          <p:nvPr/>
        </p:nvSpPr>
        <p:spPr>
          <a:xfrm>
            <a:off x="3246119" y="1737361"/>
            <a:ext cx="2615186" cy="1879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Portal do Parceiro: acesso completo desde o dia 1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Guias &amp; Cardápios: fichas técnicas para padronizar bebidas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Materiais Promocionais: cartaz de produtor + roda de sabores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Branding &amp; Marca: comunicação como Casa Parceira Orfeu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Utilitários: calculadora de custo por dose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Intercâmbio na Cafeteria: treinamento real de balcão (se disponível)</a:t>
            </a:r>
          </a:p>
        </p:txBody>
      </p:sp>
      <p:sp>
        <p:nvSpPr>
          <p:cNvPr id="248" name="Rectangle 15"/>
          <p:cNvSpPr/>
          <p:nvPr/>
        </p:nvSpPr>
        <p:spPr>
          <a:xfrm>
            <a:off x="6071615" y="1371599"/>
            <a:ext cx="2852930" cy="3566161"/>
          </a:xfrm>
          <a:prstGeom prst="rect">
            <a:avLst/>
          </a:prstGeom>
          <a:solidFill>
            <a:srgbClr val="FDF3E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9" name="Rectangle 16"/>
          <p:cNvSpPr/>
          <p:nvPr/>
        </p:nvSpPr>
        <p:spPr>
          <a:xfrm>
            <a:off x="6071615" y="1371600"/>
            <a:ext cx="2852930" cy="310896"/>
          </a:xfrm>
          <a:prstGeom prst="rect">
            <a:avLst/>
          </a:prstGeom>
          <a:solidFill>
            <a:srgbClr val="C06A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0" name="TextBox 17"/>
          <p:cNvSpPr txBox="1"/>
          <p:nvPr/>
        </p:nvSpPr>
        <p:spPr>
          <a:xfrm>
            <a:off x="6190488" y="1364489"/>
            <a:ext cx="2615186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REFERÊNCIAS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E BENCHMARKS</a:t>
            </a:r>
          </a:p>
        </p:txBody>
      </p:sp>
      <p:sp>
        <p:nvSpPr>
          <p:cNvPr id="251" name="TextBox 18"/>
          <p:cNvSpPr txBox="1"/>
          <p:nvPr/>
        </p:nvSpPr>
        <p:spPr>
          <a:xfrm>
            <a:off x="6190488" y="1737361"/>
            <a:ext cx="2615186" cy="1714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Nespresso Professional: onboarding inclui visita técnica + treinamento de barista + setup de máquina em comodato — tudo no primeiro mês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Nestlé Professional: 'Consultores de Negócios' dedicados fazem o onboarding presencial com diagnóstico de operação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Ambos tratam os primeiros 90 dias como investimento de retenção, não de custo de serviço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  <a:ln w="12700">
            <a:miter lim="400000"/>
          </a:ln>
        </p:spPr>
      </p:pic>
      <p:sp>
        <p:nvSpPr>
          <p:cNvPr id="254" name="TextBox 3"/>
          <p:cNvSpPr txBox="1"/>
          <p:nvPr/>
        </p:nvSpPr>
        <p:spPr>
          <a:xfrm>
            <a:off x="393192" y="201167"/>
            <a:ext cx="7680960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Estágio 4 — Crescimento &amp; Aprofundamento</a:t>
            </a:r>
          </a:p>
        </p:txBody>
      </p:sp>
      <p:sp>
        <p:nvSpPr>
          <p:cNvPr id="255" name="TextBox 4"/>
          <p:cNvSpPr txBox="1"/>
          <p:nvPr/>
        </p:nvSpPr>
        <p:spPr>
          <a:xfrm>
            <a:off x="393192" y="694945"/>
            <a:ext cx="7680960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8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Transformar um parceiro ativo em um parceiro estratégico</a:t>
            </a:r>
          </a:p>
        </p:txBody>
      </p:sp>
      <p:sp>
        <p:nvSpPr>
          <p:cNvPr id="256" name="Rectangle 5"/>
          <p:cNvSpPr/>
          <p:nvPr/>
        </p:nvSpPr>
        <p:spPr>
          <a:xfrm>
            <a:off x="182879" y="1042413"/>
            <a:ext cx="8778242" cy="274322"/>
          </a:xfrm>
          <a:prstGeom prst="rect">
            <a:avLst/>
          </a:prstGeom>
          <a:solidFill>
            <a:srgbClr val="00606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7" name="TextBox 6"/>
          <p:cNvSpPr txBox="1"/>
          <p:nvPr/>
        </p:nvSpPr>
        <p:spPr>
          <a:xfrm>
            <a:off x="320040" y="1060703"/>
            <a:ext cx="8503920" cy="205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Objetivo: aumentar LTV, share of wallet e engajamento — o parceiro compra mais, usa mais ferramentas, depende menos de outros fornecedores</a:t>
            </a:r>
          </a:p>
        </p:txBody>
      </p:sp>
      <p:sp>
        <p:nvSpPr>
          <p:cNvPr id="258" name="Rectangle 7"/>
          <p:cNvSpPr/>
          <p:nvPr/>
        </p:nvSpPr>
        <p:spPr>
          <a:xfrm>
            <a:off x="182879" y="1371599"/>
            <a:ext cx="2852929" cy="3566161"/>
          </a:xfrm>
          <a:prstGeom prst="rect">
            <a:avLst/>
          </a:prstGeom>
          <a:solidFill>
            <a:srgbClr val="E0F7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9" name="Rectangle 8"/>
          <p:cNvSpPr/>
          <p:nvPr/>
        </p:nvSpPr>
        <p:spPr>
          <a:xfrm>
            <a:off x="182879" y="1371600"/>
            <a:ext cx="2852929" cy="310896"/>
          </a:xfrm>
          <a:prstGeom prst="rect">
            <a:avLst/>
          </a:prstGeom>
          <a:solidFill>
            <a:srgbClr val="00606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0" name="TextBox 9"/>
          <p:cNvSpPr txBox="1"/>
          <p:nvPr/>
        </p:nvSpPr>
        <p:spPr>
          <a:xfrm>
            <a:off x="301751" y="1351789"/>
            <a:ext cx="2615186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MECANISMOS DE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CRESCIMENTO</a:t>
            </a:r>
          </a:p>
        </p:txBody>
      </p:sp>
      <p:sp>
        <p:nvSpPr>
          <p:cNvPr id="261" name="TextBox 10"/>
          <p:cNvSpPr txBox="1"/>
          <p:nvPr/>
        </p:nvSpPr>
        <p:spPr>
          <a:xfrm>
            <a:off x="301751" y="1737361"/>
            <a:ext cx="2615186" cy="2044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Upgrade para programa PRO: benefícios exclusivos que criam lock-in positivo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Edições limitadas mensais: 2 novos cafés com história e terroir únicos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Tráfego pago na região do parceiro (benefício PRO)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Curso de Gestão de Cafeterias: eleva a profissionalização do parceiro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Imersão na Fazenda: cria vínculo emocional com a origem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Fotos &amp; Vídeos de produtos: parceiro posta com mais frequência e qualidade</a:t>
            </a:r>
          </a:p>
        </p:txBody>
      </p:sp>
      <p:sp>
        <p:nvSpPr>
          <p:cNvPr id="262" name="Rectangle 11"/>
          <p:cNvSpPr/>
          <p:nvPr/>
        </p:nvSpPr>
        <p:spPr>
          <a:xfrm>
            <a:off x="3127248" y="1371599"/>
            <a:ext cx="2852930" cy="3566161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3" name="Rectangle 12"/>
          <p:cNvSpPr/>
          <p:nvPr/>
        </p:nvSpPr>
        <p:spPr>
          <a:xfrm>
            <a:off x="3127248" y="1371600"/>
            <a:ext cx="2852930" cy="310896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4" name="TextBox 13"/>
          <p:cNvSpPr txBox="1"/>
          <p:nvPr/>
        </p:nvSpPr>
        <p:spPr>
          <a:xfrm>
            <a:off x="3246119" y="1351789"/>
            <a:ext cx="2615186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FERRAMENTAS DO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ECOSSISTEMA ATIVAS</a:t>
            </a:r>
          </a:p>
        </p:txBody>
      </p:sp>
      <p:sp>
        <p:nvSpPr>
          <p:cNvPr id="265" name="TextBox 14"/>
          <p:cNvSpPr txBox="1"/>
          <p:nvPr/>
        </p:nvSpPr>
        <p:spPr>
          <a:xfrm>
            <a:off x="3246119" y="1737361"/>
            <a:ext cx="2615186" cy="2209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Programa UniquePRO / Orfeu PRO: tier de benefícios premium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Edições Limitadas mensais: novidade que justifica a conversa recorrente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Portal do Parceiro: resgate de bônus, acesso a conteúdo avançado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Fotos &amp; Vídeos: banco de assets para redes sociais do parceiro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Utilitários avançados: checklist de operação, ficha de treinamento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Referência: Nespresso Professional usa portfólio exclusivo B2B (não disponível no varejo) como ferramenta de lock-in</a:t>
            </a:r>
          </a:p>
        </p:txBody>
      </p:sp>
      <p:sp>
        <p:nvSpPr>
          <p:cNvPr id="266" name="Rectangle 15"/>
          <p:cNvSpPr/>
          <p:nvPr/>
        </p:nvSpPr>
        <p:spPr>
          <a:xfrm>
            <a:off x="6071615" y="1371599"/>
            <a:ext cx="2852930" cy="3566161"/>
          </a:xfrm>
          <a:prstGeom prst="rect">
            <a:avLst/>
          </a:prstGeom>
          <a:solidFill>
            <a:srgbClr val="FDF3E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7" name="Rectangle 16"/>
          <p:cNvSpPr/>
          <p:nvPr/>
        </p:nvSpPr>
        <p:spPr>
          <a:xfrm>
            <a:off x="6071615" y="1371600"/>
            <a:ext cx="2852930" cy="310896"/>
          </a:xfrm>
          <a:prstGeom prst="rect">
            <a:avLst/>
          </a:prstGeom>
          <a:solidFill>
            <a:srgbClr val="C06A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8" name="TextBox 17"/>
          <p:cNvSpPr txBox="1"/>
          <p:nvPr/>
        </p:nvSpPr>
        <p:spPr>
          <a:xfrm>
            <a:off x="6190488" y="1351789"/>
            <a:ext cx="2615186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MÉTRICAS DE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CRESCIMENTO</a:t>
            </a:r>
          </a:p>
        </p:txBody>
      </p:sp>
      <p:sp>
        <p:nvSpPr>
          <p:cNvPr id="269" name="TextBox 18"/>
          <p:cNvSpPr txBox="1"/>
          <p:nvPr/>
        </p:nvSpPr>
        <p:spPr>
          <a:xfrm>
            <a:off x="6190488" y="1737361"/>
            <a:ext cx="2615186" cy="1549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Volume médio mensal por parceiro (kg/mês)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% de parceiros no tier PRO vs. básico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Share of wallet: % do gasto com café que vai para Orfeu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Engajamento no Portal: logins/mês, recursos acessados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Frequência de pedido (dias entre pedidos)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Retenção em 12 meses: % que ainda compra após 1 ano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  <a:ln w="12700">
            <a:miter lim="400000"/>
          </a:ln>
        </p:spPr>
      </p:pic>
      <p:sp>
        <p:nvSpPr>
          <p:cNvPr id="272" name="TextBox 3"/>
          <p:cNvSpPr txBox="1"/>
          <p:nvPr/>
        </p:nvSpPr>
        <p:spPr>
          <a:xfrm>
            <a:off x="393192" y="201167"/>
            <a:ext cx="7680960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Estágio 5 — Retenção &amp; Advocacia</a:t>
            </a:r>
          </a:p>
        </p:txBody>
      </p:sp>
      <p:sp>
        <p:nvSpPr>
          <p:cNvPr id="273" name="TextBox 4"/>
          <p:cNvSpPr txBox="1"/>
          <p:nvPr/>
        </p:nvSpPr>
        <p:spPr>
          <a:xfrm>
            <a:off x="393192" y="694945"/>
            <a:ext cx="7680960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8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 parceiro vira embaixador — o canal de crescimento mais barato e mais poderoso</a:t>
            </a:r>
          </a:p>
        </p:txBody>
      </p:sp>
      <p:sp>
        <p:nvSpPr>
          <p:cNvPr id="274" name="Rectangle 5"/>
          <p:cNvSpPr/>
          <p:nvPr/>
        </p:nvSpPr>
        <p:spPr>
          <a:xfrm>
            <a:off x="182879" y="1042413"/>
            <a:ext cx="8778242" cy="274322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5" name="TextBox 6"/>
          <p:cNvSpPr txBox="1"/>
          <p:nvPr/>
        </p:nvSpPr>
        <p:spPr>
          <a:xfrm>
            <a:off x="320040" y="1060703"/>
            <a:ext cx="8503920" cy="205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Objetivo: transformar satisfação em indicação ativa — cada parceiro satisfeito deve trazer ao menos 1 novo parceiro por ano</a:t>
            </a:r>
          </a:p>
        </p:txBody>
      </p:sp>
      <p:sp>
        <p:nvSpPr>
          <p:cNvPr id="276" name="Rectangle 7"/>
          <p:cNvSpPr/>
          <p:nvPr/>
        </p:nvSpPr>
        <p:spPr>
          <a:xfrm>
            <a:off x="182879" y="1371599"/>
            <a:ext cx="2852929" cy="3566161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7" name="Rectangle 8"/>
          <p:cNvSpPr/>
          <p:nvPr/>
        </p:nvSpPr>
        <p:spPr>
          <a:xfrm>
            <a:off x="182879" y="1371600"/>
            <a:ext cx="2852929" cy="310896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8" name="TextBox 9"/>
          <p:cNvSpPr txBox="1"/>
          <p:nvPr/>
        </p:nvSpPr>
        <p:spPr>
          <a:xfrm>
            <a:off x="301751" y="1339089"/>
            <a:ext cx="2615186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MECANISMOS DE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ADVOCACIA</a:t>
            </a:r>
          </a:p>
        </p:txBody>
      </p:sp>
      <p:sp>
        <p:nvSpPr>
          <p:cNvPr id="279" name="TextBox 10"/>
          <p:cNvSpPr txBox="1"/>
          <p:nvPr/>
        </p:nvSpPr>
        <p:spPr>
          <a:xfrm>
            <a:off x="301751" y="1737361"/>
            <a:ext cx="2615186" cy="2044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Mapa Orfeu: parceiro aparece como ponto oficial — visibilidade como recompensa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Programa de indicação estruturado: benefício claro para quem indica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Co-branding: materiais com 'Casa Parceira Orfeu' elevam a percepção do negócio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Presença em redes sociais da Orfeu: parceiro como protagonista de conteúdo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Rota do Café: aparecer como destino na rota de experiências premium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Evento anual de parceiros: comunidade, reconhecimento, networking</a:t>
            </a:r>
          </a:p>
        </p:txBody>
      </p:sp>
      <p:sp>
        <p:nvSpPr>
          <p:cNvPr id="280" name="Rectangle 11"/>
          <p:cNvSpPr/>
          <p:nvPr/>
        </p:nvSpPr>
        <p:spPr>
          <a:xfrm>
            <a:off x="3127248" y="1371599"/>
            <a:ext cx="2852930" cy="3566161"/>
          </a:xfrm>
          <a:prstGeom prst="rect">
            <a:avLst/>
          </a:prstGeom>
          <a:solidFill>
            <a:srgbClr val="FDF3E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1" name="Rectangle 12"/>
          <p:cNvSpPr/>
          <p:nvPr/>
        </p:nvSpPr>
        <p:spPr>
          <a:xfrm>
            <a:off x="3127248" y="1371600"/>
            <a:ext cx="2852930" cy="310896"/>
          </a:xfrm>
          <a:prstGeom prst="rect">
            <a:avLst/>
          </a:prstGeom>
          <a:solidFill>
            <a:srgbClr val="C06A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2" name="TextBox 13"/>
          <p:cNvSpPr txBox="1"/>
          <p:nvPr/>
        </p:nvSpPr>
        <p:spPr>
          <a:xfrm>
            <a:off x="3246119" y="1339089"/>
            <a:ext cx="2615186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FERRAMENTAS DO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ECOSSISTEMA ATIVAS</a:t>
            </a:r>
          </a:p>
        </p:txBody>
      </p:sp>
      <p:sp>
        <p:nvSpPr>
          <p:cNvPr id="283" name="TextBox 14"/>
          <p:cNvSpPr txBox="1"/>
          <p:nvPr/>
        </p:nvSpPr>
        <p:spPr>
          <a:xfrm>
            <a:off x="3246119" y="1737361"/>
            <a:ext cx="2615186" cy="2044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Mapa Unique/Orfeu: presença pública como parceiro certificado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Materiais Promocionais personalizados com identidade do parceiro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Branding &amp; Marca: sinalização física 'Casa Parceira' na cafeteria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Reels e conteúdo co-criado: Orfeu produz, parceiro distribui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Vídeo personalizado do Google (benefício PRO): SEO local do parceiro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Intercâmbio na Cafeteria: parceiro recebe e treina outros parceiros</a:t>
            </a:r>
          </a:p>
        </p:txBody>
      </p:sp>
      <p:sp>
        <p:nvSpPr>
          <p:cNvPr id="284" name="Rectangle 15"/>
          <p:cNvSpPr/>
          <p:nvPr/>
        </p:nvSpPr>
        <p:spPr>
          <a:xfrm>
            <a:off x="6071615" y="1371599"/>
            <a:ext cx="2852930" cy="3566161"/>
          </a:xfrm>
          <a:prstGeom prst="rect">
            <a:avLst/>
          </a:prstGeom>
          <a:solidFill>
            <a:srgbClr val="E3EF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5" name="Rectangle 16"/>
          <p:cNvSpPr/>
          <p:nvPr/>
        </p:nvSpPr>
        <p:spPr>
          <a:xfrm>
            <a:off x="6071615" y="1371600"/>
            <a:ext cx="2852930" cy="310896"/>
          </a:xfrm>
          <a:prstGeom prst="rect">
            <a:avLst/>
          </a:prstGeom>
          <a:solidFill>
            <a:srgbClr val="1A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6" name="TextBox 17"/>
          <p:cNvSpPr txBox="1"/>
          <p:nvPr/>
        </p:nvSpPr>
        <p:spPr>
          <a:xfrm>
            <a:off x="6190488" y="1339089"/>
            <a:ext cx="2615186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REFERÊNCIAS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E BENCHMARKS</a:t>
            </a:r>
          </a:p>
        </p:txBody>
      </p:sp>
      <p:sp>
        <p:nvSpPr>
          <p:cNvPr id="287" name="TextBox 18"/>
          <p:cNvSpPr txBox="1"/>
          <p:nvPr/>
        </p:nvSpPr>
        <p:spPr>
          <a:xfrm>
            <a:off x="6190488" y="1737361"/>
            <a:ext cx="2615186" cy="1714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Nespresso Professional: 'Nespresso Coffee Ambassador' é o nível mais alto — barista certificado que representa a marca em eventos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Nestlé Professional: programa de 'Parceiro de Excelência' com visibilidade em canais institucionais e feiras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Modelo Stumptown: cada café parceiro é listado no site como 'Wholesale Partner' com história própria — pertencimento como retenção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  <a:ln w="12700">
            <a:miter lim="400000"/>
          </a:ln>
        </p:spPr>
      </p:pic>
      <p:sp>
        <p:nvSpPr>
          <p:cNvPr id="290" name="TextBox 3"/>
          <p:cNvSpPr txBox="1"/>
          <p:nvPr/>
        </p:nvSpPr>
        <p:spPr>
          <a:xfrm>
            <a:off x="393192" y="201167"/>
            <a:ext cx="7680960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Referências: Nespresso Professional &amp; Nestlé Professional</a:t>
            </a:r>
          </a:p>
        </p:txBody>
      </p:sp>
      <p:sp>
        <p:nvSpPr>
          <p:cNvPr id="291" name="TextBox 4"/>
          <p:cNvSpPr txBox="1"/>
          <p:nvPr/>
        </p:nvSpPr>
        <p:spPr>
          <a:xfrm>
            <a:off x="393192" y="694945"/>
            <a:ext cx="7680960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8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 que as melhores práticas globais ensinam sobre jornada B2B em café</a:t>
            </a:r>
          </a:p>
        </p:txBody>
      </p:sp>
      <p:sp>
        <p:nvSpPr>
          <p:cNvPr id="292" name="TextBox 5"/>
          <p:cNvSpPr txBox="1"/>
          <p:nvPr/>
        </p:nvSpPr>
        <p:spPr>
          <a:xfrm>
            <a:off x="228599" y="1042414"/>
            <a:ext cx="4187954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NESPRESSO PROFESSIONAL</a:t>
            </a:r>
          </a:p>
        </p:txBody>
      </p:sp>
      <p:sp>
        <p:nvSpPr>
          <p:cNvPr id="293" name="Rectangle 6"/>
          <p:cNvSpPr/>
          <p:nvPr/>
        </p:nvSpPr>
        <p:spPr>
          <a:xfrm>
            <a:off x="91440" y="1334160"/>
            <a:ext cx="8961120" cy="12702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4" name="Rectangle 7"/>
          <p:cNvSpPr/>
          <p:nvPr/>
        </p:nvSpPr>
        <p:spPr>
          <a:xfrm>
            <a:off x="182880" y="1389888"/>
            <a:ext cx="4279392" cy="731522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5" name="Rectangle 8"/>
          <p:cNvSpPr/>
          <p:nvPr/>
        </p:nvSpPr>
        <p:spPr>
          <a:xfrm>
            <a:off x="182879" y="1389888"/>
            <a:ext cx="54866" cy="731522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6" name="TextBox 9"/>
          <p:cNvSpPr txBox="1"/>
          <p:nvPr/>
        </p:nvSpPr>
        <p:spPr>
          <a:xfrm>
            <a:off x="356615" y="1426464"/>
            <a:ext cx="3968498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Comodato de máquina</a:t>
            </a:r>
          </a:p>
        </p:txBody>
      </p:sp>
      <p:sp>
        <p:nvSpPr>
          <p:cNvPr id="297" name="TextBox 10"/>
          <p:cNvSpPr txBox="1"/>
          <p:nvPr/>
        </p:nvSpPr>
        <p:spPr>
          <a:xfrm>
            <a:off x="356615" y="1664207"/>
            <a:ext cx="3968498" cy="323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Máquina instalada sem custo inicial — reduz barreira de entrada. O parceiro só paga pelo café. Lock-in via equipamento: trocar de fornecedor implica trocar a máquina.</a:t>
            </a:r>
          </a:p>
        </p:txBody>
      </p:sp>
      <p:sp>
        <p:nvSpPr>
          <p:cNvPr id="298" name="Rectangle 11"/>
          <p:cNvSpPr/>
          <p:nvPr/>
        </p:nvSpPr>
        <p:spPr>
          <a:xfrm>
            <a:off x="182880" y="2176272"/>
            <a:ext cx="4279392" cy="731522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9" name="Rectangle 12"/>
          <p:cNvSpPr/>
          <p:nvPr/>
        </p:nvSpPr>
        <p:spPr>
          <a:xfrm>
            <a:off x="182879" y="2176272"/>
            <a:ext cx="54866" cy="731522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0" name="TextBox 13"/>
          <p:cNvSpPr txBox="1"/>
          <p:nvPr/>
        </p:nvSpPr>
        <p:spPr>
          <a:xfrm>
            <a:off x="356615" y="2212849"/>
            <a:ext cx="3968498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Portfólio B2B exclusivo</a:t>
            </a:r>
          </a:p>
        </p:txBody>
      </p:sp>
      <p:sp>
        <p:nvSpPr>
          <p:cNvPr id="301" name="TextBox 14"/>
          <p:cNvSpPr txBox="1"/>
          <p:nvPr/>
        </p:nvSpPr>
        <p:spPr>
          <a:xfrm>
            <a:off x="356615" y="2450590"/>
            <a:ext cx="3968498" cy="323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SKUs específicos para o canal profissional — não disponíveis no varejo. Parceiro tem acesso a origens e blends que o consumidor final não compra. Exclusividade como argumento.</a:t>
            </a:r>
          </a:p>
        </p:txBody>
      </p:sp>
      <p:sp>
        <p:nvSpPr>
          <p:cNvPr id="302" name="Rectangle 15"/>
          <p:cNvSpPr/>
          <p:nvPr/>
        </p:nvSpPr>
        <p:spPr>
          <a:xfrm>
            <a:off x="182880" y="2962655"/>
            <a:ext cx="4279392" cy="731523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3" name="Rectangle 16"/>
          <p:cNvSpPr/>
          <p:nvPr/>
        </p:nvSpPr>
        <p:spPr>
          <a:xfrm>
            <a:off x="182879" y="2962655"/>
            <a:ext cx="54866" cy="731523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4" name="TextBox 17"/>
          <p:cNvSpPr txBox="1"/>
          <p:nvPr/>
        </p:nvSpPr>
        <p:spPr>
          <a:xfrm>
            <a:off x="356615" y="2999233"/>
            <a:ext cx="3968498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Consultor especializado</a:t>
            </a:r>
          </a:p>
        </p:txBody>
      </p:sp>
      <p:sp>
        <p:nvSpPr>
          <p:cNvPr id="305" name="TextBox 18"/>
          <p:cNvSpPr txBox="1"/>
          <p:nvPr/>
        </p:nvSpPr>
        <p:spPr>
          <a:xfrm>
            <a:off x="356615" y="3236977"/>
            <a:ext cx="3968498" cy="323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Cada conta tem um 'Business Solutions Consultant' dedicado por segmento (hotéis, restaurantes, escritórios). Visita trimestral obrigatória. Diagnóstico e upsell consultivo.</a:t>
            </a:r>
          </a:p>
        </p:txBody>
      </p:sp>
      <p:sp>
        <p:nvSpPr>
          <p:cNvPr id="306" name="Rectangle 19"/>
          <p:cNvSpPr/>
          <p:nvPr/>
        </p:nvSpPr>
        <p:spPr>
          <a:xfrm>
            <a:off x="182880" y="3749037"/>
            <a:ext cx="4279392" cy="731523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7" name="Rectangle 20"/>
          <p:cNvSpPr/>
          <p:nvPr/>
        </p:nvSpPr>
        <p:spPr>
          <a:xfrm>
            <a:off x="182879" y="3749037"/>
            <a:ext cx="54866" cy="731523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8" name="TextBox 21"/>
          <p:cNvSpPr txBox="1"/>
          <p:nvPr/>
        </p:nvSpPr>
        <p:spPr>
          <a:xfrm>
            <a:off x="356615" y="3785616"/>
            <a:ext cx="3968498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Nespresso Coffee Ambassador</a:t>
            </a:r>
          </a:p>
        </p:txBody>
      </p:sp>
      <p:sp>
        <p:nvSpPr>
          <p:cNvPr id="309" name="TextBox 22"/>
          <p:cNvSpPr txBox="1"/>
          <p:nvPr/>
        </p:nvSpPr>
        <p:spPr>
          <a:xfrm>
            <a:off x="356615" y="4023360"/>
            <a:ext cx="3968498" cy="323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Certificação de barista em 3 níveis. O parceiro que certifica toda a equipe recebe selo e visibilidade nos canais Nespresso. Comunidade de especialistas como retenção.</a:t>
            </a:r>
          </a:p>
        </p:txBody>
      </p:sp>
      <p:sp>
        <p:nvSpPr>
          <p:cNvPr id="310" name="TextBox 23"/>
          <p:cNvSpPr txBox="1"/>
          <p:nvPr/>
        </p:nvSpPr>
        <p:spPr>
          <a:xfrm>
            <a:off x="4709159" y="1042414"/>
            <a:ext cx="4187953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3A5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NESTLÉ PROFESSIONAL</a:t>
            </a:r>
          </a:p>
        </p:txBody>
      </p:sp>
      <p:sp>
        <p:nvSpPr>
          <p:cNvPr id="311" name="Rectangle 24"/>
          <p:cNvSpPr/>
          <p:nvPr/>
        </p:nvSpPr>
        <p:spPr>
          <a:xfrm>
            <a:off x="91440" y="1334160"/>
            <a:ext cx="8961120" cy="12702"/>
          </a:xfrm>
          <a:prstGeom prst="rect">
            <a:avLst/>
          </a:prstGeom>
          <a:solidFill>
            <a:srgbClr val="1A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2" name="Rectangle 25"/>
          <p:cNvSpPr/>
          <p:nvPr/>
        </p:nvSpPr>
        <p:spPr>
          <a:xfrm>
            <a:off x="4663440" y="1389888"/>
            <a:ext cx="4279394" cy="731522"/>
          </a:xfrm>
          <a:prstGeom prst="rect">
            <a:avLst/>
          </a:prstGeom>
          <a:solidFill>
            <a:srgbClr val="E3EF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3" name="Rectangle 26"/>
          <p:cNvSpPr/>
          <p:nvPr/>
        </p:nvSpPr>
        <p:spPr>
          <a:xfrm>
            <a:off x="4663440" y="1389888"/>
            <a:ext cx="54866" cy="731522"/>
          </a:xfrm>
          <a:prstGeom prst="rect">
            <a:avLst/>
          </a:prstGeom>
          <a:solidFill>
            <a:srgbClr val="1A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4" name="TextBox 27"/>
          <p:cNvSpPr txBox="1"/>
          <p:nvPr/>
        </p:nvSpPr>
        <p:spPr>
          <a:xfrm>
            <a:off x="4837175" y="1426464"/>
            <a:ext cx="3968498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3A5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Solução turn-key</a:t>
            </a:r>
          </a:p>
        </p:txBody>
      </p:sp>
      <p:sp>
        <p:nvSpPr>
          <p:cNvPr id="315" name="TextBox 28"/>
          <p:cNvSpPr txBox="1"/>
          <p:nvPr/>
        </p:nvSpPr>
        <p:spPr>
          <a:xfrm>
            <a:off x="4837175" y="1664207"/>
            <a:ext cx="3968498" cy="450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Nestlé Professional entra com máquina, insumo, treinamento e manutenção em um único contrato. Parceiro assina uma solução, não compra produtos. Simplificação operacional total como argumento de vendas.</a:t>
            </a:r>
          </a:p>
        </p:txBody>
      </p:sp>
      <p:sp>
        <p:nvSpPr>
          <p:cNvPr id="316" name="Rectangle 29"/>
          <p:cNvSpPr/>
          <p:nvPr/>
        </p:nvSpPr>
        <p:spPr>
          <a:xfrm>
            <a:off x="4663440" y="2176272"/>
            <a:ext cx="4279394" cy="731522"/>
          </a:xfrm>
          <a:prstGeom prst="rect">
            <a:avLst/>
          </a:prstGeom>
          <a:solidFill>
            <a:srgbClr val="E3EF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7" name="Rectangle 30"/>
          <p:cNvSpPr/>
          <p:nvPr/>
        </p:nvSpPr>
        <p:spPr>
          <a:xfrm>
            <a:off x="4663440" y="2176272"/>
            <a:ext cx="54866" cy="731522"/>
          </a:xfrm>
          <a:prstGeom prst="rect">
            <a:avLst/>
          </a:prstGeom>
          <a:solidFill>
            <a:srgbClr val="1A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8" name="TextBox 31"/>
          <p:cNvSpPr txBox="1"/>
          <p:nvPr/>
        </p:nvSpPr>
        <p:spPr>
          <a:xfrm>
            <a:off x="4837175" y="2212849"/>
            <a:ext cx="3968498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3A5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Consultor de Negócios</a:t>
            </a:r>
          </a:p>
        </p:txBody>
      </p:sp>
      <p:sp>
        <p:nvSpPr>
          <p:cNvPr id="319" name="TextBox 32"/>
          <p:cNvSpPr txBox="1"/>
          <p:nvPr/>
        </p:nvSpPr>
        <p:spPr>
          <a:xfrm>
            <a:off x="4837175" y="2450590"/>
            <a:ext cx="3968498" cy="323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Profissional dedicado por conta, com meta de crescimento de volume. Visita mensal. Relatório de consumo enviado ao cliente com comparativo de mercado. Dado como serviço.</a:t>
            </a:r>
          </a:p>
        </p:txBody>
      </p:sp>
      <p:sp>
        <p:nvSpPr>
          <p:cNvPr id="320" name="Rectangle 33"/>
          <p:cNvSpPr/>
          <p:nvPr/>
        </p:nvSpPr>
        <p:spPr>
          <a:xfrm>
            <a:off x="4663440" y="2962655"/>
            <a:ext cx="4279394" cy="731523"/>
          </a:xfrm>
          <a:prstGeom prst="rect">
            <a:avLst/>
          </a:prstGeom>
          <a:solidFill>
            <a:srgbClr val="E3EF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1" name="Rectangle 34"/>
          <p:cNvSpPr/>
          <p:nvPr/>
        </p:nvSpPr>
        <p:spPr>
          <a:xfrm>
            <a:off x="4663440" y="2962655"/>
            <a:ext cx="54866" cy="731523"/>
          </a:xfrm>
          <a:prstGeom prst="rect">
            <a:avLst/>
          </a:prstGeom>
          <a:solidFill>
            <a:srgbClr val="1A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2" name="TextBox 35"/>
          <p:cNvSpPr txBox="1"/>
          <p:nvPr/>
        </p:nvSpPr>
        <p:spPr>
          <a:xfrm>
            <a:off x="4837175" y="2999233"/>
            <a:ext cx="3968498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3A5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Programa de Parceiro</a:t>
            </a:r>
          </a:p>
        </p:txBody>
      </p:sp>
      <p:sp>
        <p:nvSpPr>
          <p:cNvPr id="323" name="TextBox 36"/>
          <p:cNvSpPr txBox="1"/>
          <p:nvPr/>
        </p:nvSpPr>
        <p:spPr>
          <a:xfrm>
            <a:off x="4837175" y="3236977"/>
            <a:ext cx="3968498" cy="323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 tiers: Parceiro, Parceiro Preferencial, Parceiro de Excelência. Cada tier desbloqueia benefícios: visibilidade, treinamento avançado, acesso antecipado a lançamentos.</a:t>
            </a:r>
          </a:p>
        </p:txBody>
      </p:sp>
      <p:sp>
        <p:nvSpPr>
          <p:cNvPr id="324" name="Rectangle 37"/>
          <p:cNvSpPr/>
          <p:nvPr/>
        </p:nvSpPr>
        <p:spPr>
          <a:xfrm>
            <a:off x="4663440" y="3749037"/>
            <a:ext cx="4279394" cy="731523"/>
          </a:xfrm>
          <a:prstGeom prst="rect">
            <a:avLst/>
          </a:prstGeom>
          <a:solidFill>
            <a:srgbClr val="E3EF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5" name="Rectangle 38"/>
          <p:cNvSpPr/>
          <p:nvPr/>
        </p:nvSpPr>
        <p:spPr>
          <a:xfrm>
            <a:off x="4663440" y="3749037"/>
            <a:ext cx="54866" cy="731523"/>
          </a:xfrm>
          <a:prstGeom prst="rect">
            <a:avLst/>
          </a:prstGeom>
          <a:solidFill>
            <a:srgbClr val="1A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6" name="TextBox 39"/>
          <p:cNvSpPr txBox="1"/>
          <p:nvPr/>
        </p:nvSpPr>
        <p:spPr>
          <a:xfrm>
            <a:off x="4837175" y="3785616"/>
            <a:ext cx="3968498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3A5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Rota do Café Nestlé</a:t>
            </a:r>
          </a:p>
        </p:txBody>
      </p:sp>
      <p:sp>
        <p:nvSpPr>
          <p:cNvPr id="327" name="TextBox 40"/>
          <p:cNvSpPr txBox="1"/>
          <p:nvPr/>
        </p:nvSpPr>
        <p:spPr>
          <a:xfrm>
            <a:off x="4837175" y="4023360"/>
            <a:ext cx="3968498" cy="323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5555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Experiências de imersão nas origens para parceiros de Excelência. Viagem à origem do café como recompensa de lealdade — vínculo emocional que cria advocacia.</a:t>
            </a:r>
          </a:p>
        </p:txBody>
      </p:sp>
      <p:sp>
        <p:nvSpPr>
          <p:cNvPr id="328" name="TextBox 324"/>
          <p:cNvSpPr txBox="1"/>
          <p:nvPr/>
        </p:nvSpPr>
        <p:spPr>
          <a:xfrm>
            <a:off x="256032" y="4624323"/>
            <a:ext cx="8631936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i="1" sz="900">
                <a:solidFill>
                  <a:srgbClr val="C8000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AÇÃO (Workshop B2B 27/07): incluir também cases de sucesso próprios da Orfeu — brief de 1 página (oportunidade do canal, quem é a Orfeu, solução completa, case, fotos/vídeos e citações da liderança do cliente entre aspas). Ver exemplos no B2B-Soluções-Turismo/Office (Eletromidia — escritório; Hilton — hotel).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  <a:ln w="12700">
            <a:miter lim="400000"/>
          </a:ln>
        </p:spPr>
      </p:pic>
      <p:sp>
        <p:nvSpPr>
          <p:cNvPr id="331" name="TextBox 3"/>
          <p:cNvSpPr txBox="1"/>
          <p:nvPr/>
        </p:nvSpPr>
        <p:spPr>
          <a:xfrm>
            <a:off x="393192" y="201167"/>
            <a:ext cx="7680960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Ecossistema de Suporte — 12 Ferramentas Mapeadas à Jornada</a:t>
            </a:r>
          </a:p>
        </p:txBody>
      </p:sp>
      <p:sp>
        <p:nvSpPr>
          <p:cNvPr id="332" name="TextBox 4"/>
          <p:cNvSpPr txBox="1"/>
          <p:nvPr/>
        </p:nvSpPr>
        <p:spPr>
          <a:xfrm>
            <a:off x="393192" y="694945"/>
            <a:ext cx="7680960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8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Cada ferramenta tem um papel específico em um estágio da jornada / estamos fazendo tudo o que é possível?</a:t>
            </a:r>
          </a:p>
        </p:txBody>
      </p:sp>
      <p:sp>
        <p:nvSpPr>
          <p:cNvPr id="333" name="Rectangle 5"/>
          <p:cNvSpPr/>
          <p:nvPr/>
        </p:nvSpPr>
        <p:spPr>
          <a:xfrm>
            <a:off x="164592" y="1078991"/>
            <a:ext cx="274321" cy="256033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4" name="Rectangle 7"/>
          <p:cNvSpPr/>
          <p:nvPr/>
        </p:nvSpPr>
        <p:spPr>
          <a:xfrm>
            <a:off x="457200" y="1078991"/>
            <a:ext cx="2011679" cy="256033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5" name="TextBox 8"/>
          <p:cNvSpPr txBox="1"/>
          <p:nvPr/>
        </p:nvSpPr>
        <p:spPr>
          <a:xfrm>
            <a:off x="548640" y="1097281"/>
            <a:ext cx="1828801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Ferramenta</a:t>
            </a:r>
          </a:p>
        </p:txBody>
      </p:sp>
      <p:sp>
        <p:nvSpPr>
          <p:cNvPr id="336" name="Rectangle 9"/>
          <p:cNvSpPr/>
          <p:nvPr/>
        </p:nvSpPr>
        <p:spPr>
          <a:xfrm>
            <a:off x="2487166" y="1078991"/>
            <a:ext cx="1371603" cy="256033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7" name="TextBox 10"/>
          <p:cNvSpPr txBox="1"/>
          <p:nvPr/>
        </p:nvSpPr>
        <p:spPr>
          <a:xfrm>
            <a:off x="2578606" y="1097281"/>
            <a:ext cx="118872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Estágio Principal</a:t>
            </a:r>
          </a:p>
        </p:txBody>
      </p:sp>
      <p:sp>
        <p:nvSpPr>
          <p:cNvPr id="338" name="Rectangle 11"/>
          <p:cNvSpPr/>
          <p:nvPr/>
        </p:nvSpPr>
        <p:spPr>
          <a:xfrm>
            <a:off x="3877054" y="1078991"/>
            <a:ext cx="4023362" cy="256033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9" name="TextBox 12"/>
          <p:cNvSpPr txBox="1"/>
          <p:nvPr/>
        </p:nvSpPr>
        <p:spPr>
          <a:xfrm>
            <a:off x="3968496" y="1097281"/>
            <a:ext cx="384048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Função na Jornada</a:t>
            </a:r>
          </a:p>
        </p:txBody>
      </p:sp>
      <p:sp>
        <p:nvSpPr>
          <p:cNvPr id="340" name="Rectangle 13"/>
          <p:cNvSpPr/>
          <p:nvPr/>
        </p:nvSpPr>
        <p:spPr>
          <a:xfrm>
            <a:off x="7918704" y="1078991"/>
            <a:ext cx="877826" cy="256033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1" name="TextBox 14"/>
          <p:cNvSpPr txBox="1"/>
          <p:nvPr/>
        </p:nvSpPr>
        <p:spPr>
          <a:xfrm>
            <a:off x="8010142" y="1097281"/>
            <a:ext cx="694946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Disponível?</a:t>
            </a:r>
          </a:p>
        </p:txBody>
      </p:sp>
      <p:sp>
        <p:nvSpPr>
          <p:cNvPr id="342" name="Rectangle 15"/>
          <p:cNvSpPr/>
          <p:nvPr/>
        </p:nvSpPr>
        <p:spPr>
          <a:xfrm>
            <a:off x="164592" y="1371600"/>
            <a:ext cx="274321" cy="256032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3" name="TextBox 16"/>
          <p:cNvSpPr txBox="1"/>
          <p:nvPr/>
        </p:nvSpPr>
        <p:spPr>
          <a:xfrm>
            <a:off x="256031" y="1389889"/>
            <a:ext cx="91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44" name="Rectangle 17"/>
          <p:cNvSpPr/>
          <p:nvPr/>
        </p:nvSpPr>
        <p:spPr>
          <a:xfrm>
            <a:off x="457200" y="1371600"/>
            <a:ext cx="2011679" cy="256032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5" name="TextBox 18"/>
          <p:cNvSpPr txBox="1"/>
          <p:nvPr/>
        </p:nvSpPr>
        <p:spPr>
          <a:xfrm>
            <a:off x="548640" y="1377189"/>
            <a:ext cx="182880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Portal do Parceiro</a:t>
            </a:r>
          </a:p>
        </p:txBody>
      </p:sp>
      <p:sp>
        <p:nvSpPr>
          <p:cNvPr id="346" name="Rectangle 19"/>
          <p:cNvSpPr/>
          <p:nvPr/>
        </p:nvSpPr>
        <p:spPr>
          <a:xfrm>
            <a:off x="2487166" y="1371600"/>
            <a:ext cx="1371603" cy="256032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7" name="TextBox 20"/>
          <p:cNvSpPr txBox="1"/>
          <p:nvPr/>
        </p:nvSpPr>
        <p:spPr>
          <a:xfrm>
            <a:off x="2578606" y="1389889"/>
            <a:ext cx="118872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F4A1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Ativação + Crescimento</a:t>
            </a:r>
          </a:p>
        </p:txBody>
      </p:sp>
      <p:sp>
        <p:nvSpPr>
          <p:cNvPr id="348" name="Rectangle 21"/>
          <p:cNvSpPr/>
          <p:nvPr/>
        </p:nvSpPr>
        <p:spPr>
          <a:xfrm>
            <a:off x="3877054" y="1371600"/>
            <a:ext cx="4023362" cy="256032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9" name="TextBox 22"/>
          <p:cNvSpPr txBox="1"/>
          <p:nvPr/>
        </p:nvSpPr>
        <p:spPr>
          <a:xfrm>
            <a:off x="3968496" y="1389889"/>
            <a:ext cx="384048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Hub central de todos os recursos — materiais, bônus, agendamentos, conteúdo</a:t>
            </a:r>
          </a:p>
        </p:txBody>
      </p:sp>
      <p:sp>
        <p:nvSpPr>
          <p:cNvPr id="350" name="Rectangle 23"/>
          <p:cNvSpPr/>
          <p:nvPr/>
        </p:nvSpPr>
        <p:spPr>
          <a:xfrm>
            <a:off x="7918704" y="1371600"/>
            <a:ext cx="877826" cy="256032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1" name="TextBox 24"/>
          <p:cNvSpPr txBox="1"/>
          <p:nvPr/>
        </p:nvSpPr>
        <p:spPr>
          <a:xfrm>
            <a:off x="8010142" y="1389889"/>
            <a:ext cx="694946" cy="196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700">
                <a:solidFill>
                  <a:srgbClr val="1A1A1A"/>
                </a:solidFill>
              </a:defRPr>
            </a:pPr>
            <a:r>
              <a:t>✓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Ativo</a:t>
            </a:r>
          </a:p>
        </p:txBody>
      </p:sp>
      <p:sp>
        <p:nvSpPr>
          <p:cNvPr id="352" name="Rectangle 25"/>
          <p:cNvSpPr/>
          <p:nvPr/>
        </p:nvSpPr>
        <p:spPr>
          <a:xfrm>
            <a:off x="164592" y="1645920"/>
            <a:ext cx="274321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3" name="TextBox 26"/>
          <p:cNvSpPr txBox="1"/>
          <p:nvPr/>
        </p:nvSpPr>
        <p:spPr>
          <a:xfrm>
            <a:off x="256031" y="1664207"/>
            <a:ext cx="91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54" name="Rectangle 27"/>
          <p:cNvSpPr/>
          <p:nvPr/>
        </p:nvSpPr>
        <p:spPr>
          <a:xfrm>
            <a:off x="457200" y="1645920"/>
            <a:ext cx="2011679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5" name="TextBox 28"/>
          <p:cNvSpPr txBox="1"/>
          <p:nvPr/>
        </p:nvSpPr>
        <p:spPr>
          <a:xfrm>
            <a:off x="548640" y="1651507"/>
            <a:ext cx="1828801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Mapa de Parceiros</a:t>
            </a:r>
          </a:p>
        </p:txBody>
      </p:sp>
      <p:sp>
        <p:nvSpPr>
          <p:cNvPr id="356" name="Rectangle 29"/>
          <p:cNvSpPr/>
          <p:nvPr/>
        </p:nvSpPr>
        <p:spPr>
          <a:xfrm>
            <a:off x="2487166" y="1645920"/>
            <a:ext cx="1371603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7" name="TextBox 30"/>
          <p:cNvSpPr txBox="1"/>
          <p:nvPr/>
        </p:nvSpPr>
        <p:spPr>
          <a:xfrm>
            <a:off x="2578606" y="1664207"/>
            <a:ext cx="1188722" cy="196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F4A1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Advocacia</a:t>
            </a:r>
          </a:p>
        </p:txBody>
      </p:sp>
      <p:sp>
        <p:nvSpPr>
          <p:cNvPr id="358" name="Rectangle 31"/>
          <p:cNvSpPr/>
          <p:nvPr/>
        </p:nvSpPr>
        <p:spPr>
          <a:xfrm>
            <a:off x="3877054" y="1645920"/>
            <a:ext cx="4023362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9" name="TextBox 32"/>
          <p:cNvSpPr txBox="1"/>
          <p:nvPr/>
        </p:nvSpPr>
        <p:spPr>
          <a:xfrm>
            <a:off x="3968496" y="1664207"/>
            <a:ext cx="3840482" cy="196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Visibilidade pública como Casa Parceira — benefício de pertencimento</a:t>
            </a:r>
          </a:p>
        </p:txBody>
      </p:sp>
      <p:sp>
        <p:nvSpPr>
          <p:cNvPr id="360" name="Rectangle 33"/>
          <p:cNvSpPr/>
          <p:nvPr/>
        </p:nvSpPr>
        <p:spPr>
          <a:xfrm>
            <a:off x="7918704" y="1645920"/>
            <a:ext cx="877826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1" name="TextBox 34"/>
          <p:cNvSpPr txBox="1"/>
          <p:nvPr/>
        </p:nvSpPr>
        <p:spPr>
          <a:xfrm>
            <a:off x="8010142" y="1664207"/>
            <a:ext cx="694946" cy="196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700">
                <a:solidFill>
                  <a:srgbClr val="1A1A1A"/>
                </a:solidFill>
              </a:defRPr>
            </a:pPr>
            <a:r>
              <a:t>✓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Ativo</a:t>
            </a:r>
          </a:p>
        </p:txBody>
      </p:sp>
      <p:sp>
        <p:nvSpPr>
          <p:cNvPr id="362" name="Rectangle 35"/>
          <p:cNvSpPr/>
          <p:nvPr/>
        </p:nvSpPr>
        <p:spPr>
          <a:xfrm>
            <a:off x="164592" y="1920238"/>
            <a:ext cx="274321" cy="256033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3" name="TextBox 36"/>
          <p:cNvSpPr txBox="1"/>
          <p:nvPr/>
        </p:nvSpPr>
        <p:spPr>
          <a:xfrm>
            <a:off x="256031" y="1938528"/>
            <a:ext cx="91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64" name="Rectangle 37"/>
          <p:cNvSpPr/>
          <p:nvPr/>
        </p:nvSpPr>
        <p:spPr>
          <a:xfrm>
            <a:off x="457200" y="1920238"/>
            <a:ext cx="2011679" cy="256033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5" name="TextBox 38"/>
          <p:cNvSpPr txBox="1"/>
          <p:nvPr/>
        </p:nvSpPr>
        <p:spPr>
          <a:xfrm>
            <a:off x="548640" y="1925828"/>
            <a:ext cx="182880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Programa PRO</a:t>
            </a:r>
          </a:p>
        </p:txBody>
      </p:sp>
      <p:sp>
        <p:nvSpPr>
          <p:cNvPr id="366" name="Rectangle 39"/>
          <p:cNvSpPr/>
          <p:nvPr/>
        </p:nvSpPr>
        <p:spPr>
          <a:xfrm>
            <a:off x="2487166" y="1920238"/>
            <a:ext cx="1371603" cy="256033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7" name="TextBox 40"/>
          <p:cNvSpPr txBox="1"/>
          <p:nvPr/>
        </p:nvSpPr>
        <p:spPr>
          <a:xfrm>
            <a:off x="2578606" y="1938528"/>
            <a:ext cx="118872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F4A1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Crescimento + Retenção</a:t>
            </a:r>
          </a:p>
        </p:txBody>
      </p:sp>
      <p:sp>
        <p:nvSpPr>
          <p:cNvPr id="368" name="Rectangle 41"/>
          <p:cNvSpPr/>
          <p:nvPr/>
        </p:nvSpPr>
        <p:spPr>
          <a:xfrm>
            <a:off x="3877054" y="1920238"/>
            <a:ext cx="4023362" cy="256033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9" name="TextBox 42"/>
          <p:cNvSpPr txBox="1"/>
          <p:nvPr/>
        </p:nvSpPr>
        <p:spPr>
          <a:xfrm>
            <a:off x="3968496" y="1938528"/>
            <a:ext cx="384048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Tier premium com benefícios exclusivos que criam lock-in positivo</a:t>
            </a:r>
          </a:p>
        </p:txBody>
      </p:sp>
      <p:sp>
        <p:nvSpPr>
          <p:cNvPr id="370" name="Rectangle 43"/>
          <p:cNvSpPr/>
          <p:nvPr/>
        </p:nvSpPr>
        <p:spPr>
          <a:xfrm>
            <a:off x="7918704" y="1920238"/>
            <a:ext cx="877826" cy="256033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1" name="TextBox 44"/>
          <p:cNvSpPr txBox="1"/>
          <p:nvPr/>
        </p:nvSpPr>
        <p:spPr>
          <a:xfrm>
            <a:off x="8010142" y="1938528"/>
            <a:ext cx="694946" cy="196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700">
                <a:solidFill>
                  <a:srgbClr val="1A1A1A"/>
                </a:solidFill>
              </a:defRPr>
            </a:pPr>
            <a:r>
              <a:t>✓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Ativo</a:t>
            </a:r>
          </a:p>
        </p:txBody>
      </p:sp>
      <p:sp>
        <p:nvSpPr>
          <p:cNvPr id="372" name="Rectangle 45"/>
          <p:cNvSpPr/>
          <p:nvPr/>
        </p:nvSpPr>
        <p:spPr>
          <a:xfrm>
            <a:off x="164592" y="2194560"/>
            <a:ext cx="274321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3" name="TextBox 46"/>
          <p:cNvSpPr txBox="1"/>
          <p:nvPr/>
        </p:nvSpPr>
        <p:spPr>
          <a:xfrm>
            <a:off x="256031" y="2212849"/>
            <a:ext cx="91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74" name="Rectangle 47"/>
          <p:cNvSpPr/>
          <p:nvPr/>
        </p:nvSpPr>
        <p:spPr>
          <a:xfrm>
            <a:off x="457200" y="2194560"/>
            <a:ext cx="2011679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5" name="TextBox 48"/>
          <p:cNvSpPr txBox="1"/>
          <p:nvPr/>
        </p:nvSpPr>
        <p:spPr>
          <a:xfrm>
            <a:off x="548640" y="2200149"/>
            <a:ext cx="182880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Imersão na Fazenda</a:t>
            </a:r>
          </a:p>
        </p:txBody>
      </p:sp>
      <p:sp>
        <p:nvSpPr>
          <p:cNvPr id="376" name="Rectangle 49"/>
          <p:cNvSpPr/>
          <p:nvPr/>
        </p:nvSpPr>
        <p:spPr>
          <a:xfrm>
            <a:off x="2487166" y="2194560"/>
            <a:ext cx="1371603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7" name="TextBox 50"/>
          <p:cNvSpPr txBox="1"/>
          <p:nvPr/>
        </p:nvSpPr>
        <p:spPr>
          <a:xfrm>
            <a:off x="2578606" y="2212849"/>
            <a:ext cx="118872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F4A1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Ativação + Advocacia</a:t>
            </a:r>
          </a:p>
        </p:txBody>
      </p:sp>
      <p:sp>
        <p:nvSpPr>
          <p:cNvPr id="378" name="Rectangle 51"/>
          <p:cNvSpPr/>
          <p:nvPr/>
        </p:nvSpPr>
        <p:spPr>
          <a:xfrm>
            <a:off x="3877054" y="2194560"/>
            <a:ext cx="4023362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9" name="TextBox 52"/>
          <p:cNvSpPr txBox="1"/>
          <p:nvPr/>
        </p:nvSpPr>
        <p:spPr>
          <a:xfrm>
            <a:off x="3968496" y="2212849"/>
            <a:ext cx="384048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Vínculo emocional com origem — o parceiro que foi à fazenda nunca esquece</a:t>
            </a:r>
          </a:p>
        </p:txBody>
      </p:sp>
      <p:sp>
        <p:nvSpPr>
          <p:cNvPr id="380" name="Rectangle 53"/>
          <p:cNvSpPr/>
          <p:nvPr/>
        </p:nvSpPr>
        <p:spPr>
          <a:xfrm>
            <a:off x="7918704" y="2194560"/>
            <a:ext cx="877826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1" name="TextBox 54"/>
          <p:cNvSpPr txBox="1"/>
          <p:nvPr/>
        </p:nvSpPr>
        <p:spPr>
          <a:xfrm>
            <a:off x="8010142" y="2212849"/>
            <a:ext cx="694946" cy="196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700">
                <a:solidFill>
                  <a:srgbClr val="1A1A1A"/>
                </a:solidFill>
              </a:defRPr>
            </a:pPr>
            <a:r>
              <a:t>✓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Ativo</a:t>
            </a:r>
          </a:p>
        </p:txBody>
      </p:sp>
      <p:sp>
        <p:nvSpPr>
          <p:cNvPr id="382" name="Rectangle 55"/>
          <p:cNvSpPr/>
          <p:nvPr/>
        </p:nvSpPr>
        <p:spPr>
          <a:xfrm>
            <a:off x="164592" y="2468878"/>
            <a:ext cx="274321" cy="256033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3" name="TextBox 56"/>
          <p:cNvSpPr txBox="1"/>
          <p:nvPr/>
        </p:nvSpPr>
        <p:spPr>
          <a:xfrm>
            <a:off x="256031" y="2487167"/>
            <a:ext cx="91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84" name="Rectangle 57"/>
          <p:cNvSpPr/>
          <p:nvPr/>
        </p:nvSpPr>
        <p:spPr>
          <a:xfrm>
            <a:off x="457200" y="2468878"/>
            <a:ext cx="2011679" cy="256033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5" name="TextBox 58"/>
          <p:cNvSpPr txBox="1"/>
          <p:nvPr/>
        </p:nvSpPr>
        <p:spPr>
          <a:xfrm>
            <a:off x="548640" y="2474467"/>
            <a:ext cx="1828801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Intercâmbio na Cafeteria</a:t>
            </a:r>
          </a:p>
        </p:txBody>
      </p:sp>
      <p:sp>
        <p:nvSpPr>
          <p:cNvPr id="386" name="Rectangle 59"/>
          <p:cNvSpPr/>
          <p:nvPr/>
        </p:nvSpPr>
        <p:spPr>
          <a:xfrm>
            <a:off x="2487166" y="2468878"/>
            <a:ext cx="1371603" cy="256033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7" name="TextBox 60"/>
          <p:cNvSpPr txBox="1"/>
          <p:nvPr/>
        </p:nvSpPr>
        <p:spPr>
          <a:xfrm>
            <a:off x="2578606" y="2487167"/>
            <a:ext cx="1188722" cy="196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F4A1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Ativação</a:t>
            </a:r>
          </a:p>
        </p:txBody>
      </p:sp>
      <p:sp>
        <p:nvSpPr>
          <p:cNvPr id="388" name="Rectangle 61"/>
          <p:cNvSpPr/>
          <p:nvPr/>
        </p:nvSpPr>
        <p:spPr>
          <a:xfrm>
            <a:off x="3877054" y="2468878"/>
            <a:ext cx="4023362" cy="256033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9" name="TextBox 62"/>
          <p:cNvSpPr txBox="1"/>
          <p:nvPr/>
        </p:nvSpPr>
        <p:spPr>
          <a:xfrm>
            <a:off x="3968496" y="2487167"/>
            <a:ext cx="3840482" cy="196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Treinamento real de equipe no ambiente de uma cafeteria modelo</a:t>
            </a:r>
          </a:p>
        </p:txBody>
      </p:sp>
      <p:sp>
        <p:nvSpPr>
          <p:cNvPr id="390" name="Rectangle 63"/>
          <p:cNvSpPr/>
          <p:nvPr/>
        </p:nvSpPr>
        <p:spPr>
          <a:xfrm>
            <a:off x="7918704" y="2468878"/>
            <a:ext cx="877826" cy="256033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1" name="TextBox 64"/>
          <p:cNvSpPr txBox="1"/>
          <p:nvPr/>
        </p:nvSpPr>
        <p:spPr>
          <a:xfrm>
            <a:off x="8010142" y="2487167"/>
            <a:ext cx="694946" cy="196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700">
                <a:solidFill>
                  <a:srgbClr val="1A1A1A"/>
                </a:solidFill>
              </a:defRPr>
            </a:pPr>
            <a:r>
              <a:t>✓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Ativo</a:t>
            </a:r>
          </a:p>
        </p:txBody>
      </p:sp>
      <p:sp>
        <p:nvSpPr>
          <p:cNvPr id="392" name="Rectangle 65"/>
          <p:cNvSpPr/>
          <p:nvPr/>
        </p:nvSpPr>
        <p:spPr>
          <a:xfrm>
            <a:off x="164592" y="2743200"/>
            <a:ext cx="274321" cy="2560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3" name="TextBox 66"/>
          <p:cNvSpPr txBox="1"/>
          <p:nvPr/>
        </p:nvSpPr>
        <p:spPr>
          <a:xfrm>
            <a:off x="256031" y="2761489"/>
            <a:ext cx="91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94" name="Rectangle 67"/>
          <p:cNvSpPr/>
          <p:nvPr/>
        </p:nvSpPr>
        <p:spPr>
          <a:xfrm>
            <a:off x="457200" y="2743200"/>
            <a:ext cx="2011679" cy="2560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5" name="TextBox 68"/>
          <p:cNvSpPr txBox="1"/>
          <p:nvPr/>
        </p:nvSpPr>
        <p:spPr>
          <a:xfrm>
            <a:off x="548640" y="2748789"/>
            <a:ext cx="182880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Qualidade Persistente</a:t>
            </a:r>
          </a:p>
        </p:txBody>
      </p:sp>
      <p:sp>
        <p:nvSpPr>
          <p:cNvPr id="396" name="Rectangle 69"/>
          <p:cNvSpPr/>
          <p:nvPr/>
        </p:nvSpPr>
        <p:spPr>
          <a:xfrm>
            <a:off x="2487166" y="2743200"/>
            <a:ext cx="1371603" cy="2560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7" name="TextBox 70"/>
          <p:cNvSpPr txBox="1"/>
          <p:nvPr/>
        </p:nvSpPr>
        <p:spPr>
          <a:xfrm>
            <a:off x="2578606" y="2761489"/>
            <a:ext cx="118872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F4A1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Consideração + Retenção</a:t>
            </a:r>
          </a:p>
        </p:txBody>
      </p:sp>
      <p:sp>
        <p:nvSpPr>
          <p:cNvPr id="398" name="Rectangle 71"/>
          <p:cNvSpPr/>
          <p:nvPr/>
        </p:nvSpPr>
        <p:spPr>
          <a:xfrm>
            <a:off x="3877054" y="2743200"/>
            <a:ext cx="4023362" cy="2560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9" name="TextBox 72"/>
          <p:cNvSpPr txBox="1"/>
          <p:nvPr/>
        </p:nvSpPr>
        <p:spPr>
          <a:xfrm>
            <a:off x="3968496" y="2761489"/>
            <a:ext cx="384048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Mix fixo de alta consistência — argumento para quem precisa de previsibilidade</a:t>
            </a:r>
          </a:p>
        </p:txBody>
      </p:sp>
      <p:sp>
        <p:nvSpPr>
          <p:cNvPr id="400" name="Rectangle 73"/>
          <p:cNvSpPr/>
          <p:nvPr/>
        </p:nvSpPr>
        <p:spPr>
          <a:xfrm>
            <a:off x="7918704" y="2743200"/>
            <a:ext cx="877826" cy="2560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01" name="TextBox 74"/>
          <p:cNvSpPr txBox="1"/>
          <p:nvPr/>
        </p:nvSpPr>
        <p:spPr>
          <a:xfrm>
            <a:off x="8010142" y="2761489"/>
            <a:ext cx="694946" cy="196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700">
                <a:solidFill>
                  <a:srgbClr val="1A1A1A"/>
                </a:solidFill>
              </a:defRPr>
            </a:pPr>
            <a:r>
              <a:t>✓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Ativo</a:t>
            </a:r>
          </a:p>
        </p:txBody>
      </p:sp>
      <p:sp>
        <p:nvSpPr>
          <p:cNvPr id="402" name="Rectangle 75"/>
          <p:cNvSpPr/>
          <p:nvPr/>
        </p:nvSpPr>
        <p:spPr>
          <a:xfrm>
            <a:off x="164592" y="3017520"/>
            <a:ext cx="274321" cy="256033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03" name="TextBox 76"/>
          <p:cNvSpPr txBox="1"/>
          <p:nvPr/>
        </p:nvSpPr>
        <p:spPr>
          <a:xfrm>
            <a:off x="256031" y="3035807"/>
            <a:ext cx="91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04" name="Rectangle 77"/>
          <p:cNvSpPr/>
          <p:nvPr/>
        </p:nvSpPr>
        <p:spPr>
          <a:xfrm>
            <a:off x="457200" y="3017520"/>
            <a:ext cx="2011679" cy="256033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05" name="TextBox 78"/>
          <p:cNvSpPr txBox="1"/>
          <p:nvPr/>
        </p:nvSpPr>
        <p:spPr>
          <a:xfrm>
            <a:off x="548640" y="3023107"/>
            <a:ext cx="1828801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Edições Limitadas</a:t>
            </a:r>
          </a:p>
        </p:txBody>
      </p:sp>
      <p:sp>
        <p:nvSpPr>
          <p:cNvPr id="406" name="Rectangle 79"/>
          <p:cNvSpPr/>
          <p:nvPr/>
        </p:nvSpPr>
        <p:spPr>
          <a:xfrm>
            <a:off x="2487166" y="3017520"/>
            <a:ext cx="1371603" cy="256033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07" name="TextBox 80"/>
          <p:cNvSpPr txBox="1"/>
          <p:nvPr/>
        </p:nvSpPr>
        <p:spPr>
          <a:xfrm>
            <a:off x="2578606" y="3035807"/>
            <a:ext cx="1188722" cy="196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F4A1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Crescimento</a:t>
            </a:r>
          </a:p>
        </p:txBody>
      </p:sp>
      <p:sp>
        <p:nvSpPr>
          <p:cNvPr id="408" name="Rectangle 81"/>
          <p:cNvSpPr/>
          <p:nvPr/>
        </p:nvSpPr>
        <p:spPr>
          <a:xfrm>
            <a:off x="3877054" y="3017520"/>
            <a:ext cx="4023362" cy="256033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09" name="TextBox 82"/>
          <p:cNvSpPr txBox="1"/>
          <p:nvPr/>
        </p:nvSpPr>
        <p:spPr>
          <a:xfrm>
            <a:off x="3968496" y="3035807"/>
            <a:ext cx="3840482" cy="196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 cafés novos/mês com história e terroir — novidade que justifica visita recorrente</a:t>
            </a:r>
          </a:p>
        </p:txBody>
      </p:sp>
      <p:sp>
        <p:nvSpPr>
          <p:cNvPr id="410" name="Rectangle 83"/>
          <p:cNvSpPr/>
          <p:nvPr/>
        </p:nvSpPr>
        <p:spPr>
          <a:xfrm>
            <a:off x="7918704" y="3017520"/>
            <a:ext cx="877826" cy="256033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1" name="TextBox 84"/>
          <p:cNvSpPr txBox="1"/>
          <p:nvPr/>
        </p:nvSpPr>
        <p:spPr>
          <a:xfrm>
            <a:off x="8010142" y="3035807"/>
            <a:ext cx="694946" cy="196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700">
                <a:solidFill>
                  <a:srgbClr val="1A1A1A"/>
                </a:solidFill>
              </a:defRPr>
            </a:pPr>
            <a:r>
              <a:t>✓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Ativo</a:t>
            </a:r>
          </a:p>
        </p:txBody>
      </p:sp>
      <p:sp>
        <p:nvSpPr>
          <p:cNvPr id="412" name="Rectangle 85"/>
          <p:cNvSpPr/>
          <p:nvPr/>
        </p:nvSpPr>
        <p:spPr>
          <a:xfrm>
            <a:off x="164592" y="3291840"/>
            <a:ext cx="274321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3" name="TextBox 86"/>
          <p:cNvSpPr txBox="1"/>
          <p:nvPr/>
        </p:nvSpPr>
        <p:spPr>
          <a:xfrm>
            <a:off x="256031" y="3310129"/>
            <a:ext cx="91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14" name="Rectangle 87"/>
          <p:cNvSpPr/>
          <p:nvPr/>
        </p:nvSpPr>
        <p:spPr>
          <a:xfrm>
            <a:off x="457200" y="3291840"/>
            <a:ext cx="2011679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5" name="TextBox 88"/>
          <p:cNvSpPr txBox="1"/>
          <p:nvPr/>
        </p:nvSpPr>
        <p:spPr>
          <a:xfrm>
            <a:off x="548640" y="3297429"/>
            <a:ext cx="182880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Guias &amp; Cardápios</a:t>
            </a:r>
          </a:p>
        </p:txBody>
      </p:sp>
      <p:sp>
        <p:nvSpPr>
          <p:cNvPr id="416" name="Rectangle 89"/>
          <p:cNvSpPr/>
          <p:nvPr/>
        </p:nvSpPr>
        <p:spPr>
          <a:xfrm>
            <a:off x="2487166" y="3291840"/>
            <a:ext cx="1371603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7" name="TextBox 90"/>
          <p:cNvSpPr txBox="1"/>
          <p:nvPr/>
        </p:nvSpPr>
        <p:spPr>
          <a:xfrm>
            <a:off x="2578606" y="3310129"/>
            <a:ext cx="118872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F4A1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Ativação</a:t>
            </a:r>
          </a:p>
        </p:txBody>
      </p:sp>
      <p:sp>
        <p:nvSpPr>
          <p:cNvPr id="418" name="Rectangle 91"/>
          <p:cNvSpPr/>
          <p:nvPr/>
        </p:nvSpPr>
        <p:spPr>
          <a:xfrm>
            <a:off x="3877054" y="3291840"/>
            <a:ext cx="4023362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9" name="TextBox 92"/>
          <p:cNvSpPr txBox="1"/>
          <p:nvPr/>
        </p:nvSpPr>
        <p:spPr>
          <a:xfrm>
            <a:off x="3968496" y="3310129"/>
            <a:ext cx="384048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Fichas técnicas prontas para treinar e padronizar — elimina improviso</a:t>
            </a:r>
          </a:p>
        </p:txBody>
      </p:sp>
      <p:sp>
        <p:nvSpPr>
          <p:cNvPr id="420" name="Rectangle 93"/>
          <p:cNvSpPr/>
          <p:nvPr/>
        </p:nvSpPr>
        <p:spPr>
          <a:xfrm>
            <a:off x="7918704" y="3291840"/>
            <a:ext cx="877826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1" name="TextBox 94"/>
          <p:cNvSpPr txBox="1"/>
          <p:nvPr/>
        </p:nvSpPr>
        <p:spPr>
          <a:xfrm>
            <a:off x="8010142" y="3310129"/>
            <a:ext cx="694946" cy="196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700">
                <a:solidFill>
                  <a:srgbClr val="1A1A1A"/>
                </a:solidFill>
              </a:defRPr>
            </a:pPr>
            <a:r>
              <a:t>✓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Ativo</a:t>
            </a:r>
          </a:p>
        </p:txBody>
      </p:sp>
      <p:sp>
        <p:nvSpPr>
          <p:cNvPr id="422" name="Rectangle 95"/>
          <p:cNvSpPr/>
          <p:nvPr/>
        </p:nvSpPr>
        <p:spPr>
          <a:xfrm>
            <a:off x="164592" y="3566159"/>
            <a:ext cx="274321" cy="256033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3" name="TextBox 96"/>
          <p:cNvSpPr txBox="1"/>
          <p:nvPr/>
        </p:nvSpPr>
        <p:spPr>
          <a:xfrm>
            <a:off x="256031" y="3584448"/>
            <a:ext cx="91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24" name="Rectangle 97"/>
          <p:cNvSpPr/>
          <p:nvPr/>
        </p:nvSpPr>
        <p:spPr>
          <a:xfrm>
            <a:off x="457200" y="3566159"/>
            <a:ext cx="2011679" cy="256033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5" name="TextBox 98"/>
          <p:cNvSpPr txBox="1"/>
          <p:nvPr/>
        </p:nvSpPr>
        <p:spPr>
          <a:xfrm>
            <a:off x="548640" y="3571748"/>
            <a:ext cx="182880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Utilitários</a:t>
            </a:r>
          </a:p>
        </p:txBody>
      </p:sp>
      <p:sp>
        <p:nvSpPr>
          <p:cNvPr id="426" name="Rectangle 99"/>
          <p:cNvSpPr/>
          <p:nvPr/>
        </p:nvSpPr>
        <p:spPr>
          <a:xfrm>
            <a:off x="2487166" y="3566159"/>
            <a:ext cx="1371603" cy="256033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7" name="TextBox 100"/>
          <p:cNvSpPr txBox="1"/>
          <p:nvPr/>
        </p:nvSpPr>
        <p:spPr>
          <a:xfrm>
            <a:off x="2578606" y="3584448"/>
            <a:ext cx="118872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F4A1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Ativação + Crescimento</a:t>
            </a:r>
          </a:p>
        </p:txBody>
      </p:sp>
      <p:sp>
        <p:nvSpPr>
          <p:cNvPr id="428" name="Rectangle 101"/>
          <p:cNvSpPr/>
          <p:nvPr/>
        </p:nvSpPr>
        <p:spPr>
          <a:xfrm>
            <a:off x="3877054" y="3566159"/>
            <a:ext cx="4023362" cy="256033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9" name="TextBox 102"/>
          <p:cNvSpPr txBox="1"/>
          <p:nvPr/>
        </p:nvSpPr>
        <p:spPr>
          <a:xfrm>
            <a:off x="3968496" y="3584448"/>
            <a:ext cx="384048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Calculadoras e checklists para decisões do dia a dia — Orfeu como parceiro de gestão</a:t>
            </a:r>
          </a:p>
        </p:txBody>
      </p:sp>
      <p:sp>
        <p:nvSpPr>
          <p:cNvPr id="430" name="Rectangle 103"/>
          <p:cNvSpPr/>
          <p:nvPr/>
        </p:nvSpPr>
        <p:spPr>
          <a:xfrm>
            <a:off x="7918704" y="3566159"/>
            <a:ext cx="877826" cy="256033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1" name="TextBox 104"/>
          <p:cNvSpPr txBox="1"/>
          <p:nvPr/>
        </p:nvSpPr>
        <p:spPr>
          <a:xfrm>
            <a:off x="8010142" y="3584448"/>
            <a:ext cx="694946" cy="196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700">
                <a:solidFill>
                  <a:srgbClr val="1A1A1A"/>
                </a:solidFill>
              </a:defRPr>
            </a:pPr>
            <a:r>
              <a:t>✓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Ativo</a:t>
            </a:r>
          </a:p>
        </p:txBody>
      </p:sp>
      <p:sp>
        <p:nvSpPr>
          <p:cNvPr id="432" name="Rectangle 105"/>
          <p:cNvSpPr/>
          <p:nvPr/>
        </p:nvSpPr>
        <p:spPr>
          <a:xfrm>
            <a:off x="164592" y="3840479"/>
            <a:ext cx="274321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3" name="TextBox 106"/>
          <p:cNvSpPr txBox="1"/>
          <p:nvPr/>
        </p:nvSpPr>
        <p:spPr>
          <a:xfrm>
            <a:off x="256031" y="3858768"/>
            <a:ext cx="91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34" name="Rectangle 107"/>
          <p:cNvSpPr/>
          <p:nvPr/>
        </p:nvSpPr>
        <p:spPr>
          <a:xfrm>
            <a:off x="457200" y="3840479"/>
            <a:ext cx="2011679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5" name="TextBox 108"/>
          <p:cNvSpPr txBox="1"/>
          <p:nvPr/>
        </p:nvSpPr>
        <p:spPr>
          <a:xfrm>
            <a:off x="548640" y="3846068"/>
            <a:ext cx="182880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Fotos &amp; Vídeos</a:t>
            </a:r>
          </a:p>
        </p:txBody>
      </p:sp>
      <p:sp>
        <p:nvSpPr>
          <p:cNvPr id="436" name="Rectangle 109"/>
          <p:cNvSpPr/>
          <p:nvPr/>
        </p:nvSpPr>
        <p:spPr>
          <a:xfrm>
            <a:off x="2487166" y="3840479"/>
            <a:ext cx="1371603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7" name="TextBox 110"/>
          <p:cNvSpPr txBox="1"/>
          <p:nvPr/>
        </p:nvSpPr>
        <p:spPr>
          <a:xfrm>
            <a:off x="2578606" y="3858768"/>
            <a:ext cx="118872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F4A1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Crescimento + Advocacia</a:t>
            </a:r>
          </a:p>
        </p:txBody>
      </p:sp>
      <p:sp>
        <p:nvSpPr>
          <p:cNvPr id="438" name="Rectangle 111"/>
          <p:cNvSpPr/>
          <p:nvPr/>
        </p:nvSpPr>
        <p:spPr>
          <a:xfrm>
            <a:off x="3877054" y="3840479"/>
            <a:ext cx="4023362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9" name="TextBox 112"/>
          <p:cNvSpPr txBox="1"/>
          <p:nvPr/>
        </p:nvSpPr>
        <p:spPr>
          <a:xfrm>
            <a:off x="3968496" y="3858768"/>
            <a:ext cx="384048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Banco de conteúdo em alta qualidade para redes sociais do parceiro</a:t>
            </a:r>
          </a:p>
        </p:txBody>
      </p:sp>
      <p:sp>
        <p:nvSpPr>
          <p:cNvPr id="440" name="Rectangle 113"/>
          <p:cNvSpPr/>
          <p:nvPr/>
        </p:nvSpPr>
        <p:spPr>
          <a:xfrm>
            <a:off x="7918704" y="3840479"/>
            <a:ext cx="877826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1" name="TextBox 114"/>
          <p:cNvSpPr txBox="1"/>
          <p:nvPr/>
        </p:nvSpPr>
        <p:spPr>
          <a:xfrm>
            <a:off x="8010142" y="3858768"/>
            <a:ext cx="694946" cy="196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700">
                <a:solidFill>
                  <a:srgbClr val="1A1A1A"/>
                </a:solidFill>
              </a:defRPr>
            </a:pPr>
            <a:r>
              <a:t>✓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Ativo</a:t>
            </a:r>
          </a:p>
        </p:txBody>
      </p:sp>
      <p:sp>
        <p:nvSpPr>
          <p:cNvPr id="442" name="Rectangle 115"/>
          <p:cNvSpPr/>
          <p:nvPr/>
        </p:nvSpPr>
        <p:spPr>
          <a:xfrm>
            <a:off x="164592" y="4114800"/>
            <a:ext cx="274321" cy="256032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3" name="TextBox 116"/>
          <p:cNvSpPr txBox="1"/>
          <p:nvPr/>
        </p:nvSpPr>
        <p:spPr>
          <a:xfrm>
            <a:off x="256031" y="4133087"/>
            <a:ext cx="91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44" name="Rectangle 117"/>
          <p:cNvSpPr/>
          <p:nvPr/>
        </p:nvSpPr>
        <p:spPr>
          <a:xfrm>
            <a:off x="457200" y="4114800"/>
            <a:ext cx="2011679" cy="256032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5" name="TextBox 118"/>
          <p:cNvSpPr txBox="1"/>
          <p:nvPr/>
        </p:nvSpPr>
        <p:spPr>
          <a:xfrm>
            <a:off x="548640" y="4120387"/>
            <a:ext cx="182880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Materiais Promocionais</a:t>
            </a:r>
          </a:p>
        </p:txBody>
      </p:sp>
      <p:sp>
        <p:nvSpPr>
          <p:cNvPr id="446" name="Rectangle 119"/>
          <p:cNvSpPr/>
          <p:nvPr/>
        </p:nvSpPr>
        <p:spPr>
          <a:xfrm>
            <a:off x="2487166" y="4114800"/>
            <a:ext cx="1371603" cy="256032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7" name="TextBox 120"/>
          <p:cNvSpPr txBox="1"/>
          <p:nvPr/>
        </p:nvSpPr>
        <p:spPr>
          <a:xfrm>
            <a:off x="2578606" y="4133087"/>
            <a:ext cx="118872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F4A1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Ativação + Advocacia</a:t>
            </a:r>
          </a:p>
        </p:txBody>
      </p:sp>
      <p:sp>
        <p:nvSpPr>
          <p:cNvPr id="448" name="Rectangle 121"/>
          <p:cNvSpPr/>
          <p:nvPr/>
        </p:nvSpPr>
        <p:spPr>
          <a:xfrm>
            <a:off x="3877054" y="4114800"/>
            <a:ext cx="4023362" cy="256032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9" name="TextBox 122"/>
          <p:cNvSpPr txBox="1"/>
          <p:nvPr/>
        </p:nvSpPr>
        <p:spPr>
          <a:xfrm>
            <a:off x="3968496" y="4133087"/>
            <a:ext cx="384048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Cartaz de produtor, roda de sabores — espaço bonito e educativo</a:t>
            </a:r>
          </a:p>
        </p:txBody>
      </p:sp>
      <p:sp>
        <p:nvSpPr>
          <p:cNvPr id="450" name="Rectangle 123"/>
          <p:cNvSpPr/>
          <p:nvPr/>
        </p:nvSpPr>
        <p:spPr>
          <a:xfrm>
            <a:off x="7918704" y="4114800"/>
            <a:ext cx="877826" cy="256032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1" name="TextBox 124"/>
          <p:cNvSpPr txBox="1"/>
          <p:nvPr/>
        </p:nvSpPr>
        <p:spPr>
          <a:xfrm>
            <a:off x="8010142" y="4133087"/>
            <a:ext cx="694946" cy="196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700">
                <a:solidFill>
                  <a:srgbClr val="1A1A1A"/>
                </a:solidFill>
              </a:defRPr>
            </a:pPr>
            <a:r>
              <a:t>✓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Ativo</a:t>
            </a:r>
          </a:p>
        </p:txBody>
      </p:sp>
      <p:sp>
        <p:nvSpPr>
          <p:cNvPr id="452" name="Rectangle 125"/>
          <p:cNvSpPr/>
          <p:nvPr/>
        </p:nvSpPr>
        <p:spPr>
          <a:xfrm>
            <a:off x="164592" y="4389120"/>
            <a:ext cx="274321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3" name="TextBox 126"/>
          <p:cNvSpPr txBox="1"/>
          <p:nvPr/>
        </p:nvSpPr>
        <p:spPr>
          <a:xfrm>
            <a:off x="256031" y="4407407"/>
            <a:ext cx="91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54" name="Rectangle 127"/>
          <p:cNvSpPr/>
          <p:nvPr/>
        </p:nvSpPr>
        <p:spPr>
          <a:xfrm>
            <a:off x="457200" y="4389120"/>
            <a:ext cx="2011679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5" name="TextBox 128"/>
          <p:cNvSpPr txBox="1"/>
          <p:nvPr/>
        </p:nvSpPr>
        <p:spPr>
          <a:xfrm>
            <a:off x="548640" y="4394707"/>
            <a:ext cx="182880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Branding &amp; Marca</a:t>
            </a:r>
          </a:p>
        </p:txBody>
      </p:sp>
      <p:sp>
        <p:nvSpPr>
          <p:cNvPr id="456" name="Rectangle 129"/>
          <p:cNvSpPr/>
          <p:nvPr/>
        </p:nvSpPr>
        <p:spPr>
          <a:xfrm>
            <a:off x="2487166" y="4389120"/>
            <a:ext cx="1371603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7" name="TextBox 130"/>
          <p:cNvSpPr txBox="1"/>
          <p:nvPr/>
        </p:nvSpPr>
        <p:spPr>
          <a:xfrm>
            <a:off x="2578606" y="4407407"/>
            <a:ext cx="118872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F4A1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Advocacia</a:t>
            </a:r>
          </a:p>
        </p:txBody>
      </p:sp>
      <p:sp>
        <p:nvSpPr>
          <p:cNvPr id="458" name="Rectangle 131"/>
          <p:cNvSpPr/>
          <p:nvPr/>
        </p:nvSpPr>
        <p:spPr>
          <a:xfrm>
            <a:off x="3877054" y="4389120"/>
            <a:ext cx="4023362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9" name="TextBox 132"/>
          <p:cNvSpPr txBox="1"/>
          <p:nvPr/>
        </p:nvSpPr>
        <p:spPr>
          <a:xfrm>
            <a:off x="3968496" y="4407407"/>
            <a:ext cx="3840482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Identidade visual de Casa Parceira Orfeu — co-branding como argumento de qualidade</a:t>
            </a:r>
          </a:p>
        </p:txBody>
      </p:sp>
      <p:sp>
        <p:nvSpPr>
          <p:cNvPr id="460" name="Rectangle 133"/>
          <p:cNvSpPr/>
          <p:nvPr/>
        </p:nvSpPr>
        <p:spPr>
          <a:xfrm>
            <a:off x="7918704" y="4389120"/>
            <a:ext cx="877826" cy="256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1" name="TextBox 134"/>
          <p:cNvSpPr txBox="1"/>
          <p:nvPr/>
        </p:nvSpPr>
        <p:spPr>
          <a:xfrm>
            <a:off x="8010142" y="4407407"/>
            <a:ext cx="694946" cy="196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700">
                <a:solidFill>
                  <a:srgbClr val="1A1A1A"/>
                </a:solidFill>
              </a:defRPr>
            </a:pPr>
            <a:r>
              <a:t>✓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Ativo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  <a:ln w="12700">
            <a:miter lim="400000"/>
          </a:ln>
        </p:spPr>
      </p:pic>
      <p:sp>
        <p:nvSpPr>
          <p:cNvPr id="464" name="TextBox 3"/>
          <p:cNvSpPr txBox="1"/>
          <p:nvPr/>
        </p:nvSpPr>
        <p:spPr>
          <a:xfrm>
            <a:off x="393192" y="201167"/>
            <a:ext cx="7680960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Tiers de Parceria</a:t>
            </a:r>
          </a:p>
        </p:txBody>
      </p:sp>
      <p:sp>
        <p:nvSpPr>
          <p:cNvPr id="465" name="TextBox 4"/>
          <p:cNvSpPr txBox="1"/>
          <p:nvPr/>
        </p:nvSpPr>
        <p:spPr>
          <a:xfrm>
            <a:off x="393192" y="694945"/>
            <a:ext cx="7680960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8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Estrutura de relacionamento em 3 níveis — da entrada à advocacia</a:t>
            </a:r>
          </a:p>
        </p:txBody>
      </p:sp>
      <p:sp>
        <p:nvSpPr>
          <p:cNvPr id="466" name="Rectangle 5"/>
          <p:cNvSpPr/>
          <p:nvPr/>
        </p:nvSpPr>
        <p:spPr>
          <a:xfrm>
            <a:off x="182879" y="1205990"/>
            <a:ext cx="2779779" cy="3562662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7" name="Rectangle 6"/>
          <p:cNvSpPr/>
          <p:nvPr/>
        </p:nvSpPr>
        <p:spPr>
          <a:xfrm>
            <a:off x="182879" y="1205991"/>
            <a:ext cx="2779779" cy="493779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8" name="TextBox 7"/>
          <p:cNvSpPr txBox="1"/>
          <p:nvPr/>
        </p:nvSpPr>
        <p:spPr>
          <a:xfrm>
            <a:off x="338326" y="1224281"/>
            <a:ext cx="2468884" cy="438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PARCEIRO</a:t>
            </a:r>
          </a:p>
          <a:p>
            <a:pPr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ESSENCIAL</a:t>
            </a:r>
          </a:p>
        </p:txBody>
      </p:sp>
      <p:sp>
        <p:nvSpPr>
          <p:cNvPr id="469" name="TextBox 8"/>
          <p:cNvSpPr txBox="1"/>
          <p:nvPr/>
        </p:nvSpPr>
        <p:spPr>
          <a:xfrm>
            <a:off x="320040" y="1754633"/>
            <a:ext cx="2505457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i="1" sz="1000">
                <a:solidFill>
                  <a:srgbClr val="1F4A1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Entrada na parceria Orfeu</a:t>
            </a:r>
          </a:p>
        </p:txBody>
      </p:sp>
      <p:sp>
        <p:nvSpPr>
          <p:cNvPr id="470" name="TextBox 9"/>
          <p:cNvSpPr txBox="1"/>
          <p:nvPr/>
        </p:nvSpPr>
        <p:spPr>
          <a:xfrm>
            <a:off x="320040" y="2010665"/>
            <a:ext cx="2505457" cy="1054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Acesso ao Portal do Parceiro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Guias &amp; Cardápios no portal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Materiais promocionais básicos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Suporte de consultor compartilhado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Mapa de Parceiros (listagem básica)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Qualidade Persistente: mix fixo garantido</a:t>
            </a:r>
          </a:p>
        </p:txBody>
      </p:sp>
      <p:sp>
        <p:nvSpPr>
          <p:cNvPr id="471" name="Rectangle 10"/>
          <p:cNvSpPr/>
          <p:nvPr/>
        </p:nvSpPr>
        <p:spPr>
          <a:xfrm>
            <a:off x="182879" y="4337810"/>
            <a:ext cx="2779779" cy="420626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2" name="TextBox 11"/>
          <p:cNvSpPr txBox="1"/>
          <p:nvPr/>
        </p:nvSpPr>
        <p:spPr>
          <a:xfrm>
            <a:off x="320040" y="4356100"/>
            <a:ext cx="2505457" cy="205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Volume mínimo: 5 kg/mês</a:t>
            </a:r>
          </a:p>
        </p:txBody>
      </p:sp>
      <p:sp>
        <p:nvSpPr>
          <p:cNvPr id="473" name="TextBox 12"/>
          <p:cNvSpPr txBox="1"/>
          <p:nvPr/>
        </p:nvSpPr>
        <p:spPr>
          <a:xfrm>
            <a:off x="320040" y="4520692"/>
            <a:ext cx="2505457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Sem custo adicional</a:t>
            </a:r>
          </a:p>
        </p:txBody>
      </p:sp>
      <p:sp>
        <p:nvSpPr>
          <p:cNvPr id="474" name="Rectangle 13"/>
          <p:cNvSpPr/>
          <p:nvPr/>
        </p:nvSpPr>
        <p:spPr>
          <a:xfrm>
            <a:off x="3017520" y="1205990"/>
            <a:ext cx="2779778" cy="3562662"/>
          </a:xfrm>
          <a:prstGeom prst="rect">
            <a:avLst/>
          </a:prstGeom>
          <a:solidFill>
            <a:srgbClr val="FDF3E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5" name="Rectangle 14"/>
          <p:cNvSpPr/>
          <p:nvPr/>
        </p:nvSpPr>
        <p:spPr>
          <a:xfrm>
            <a:off x="3017520" y="1205991"/>
            <a:ext cx="2779778" cy="493779"/>
          </a:xfrm>
          <a:prstGeom prst="rect">
            <a:avLst/>
          </a:prstGeom>
          <a:solidFill>
            <a:srgbClr val="C06A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6" name="TextBox 15"/>
          <p:cNvSpPr txBox="1"/>
          <p:nvPr/>
        </p:nvSpPr>
        <p:spPr>
          <a:xfrm>
            <a:off x="3172966" y="1224281"/>
            <a:ext cx="2468884" cy="438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PARCEIRO</a:t>
            </a:r>
          </a:p>
          <a:p>
            <a:pPr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PRO</a:t>
            </a:r>
          </a:p>
        </p:txBody>
      </p:sp>
      <p:sp>
        <p:nvSpPr>
          <p:cNvPr id="477" name="TextBox 16"/>
          <p:cNvSpPr txBox="1"/>
          <p:nvPr/>
        </p:nvSpPr>
        <p:spPr>
          <a:xfrm>
            <a:off x="3154679" y="1754633"/>
            <a:ext cx="2505458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i="1" sz="1000">
                <a:solidFill>
                  <a:srgbClr val="C06A1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Parceiro ativo e engajado</a:t>
            </a:r>
          </a:p>
        </p:txBody>
      </p:sp>
      <p:sp>
        <p:nvSpPr>
          <p:cNvPr id="478" name="TextBox 17"/>
          <p:cNvSpPr txBox="1"/>
          <p:nvPr/>
        </p:nvSpPr>
        <p:spPr>
          <a:xfrm>
            <a:off x="3154679" y="2010665"/>
            <a:ext cx="2505458" cy="1549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Tudo do Essencial, mais: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Acesso antecipado a edições limitadas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Tráfego pago na sua região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Display de comunicação exclusivo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Treinamento exclusivo (online ou presencial)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Divulgação em redes/site/e-mail Orfeu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Curso gratuito de Gestão de Cafeterias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1 vídeo personalizado do Google para o negócio</a:t>
            </a:r>
          </a:p>
        </p:txBody>
      </p:sp>
      <p:sp>
        <p:nvSpPr>
          <p:cNvPr id="479" name="Rectangle 18"/>
          <p:cNvSpPr/>
          <p:nvPr/>
        </p:nvSpPr>
        <p:spPr>
          <a:xfrm>
            <a:off x="3017520" y="4337810"/>
            <a:ext cx="2779778" cy="420626"/>
          </a:xfrm>
          <a:prstGeom prst="rect">
            <a:avLst/>
          </a:prstGeom>
          <a:solidFill>
            <a:srgbClr val="C06A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0" name="TextBox 19"/>
          <p:cNvSpPr txBox="1"/>
          <p:nvPr/>
        </p:nvSpPr>
        <p:spPr>
          <a:xfrm>
            <a:off x="3154679" y="4356100"/>
            <a:ext cx="2505458" cy="205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Volume mínimo: 15 kg/mês</a:t>
            </a:r>
          </a:p>
        </p:txBody>
      </p:sp>
      <p:sp>
        <p:nvSpPr>
          <p:cNvPr id="481" name="TextBox 20"/>
          <p:cNvSpPr txBox="1"/>
          <p:nvPr/>
        </p:nvSpPr>
        <p:spPr>
          <a:xfrm>
            <a:off x="3154679" y="4520692"/>
            <a:ext cx="2505458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Sem custo — desbloqueado por volume</a:t>
            </a:r>
          </a:p>
        </p:txBody>
      </p:sp>
      <p:sp>
        <p:nvSpPr>
          <p:cNvPr id="482" name="Rectangle 21"/>
          <p:cNvSpPr/>
          <p:nvPr/>
        </p:nvSpPr>
        <p:spPr>
          <a:xfrm>
            <a:off x="5852159" y="1205990"/>
            <a:ext cx="2779778" cy="3562662"/>
          </a:xfrm>
          <a:prstGeom prst="rect">
            <a:avLst/>
          </a:prstGeom>
          <a:solidFill>
            <a:srgbClr val="E3EF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3" name="Rectangle 22"/>
          <p:cNvSpPr/>
          <p:nvPr/>
        </p:nvSpPr>
        <p:spPr>
          <a:xfrm>
            <a:off x="5852159" y="1205991"/>
            <a:ext cx="2779778" cy="493779"/>
          </a:xfrm>
          <a:prstGeom prst="rect">
            <a:avLst/>
          </a:prstGeom>
          <a:solidFill>
            <a:srgbClr val="1A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4" name="TextBox 23"/>
          <p:cNvSpPr txBox="1"/>
          <p:nvPr/>
        </p:nvSpPr>
        <p:spPr>
          <a:xfrm>
            <a:off x="6007608" y="1224281"/>
            <a:ext cx="2468882" cy="438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PARCEIRO</a:t>
            </a:r>
          </a:p>
          <a:p>
            <a:pPr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DIAMANTE</a:t>
            </a:r>
          </a:p>
        </p:txBody>
      </p:sp>
      <p:sp>
        <p:nvSpPr>
          <p:cNvPr id="485" name="TextBox 24"/>
          <p:cNvSpPr txBox="1"/>
          <p:nvPr/>
        </p:nvSpPr>
        <p:spPr>
          <a:xfrm>
            <a:off x="5989320" y="1754633"/>
            <a:ext cx="2505458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i="1" sz="1000">
                <a:solidFill>
                  <a:srgbClr val="1A3A5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Embaixador Orfeu</a:t>
            </a:r>
          </a:p>
        </p:txBody>
      </p:sp>
      <p:sp>
        <p:nvSpPr>
          <p:cNvPr id="486" name="TextBox 25"/>
          <p:cNvSpPr txBox="1"/>
          <p:nvPr/>
        </p:nvSpPr>
        <p:spPr>
          <a:xfrm>
            <a:off x="5989320" y="2010665"/>
            <a:ext cx="2505458" cy="1384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Tudo do PRO, mais: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Imersão na Fazenda (gratuita, anual)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Intercâmbio na Cafeteria Orfeu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Co-criação de conteúdo (reels, editorial)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Destaque especial no Mapa de Parceiros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Acesso a lançamentos exclusivos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Account manager dedicado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Participação no Comitê de Parceiros Orfeu</a:t>
            </a:r>
          </a:p>
        </p:txBody>
      </p:sp>
      <p:sp>
        <p:nvSpPr>
          <p:cNvPr id="487" name="Rectangle 26"/>
          <p:cNvSpPr/>
          <p:nvPr/>
        </p:nvSpPr>
        <p:spPr>
          <a:xfrm>
            <a:off x="5852159" y="4337810"/>
            <a:ext cx="2779778" cy="420626"/>
          </a:xfrm>
          <a:prstGeom prst="rect">
            <a:avLst/>
          </a:prstGeom>
          <a:solidFill>
            <a:srgbClr val="1A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8" name="TextBox 27"/>
          <p:cNvSpPr txBox="1"/>
          <p:nvPr/>
        </p:nvSpPr>
        <p:spPr>
          <a:xfrm>
            <a:off x="5989320" y="4356100"/>
            <a:ext cx="2505458" cy="205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Volume mínimo: 30 kg/mês</a:t>
            </a:r>
          </a:p>
        </p:txBody>
      </p:sp>
      <p:sp>
        <p:nvSpPr>
          <p:cNvPr id="489" name="TextBox 28"/>
          <p:cNvSpPr txBox="1"/>
          <p:nvPr/>
        </p:nvSpPr>
        <p:spPr>
          <a:xfrm>
            <a:off x="5989320" y="4520692"/>
            <a:ext cx="2505458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Convite ou indicação da equipe Orfeu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  <a:ln w="12700">
            <a:miter lim="400000"/>
          </a:ln>
        </p:spPr>
      </p:pic>
      <p:sp>
        <p:nvSpPr>
          <p:cNvPr id="492" name="TextBox 3"/>
          <p:cNvSpPr txBox="1"/>
          <p:nvPr/>
        </p:nvSpPr>
        <p:spPr>
          <a:xfrm>
            <a:off x="393192" y="201167"/>
            <a:ext cx="7680960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KPIs e Métricas da Jornada</a:t>
            </a:r>
          </a:p>
        </p:txBody>
      </p:sp>
      <p:sp>
        <p:nvSpPr>
          <p:cNvPr id="493" name="TextBox 4"/>
          <p:cNvSpPr txBox="1"/>
          <p:nvPr/>
        </p:nvSpPr>
        <p:spPr>
          <a:xfrm>
            <a:off x="393192" y="694945"/>
            <a:ext cx="7680960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8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 que medir em cada estágio para saber se a jornada está funcionando</a:t>
            </a:r>
          </a:p>
        </p:txBody>
      </p:sp>
      <p:sp>
        <p:nvSpPr>
          <p:cNvPr id="494" name="Rectangle 5"/>
          <p:cNvSpPr/>
          <p:nvPr/>
        </p:nvSpPr>
        <p:spPr>
          <a:xfrm>
            <a:off x="182880" y="1078991"/>
            <a:ext cx="2121408" cy="274322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5" name="TextBox 6"/>
          <p:cNvSpPr txBox="1"/>
          <p:nvPr/>
        </p:nvSpPr>
        <p:spPr>
          <a:xfrm>
            <a:off x="301752" y="1097281"/>
            <a:ext cx="1920240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DESCOBERTA</a:t>
            </a:r>
          </a:p>
        </p:txBody>
      </p:sp>
      <p:sp>
        <p:nvSpPr>
          <p:cNvPr id="496" name="Rectangle 7"/>
          <p:cNvSpPr/>
          <p:nvPr/>
        </p:nvSpPr>
        <p:spPr>
          <a:xfrm>
            <a:off x="182880" y="1389888"/>
            <a:ext cx="2121408" cy="804674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7" name="TextBox 8"/>
          <p:cNvSpPr txBox="1"/>
          <p:nvPr/>
        </p:nvSpPr>
        <p:spPr>
          <a:xfrm>
            <a:off x="301752" y="1426464"/>
            <a:ext cx="1920240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F4A1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Leads qualificados/mês</a:t>
            </a:r>
          </a:p>
        </p:txBody>
      </p:sp>
      <p:sp>
        <p:nvSpPr>
          <p:cNvPr id="498" name="TextBox 9"/>
          <p:cNvSpPr txBox="1"/>
          <p:nvPr/>
        </p:nvSpPr>
        <p:spPr>
          <a:xfrm>
            <a:off x="301752" y="1664207"/>
            <a:ext cx="1920240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Meta: 30+</a:t>
            </a:r>
          </a:p>
        </p:txBody>
      </p:sp>
      <p:sp>
        <p:nvSpPr>
          <p:cNvPr id="499" name="TextBox 10"/>
          <p:cNvSpPr txBox="1"/>
          <p:nvPr/>
        </p:nvSpPr>
        <p:spPr>
          <a:xfrm>
            <a:off x="301752" y="1938528"/>
            <a:ext cx="1920240" cy="186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Por canal de origem</a:t>
            </a:r>
          </a:p>
        </p:txBody>
      </p:sp>
      <p:sp>
        <p:nvSpPr>
          <p:cNvPr id="500" name="Rectangle 11"/>
          <p:cNvSpPr/>
          <p:nvPr/>
        </p:nvSpPr>
        <p:spPr>
          <a:xfrm>
            <a:off x="182880" y="2249422"/>
            <a:ext cx="2121408" cy="804674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1" name="TextBox 12"/>
          <p:cNvSpPr txBox="1"/>
          <p:nvPr/>
        </p:nvSpPr>
        <p:spPr>
          <a:xfrm>
            <a:off x="301752" y="2286000"/>
            <a:ext cx="1920240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F4A1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Taxa: contato → degustação</a:t>
            </a:r>
          </a:p>
        </p:txBody>
      </p:sp>
      <p:sp>
        <p:nvSpPr>
          <p:cNvPr id="502" name="TextBox 13"/>
          <p:cNvSpPr txBox="1"/>
          <p:nvPr/>
        </p:nvSpPr>
        <p:spPr>
          <a:xfrm>
            <a:off x="301752" y="2523745"/>
            <a:ext cx="1920240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Meta: &gt;40%</a:t>
            </a:r>
          </a:p>
        </p:txBody>
      </p:sp>
      <p:sp>
        <p:nvSpPr>
          <p:cNvPr id="503" name="TextBox 14"/>
          <p:cNvSpPr txBox="1"/>
          <p:nvPr/>
        </p:nvSpPr>
        <p:spPr>
          <a:xfrm>
            <a:off x="301752" y="2798065"/>
            <a:ext cx="1920240" cy="186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Eficiência comercial</a:t>
            </a:r>
          </a:p>
        </p:txBody>
      </p:sp>
      <p:sp>
        <p:nvSpPr>
          <p:cNvPr id="504" name="Rectangle 15"/>
          <p:cNvSpPr/>
          <p:nvPr/>
        </p:nvSpPr>
        <p:spPr>
          <a:xfrm>
            <a:off x="182880" y="3108960"/>
            <a:ext cx="2121408" cy="804674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5" name="TextBox 16"/>
          <p:cNvSpPr txBox="1"/>
          <p:nvPr/>
        </p:nvSpPr>
        <p:spPr>
          <a:xfrm>
            <a:off x="301752" y="3145535"/>
            <a:ext cx="1920240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F4A1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CAP (Custo de Aquisição)</a:t>
            </a:r>
          </a:p>
        </p:txBody>
      </p:sp>
      <p:sp>
        <p:nvSpPr>
          <p:cNvPr id="506" name="TextBox 17"/>
          <p:cNvSpPr txBox="1"/>
          <p:nvPr/>
        </p:nvSpPr>
        <p:spPr>
          <a:xfrm>
            <a:off x="301752" y="3383280"/>
            <a:ext cx="1920240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Meta: &lt;R$500</a:t>
            </a:r>
          </a:p>
        </p:txBody>
      </p:sp>
      <p:sp>
        <p:nvSpPr>
          <p:cNvPr id="507" name="TextBox 18"/>
          <p:cNvSpPr txBox="1"/>
          <p:nvPr/>
        </p:nvSpPr>
        <p:spPr>
          <a:xfrm>
            <a:off x="301752" y="3657600"/>
            <a:ext cx="1920240" cy="186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Por parceiro novo ativado</a:t>
            </a:r>
          </a:p>
        </p:txBody>
      </p:sp>
      <p:sp>
        <p:nvSpPr>
          <p:cNvPr id="508" name="Rectangle 19"/>
          <p:cNvSpPr/>
          <p:nvPr/>
        </p:nvSpPr>
        <p:spPr>
          <a:xfrm>
            <a:off x="182880" y="3968496"/>
            <a:ext cx="2121408" cy="804674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9" name="TextBox 20"/>
          <p:cNvSpPr txBox="1"/>
          <p:nvPr/>
        </p:nvSpPr>
        <p:spPr>
          <a:xfrm>
            <a:off x="301752" y="4005072"/>
            <a:ext cx="1920240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F4A1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% indicação vs. outbound</a:t>
            </a:r>
          </a:p>
        </p:txBody>
      </p:sp>
      <p:sp>
        <p:nvSpPr>
          <p:cNvPr id="510" name="TextBox 21"/>
          <p:cNvSpPr txBox="1"/>
          <p:nvPr/>
        </p:nvSpPr>
        <p:spPr>
          <a:xfrm>
            <a:off x="301752" y="4242816"/>
            <a:ext cx="1920240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Meta: &gt;30% indicação</a:t>
            </a:r>
          </a:p>
        </p:txBody>
      </p:sp>
      <p:sp>
        <p:nvSpPr>
          <p:cNvPr id="511" name="TextBox 22"/>
          <p:cNvSpPr txBox="1"/>
          <p:nvPr/>
        </p:nvSpPr>
        <p:spPr>
          <a:xfrm>
            <a:off x="301752" y="4517136"/>
            <a:ext cx="1920240" cy="186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Sinal de saúde do ecossistema</a:t>
            </a:r>
          </a:p>
        </p:txBody>
      </p:sp>
      <p:sp>
        <p:nvSpPr>
          <p:cNvPr id="512" name="Rectangle 23"/>
          <p:cNvSpPr/>
          <p:nvPr/>
        </p:nvSpPr>
        <p:spPr>
          <a:xfrm>
            <a:off x="2359150" y="1078991"/>
            <a:ext cx="2121411" cy="274322"/>
          </a:xfrm>
          <a:prstGeom prst="rect">
            <a:avLst/>
          </a:prstGeom>
          <a:solidFill>
            <a:srgbClr val="C06A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3" name="TextBox 24"/>
          <p:cNvSpPr txBox="1"/>
          <p:nvPr/>
        </p:nvSpPr>
        <p:spPr>
          <a:xfrm>
            <a:off x="2478023" y="1097281"/>
            <a:ext cx="1920241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ATIVAÇÃO</a:t>
            </a:r>
          </a:p>
        </p:txBody>
      </p:sp>
      <p:sp>
        <p:nvSpPr>
          <p:cNvPr id="514" name="Rectangle 25"/>
          <p:cNvSpPr/>
          <p:nvPr/>
        </p:nvSpPr>
        <p:spPr>
          <a:xfrm>
            <a:off x="2359150" y="1389888"/>
            <a:ext cx="2121411" cy="804674"/>
          </a:xfrm>
          <a:prstGeom prst="rect">
            <a:avLst/>
          </a:prstGeom>
          <a:solidFill>
            <a:srgbClr val="FDF3E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5" name="TextBox 26"/>
          <p:cNvSpPr txBox="1"/>
          <p:nvPr/>
        </p:nvSpPr>
        <p:spPr>
          <a:xfrm>
            <a:off x="2478023" y="1426464"/>
            <a:ext cx="192024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06A1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NPS 90 dias</a:t>
            </a:r>
          </a:p>
        </p:txBody>
      </p:sp>
      <p:sp>
        <p:nvSpPr>
          <p:cNvPr id="516" name="TextBox 27"/>
          <p:cNvSpPr txBox="1"/>
          <p:nvPr/>
        </p:nvSpPr>
        <p:spPr>
          <a:xfrm>
            <a:off x="2478023" y="1664207"/>
            <a:ext cx="1920241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Meta: &gt;70</a:t>
            </a:r>
          </a:p>
        </p:txBody>
      </p:sp>
      <p:sp>
        <p:nvSpPr>
          <p:cNvPr id="517" name="TextBox 28"/>
          <p:cNvSpPr txBox="1"/>
          <p:nvPr/>
        </p:nvSpPr>
        <p:spPr>
          <a:xfrm>
            <a:off x="2478023" y="1938528"/>
            <a:ext cx="1920241" cy="186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Após onboarding completo</a:t>
            </a:r>
          </a:p>
        </p:txBody>
      </p:sp>
      <p:sp>
        <p:nvSpPr>
          <p:cNvPr id="518" name="Rectangle 29"/>
          <p:cNvSpPr/>
          <p:nvPr/>
        </p:nvSpPr>
        <p:spPr>
          <a:xfrm>
            <a:off x="2359150" y="2249422"/>
            <a:ext cx="2121411" cy="804674"/>
          </a:xfrm>
          <a:prstGeom prst="rect">
            <a:avLst/>
          </a:prstGeom>
          <a:solidFill>
            <a:srgbClr val="FDF3E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9" name="TextBox 30"/>
          <p:cNvSpPr txBox="1"/>
          <p:nvPr/>
        </p:nvSpPr>
        <p:spPr>
          <a:xfrm>
            <a:off x="2478023" y="2286000"/>
            <a:ext cx="1920241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06A1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Acesso ao Portal</a:t>
            </a:r>
          </a:p>
        </p:txBody>
      </p:sp>
      <p:sp>
        <p:nvSpPr>
          <p:cNvPr id="520" name="TextBox 31"/>
          <p:cNvSpPr txBox="1"/>
          <p:nvPr/>
        </p:nvSpPr>
        <p:spPr>
          <a:xfrm>
            <a:off x="2478023" y="2523745"/>
            <a:ext cx="192024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Meta: 100% em 30d</a:t>
            </a:r>
          </a:p>
        </p:txBody>
      </p:sp>
      <p:sp>
        <p:nvSpPr>
          <p:cNvPr id="521" name="TextBox 32"/>
          <p:cNvSpPr txBox="1"/>
          <p:nvPr/>
        </p:nvSpPr>
        <p:spPr>
          <a:xfrm>
            <a:off x="2478023" y="2798065"/>
            <a:ext cx="1920241" cy="186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Onboarding digital completo</a:t>
            </a:r>
          </a:p>
        </p:txBody>
      </p:sp>
      <p:sp>
        <p:nvSpPr>
          <p:cNvPr id="522" name="Rectangle 33"/>
          <p:cNvSpPr/>
          <p:nvPr/>
        </p:nvSpPr>
        <p:spPr>
          <a:xfrm>
            <a:off x="2359150" y="3108960"/>
            <a:ext cx="2121411" cy="804674"/>
          </a:xfrm>
          <a:prstGeom prst="rect">
            <a:avLst/>
          </a:prstGeom>
          <a:solidFill>
            <a:srgbClr val="FDF3E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3" name="TextBox 34"/>
          <p:cNvSpPr txBox="1"/>
          <p:nvPr/>
        </p:nvSpPr>
        <p:spPr>
          <a:xfrm>
            <a:off x="2478023" y="3145535"/>
            <a:ext cx="1920241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06A1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Treinamento realizado</a:t>
            </a:r>
          </a:p>
        </p:txBody>
      </p:sp>
      <p:sp>
        <p:nvSpPr>
          <p:cNvPr id="524" name="TextBox 35"/>
          <p:cNvSpPr txBox="1"/>
          <p:nvPr/>
        </p:nvSpPr>
        <p:spPr>
          <a:xfrm>
            <a:off x="2478023" y="3383280"/>
            <a:ext cx="192024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Meta: &gt;80% em 60d</a:t>
            </a:r>
          </a:p>
        </p:txBody>
      </p:sp>
      <p:sp>
        <p:nvSpPr>
          <p:cNvPr id="525" name="TextBox 36"/>
          <p:cNvSpPr txBox="1"/>
          <p:nvPr/>
        </p:nvSpPr>
        <p:spPr>
          <a:xfrm>
            <a:off x="2478023" y="3657600"/>
            <a:ext cx="1920241" cy="186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Presencial ou online</a:t>
            </a:r>
          </a:p>
        </p:txBody>
      </p:sp>
      <p:sp>
        <p:nvSpPr>
          <p:cNvPr id="526" name="Rectangle 37"/>
          <p:cNvSpPr/>
          <p:nvPr/>
        </p:nvSpPr>
        <p:spPr>
          <a:xfrm>
            <a:off x="2359150" y="3968496"/>
            <a:ext cx="2121411" cy="804674"/>
          </a:xfrm>
          <a:prstGeom prst="rect">
            <a:avLst/>
          </a:prstGeom>
          <a:solidFill>
            <a:srgbClr val="FDF3E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7" name="TextBox 38"/>
          <p:cNvSpPr txBox="1"/>
          <p:nvPr/>
        </p:nvSpPr>
        <p:spPr>
          <a:xfrm>
            <a:off x="2478023" y="4005072"/>
            <a:ext cx="192024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06A1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Churn 90 dias</a:t>
            </a:r>
          </a:p>
        </p:txBody>
      </p:sp>
      <p:sp>
        <p:nvSpPr>
          <p:cNvPr id="528" name="TextBox 39"/>
          <p:cNvSpPr txBox="1"/>
          <p:nvPr/>
        </p:nvSpPr>
        <p:spPr>
          <a:xfrm>
            <a:off x="2478023" y="4242816"/>
            <a:ext cx="192024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Meta: &lt;10%</a:t>
            </a:r>
          </a:p>
        </p:txBody>
      </p:sp>
      <p:sp>
        <p:nvSpPr>
          <p:cNvPr id="529" name="TextBox 40"/>
          <p:cNvSpPr txBox="1"/>
          <p:nvPr/>
        </p:nvSpPr>
        <p:spPr>
          <a:xfrm>
            <a:off x="2478023" y="4517136"/>
            <a:ext cx="1920241" cy="186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Parceiros que não repetem pedido</a:t>
            </a:r>
          </a:p>
        </p:txBody>
      </p:sp>
      <p:sp>
        <p:nvSpPr>
          <p:cNvPr id="530" name="Rectangle 41"/>
          <p:cNvSpPr/>
          <p:nvPr/>
        </p:nvSpPr>
        <p:spPr>
          <a:xfrm>
            <a:off x="4535423" y="1078991"/>
            <a:ext cx="2121410" cy="274322"/>
          </a:xfrm>
          <a:prstGeom prst="rect">
            <a:avLst/>
          </a:prstGeom>
          <a:solidFill>
            <a:srgbClr val="1A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1" name="TextBox 42"/>
          <p:cNvSpPr txBox="1"/>
          <p:nvPr/>
        </p:nvSpPr>
        <p:spPr>
          <a:xfrm>
            <a:off x="4654296" y="1097281"/>
            <a:ext cx="1920241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CRESCIMENTO</a:t>
            </a:r>
          </a:p>
        </p:txBody>
      </p:sp>
      <p:sp>
        <p:nvSpPr>
          <p:cNvPr id="532" name="Rectangle 43"/>
          <p:cNvSpPr/>
          <p:nvPr/>
        </p:nvSpPr>
        <p:spPr>
          <a:xfrm>
            <a:off x="4535423" y="1389888"/>
            <a:ext cx="2121410" cy="804674"/>
          </a:xfrm>
          <a:prstGeom prst="rect">
            <a:avLst/>
          </a:prstGeom>
          <a:solidFill>
            <a:srgbClr val="E3EF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3" name="TextBox 44"/>
          <p:cNvSpPr txBox="1"/>
          <p:nvPr/>
        </p:nvSpPr>
        <p:spPr>
          <a:xfrm>
            <a:off x="4654296" y="1426464"/>
            <a:ext cx="192024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3A5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Volume médio (kg/mês)</a:t>
            </a:r>
          </a:p>
        </p:txBody>
      </p:sp>
      <p:sp>
        <p:nvSpPr>
          <p:cNvPr id="534" name="TextBox 45"/>
          <p:cNvSpPr txBox="1"/>
          <p:nvPr/>
        </p:nvSpPr>
        <p:spPr>
          <a:xfrm>
            <a:off x="4654296" y="1664207"/>
            <a:ext cx="1920241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Meta: +20% a.a.</a:t>
            </a:r>
          </a:p>
        </p:txBody>
      </p:sp>
      <p:sp>
        <p:nvSpPr>
          <p:cNvPr id="535" name="TextBox 46"/>
          <p:cNvSpPr txBox="1"/>
          <p:nvPr/>
        </p:nvSpPr>
        <p:spPr>
          <a:xfrm>
            <a:off x="4654296" y="1938528"/>
            <a:ext cx="1920241" cy="186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Por parceiro ativo</a:t>
            </a:r>
          </a:p>
        </p:txBody>
      </p:sp>
      <p:sp>
        <p:nvSpPr>
          <p:cNvPr id="536" name="Rectangle 47"/>
          <p:cNvSpPr/>
          <p:nvPr/>
        </p:nvSpPr>
        <p:spPr>
          <a:xfrm>
            <a:off x="4535423" y="2249422"/>
            <a:ext cx="2121410" cy="804674"/>
          </a:xfrm>
          <a:prstGeom prst="rect">
            <a:avLst/>
          </a:prstGeom>
          <a:solidFill>
            <a:srgbClr val="E3EF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7" name="TextBox 48"/>
          <p:cNvSpPr txBox="1"/>
          <p:nvPr/>
        </p:nvSpPr>
        <p:spPr>
          <a:xfrm>
            <a:off x="4654296" y="2286000"/>
            <a:ext cx="1920241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3A5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% base no tier PRO</a:t>
            </a:r>
          </a:p>
        </p:txBody>
      </p:sp>
      <p:sp>
        <p:nvSpPr>
          <p:cNvPr id="538" name="TextBox 49"/>
          <p:cNvSpPr txBox="1"/>
          <p:nvPr/>
        </p:nvSpPr>
        <p:spPr>
          <a:xfrm>
            <a:off x="4654296" y="2523745"/>
            <a:ext cx="192024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Meta: &gt;35%</a:t>
            </a:r>
          </a:p>
        </p:txBody>
      </p:sp>
      <p:sp>
        <p:nvSpPr>
          <p:cNvPr id="539" name="TextBox 50"/>
          <p:cNvSpPr txBox="1"/>
          <p:nvPr/>
        </p:nvSpPr>
        <p:spPr>
          <a:xfrm>
            <a:off x="4654296" y="2798065"/>
            <a:ext cx="1920241" cy="186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Share de parceiros qualificados</a:t>
            </a:r>
          </a:p>
        </p:txBody>
      </p:sp>
      <p:sp>
        <p:nvSpPr>
          <p:cNvPr id="540" name="Rectangle 51"/>
          <p:cNvSpPr/>
          <p:nvPr/>
        </p:nvSpPr>
        <p:spPr>
          <a:xfrm>
            <a:off x="4535423" y="3108960"/>
            <a:ext cx="2121410" cy="804674"/>
          </a:xfrm>
          <a:prstGeom prst="rect">
            <a:avLst/>
          </a:prstGeom>
          <a:solidFill>
            <a:srgbClr val="E3EF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1" name="TextBox 52"/>
          <p:cNvSpPr txBox="1"/>
          <p:nvPr/>
        </p:nvSpPr>
        <p:spPr>
          <a:xfrm>
            <a:off x="4654296" y="3145535"/>
            <a:ext cx="1920241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3A5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Engajamento Portal</a:t>
            </a:r>
          </a:p>
        </p:txBody>
      </p:sp>
      <p:sp>
        <p:nvSpPr>
          <p:cNvPr id="542" name="TextBox 53"/>
          <p:cNvSpPr txBox="1"/>
          <p:nvPr/>
        </p:nvSpPr>
        <p:spPr>
          <a:xfrm>
            <a:off x="4654296" y="3383280"/>
            <a:ext cx="192024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Meta: 2+ acessos/mês</a:t>
            </a:r>
          </a:p>
        </p:txBody>
      </p:sp>
      <p:sp>
        <p:nvSpPr>
          <p:cNvPr id="543" name="TextBox 54"/>
          <p:cNvSpPr txBox="1"/>
          <p:nvPr/>
        </p:nvSpPr>
        <p:spPr>
          <a:xfrm>
            <a:off x="4654296" y="3657600"/>
            <a:ext cx="1920241" cy="186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Uso ativo do ecossistema</a:t>
            </a:r>
          </a:p>
        </p:txBody>
      </p:sp>
      <p:sp>
        <p:nvSpPr>
          <p:cNvPr id="544" name="Rectangle 55"/>
          <p:cNvSpPr/>
          <p:nvPr/>
        </p:nvSpPr>
        <p:spPr>
          <a:xfrm>
            <a:off x="4535423" y="3968496"/>
            <a:ext cx="2121410" cy="804674"/>
          </a:xfrm>
          <a:prstGeom prst="rect">
            <a:avLst/>
          </a:prstGeom>
          <a:solidFill>
            <a:srgbClr val="E3EF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5" name="TextBox 56"/>
          <p:cNvSpPr txBox="1"/>
          <p:nvPr/>
        </p:nvSpPr>
        <p:spPr>
          <a:xfrm>
            <a:off x="4654296" y="4005072"/>
            <a:ext cx="192024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3A5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Share of wallet</a:t>
            </a:r>
          </a:p>
        </p:txBody>
      </p:sp>
      <p:sp>
        <p:nvSpPr>
          <p:cNvPr id="546" name="TextBox 57"/>
          <p:cNvSpPr txBox="1"/>
          <p:nvPr/>
        </p:nvSpPr>
        <p:spPr>
          <a:xfrm>
            <a:off x="4654296" y="4242816"/>
            <a:ext cx="192024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Meta: &gt;60%</a:t>
            </a:r>
          </a:p>
        </p:txBody>
      </p:sp>
      <p:sp>
        <p:nvSpPr>
          <p:cNvPr id="547" name="TextBox 58"/>
          <p:cNvSpPr txBox="1"/>
          <p:nvPr/>
        </p:nvSpPr>
        <p:spPr>
          <a:xfrm>
            <a:off x="4654296" y="4517136"/>
            <a:ext cx="1920241" cy="186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% gasto café que vai para Orfeu</a:t>
            </a:r>
          </a:p>
        </p:txBody>
      </p:sp>
      <p:sp>
        <p:nvSpPr>
          <p:cNvPr id="548" name="Rectangle 59"/>
          <p:cNvSpPr/>
          <p:nvPr/>
        </p:nvSpPr>
        <p:spPr>
          <a:xfrm>
            <a:off x="6711694" y="1078991"/>
            <a:ext cx="2121411" cy="274322"/>
          </a:xfrm>
          <a:prstGeom prst="rect">
            <a:avLst/>
          </a:prstGeom>
          <a:solidFill>
            <a:srgbClr val="00606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9" name="TextBox 60"/>
          <p:cNvSpPr txBox="1"/>
          <p:nvPr/>
        </p:nvSpPr>
        <p:spPr>
          <a:xfrm>
            <a:off x="6830566" y="1097281"/>
            <a:ext cx="1920241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ADVOCACIA</a:t>
            </a:r>
          </a:p>
        </p:txBody>
      </p:sp>
      <p:sp>
        <p:nvSpPr>
          <p:cNvPr id="550" name="Rectangle 61"/>
          <p:cNvSpPr/>
          <p:nvPr/>
        </p:nvSpPr>
        <p:spPr>
          <a:xfrm>
            <a:off x="6711694" y="1389888"/>
            <a:ext cx="2121411" cy="804674"/>
          </a:xfrm>
          <a:prstGeom prst="rect">
            <a:avLst/>
          </a:prstGeom>
          <a:solidFill>
            <a:srgbClr val="E0F7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1" name="TextBox 62"/>
          <p:cNvSpPr txBox="1"/>
          <p:nvPr/>
        </p:nvSpPr>
        <p:spPr>
          <a:xfrm>
            <a:off x="6830566" y="1426464"/>
            <a:ext cx="192024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00606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NPS 12 meses</a:t>
            </a:r>
          </a:p>
        </p:txBody>
      </p:sp>
      <p:sp>
        <p:nvSpPr>
          <p:cNvPr id="552" name="TextBox 63"/>
          <p:cNvSpPr txBox="1"/>
          <p:nvPr/>
        </p:nvSpPr>
        <p:spPr>
          <a:xfrm>
            <a:off x="6830566" y="1664207"/>
            <a:ext cx="1920241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Meta: &gt;75</a:t>
            </a:r>
          </a:p>
        </p:txBody>
      </p:sp>
      <p:sp>
        <p:nvSpPr>
          <p:cNvPr id="553" name="TextBox 64"/>
          <p:cNvSpPr txBox="1"/>
          <p:nvPr/>
        </p:nvSpPr>
        <p:spPr>
          <a:xfrm>
            <a:off x="6830566" y="1938528"/>
            <a:ext cx="1920241" cy="186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Fidelidade de longo prazo</a:t>
            </a:r>
          </a:p>
        </p:txBody>
      </p:sp>
      <p:sp>
        <p:nvSpPr>
          <p:cNvPr id="554" name="Rectangle 65"/>
          <p:cNvSpPr/>
          <p:nvPr/>
        </p:nvSpPr>
        <p:spPr>
          <a:xfrm>
            <a:off x="6711694" y="2249422"/>
            <a:ext cx="2121411" cy="804674"/>
          </a:xfrm>
          <a:prstGeom prst="rect">
            <a:avLst/>
          </a:prstGeom>
          <a:solidFill>
            <a:srgbClr val="E0F7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5" name="TextBox 66"/>
          <p:cNvSpPr txBox="1"/>
          <p:nvPr/>
        </p:nvSpPr>
        <p:spPr>
          <a:xfrm>
            <a:off x="6830566" y="2286000"/>
            <a:ext cx="1920241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00606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% que indicou</a:t>
            </a:r>
          </a:p>
        </p:txBody>
      </p:sp>
      <p:sp>
        <p:nvSpPr>
          <p:cNvPr id="556" name="TextBox 67"/>
          <p:cNvSpPr txBox="1"/>
          <p:nvPr/>
        </p:nvSpPr>
        <p:spPr>
          <a:xfrm>
            <a:off x="6830566" y="2523745"/>
            <a:ext cx="192024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Meta: &gt;25%/ano</a:t>
            </a:r>
          </a:p>
        </p:txBody>
      </p:sp>
      <p:sp>
        <p:nvSpPr>
          <p:cNvPr id="557" name="TextBox 68"/>
          <p:cNvSpPr txBox="1"/>
          <p:nvPr/>
        </p:nvSpPr>
        <p:spPr>
          <a:xfrm>
            <a:off x="6830566" y="2798065"/>
            <a:ext cx="1920241" cy="186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Parceiros que trouxeram novos</a:t>
            </a:r>
          </a:p>
        </p:txBody>
      </p:sp>
      <p:sp>
        <p:nvSpPr>
          <p:cNvPr id="558" name="Rectangle 69"/>
          <p:cNvSpPr/>
          <p:nvPr/>
        </p:nvSpPr>
        <p:spPr>
          <a:xfrm>
            <a:off x="6711694" y="3108960"/>
            <a:ext cx="2121411" cy="804674"/>
          </a:xfrm>
          <a:prstGeom prst="rect">
            <a:avLst/>
          </a:prstGeom>
          <a:solidFill>
            <a:srgbClr val="E0F7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9" name="TextBox 70"/>
          <p:cNvSpPr txBox="1"/>
          <p:nvPr/>
        </p:nvSpPr>
        <p:spPr>
          <a:xfrm>
            <a:off x="6830566" y="3145535"/>
            <a:ext cx="1920241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00606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Retenção 24 meses</a:t>
            </a:r>
          </a:p>
        </p:txBody>
      </p:sp>
      <p:sp>
        <p:nvSpPr>
          <p:cNvPr id="560" name="TextBox 71"/>
          <p:cNvSpPr txBox="1"/>
          <p:nvPr/>
        </p:nvSpPr>
        <p:spPr>
          <a:xfrm>
            <a:off x="6830566" y="3383280"/>
            <a:ext cx="192024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Meta: &gt;70%</a:t>
            </a:r>
          </a:p>
        </p:txBody>
      </p:sp>
      <p:sp>
        <p:nvSpPr>
          <p:cNvPr id="561" name="TextBox 72"/>
          <p:cNvSpPr txBox="1"/>
          <p:nvPr/>
        </p:nvSpPr>
        <p:spPr>
          <a:xfrm>
            <a:off x="6830566" y="3657600"/>
            <a:ext cx="1920241" cy="186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Base ativa após 2 anos</a:t>
            </a:r>
          </a:p>
        </p:txBody>
      </p:sp>
      <p:sp>
        <p:nvSpPr>
          <p:cNvPr id="562" name="Rectangle 73"/>
          <p:cNvSpPr/>
          <p:nvPr/>
        </p:nvSpPr>
        <p:spPr>
          <a:xfrm>
            <a:off x="6711694" y="3968496"/>
            <a:ext cx="2121411" cy="804674"/>
          </a:xfrm>
          <a:prstGeom prst="rect">
            <a:avLst/>
          </a:prstGeom>
          <a:solidFill>
            <a:srgbClr val="E0F7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63" name="TextBox 74"/>
          <p:cNvSpPr txBox="1"/>
          <p:nvPr/>
        </p:nvSpPr>
        <p:spPr>
          <a:xfrm>
            <a:off x="6830566" y="4005072"/>
            <a:ext cx="192024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00606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Tier Diamante</a:t>
            </a:r>
          </a:p>
        </p:txBody>
      </p:sp>
      <p:sp>
        <p:nvSpPr>
          <p:cNvPr id="564" name="TextBox 75"/>
          <p:cNvSpPr txBox="1"/>
          <p:nvPr/>
        </p:nvSpPr>
        <p:spPr>
          <a:xfrm>
            <a:off x="6830566" y="4242816"/>
            <a:ext cx="192024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Meta: 10% da base</a:t>
            </a:r>
          </a:p>
        </p:txBody>
      </p:sp>
      <p:sp>
        <p:nvSpPr>
          <p:cNvPr id="565" name="TextBox 76"/>
          <p:cNvSpPr txBox="1"/>
          <p:nvPr/>
        </p:nvSpPr>
        <p:spPr>
          <a:xfrm>
            <a:off x="6830566" y="4517136"/>
            <a:ext cx="1920241" cy="186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Embaixadores ativos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TextBox 1"/>
          <p:cNvSpPr txBox="1"/>
          <p:nvPr/>
        </p:nvSpPr>
        <p:spPr>
          <a:xfrm>
            <a:off x="411479" y="320040"/>
            <a:ext cx="8321042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C8000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Atualização — Workshop B2B (27/07)</a:t>
            </a:r>
          </a:p>
        </p:txBody>
      </p:sp>
      <p:sp>
        <p:nvSpPr>
          <p:cNvPr id="568" name="TextBox 2"/>
          <p:cNvSpPr txBox="1"/>
          <p:nvPr/>
        </p:nvSpPr>
        <p:spPr>
          <a:xfrm>
            <a:off x="411479" y="1051560"/>
            <a:ext cx="8321042" cy="886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500">
                <a:solidFill>
                  <a:srgbClr val="C80000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Garantir NPS e PRAZO DE ENTREGA como indicadores-chave da jornada B2B — e de qualquer outra frente do projeto.</a:t>
            </a:r>
          </a:p>
          <a:p>
            <a:pPr>
              <a:spcBef>
                <a:spcPts val="1600"/>
              </a:spcBef>
              <a:defRPr i="1" sz="1100">
                <a:solidFill>
                  <a:srgbClr val="666666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Nota referente a KPIs e Métricas da Jornada (slide anterior).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  <a:ln w="12700">
            <a:miter lim="400000"/>
          </a:ln>
        </p:spPr>
      </p:pic>
      <p:sp>
        <p:nvSpPr>
          <p:cNvPr id="571" name="TextBox 3"/>
          <p:cNvSpPr txBox="1"/>
          <p:nvPr/>
        </p:nvSpPr>
        <p:spPr>
          <a:xfrm>
            <a:off x="393192" y="201167"/>
            <a:ext cx="7680960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Gaps e Oportunidades</a:t>
            </a:r>
          </a:p>
        </p:txBody>
      </p:sp>
      <p:sp>
        <p:nvSpPr>
          <p:cNvPr id="572" name="TextBox 4"/>
          <p:cNvSpPr txBox="1"/>
          <p:nvPr/>
        </p:nvSpPr>
        <p:spPr>
          <a:xfrm>
            <a:off x="393192" y="694945"/>
            <a:ext cx="7680960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8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 que já existe, o que falta e o que pode ser potencializado - lista preliminar</a:t>
            </a:r>
          </a:p>
        </p:txBody>
      </p:sp>
      <p:sp>
        <p:nvSpPr>
          <p:cNvPr id="573" name="Rectangle 5"/>
          <p:cNvSpPr/>
          <p:nvPr/>
        </p:nvSpPr>
        <p:spPr>
          <a:xfrm>
            <a:off x="182879" y="1042413"/>
            <a:ext cx="8778242" cy="256033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74" name="TextBox 6"/>
          <p:cNvSpPr txBox="1"/>
          <p:nvPr/>
        </p:nvSpPr>
        <p:spPr>
          <a:xfrm>
            <a:off x="320040" y="1060703"/>
            <a:ext cx="8503920" cy="196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Análise baseada no ecossistema Unique (referência) e nas práticas de Nespresso Professional e Nestlé Professional</a:t>
            </a:r>
          </a:p>
        </p:txBody>
      </p:sp>
      <p:sp>
        <p:nvSpPr>
          <p:cNvPr id="575" name="Rectangle 7"/>
          <p:cNvSpPr/>
          <p:nvPr/>
        </p:nvSpPr>
        <p:spPr>
          <a:xfrm>
            <a:off x="182879" y="1353312"/>
            <a:ext cx="2852929" cy="3584448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76" name="Rectangle 8"/>
          <p:cNvSpPr/>
          <p:nvPr/>
        </p:nvSpPr>
        <p:spPr>
          <a:xfrm>
            <a:off x="182879" y="1353310"/>
            <a:ext cx="2852929" cy="310899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77" name="TextBox 10"/>
          <p:cNvSpPr txBox="1"/>
          <p:nvPr/>
        </p:nvSpPr>
        <p:spPr>
          <a:xfrm>
            <a:off x="340360" y="1397000"/>
            <a:ext cx="2286001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JÁ TEMOS</a:t>
            </a:r>
          </a:p>
        </p:txBody>
      </p:sp>
      <p:sp>
        <p:nvSpPr>
          <p:cNvPr id="578" name="TextBox 11"/>
          <p:cNvSpPr txBox="1"/>
          <p:nvPr/>
        </p:nvSpPr>
        <p:spPr>
          <a:xfrm>
            <a:off x="301751" y="1719072"/>
            <a:ext cx="2615186" cy="154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Portal do Parceiro com materiais e bônus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Programa PRO com tráfego pago e treinamento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Edições limitadas mensais com narrativa de origem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Mapa de parceiros público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Guias e cardápios técnicos prontos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Imersão na fazenda agendável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Banco de fotos e vídeos de produtos</a:t>
            </a:r>
          </a:p>
        </p:txBody>
      </p:sp>
      <p:sp>
        <p:nvSpPr>
          <p:cNvPr id="579" name="Rectangle 12"/>
          <p:cNvSpPr/>
          <p:nvPr/>
        </p:nvSpPr>
        <p:spPr>
          <a:xfrm>
            <a:off x="3127248" y="1353312"/>
            <a:ext cx="2852930" cy="3584448"/>
          </a:xfrm>
          <a:prstGeom prst="rect">
            <a:avLst/>
          </a:prstGeom>
          <a:solidFill>
            <a:srgbClr val="FDF3E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80" name="Rectangle 13"/>
          <p:cNvSpPr/>
          <p:nvPr/>
        </p:nvSpPr>
        <p:spPr>
          <a:xfrm>
            <a:off x="3127248" y="1353310"/>
            <a:ext cx="2852930" cy="310899"/>
          </a:xfrm>
          <a:prstGeom prst="rect">
            <a:avLst/>
          </a:prstGeom>
          <a:solidFill>
            <a:srgbClr val="C06A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81" name="TextBox 15"/>
          <p:cNvSpPr txBox="1"/>
          <p:nvPr/>
        </p:nvSpPr>
        <p:spPr>
          <a:xfrm>
            <a:off x="3284728" y="1397000"/>
            <a:ext cx="228600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PRECISAMOS CONSTRUIR</a:t>
            </a:r>
          </a:p>
        </p:txBody>
      </p:sp>
      <p:sp>
        <p:nvSpPr>
          <p:cNvPr id="582" name="TextBox 16"/>
          <p:cNvSpPr txBox="1"/>
          <p:nvPr/>
        </p:nvSpPr>
        <p:spPr>
          <a:xfrm>
            <a:off x="3246119" y="1719072"/>
            <a:ext cx="2615186" cy="1879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Programa formal de indicação (referral) com benefício claro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NPS estruturado por estágio da jornada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Consultor dedicado por tier (hoje: compartilhado)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Relatório de consumo para o parceiro (dado como serviço)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Protocolo formal de onboarding nos 90 dias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Segmentação de portfólio B2B vs. varejo (SKUs exclusivos B2B)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Evento anual de parceiros (comunidade)</a:t>
            </a:r>
          </a:p>
        </p:txBody>
      </p:sp>
      <p:sp>
        <p:nvSpPr>
          <p:cNvPr id="583" name="Rectangle 17"/>
          <p:cNvSpPr/>
          <p:nvPr/>
        </p:nvSpPr>
        <p:spPr>
          <a:xfrm>
            <a:off x="6071615" y="1353312"/>
            <a:ext cx="2852930" cy="3584448"/>
          </a:xfrm>
          <a:prstGeom prst="rect">
            <a:avLst/>
          </a:prstGeom>
          <a:solidFill>
            <a:srgbClr val="E3EF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84" name="Rectangle 18"/>
          <p:cNvSpPr/>
          <p:nvPr/>
        </p:nvSpPr>
        <p:spPr>
          <a:xfrm>
            <a:off x="6071615" y="1353310"/>
            <a:ext cx="2852930" cy="310899"/>
          </a:xfrm>
          <a:prstGeom prst="rect">
            <a:avLst/>
          </a:prstGeom>
          <a:solidFill>
            <a:srgbClr val="1A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85" name="TextBox 20"/>
          <p:cNvSpPr txBox="1"/>
          <p:nvPr/>
        </p:nvSpPr>
        <p:spPr>
          <a:xfrm>
            <a:off x="6229096" y="1397000"/>
            <a:ext cx="228600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PODEMOS AMPLIAR</a:t>
            </a:r>
          </a:p>
        </p:txBody>
      </p:sp>
      <p:sp>
        <p:nvSpPr>
          <p:cNvPr id="586" name="TextBox 21"/>
          <p:cNvSpPr txBox="1"/>
          <p:nvPr/>
        </p:nvSpPr>
        <p:spPr>
          <a:xfrm>
            <a:off x="6190488" y="1719072"/>
            <a:ext cx="2615186" cy="2044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Intercâmbio na Cafeteria: transformar em programa mensal estruturado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Co-criação de conteúdo: sistema de reels co-branded por parceiro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Utilitários: expandir para gestão de cardápio, precificação, CMV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Vídeo Google: democratizar para todos os tiers, não só PRO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Branding: criar kit físico de inauguração de parceiro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Mapa: adicionar reviews e curadoria editorial por parceiro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  <a:ln w="12700">
            <a:miter lim="400000"/>
          </a:ln>
        </p:spPr>
      </p:pic>
      <p:sp>
        <p:nvSpPr>
          <p:cNvPr id="589" name="TextBox 3"/>
          <p:cNvSpPr txBox="1"/>
          <p:nvPr/>
        </p:nvSpPr>
        <p:spPr>
          <a:xfrm>
            <a:off x="393192" y="201167"/>
            <a:ext cx="7680960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Próximos Passos</a:t>
            </a:r>
          </a:p>
        </p:txBody>
      </p:sp>
      <p:sp>
        <p:nvSpPr>
          <p:cNvPr id="590" name="TextBox 4"/>
          <p:cNvSpPr txBox="1"/>
          <p:nvPr/>
        </p:nvSpPr>
        <p:spPr>
          <a:xfrm>
            <a:off x="393192" y="694945"/>
            <a:ext cx="7680960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8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 que deve acontecer para implementar esta jornada de forma completa</a:t>
            </a:r>
          </a:p>
        </p:txBody>
      </p:sp>
      <p:sp>
        <p:nvSpPr>
          <p:cNvPr id="591" name="Rectangle 5"/>
          <p:cNvSpPr/>
          <p:nvPr/>
        </p:nvSpPr>
        <p:spPr>
          <a:xfrm>
            <a:off x="182878" y="1042413"/>
            <a:ext cx="8649259" cy="256033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92" name="TextBox 6"/>
          <p:cNvSpPr txBox="1"/>
          <p:nvPr/>
        </p:nvSpPr>
        <p:spPr>
          <a:xfrm>
            <a:off x="320040" y="1060703"/>
            <a:ext cx="8503920" cy="196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Horizonte: 90 dias — 3 frentes paralelas com responsável e entregável claro</a:t>
            </a:r>
          </a:p>
        </p:txBody>
      </p:sp>
      <p:sp>
        <p:nvSpPr>
          <p:cNvPr id="593" name="Rectangle 7"/>
          <p:cNvSpPr/>
          <p:nvPr/>
        </p:nvSpPr>
        <p:spPr>
          <a:xfrm>
            <a:off x="182880" y="1543811"/>
            <a:ext cx="2121408" cy="3173389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94" name="Rectangle 8"/>
          <p:cNvSpPr/>
          <p:nvPr/>
        </p:nvSpPr>
        <p:spPr>
          <a:xfrm>
            <a:off x="182880" y="1543811"/>
            <a:ext cx="2121408" cy="543998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95" name="TextBox 9"/>
          <p:cNvSpPr txBox="1"/>
          <p:nvPr/>
        </p:nvSpPr>
        <p:spPr>
          <a:xfrm>
            <a:off x="301752" y="1562100"/>
            <a:ext cx="1920240" cy="186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FRENTE 1</a:t>
            </a:r>
          </a:p>
        </p:txBody>
      </p:sp>
      <p:sp>
        <p:nvSpPr>
          <p:cNvPr id="596" name="TextBox 10"/>
          <p:cNvSpPr txBox="1"/>
          <p:nvPr/>
        </p:nvSpPr>
        <p:spPr>
          <a:xfrm>
            <a:off x="301752" y="1708405"/>
            <a:ext cx="1920240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DIAGNÓSTICO &amp;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PRIORIZAÇÃO</a:t>
            </a:r>
          </a:p>
        </p:txBody>
      </p:sp>
      <p:sp>
        <p:nvSpPr>
          <p:cNvPr id="597" name="TextBox 11"/>
          <p:cNvSpPr txBox="1"/>
          <p:nvPr/>
        </p:nvSpPr>
        <p:spPr>
          <a:xfrm>
            <a:off x="301752" y="2273300"/>
            <a:ext cx="1920240" cy="154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Mapear base atual de parceiros por tier e estágio da jornada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Aplicar NPS na base ativa: identificar detratores e promotores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Entrevistar 10 parceiros: quais ferramentas usam, quais desconhecem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Definir top 3 gaps críticos para atacar nos próximos 60 dias</a:t>
            </a:r>
          </a:p>
        </p:txBody>
      </p:sp>
      <p:sp>
        <p:nvSpPr>
          <p:cNvPr id="598" name="Rectangle 12"/>
          <p:cNvSpPr/>
          <p:nvPr/>
        </p:nvSpPr>
        <p:spPr>
          <a:xfrm>
            <a:off x="182880" y="4323586"/>
            <a:ext cx="2121408" cy="402338"/>
          </a:xfrm>
          <a:prstGeom prst="rect">
            <a:avLst/>
          </a:prstGeom>
          <a:solidFill>
            <a:srgbClr val="1F4A1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99" name="TextBox 13"/>
          <p:cNvSpPr txBox="1"/>
          <p:nvPr/>
        </p:nvSpPr>
        <p:spPr>
          <a:xfrm>
            <a:off x="301752" y="4341877"/>
            <a:ext cx="1920240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Prazo: 30 dias</a:t>
            </a:r>
          </a:p>
        </p:txBody>
      </p:sp>
      <p:sp>
        <p:nvSpPr>
          <p:cNvPr id="600" name="TextBox 14"/>
          <p:cNvSpPr txBox="1"/>
          <p:nvPr/>
        </p:nvSpPr>
        <p:spPr>
          <a:xfrm>
            <a:off x="301752" y="4488180"/>
            <a:ext cx="1920240" cy="186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Responsável: Comercial + CS</a:t>
            </a:r>
          </a:p>
        </p:txBody>
      </p:sp>
      <p:sp>
        <p:nvSpPr>
          <p:cNvPr id="601" name="Rectangle 15"/>
          <p:cNvSpPr/>
          <p:nvPr/>
        </p:nvSpPr>
        <p:spPr>
          <a:xfrm>
            <a:off x="2359150" y="1543811"/>
            <a:ext cx="2121411" cy="3173389"/>
          </a:xfrm>
          <a:prstGeom prst="rect">
            <a:avLst/>
          </a:prstGeom>
          <a:solidFill>
            <a:srgbClr val="FDF3E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02" name="Rectangle 16"/>
          <p:cNvSpPr/>
          <p:nvPr/>
        </p:nvSpPr>
        <p:spPr>
          <a:xfrm>
            <a:off x="2359150" y="1543811"/>
            <a:ext cx="2121411" cy="543998"/>
          </a:xfrm>
          <a:prstGeom prst="rect">
            <a:avLst/>
          </a:prstGeom>
          <a:solidFill>
            <a:srgbClr val="C06A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03" name="TextBox 17"/>
          <p:cNvSpPr txBox="1"/>
          <p:nvPr/>
        </p:nvSpPr>
        <p:spPr>
          <a:xfrm>
            <a:off x="2478023" y="1562100"/>
            <a:ext cx="1920241" cy="186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FRENTE 2</a:t>
            </a:r>
          </a:p>
        </p:txBody>
      </p:sp>
      <p:sp>
        <p:nvSpPr>
          <p:cNvPr id="604" name="TextBox 18"/>
          <p:cNvSpPr txBox="1"/>
          <p:nvPr/>
        </p:nvSpPr>
        <p:spPr>
          <a:xfrm>
            <a:off x="2478023" y="1708405"/>
            <a:ext cx="1920241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ESTRUTURAR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O ONBOARDING</a:t>
            </a:r>
          </a:p>
        </p:txBody>
      </p:sp>
      <p:sp>
        <p:nvSpPr>
          <p:cNvPr id="605" name="TextBox 19"/>
          <p:cNvSpPr txBox="1"/>
          <p:nvPr/>
        </p:nvSpPr>
        <p:spPr>
          <a:xfrm>
            <a:off x="2478023" y="2273301"/>
            <a:ext cx="1920241" cy="1384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Criar protocolo formal de onboarding: checklist dos 90 dias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Definir critérios de ativação: o que significa um parceiro 'ativado'?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Automatizar o acesso ao Portal no ato do 1º pedido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Criar NPS de 90 dias automático (trigger pós-ativação)</a:t>
            </a:r>
          </a:p>
        </p:txBody>
      </p:sp>
      <p:sp>
        <p:nvSpPr>
          <p:cNvPr id="606" name="Rectangle 20"/>
          <p:cNvSpPr/>
          <p:nvPr/>
        </p:nvSpPr>
        <p:spPr>
          <a:xfrm>
            <a:off x="2359150" y="4323586"/>
            <a:ext cx="2121411" cy="402338"/>
          </a:xfrm>
          <a:prstGeom prst="rect">
            <a:avLst/>
          </a:prstGeom>
          <a:solidFill>
            <a:srgbClr val="C06A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07" name="TextBox 21"/>
          <p:cNvSpPr txBox="1"/>
          <p:nvPr/>
        </p:nvSpPr>
        <p:spPr>
          <a:xfrm>
            <a:off x="2478023" y="4341877"/>
            <a:ext cx="1920241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Prazo: 45 dias</a:t>
            </a:r>
          </a:p>
        </p:txBody>
      </p:sp>
      <p:sp>
        <p:nvSpPr>
          <p:cNvPr id="608" name="TextBox 22"/>
          <p:cNvSpPr txBox="1"/>
          <p:nvPr/>
        </p:nvSpPr>
        <p:spPr>
          <a:xfrm>
            <a:off x="2478023" y="4488180"/>
            <a:ext cx="1920241" cy="186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Responsável: Ops + Marketing</a:t>
            </a:r>
          </a:p>
        </p:txBody>
      </p:sp>
      <p:sp>
        <p:nvSpPr>
          <p:cNvPr id="609" name="Rectangle 23"/>
          <p:cNvSpPr/>
          <p:nvPr/>
        </p:nvSpPr>
        <p:spPr>
          <a:xfrm>
            <a:off x="4535423" y="1543811"/>
            <a:ext cx="2121410" cy="3173389"/>
          </a:xfrm>
          <a:prstGeom prst="rect">
            <a:avLst/>
          </a:prstGeom>
          <a:solidFill>
            <a:srgbClr val="E3EF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10" name="Rectangle 24"/>
          <p:cNvSpPr/>
          <p:nvPr/>
        </p:nvSpPr>
        <p:spPr>
          <a:xfrm>
            <a:off x="4535423" y="1543811"/>
            <a:ext cx="2121410" cy="543998"/>
          </a:xfrm>
          <a:prstGeom prst="rect">
            <a:avLst/>
          </a:prstGeom>
          <a:solidFill>
            <a:srgbClr val="1A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11" name="TextBox 25"/>
          <p:cNvSpPr txBox="1"/>
          <p:nvPr/>
        </p:nvSpPr>
        <p:spPr>
          <a:xfrm>
            <a:off x="4654296" y="1562100"/>
            <a:ext cx="1920241" cy="186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FRENTE 3</a:t>
            </a:r>
          </a:p>
        </p:txBody>
      </p:sp>
      <p:sp>
        <p:nvSpPr>
          <p:cNvPr id="612" name="TextBox 26"/>
          <p:cNvSpPr txBox="1"/>
          <p:nvPr/>
        </p:nvSpPr>
        <p:spPr>
          <a:xfrm>
            <a:off x="4654296" y="1708405"/>
            <a:ext cx="1920241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LANÇAR O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PROGRAMA DIAMANTE</a:t>
            </a:r>
          </a:p>
        </p:txBody>
      </p:sp>
      <p:sp>
        <p:nvSpPr>
          <p:cNvPr id="613" name="TextBox 27"/>
          <p:cNvSpPr txBox="1"/>
          <p:nvPr/>
        </p:nvSpPr>
        <p:spPr>
          <a:xfrm>
            <a:off x="4654296" y="2273300"/>
            <a:ext cx="1920241" cy="154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Identificar os top 15% da base por volume e engajamento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Criar e comunicar os benefícios do tier Diamante formalmente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Montar evento de reconhecimento: jantar ou visita especial à fábrica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Ativar o programa de indicação com recompensa explícita</a:t>
            </a:r>
          </a:p>
        </p:txBody>
      </p:sp>
      <p:sp>
        <p:nvSpPr>
          <p:cNvPr id="614" name="Rectangle 28"/>
          <p:cNvSpPr/>
          <p:nvPr/>
        </p:nvSpPr>
        <p:spPr>
          <a:xfrm>
            <a:off x="4535423" y="4323586"/>
            <a:ext cx="2121410" cy="402338"/>
          </a:xfrm>
          <a:prstGeom prst="rect">
            <a:avLst/>
          </a:prstGeom>
          <a:solidFill>
            <a:srgbClr val="1A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15" name="TextBox 29"/>
          <p:cNvSpPr txBox="1"/>
          <p:nvPr/>
        </p:nvSpPr>
        <p:spPr>
          <a:xfrm>
            <a:off x="4654296" y="4341877"/>
            <a:ext cx="1920241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Prazo: 60 dias</a:t>
            </a:r>
          </a:p>
        </p:txBody>
      </p:sp>
      <p:sp>
        <p:nvSpPr>
          <p:cNvPr id="616" name="TextBox 30"/>
          <p:cNvSpPr txBox="1"/>
          <p:nvPr/>
        </p:nvSpPr>
        <p:spPr>
          <a:xfrm>
            <a:off x="4654296" y="4488180"/>
            <a:ext cx="1920241" cy="186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Responsável: CS + Liderança</a:t>
            </a:r>
          </a:p>
        </p:txBody>
      </p:sp>
      <p:sp>
        <p:nvSpPr>
          <p:cNvPr id="617" name="Rectangle 31"/>
          <p:cNvSpPr/>
          <p:nvPr/>
        </p:nvSpPr>
        <p:spPr>
          <a:xfrm>
            <a:off x="6711694" y="1543811"/>
            <a:ext cx="2121411" cy="3173389"/>
          </a:xfrm>
          <a:prstGeom prst="rect">
            <a:avLst/>
          </a:prstGeom>
          <a:solidFill>
            <a:srgbClr val="E0F7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18" name="Rectangle 32"/>
          <p:cNvSpPr/>
          <p:nvPr/>
        </p:nvSpPr>
        <p:spPr>
          <a:xfrm>
            <a:off x="6711694" y="1543811"/>
            <a:ext cx="2121411" cy="543998"/>
          </a:xfrm>
          <a:prstGeom prst="rect">
            <a:avLst/>
          </a:prstGeom>
          <a:solidFill>
            <a:srgbClr val="00606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19" name="TextBox 33"/>
          <p:cNvSpPr txBox="1"/>
          <p:nvPr/>
        </p:nvSpPr>
        <p:spPr>
          <a:xfrm>
            <a:off x="6830566" y="1562100"/>
            <a:ext cx="1920241" cy="186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FRENTE 4</a:t>
            </a:r>
          </a:p>
        </p:txBody>
      </p:sp>
      <p:sp>
        <p:nvSpPr>
          <p:cNvPr id="620" name="TextBox 34"/>
          <p:cNvSpPr txBox="1"/>
          <p:nvPr/>
        </p:nvSpPr>
        <p:spPr>
          <a:xfrm>
            <a:off x="6830566" y="1708405"/>
            <a:ext cx="1920241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MEDIR &amp;</a:t>
            </a:r>
          </a:p>
          <a:p>
            <a: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ITERAR</a:t>
            </a:r>
          </a:p>
        </p:txBody>
      </p:sp>
      <p:sp>
        <p:nvSpPr>
          <p:cNvPr id="621" name="TextBox 35"/>
          <p:cNvSpPr txBox="1"/>
          <p:nvPr/>
        </p:nvSpPr>
        <p:spPr>
          <a:xfrm>
            <a:off x="6830566" y="2273300"/>
            <a:ext cx="1920241" cy="1714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Implementar dashboard de KPIs da jornada (ver slide 13)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Revisão mensal dos KPIs por estágio com time comercial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Benchmark trimestral vs. Nespresso Professional e Nestlé Professional</a:t>
            </a:r>
          </a:p>
          <a:p>
            <a:pPr>
              <a:defRPr sz="1000">
                <a:solidFill>
                  <a:srgbClr val="1A1A1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Próxima versão deste brief: atualizar com dados reais em 90 dias</a:t>
            </a:r>
          </a:p>
        </p:txBody>
      </p:sp>
      <p:sp>
        <p:nvSpPr>
          <p:cNvPr id="622" name="Rectangle 36"/>
          <p:cNvSpPr/>
          <p:nvPr/>
        </p:nvSpPr>
        <p:spPr>
          <a:xfrm>
            <a:off x="6711694" y="4323586"/>
            <a:ext cx="2121411" cy="402338"/>
          </a:xfrm>
          <a:prstGeom prst="rect">
            <a:avLst/>
          </a:prstGeom>
          <a:solidFill>
            <a:srgbClr val="00606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23" name="TextBox 37"/>
          <p:cNvSpPr txBox="1"/>
          <p:nvPr/>
        </p:nvSpPr>
        <p:spPr>
          <a:xfrm>
            <a:off x="6830566" y="4341877"/>
            <a:ext cx="1920241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Prazo: 90 dias</a:t>
            </a:r>
          </a:p>
        </p:txBody>
      </p:sp>
      <p:sp>
        <p:nvSpPr>
          <p:cNvPr id="624" name="TextBox 38"/>
          <p:cNvSpPr txBox="1"/>
          <p:nvPr/>
        </p:nvSpPr>
        <p:spPr>
          <a:xfrm>
            <a:off x="6830566" y="4488180"/>
            <a:ext cx="1920241" cy="186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00">
                <a:solidFill>
                  <a:srgbClr val="CCDD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Responsável: Liderança + Dados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TextBox 1"/>
          <p:cNvSpPr txBox="1"/>
          <p:nvPr/>
        </p:nvSpPr>
        <p:spPr>
          <a:xfrm>
            <a:off x="411479" y="320040"/>
            <a:ext cx="8321042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C8000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Atualização — Workshop B2B (27/07)</a:t>
            </a:r>
          </a:p>
        </p:txBody>
      </p:sp>
      <p:sp>
        <p:nvSpPr>
          <p:cNvPr id="627" name="TextBox 2"/>
          <p:cNvSpPr txBox="1"/>
          <p:nvPr/>
        </p:nvSpPr>
        <p:spPr>
          <a:xfrm>
            <a:off x="411479" y="1051560"/>
            <a:ext cx="8321042" cy="1597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sz="1500">
                <a:solidFill>
                  <a:srgbClr val="C80000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Segmentação com foco em Escritórios (piloto SP): destacar, validar com o novo membro da equipe e refinar — pendência explícita no plano de ação.</a:t>
            </a:r>
          </a:p>
          <a:p>
            <a:pPr>
              <a:spcBef>
                <a:spcPts val="1000"/>
              </a:spcBef>
              <a:defRPr sz="1500">
                <a:solidFill>
                  <a:srgbClr val="C80000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Metas específicas para os comerciais: definir e incluir na reunião semanal.</a:t>
            </a:r>
          </a:p>
          <a:p>
            <a:pPr>
              <a:spcBef>
                <a:spcPts val="1000"/>
              </a:spcBef>
              <a:defRPr sz="1500">
                <a:solidFill>
                  <a:srgbClr val="C80000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 Foco do piloto SP (escritórios e hotéis): incorporar na rotina e no foco dos comerciais atuais.</a:t>
            </a:r>
          </a:p>
          <a:p>
            <a:pPr>
              <a:spcBef>
                <a:spcPts val="1600"/>
              </a:spcBef>
              <a:defRPr i="1" sz="1100">
                <a:solidFill>
                  <a:srgbClr val="666666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Notas gerais do Workshop B2B — ver Plano de Ação atualizado, aba ‘Resumo Time - Workshop B2B’.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