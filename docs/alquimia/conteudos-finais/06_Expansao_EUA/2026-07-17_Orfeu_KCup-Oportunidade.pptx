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ESTRATÉGIA DE CANAL · FORMATO SINGLE-SERVE · EUA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K-Cup como Vetor de Entrada no Mercado Americano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E8CC"/>
                </a:solidFill>
              </a:rPr>
              <a:t>Mercado totalmente aberto após expiração de patentes · Casos de sucesso internacionais validam 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96612"/>
            <a:ext cx="8686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1691640" cy="74980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52144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5C2E"/>
                </a:solidFill>
              </a:rPr>
              <a:t>USD 12Bi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1554480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Mercado cápsulas US
(2024)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078992"/>
            <a:ext cx="1691640" cy="74980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1152144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5C2E"/>
                </a:solidFill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1554480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Share do valor
retail de café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1078992"/>
            <a:ext cx="1691640" cy="74980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152144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7028"/>
                </a:solidFill>
              </a:rPr>
              <a:t>+5.3%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1" y="1554480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CAGR single origin
2025→2034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1536" y="1078992"/>
            <a:ext cx="1691640" cy="749808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1152144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5C2E"/>
                </a:solidFill>
              </a:rPr>
              <a:t>2012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554480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Patente K-Cup expirou
Mercado aberto p/ todos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7184" y="1078992"/>
            <a:ext cx="1691640" cy="749808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152144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7028"/>
                </a:solidFill>
              </a:rPr>
              <a:t>3–4 meses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554480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Prazo: decisão →
1ª carga pronta para venda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920240"/>
            <a:ext cx="8823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1993392"/>
            <a:ext cx="2834640" cy="201168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2029968"/>
            <a:ext cx="2724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CASES INTERNACIONAIS — QUEM JÁ FEZ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2194560"/>
            <a:ext cx="2834640" cy="243230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2240280"/>
            <a:ext cx="2670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A5C2E"/>
                </a:solidFill>
              </a:rPr>
              <a:t>Lavazza (Itália)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K-Cup compatible + rede de varejo nacional. Crescimento +26,9% no mercado norte-americano em 2025. Playbook: cápsulas como porta de entrada em massa; sistema próprio para o topo.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A5C2E"/>
                </a:solidFill>
              </a:rPr>
              <a:t>Illy (Itália)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"Arabica Selection Brasile" em K-Cup — single origin brasileiro posicionado como luxo acessível. Distribuição illy.com + grandes redes.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A5C2E"/>
                </a:solidFill>
              </a:rPr>
              <a:t>Ethical Bean (Canadá)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Orgânico + fair trade + compatible pod. Prova de que marcas não-americanas constroem posição de valor no mercado US sem parceria com a Keurig.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36392" y="1993392"/>
            <a:ext cx="2834640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9544" y="2029968"/>
            <a:ext cx="2724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BRASIL EM K-CUP — O TERRITÓRIO AINDA VAZIO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2194560"/>
            <a:ext cx="2834640" cy="243230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7832" y="2240280"/>
            <a:ext cx="2670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Café brasileiro já vende bem em formato K-Cup. Mas quem vende são torrefadores americanos, não marcas brasileiras: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C07028"/>
                </a:solidFill>
              </a:rPr>
              <a:t>• Peet's Coffee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"Single Origin Brazil" K-Cup — vendido no Keurig.com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C07028"/>
                </a:solidFill>
              </a:rPr>
              <a:t>• Illy 'Arabica Brasile'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K-Cup posicionado como premium de origem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C07028"/>
                </a:solidFill>
              </a:rPr>
              <a:t>• Community Coffee + Café Bustelo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Blends com origem brasileira em pod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A5C2E"/>
                </a:solidFill>
              </a:rPr>
              <a:t>A Orfeu seria a PRIMEIRA marca brasileira,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2A5C2E"/>
                </a:solidFill>
              </a:rPr>
              <a:t>nascida no Brasil, com single origin próprio,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a entrar nesse mercado como produtora.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1993392"/>
            <a:ext cx="2834640" cy="201168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2029968"/>
            <a:ext cx="2724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TIERS DE PREÇO POR CÁPSULA (USD)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2194560"/>
            <a:ext cx="2834640" cy="24323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240280"/>
            <a:ext cx="2670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555555"/>
                </a:solidFill>
              </a:rPr>
              <a:t>Commodity (Folgers, Dunkin')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$ 0,40 – 0,60 / cápsula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555555"/>
                </a:solidFill>
              </a:rPr>
              <a:t>Premium Specialty (Lavazza, Peet's, Illy)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$ 0,75 – 1,25 / cápsula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1" i="0">
                <a:solidFill>
                  <a:srgbClr val="2A5C2E"/>
                </a:solidFill>
              </a:rPr>
              <a:t>Ultra-Premium / Single Origin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  $ 1,00 – 1,75 / cápsula  ← ORFEU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A5C2E"/>
                </a:solidFill>
              </a:rPr>
              <a:t>Margem bruta estimada: 55–65%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após custo de produção + co-packer + logística. Sem royalty para a Keurig no modelo compatible.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4690872"/>
            <a:ext cx="8823960" cy="182880"/>
          </a:xfrm>
          <a:prstGeom prst="rect">
            <a:avLst/>
          </a:prstGeom>
          <a:solidFill>
            <a:srgbClr val="E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4700016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Fontes: SCA National Coffee Data Trends 2024 · Euromonitor 2026 · Keurig Dr Pepper Annual Reports · NoltPak, Three Rivers, Pod Pack (co-packers) · Lavazza Annual Report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" cy="388162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ROADMAP DE ENTRADA · FORMATO K-CUP COMPATIBLE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Como a Orfeu Pode Entrar no Formato K-Cup em 4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E8CC"/>
                </a:solidFill>
              </a:rPr>
              <a:t>Modelo compatible (sem licença Keurig): menor barreira, total liberdade de posicionamento e 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96612"/>
            <a:ext cx="8686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Alquemia Consulting para Orfeu  ·  Documento Estratégico Interno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2743200" cy="21945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11556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OPÇÃO A — Compatible (Recomendado)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298448"/>
            <a:ext cx="2743200" cy="740664"/>
          </a:xfrm>
          <a:prstGeom prst="rect">
            <a:avLst/>
          </a:prstGeom>
          <a:solidFill>
            <a:srgbClr val="ED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344168"/>
            <a:ext cx="25786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Produz cápsula compatible com todos os Keurig. Sem licença, sem royalty, sem dependência. Lança DTC + Amazon + specialty retail em 3–4 meses. Cases: Lavazza, Illy, Ethical Bean.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0672" y="1078992"/>
            <a:ext cx="2743200" cy="21945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3824" y="111556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OPÇÃO B — Parceria Licenciada Keurig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1298448"/>
            <a:ext cx="2743200" cy="740664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1344168"/>
            <a:ext cx="25786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Entra como "K-Cup" oficial, com presença no keurig.com. Exige acordo formal, volume mínimo, processo mais longo. Indicada após validar vendas no modelo compatible.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6752" y="1078992"/>
            <a:ext cx="2743200" cy="219456"/>
          </a:xfrm>
          <a:prstGeom prst="rect">
            <a:avLst/>
          </a:prstGeom>
          <a:solidFill>
            <a:srgbClr val="1A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111556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OPÇÃO C — Private Label com Retailer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1298448"/>
            <a:ext cx="2743200" cy="740664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344168"/>
            <a:ext cx="25786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</a:rPr>
              <a:t>Produz sob marca de um varejista (Whole Foods, Williams-Sonoma). Menor risco de capital, menor construção de marca. Bom como teste de gosto de mercado antes de escalar com a marca própria.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7944" y="2679192"/>
            <a:ext cx="246888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2176272"/>
            <a:ext cx="1673352" cy="3108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2311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  REGULATÓRIO
(semanas 1–2)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2487168"/>
            <a:ext cx="1673352" cy="1517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2542032"/>
            <a:ext cx="154533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0" i="0">
                <a:solidFill>
                  <a:srgbClr val="2D2D2D"/>
                </a:solidFill>
              </a:rPr>
              <a:t>• Registrar Orfeu como food facility FDA
• Prior Notice para importação de grãos
• Definir NCM/HTS para importação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93592" y="2679192"/>
            <a:ext cx="246888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2176272"/>
            <a:ext cx="1673352" cy="310896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22311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  CO-PACKER
(semanas 2–4)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487168"/>
            <a:ext cx="1673352" cy="1517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93392" y="2542032"/>
            <a:ext cx="154533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0" i="0">
                <a:solidFill>
                  <a:srgbClr val="2D2D2D"/>
                </a:solidFill>
              </a:rPr>
              <a:t>• Escolher co-packer US:
  NoltPak / Three Rivers / Pod Pack
• Enviar grãos verdes p/ torrefação
• Validar grind + nitrogen flush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39" y="2679192"/>
            <a:ext cx="246888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5887" y="2176272"/>
            <a:ext cx="1673352" cy="31089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22311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  PRODUTO
(semanas 4–8)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7" y="2487168"/>
            <a:ext cx="1673352" cy="1517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2542032"/>
            <a:ext cx="154533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0" i="0">
                <a:solidFill>
                  <a:srgbClr val="2D2D2D"/>
                </a:solidFill>
              </a:rPr>
              <a:t>• MOQ inicial: 5.000–10.000 unidades
• Embalagem com FDA compliance
• Shelf life: 12–18 meses (nitrogen)
• Teste de extração em Keurig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04888" y="2679192"/>
            <a:ext cx="246888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31536" y="2176272"/>
            <a:ext cx="1673352" cy="310896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22311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4  CANAL
(semanas 8–12)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31536" y="2487168"/>
            <a:ext cx="1673352" cy="1517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4688" y="2542032"/>
            <a:ext cx="154533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0" i="0">
                <a:solidFill>
                  <a:srgbClr val="2D2D2D"/>
                </a:solidFill>
              </a:rPr>
              <a:t>• Lançar: Amazon.com + orfeu.com.br/us
• Pitch: Whole Foods, Williams-Sonoma
• Assessoria de imprensa café US
• Sample program: 500 unidades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7184" y="2176272"/>
            <a:ext cx="1673352" cy="310896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2311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5  ESCALA
(meses 4–12)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87184" y="2487168"/>
            <a:ext cx="1673352" cy="1517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2542032"/>
            <a:ext cx="154533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50" b="0" i="0">
                <a:solidFill>
                  <a:srgbClr val="2D2D2D"/>
                </a:solidFill>
              </a:rPr>
              <a:t>• Validar NPS e sell-through
• Negociar parceria Keurig se vol. justificar
• Expandir SKUs (Cerrado / Sul de Minas)
• Usar pod como alavanca para o flagship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4069080"/>
            <a:ext cx="8823960" cy="475488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10565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"Do cerrado brasileiro ao seu Keurig." A Orfeu seria a primeira marca brasileira de origem única a vender diretamente no mercado americano em formato single-serve — sem intermediário de torra, sem diluição de narrativa.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4069080"/>
            <a:ext cx="3657600" cy="475488"/>
          </a:xfrm>
          <a:prstGeom prst="rect">
            <a:avLst/>
          </a:prstGeom>
          <a:solidFill>
            <a:srgbClr val="1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40680" y="4105656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</a:rPr>
              <a:t>QUALIDADE: Nitrogen flush 99.5% → 12–18 meses de vida útil.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 i="1">
                <a:solidFill>
                  <a:srgbClr val="CCE8CC"/>
                </a:solidFill>
              </a:rPr>
              <a:t>Cápsulas premium entregam ~80% da qualidade do café specialty coado. Grind calibrado p/ Keurig.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