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07028"/>
                </a:solidFill>
                <a:latin typeface="Avenir Next LT Pro"/>
              </a:rPr>
              <a:t>PLANO COMERCIAL — SUL DA FLÓRIDA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4519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venir Next LT Pro"/>
              </a:rPr>
              <a:t>Mercado Plantio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E8EEE6"/>
                </a:solidFill>
                <a:latin typeface="Avenir Next LT Pro"/>
              </a:rPr>
              <a:t>Beachhead regional de entrada nos EUA — Miami-Dade, Broward, Palm Beach &amp; corredor Orlando</a:t>
            </a:r>
          </a:p>
        </p:txBody>
      </p:sp>
      <p:pic>
        <p:nvPicPr>
          <p:cNvPr id="6" name="Picture 5" descr="orfeu_icon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200400"/>
            <a:ext cx="1344706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E8EEE6"/>
                </a:solidFill>
                <a:latin typeface="Avenir Next LT Pro"/>
              </a:rPr>
              <a:t>Orfeu × Alquemia  ·  Agosto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MERCADO &amp; TERRITÓRIO PRIORITÁRIO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E4221"/>
                </a:solidFill>
                <a:latin typeface="Avenir Next LT Pro"/>
              </a:rPr>
              <a:t>Sul da Flórida como Beachhead Market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399032"/>
            <a:ext cx="384048" cy="38404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9903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353312"/>
            <a:ext cx="7754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venir Next LT Pro"/>
              </a:rPr>
              <a:t>Território: Miami-Dade, Broward, Palm Beach + corredor Orlando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618488"/>
            <a:ext cx="7754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6E6E6E"/>
                </a:solidFill>
                <a:latin typeface="Avenir Next LT Pro"/>
              </a:rPr>
              <a:t>Geografia plana e concentrada; KeHE (Hialeah + novo DC em Elkton) e UNFI (Lakeland/Pompano Beach) já cobrem toda a região.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8229600" cy="7315"/>
          </a:xfrm>
          <a:prstGeom prst="rect">
            <a:avLst/>
          </a:prstGeom>
          <a:solidFill>
            <a:srgbClr val="DD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2002536"/>
            <a:ext cx="384048" cy="38404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025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956816"/>
            <a:ext cx="7754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venir Next LT Pro"/>
              </a:rPr>
              <a:t>Diáspora brasileira: 300.000+ residentes no Sul da Flórida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221992"/>
            <a:ext cx="7754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6E6E6E"/>
                </a:solidFill>
                <a:latin typeface="Avenir Next LT Pro"/>
              </a:rPr>
              <a:t>Renda mediana US$87.500 (vs. US$81.400 média nacional) — tração orgânica inicial, mas não pode ser a única aposta de longo prazo.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23744"/>
            <a:ext cx="8229600" cy="7315"/>
          </a:xfrm>
          <a:prstGeom prst="rect">
            <a:avLst/>
          </a:prstGeom>
          <a:solidFill>
            <a:srgbClr val="DD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2606040"/>
            <a:ext cx="384048" cy="38404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06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560320"/>
            <a:ext cx="7754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venir Next LT Pro"/>
              </a:rPr>
              <a:t>Miami-Dade: 2,8M hab., 70,3% hispânica/latina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825496"/>
            <a:ext cx="7754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6E6E6E"/>
                </a:solidFill>
                <a:latin typeface="Avenir Next LT Pro"/>
              </a:rPr>
              <a:t>Hispânicos lideram os EUA em consumo de café especial: 67% consumiram na última semana — o maior índice demográfico do país.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27248"/>
            <a:ext cx="8229600" cy="7315"/>
          </a:xfrm>
          <a:prstGeom prst="rect">
            <a:avLst/>
          </a:prstGeom>
          <a:solidFill>
            <a:srgbClr val="DD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" y="3209544"/>
            <a:ext cx="384048" cy="38404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095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163824"/>
            <a:ext cx="7754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venir Next LT Pro"/>
              </a:rPr>
              <a:t>Cultura híbrida do café: "cafecito/ventanita" cubana + cena third-wave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429000"/>
            <a:ext cx="7754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6E6E6E"/>
                </a:solidFill>
                <a:latin typeface="Avenir Next LT Pro"/>
              </a:rPr>
              <a:t>Panther Coffee, Vice City Bean, White Rose, All Day disputam o consumidor de especialidade — Orfeu precisa dialogar com as duas culturas.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30752"/>
            <a:ext cx="8229600" cy="7315"/>
          </a:xfrm>
          <a:prstGeom prst="rect">
            <a:avLst/>
          </a:prstGeom>
          <a:solidFill>
            <a:srgbClr val="DD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200" y="3813048"/>
            <a:ext cx="384048" cy="38404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130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3767328"/>
            <a:ext cx="7754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venir Next LT Pro"/>
              </a:rPr>
              <a:t>Leitura de portfólio: Intenso mira o paladar tradicional, Bourbon Amarelo mira o entusiasta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032504"/>
            <a:ext cx="7754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6E6E6E"/>
                </a:solidFill>
                <a:latin typeface="Avenir Next LT Pro"/>
              </a:rPr>
              <a:t>Torra escura/encorpada para o consumo diário; origem única/torra média-clara para o público de terceira onda.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— Plano Comercial Sul da Flórida (Mercado Plantio)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PAPEL DA MARCA NOS EUA  ·  CONCEITO ADAPTADO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50" b="1" i="0">
                <a:solidFill>
                  <a:srgbClr val="1E4221"/>
                </a:solidFill>
                <a:latin typeface="Avenir Next LT Pro"/>
              </a:rPr>
              <a:t>De commodity de blend a "Farm-to-Cup" premiado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977639" cy="96012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08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E6E6E"/>
                </a:solidFill>
                <a:latin typeface="Avenir Next LT Pro"/>
              </a:rPr>
              <a:t>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75564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80" b="0" i="0">
                <a:solidFill>
                  <a:srgbClr val="1A1A1A"/>
                </a:solidFill>
                <a:latin typeface="Avenir Next LT Pro"/>
              </a:rPr>
              <a:t>Café brasileiro genérico — "componente de blend", sem clareza nem identidade de origem para o consumidor de especialidade dos EUA.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417320"/>
            <a:ext cx="3977639" cy="960120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3752" y="1508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07028"/>
                </a:solidFill>
                <a:latin typeface="Avenir Next LT Pro"/>
              </a:rPr>
              <a:t>PARA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175564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80" b="0" i="0">
                <a:solidFill>
                  <a:srgbClr val="1A1A1A"/>
                </a:solidFill>
                <a:latin typeface="Avenir Next LT Pro"/>
              </a:rPr>
              <a:t>Café premiado no Cup of Excellence ("Óscar do café"), Rainforest Alliance, controle vertical da fazenda — micro-lotes de classe mundial.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633472"/>
            <a:ext cx="384048" cy="38404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33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587752"/>
            <a:ext cx="7754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venir Next LT Pro"/>
              </a:rPr>
              <a:t>Alerta: Blue Bottle fechou em Miami (2019), dois anos após abrir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852928"/>
            <a:ext cx="7754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6E6E6E"/>
                </a:solidFill>
                <a:latin typeface="Avenir Next LT Pro"/>
              </a:rPr>
              <a:t>Minimalismo excessivo, sem wifi, preços altos e café ácido/lento colidiram com a expectativa local de acolhimento e doçura.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09544"/>
            <a:ext cx="8229600" cy="7315"/>
          </a:xfrm>
          <a:prstGeom prst="rect">
            <a:avLst/>
          </a:prstGeom>
          <a:solidFill>
            <a:srgbClr val="DD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" y="3291840"/>
            <a:ext cx="384048" cy="38404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918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246120"/>
            <a:ext cx="7754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venir Next LT Pro"/>
              </a:rPr>
              <a:t>Referência de sucesso: Panther Coffee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511296"/>
            <a:ext cx="7754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6E6E6E"/>
                </a:solidFill>
                <a:latin typeface="Avenir Next LT Pro"/>
              </a:rPr>
              <a:t>Manteve acessibilidade, ajustou perfis de sabor (leite e açúcar sem perder complexidade) e apostou forte em B2B local.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67912"/>
            <a:ext cx="8229600" cy="7315"/>
          </a:xfrm>
          <a:prstGeom prst="rect">
            <a:avLst/>
          </a:prstGeom>
          <a:solidFill>
            <a:srgbClr val="DD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7200" y="3950208"/>
            <a:ext cx="384048" cy="38404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9502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904488"/>
            <a:ext cx="7754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venir Next LT Pro"/>
              </a:rPr>
              <a:t>Hipótese de rótulo/comunicação para os EUA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169664"/>
            <a:ext cx="7754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6E6E6E"/>
                </a:solidFill>
                <a:latin typeface="Avenir Next LT Pro"/>
              </a:rPr>
              <a:t>Trocar notas de degustação hiperespecíficas por escalas visuais (torra, corpo, acidez) — reduz o ceticismo do consumidor americano.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— Plano Comercial Sul da Flórida (Mercado Plantio)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VAREJISTAS PREMIUM &amp; HORECA  ·  ALVOS DE ENTRADA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E4221"/>
                </a:solidFill>
                <a:latin typeface="Avenir Next LT Pro"/>
              </a:rPr>
              <a:t>Onde entrar primeiro em Miami-Dade / Broward / Palm Beach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977639" cy="329184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97763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venir Next LT Pro"/>
              </a:rPr>
              <a:t>VAREJISTAS PREMIUM ALVO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819656"/>
            <a:ext cx="38679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07028"/>
                </a:solidFill>
                <a:latin typeface="Avenir Next LT Pro"/>
              </a:rPr>
              <a:t>• </a:t>
            </a:r>
            <a:r>
              <a:rPr sz="1050" b="1" i="0">
                <a:solidFill>
                  <a:srgbClr val="1A1A1A"/>
                </a:solidFill>
                <a:latin typeface="Avenir Next LT Pro"/>
              </a:rPr>
              <a:t>Whole Foods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020824"/>
            <a:ext cx="3703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0" i="0">
                <a:solidFill>
                  <a:srgbClr val="6E6E6E"/>
                </a:solidFill>
                <a:latin typeface="Avenir Next LT Pro"/>
              </a:rPr>
              <a:t>Aberturas recentes em Doral e Jacksonville — programas ativos de fornecedores locais/emergentes.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459736"/>
            <a:ext cx="38679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07028"/>
                </a:solidFill>
                <a:latin typeface="Avenir Next LT Pro"/>
              </a:rPr>
              <a:t>• </a:t>
            </a:r>
            <a:r>
              <a:rPr sz="1050" b="1" i="0">
                <a:solidFill>
                  <a:srgbClr val="1A1A1A"/>
                </a:solidFill>
                <a:latin typeface="Avenir Next LT Pro"/>
              </a:rPr>
              <a:t>Publix GreenWise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660904"/>
            <a:ext cx="3703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0" i="0">
                <a:solidFill>
                  <a:srgbClr val="6E6E6E"/>
                </a:solidFill>
                <a:latin typeface="Avenir Next LT Pro"/>
              </a:rPr>
              <a:t>Rede sediada na Flórida, altíssima fidelidade local — formato premium da Publix.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3099815"/>
            <a:ext cx="38679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07028"/>
                </a:solidFill>
                <a:latin typeface="Avenir Next LT Pro"/>
              </a:rPr>
              <a:t>• </a:t>
            </a:r>
            <a:r>
              <a:rPr sz="1050" b="1" i="0">
                <a:solidFill>
                  <a:srgbClr val="1A1A1A"/>
                </a:solidFill>
                <a:latin typeface="Avenir Next LT Pro"/>
              </a:rPr>
              <a:t>The Fresh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300984"/>
            <a:ext cx="3703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0" i="0">
                <a:solidFill>
                  <a:srgbClr val="6E6E6E"/>
                </a:solidFill>
                <a:latin typeface="Avenir Next LT Pro"/>
              </a:rPr>
              <a:t>Categoria de café em expansão; exige credenciais de sustentabilidade (Orfeu tem Rainforest Alliance/orgânico).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417320"/>
            <a:ext cx="3977639" cy="329184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417320"/>
            <a:ext cx="397763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venir Next LT Pro"/>
              </a:rPr>
              <a:t>HORECA ALVO (HOTÉIS BOUTIQUE)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1819656"/>
            <a:ext cx="38679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07028"/>
                </a:solidFill>
                <a:latin typeface="Avenir Next LT Pro"/>
              </a:rPr>
              <a:t>• </a:t>
            </a:r>
            <a:r>
              <a:rPr sz="1050" b="1" i="0">
                <a:solidFill>
                  <a:srgbClr val="1A1A1A"/>
                </a:solidFill>
                <a:latin typeface="Avenir Next LT Pro"/>
              </a:rPr>
              <a:t>Faena Miami Beach · Four Seasons (Surf Club / Brickell)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8616" y="2020824"/>
            <a:ext cx="3703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0" i="0">
                <a:solidFill>
                  <a:srgbClr val="6E6E6E"/>
                </a:solidFill>
                <a:latin typeface="Avenir Next LT Pro"/>
              </a:rPr>
              <a:t>Hotéis 5-estrelas — pilotar Drip Coffee em quartos e conferências.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024" y="2459736"/>
            <a:ext cx="38679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07028"/>
                </a:solidFill>
                <a:latin typeface="Avenir Next LT Pro"/>
              </a:rPr>
              <a:t>• </a:t>
            </a:r>
            <a:r>
              <a:rPr sz="1050" b="1" i="0">
                <a:solidFill>
                  <a:srgbClr val="1A1A1A"/>
                </a:solidFill>
                <a:latin typeface="Avenir Next LT Pro"/>
              </a:rPr>
              <a:t>Ritz-Carlton South Beach · Miami Beach EDITION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28616" y="2660904"/>
            <a:ext cx="3703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0" i="0">
                <a:solidFill>
                  <a:srgbClr val="6E6E6E"/>
                </a:solidFill>
                <a:latin typeface="Avenir Next LT Pro"/>
              </a:rPr>
              <a:t>Alto volume turístico, apetite por experiência premium de café.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4024" y="3099815"/>
            <a:ext cx="38679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07028"/>
                </a:solidFill>
                <a:latin typeface="Avenir Next LT Pro"/>
              </a:rPr>
              <a:t>• </a:t>
            </a:r>
            <a:r>
              <a:rPr sz="1050" b="1" i="0">
                <a:solidFill>
                  <a:srgbClr val="1A1A1A"/>
                </a:solidFill>
                <a:latin typeface="Avenir Next LT Pro"/>
              </a:rPr>
              <a:t>Mandarin Oriental Miami · 1 Hotel South Beach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8616" y="3300984"/>
            <a:ext cx="3703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0" i="0">
                <a:solidFill>
                  <a:srgbClr val="6E6E6E"/>
                </a:solidFill>
                <a:latin typeface="Avenir Next LT Pro"/>
              </a:rPr>
              <a:t>Perfil eco-chic/wellness — alinhado à narrativa orgânica/regenerativa do Orfeu.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20"/>
            <a:ext cx="8229600" cy="56692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767328"/>
            <a:ext cx="7863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DISTRIBUIDORES &amp; BROKER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3977639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KeHE (Hialeah + novo DC Elkton) · UNFI (Lakeland/Pompano Beach) · Broker regional tipo Bay Food Brokerage (retainer + 3-5% sobre vendas)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— Plano Comercial Sul da Flórida (Mercado Plantio)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CALENDÁRIO DE EVENTOS  ·  CAFÉ &amp; CULTURA DO SUL DA FLÓRIDA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E4221"/>
                </a:solidFill>
                <a:latin typeface="Avenir Next LT Pro"/>
              </a:rPr>
              <a:t>Janelas de ativação —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234440" cy="45720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 LT Pro"/>
              </a:rPr>
              <a:t>FEV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35608"/>
            <a:ext cx="6858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Avenir Next LT Pro"/>
              </a:rPr>
              <a:t>Miami International Boat Show (11-15) · South Beach Wine &amp; Food Festival — SOBEWFF (19-22), com programação "Coffee Culture: Miami Brunch Experience" no Design District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39112"/>
            <a:ext cx="1234440" cy="45720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39112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 LT Pro"/>
              </a:rPr>
              <a:t>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057400"/>
            <a:ext cx="6858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Avenir Next LT Pro"/>
              </a:rPr>
              <a:t>Ultra Music Festival (Bayfront Park, 165k+ público) · Miami Open (tênis)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60904"/>
            <a:ext cx="1234440" cy="45720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6090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 LT Pro"/>
              </a:rPr>
              <a:t>MAI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679192"/>
            <a:ext cx="6858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Avenir Next LT Pro"/>
              </a:rPr>
              <a:t>Fórmula 1 Miami Grand Prix (Hard Rock Stadium) — público global de alto poder aquisitivo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82696"/>
            <a:ext cx="1234440" cy="45720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82696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 LT Pro"/>
              </a:rPr>
              <a:t>DEZ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300984"/>
            <a:ext cx="6858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Avenir Next LT Pro"/>
              </a:rPr>
              <a:t>Art Basel Miami Beach (VIP 3-4, público 5-7) — o evento que definiu Miami como capital cultural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04488"/>
            <a:ext cx="1234440" cy="45720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04488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 LT Pro"/>
              </a:rPr>
              <a:t>RECORRENTE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922776"/>
            <a:ext cx="6858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Avenir Next LT Pro"/>
              </a:rPr>
              <a:t>Brews &amp; Bites — Coffee &amp; Chocolate Expo · cuppings e workshops locais (Eventbrite) · Tampa Bay Coffee &amp; Art Festival (referência estadual)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0" i="1">
                <a:solidFill>
                  <a:srgbClr val="6E6E6E"/>
                </a:solidFill>
                <a:latin typeface="Avenir Next LT Pro"/>
              </a:rPr>
              <a:t>Prioridade de ativação: SOBEWFF (coffee track já existe) e Art Basel (mídia/PR de marca) — maior retorno por custo de entrada.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— Plano Comercial Sul da Flórida (Mercado Plantio)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MÍDIA &amp; INFLUENCER FIT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50" b="1" i="0">
                <a:solidFill>
                  <a:srgbClr val="1E4221"/>
                </a:solidFill>
                <a:latin typeface="Avenir Next LT Pro"/>
              </a:rPr>
              <a:t>3 arquétipos para tração inicial sem patrocínio milionário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79192" cy="2468880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679192" cy="54864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572768"/>
            <a:ext cx="23500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>
                <a:solidFill>
                  <a:srgbClr val="1E4221"/>
                </a:solidFill>
                <a:latin typeface="Avenir Next LT Pro"/>
              </a:rPr>
              <a:t>Puristas do Café de Especialidade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148840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YouTube · Reddit · Instagram (nicho)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450592"/>
            <a:ext cx="235000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Foco no terroir, rastreabilidade, certificação COE. Ação: enviar grãos inteiros + notas técnicas de provadores Q-Graders.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417320"/>
            <a:ext cx="2679192" cy="2468880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73552" y="1417320"/>
            <a:ext cx="2679192" cy="54864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572768"/>
            <a:ext cx="23500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>
                <a:solidFill>
                  <a:srgbClr val="1E4221"/>
                </a:solidFill>
                <a:latin typeface="Avenir Next LT Pro"/>
              </a:rPr>
              <a:t>Lifestylers Outdoor &amp; Travel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148840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TikTok · Instagram Reels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2450592"/>
            <a:ext cx="235000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Conveniência sem perder qualidade — Drip Bags em viagens/acampamentos/rotina corrida. Ação: "kits de sobrevivência matinal".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1417320"/>
            <a:ext cx="2679192" cy="2468880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9904" y="1417320"/>
            <a:ext cx="2679192" cy="54864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1572768"/>
            <a:ext cx="23500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>
                <a:solidFill>
                  <a:srgbClr val="1E4221"/>
                </a:solidFill>
                <a:latin typeface="Avenir Next LT Pro"/>
              </a:rPr>
              <a:t>Criadores da Diáspora Brasileira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148840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TikTok · Grupos de Facebook · WhatsApp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450592"/>
            <a:ext cx="235000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Ligação emocional com produtos de "casa", status de marca premium. Ação: parcerias em eventos da comunidade + cupons locais (10%).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— Plano Comercial Sul da Flórida (Mercado Plantio)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CANAIS &amp; MODELO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E4221"/>
                </a:solidFill>
                <a:latin typeface="Avenir Next LT Pro"/>
              </a:rPr>
              <a:t>Top prioridades por canal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90472"/>
            <a:ext cx="384048" cy="38404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444752"/>
            <a:ext cx="7754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venir Next LT Pro"/>
              </a:rPr>
              <a:t>Varejo — Broker + Distribuidor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709928"/>
            <a:ext cx="7754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6E6E6E"/>
                </a:solidFill>
                <a:latin typeface="Avenir Next LT Pro"/>
              </a:rPr>
              <a:t>Contratar broker regional (tipo Bay Food Brokerage) para abrir portas em Publix/Fresh Market; KeHE/UNFI como distribuidores. MSRP alvo US$14,99-19,99 (250g).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85416"/>
            <a:ext cx="8229600" cy="7315"/>
          </a:xfrm>
          <a:prstGeom prst="rect">
            <a:avLst/>
          </a:prstGeom>
          <a:solidFill>
            <a:srgbClr val="DD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2267712"/>
            <a:ext cx="384048" cy="38404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67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221992"/>
            <a:ext cx="7754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venir Next LT Pro"/>
              </a:rPr>
              <a:t>HoReCa — Drip Coffee como "cavalo de troia"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487168"/>
            <a:ext cx="7754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6E6E6E"/>
                </a:solidFill>
                <a:latin typeface="Avenir Next LT Pro"/>
              </a:rPr>
              <a:t>Não competir com Illy/Lavazza em máquinas espresso; entrar por sachês individuais em hotéis boutique/conferências — custo de aquisição zero para o hotel.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62656"/>
            <a:ext cx="8229600" cy="7315"/>
          </a:xfrm>
          <a:prstGeom prst="rect">
            <a:avLst/>
          </a:prstGeom>
          <a:solidFill>
            <a:srgbClr val="DD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044952"/>
            <a:ext cx="384048" cy="38404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449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999232"/>
            <a:ext cx="7754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venir Next LT Pro"/>
              </a:rPr>
              <a:t>D2C / Amazon — motor de margem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264408"/>
            <a:ext cx="7754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6E6E6E"/>
                </a:solidFill>
                <a:latin typeface="Avenir Next LT Pro"/>
              </a:rPr>
              <a:t>Assinatura (Subscribe &amp; Save), SEO em "Brazilian specialty coffee" / "Nespresso compatible pods"; margem de contribuição &gt;40%, sem cascata de distribuidor.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— Plano Comercial Sul da Flórida (Mercado Plantio)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PLANO DE VALIDAÇÃO — 18 MESES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E4221"/>
                </a:solidFill>
                <a:latin typeface="Avenir Next LT Pro"/>
              </a:rPr>
              <a:t>O que ainda precisamos validar em campo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79192" cy="36576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6791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venir Next LT Pro"/>
              </a:rPr>
              <a:t>M1-3 · FUNDAÇÃO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25877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— </a:t>
            </a:r>
            <a:r>
              <a:rPr sz="919" b="0" i="0">
                <a:solidFill>
                  <a:srgbClr val="1A1A1A"/>
                </a:solidFill>
                <a:latin typeface="Avenir Next LT Pro"/>
              </a:rPr>
              <a:t>Registro FDA, Prior Notice, Customs Bond, certificações fitossanitárias MAPA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06039"/>
            <a:ext cx="25877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— </a:t>
            </a:r>
            <a:r>
              <a:rPr sz="919" b="0" i="0">
                <a:solidFill>
                  <a:srgbClr val="1A1A1A"/>
                </a:solidFill>
                <a:latin typeface="Avenir Next LT Pro"/>
              </a:rPr>
              <a:t>Contratar broker regional + definir GM/Country Manager sediado na Flórida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37559"/>
            <a:ext cx="25877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— </a:t>
            </a:r>
            <a:r>
              <a:rPr sz="919" b="0" i="0">
                <a:solidFill>
                  <a:srgbClr val="1A1A1A"/>
                </a:solidFill>
                <a:latin typeface="Avenir Next LT Pro"/>
              </a:rPr>
              <a:t>Fechar 3PL perto do Porto de Miami (EDI/ASN)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417320"/>
            <a:ext cx="2679192" cy="36576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1417320"/>
            <a:ext cx="26791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venir Next LT Pro"/>
              </a:rPr>
              <a:t>M4-9 · PILOTO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1874519"/>
            <a:ext cx="25877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— </a:t>
            </a:r>
            <a:r>
              <a:rPr sz="919" b="0" i="0">
                <a:solidFill>
                  <a:srgbClr val="1A1A1A"/>
                </a:solidFill>
                <a:latin typeface="Avenir Next LT Pro"/>
              </a:rPr>
              <a:t>Piloto varejo em 15-20 lojas (Whole Foods/Publix GreenWise/Fresh Market)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2606039"/>
            <a:ext cx="25877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— </a:t>
            </a:r>
            <a:r>
              <a:rPr sz="919" b="0" i="0">
                <a:solidFill>
                  <a:srgbClr val="1A1A1A"/>
                </a:solidFill>
                <a:latin typeface="Avenir Next LT Pro"/>
              </a:rPr>
              <a:t>Piloto HoReCa em 3-6 hotéis boutique com Drip Coffee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3337559"/>
            <a:ext cx="25877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— </a:t>
            </a:r>
            <a:r>
              <a:rPr sz="919" b="0" i="0">
                <a:solidFill>
                  <a:srgbClr val="1A1A1A"/>
                </a:solidFill>
                <a:latin typeface="Avenir Next LT Pro"/>
              </a:rPr>
              <a:t>Testar rótulo/linguagem sensorial visual (torra, corpo, acidez) para o paladar dos EUA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1417320"/>
            <a:ext cx="2679192" cy="365760"/>
          </a:xfrm>
          <a:prstGeom prst="rect">
            <a:avLst/>
          </a:prstGeom>
          <a:solidFill>
            <a:srgbClr val="1E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417320"/>
            <a:ext cx="26791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venir Next LT Pro"/>
              </a:rPr>
              <a:t>M10-18 · DECISÃO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1874519"/>
            <a:ext cx="25877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— </a:t>
            </a:r>
            <a:r>
              <a:rPr sz="919" b="0" i="0">
                <a:solidFill>
                  <a:srgbClr val="1A1A1A"/>
                </a:solidFill>
                <a:latin typeface="Avenir Next LT Pro"/>
              </a:rPr>
              <a:t>Medir velocity real vs. premissa e validar preço de prateleira ($14,99-19,99)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5624" y="2606039"/>
            <a:ext cx="25877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— </a:t>
            </a:r>
            <a:r>
              <a:rPr sz="919" b="0" i="0">
                <a:solidFill>
                  <a:srgbClr val="1A1A1A"/>
                </a:solidFill>
                <a:latin typeface="Avenir Next LT Pro"/>
              </a:rPr>
              <a:t>Avaliar CAC/CLTV do D2C e ROI dos primeiros influencers da diáspora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5624" y="3337559"/>
            <a:ext cx="25877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— </a:t>
            </a:r>
            <a:r>
              <a:rPr sz="919" b="0" i="0">
                <a:solidFill>
                  <a:srgbClr val="1A1A1A"/>
                </a:solidFill>
                <a:latin typeface="Avenir Next LT Pro"/>
              </a:rPr>
              <a:t>Decidir expansão de lojas/hotéis e avaliar 2º mercado regional (Orlando / Nordeste)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— Plano Comercial Sul da Flórida (Mercado Plantio)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SIMULADOR DE RECEITA &amp; INVESTIMENTO  ·  VISÃO 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E4221"/>
                </a:solidFill>
                <a:latin typeface="Avenir Next LT Pro"/>
              </a:rPr>
              <a:t>24 meses — Varejo + HoReCa + D2C (premissas a validar)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977639" cy="214884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08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C07028"/>
                </a:solidFill>
                <a:latin typeface="Avenir Next LT Pro"/>
              </a:rPr>
              <a:t>CASCATA DE MARGEM — POR UNIDADE (250g)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28800"/>
            <a:ext cx="2880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A1A1A"/>
                </a:solidFill>
                <a:latin typeface="Avenir Next LT Pro"/>
              </a:rPr>
              <a:t>MSRP (prateleira)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828800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A1A1A"/>
                </a:solidFill>
                <a:latin typeface="Avenir Next LT Pro"/>
              </a:rPr>
              <a:t>US$ 19,99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066543"/>
            <a:ext cx="2880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A1A1A"/>
                </a:solidFill>
                <a:latin typeface="Avenir Next LT Pro"/>
              </a:rPr>
              <a:t>Margem varejista (35%) + distribuidor (20%)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066543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A1A1A"/>
                </a:solidFill>
                <a:latin typeface="Avenir Next LT Pro"/>
              </a:rPr>
              <a:t>-US$ 9,60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304287"/>
            <a:ext cx="2880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A1A1A"/>
                </a:solidFill>
                <a:latin typeface="Avenir Next LT Pro"/>
              </a:rPr>
              <a:t>Trade spend + shrink + broker (~22%)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04287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A1A1A"/>
                </a:solidFill>
                <a:latin typeface="Avenir Next LT Pro"/>
              </a:rPr>
              <a:t>-US$ 2,27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542031"/>
            <a:ext cx="2880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A1A1A"/>
                </a:solidFill>
                <a:latin typeface="Avenir Next LT Pro"/>
              </a:rPr>
              <a:t>Frete outbound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542031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A1A1A"/>
                </a:solidFill>
                <a:latin typeface="Avenir Next LT Pro"/>
              </a:rPr>
              <a:t>-US$ 0,45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779775"/>
            <a:ext cx="2880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1A1A1A"/>
                </a:solidFill>
                <a:latin typeface="Avenir Next LT Pro"/>
              </a:rPr>
              <a:t>Receita Líquida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779775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C07028"/>
                </a:solidFill>
                <a:latin typeface="Avenir Next LT Pro"/>
              </a:rPr>
              <a:t>US$ 7,67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017519"/>
            <a:ext cx="2880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A1A1A"/>
                </a:solidFill>
                <a:latin typeface="Avenir Next LT Pro"/>
              </a:rPr>
              <a:t>COGS posto EUA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017519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A1A1A"/>
                </a:solidFill>
                <a:latin typeface="Avenir Next LT Pro"/>
              </a:rPr>
              <a:t>-US$ 4,50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255263"/>
            <a:ext cx="2880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1A1A1A"/>
                </a:solidFill>
                <a:latin typeface="Avenir Next LT Pro"/>
              </a:rPr>
              <a:t>Margem de Contribuição (~30% bruto)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255263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80" b="1" i="0">
                <a:solidFill>
                  <a:srgbClr val="C07028"/>
                </a:solidFill>
                <a:latin typeface="Avenir Next LT Pro"/>
              </a:rPr>
              <a:t>US$ 3,17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1417320"/>
            <a:ext cx="3977639" cy="2148840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3752" y="1508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C07028"/>
                </a:solidFill>
                <a:latin typeface="Avenir Next LT Pro"/>
              </a:rPr>
              <a:t>RESULTADO 24 MESES (SUL DA FLÓRIDA)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3752" y="1828800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A1A1A"/>
                </a:solidFill>
                <a:latin typeface="Avenir Next LT Pro"/>
              </a:rPr>
              <a:t>Receita Bruta acumulada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1828800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1E4221"/>
                </a:solidFill>
                <a:latin typeface="Avenir Next LT Pro"/>
              </a:rPr>
              <a:t>≈ US$ 659.000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3752" y="2103120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A1A1A"/>
                </a:solidFill>
                <a:latin typeface="Avenir Next LT Pro"/>
              </a:rPr>
              <a:t>Margem de Contribuição acumulada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103120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1E4221"/>
                </a:solidFill>
                <a:latin typeface="Avenir Next LT Pro"/>
              </a:rPr>
              <a:t>≈ US$ 254.000  (~30%)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2" y="2468879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A1A1A"/>
                </a:solidFill>
                <a:latin typeface="Avenir Next LT Pro"/>
              </a:rPr>
              <a:t>EBITDA acumulado (24 meses)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2468879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B03020"/>
                </a:solidFill>
                <a:latin typeface="Avenir Next LT Pro"/>
              </a:rPr>
              <a:t>≈ -US$ 286.000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3752" y="2834639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A1A1A"/>
                </a:solidFill>
                <a:latin typeface="Avenir Next LT Pro"/>
              </a:rPr>
              <a:t>Caixa total recomendado p/ lançar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2834639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1E4221"/>
                </a:solidFill>
                <a:latin typeface="Avenir Next LT Pro"/>
              </a:rPr>
              <a:t>US$ 281.000 – 525.000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3752" y="3127247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1">
                <a:solidFill>
                  <a:srgbClr val="6E6E6E"/>
                </a:solidFill>
                <a:latin typeface="Avenir Next LT Pro"/>
              </a:rPr>
              <a:t>Detalhe do investimento e do EBITDA trimestral no slide 10 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3794760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E4221"/>
                </a:solidFill>
                <a:latin typeface="Avenir Next LT Pro"/>
              </a:rPr>
              <a:t>BACKUP COMPLETO — PLANILHA VIVA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4041648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2026-08-09_Orfeu_Simulador-DRE-SulFlorida.xlsx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1">
                <a:solidFill>
                  <a:srgbClr val="6E6E6E"/>
                </a:solidFill>
                <a:latin typeface="Avenir Next LT Pro"/>
              </a:rPr>
              <a:t>Abas: Premissas (editável) · DRE Projetado (8 trimestres, agora até EBITDA) · Investimento Necessário (CapEx real / Investimento de lançamento / Opex / Capital de giro) — todo valor em laranja é premissa a validar em campo, não meta fechada.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— Plano Comercial Sul da Flórida (Mercado Plantio)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INVESTIMENTO NECESSÁRIO  ·  DETALHE + EBITDA TRIMESTRAL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E4221"/>
                </a:solidFill>
                <a:latin typeface="Avenir Next LT Pro"/>
              </a:rPr>
              <a:t>Quanto custa lançar — e quando (se) o piloto para de queimar caixa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977639" cy="288036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08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C07028"/>
                </a:solidFill>
                <a:latin typeface="Avenir Next LT Pro"/>
              </a:rPr>
              <a:t>INVESTIMENTO — POR NATUREZA CONTÁBIL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47088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CapEx real (prepaid — Customs Bond)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029968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1E4221"/>
                </a:solidFill>
                <a:latin typeface="Avenir Next LT Pro"/>
              </a:rPr>
              <a:t>US$ 50.000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290572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Investimento de lançamento (OPEX antecipado, não capitalizável)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73452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1E4221"/>
                </a:solidFill>
                <a:latin typeface="Avenir Next LT Pro"/>
              </a:rPr>
              <a:t>US$ 161.000 – 381.500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734056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30" b="1" i="0">
                <a:solidFill>
                  <a:srgbClr val="C07028"/>
                </a:solidFill>
                <a:latin typeface="Avenir Next LT Pro"/>
              </a:rPr>
              <a:t>= Total CapEx inicial (visão de caixa)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916936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C07028"/>
                </a:solidFill>
                <a:latin typeface="Avenir Next LT Pro"/>
              </a:rPr>
              <a:t>US$ 211.000 – 431.500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177539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Opex recorrente (mensal, contínuo)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360420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1E4221"/>
                </a:solidFill>
                <a:latin typeface="Avenir Next LT Pro"/>
              </a:rPr>
              <a:t>US$ 13.000 – 32.000/mês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621023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Capital de giro (base Ano 1 T4, 3-4x receita mensal)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803903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1E4221"/>
                </a:solidFill>
                <a:latin typeface="Avenir Next LT Pro"/>
              </a:rPr>
              <a:t>US$ 70.000 – 93.000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064507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30" b="1" i="0">
                <a:solidFill>
                  <a:srgbClr val="C07028"/>
                </a:solidFill>
                <a:latin typeface="Avenir Next LT Pro"/>
              </a:rPr>
              <a:t>= Caixa total recomendado antes do lançamento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247388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C07028"/>
                </a:solidFill>
                <a:latin typeface="Avenir Next LT Pro"/>
              </a:rPr>
              <a:t>US$ 281.000 – 525.000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526279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30" b="0" i="1">
                <a:solidFill>
                  <a:srgbClr val="6E6E6E"/>
                </a:solidFill>
                <a:latin typeface="Avenir Next LT Pro"/>
              </a:rPr>
              <a:t>Slotting, sampling e trade spend são redução de receita/SG&amp;A — não são ativo (ASC 705-20 / CPC 47).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1417320"/>
            <a:ext cx="3977639" cy="2880360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3752" y="1508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C07028"/>
                </a:solidFill>
                <a:latin typeface="Avenir Next LT Pro"/>
              </a:rPr>
              <a:t>EBITDA POR TRIMESTRE (US$)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3752" y="1828800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  <a:latin typeface="Avenir Next LT Pro"/>
              </a:rPr>
              <a:t>Ano1-T1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1828800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69" b="1" i="0">
                <a:solidFill>
                  <a:srgbClr val="B03020"/>
                </a:solidFill>
                <a:latin typeface="Avenir Next LT Pro"/>
              </a:rPr>
              <a:t>-US$ 52.218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2052828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  <a:latin typeface="Avenir Next LT Pro"/>
              </a:rPr>
              <a:t>Ano1-T2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05282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69" b="1" i="0">
                <a:solidFill>
                  <a:srgbClr val="B03020"/>
                </a:solidFill>
                <a:latin typeface="Avenir Next LT Pro"/>
              </a:rPr>
              <a:t>-US$ 48.871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2" y="2276856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  <a:latin typeface="Avenir Next LT Pro"/>
              </a:rPr>
              <a:t>Ano1-T3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276856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69" b="1" i="0">
                <a:solidFill>
                  <a:srgbClr val="B03020"/>
                </a:solidFill>
                <a:latin typeface="Avenir Next LT Pro"/>
              </a:rPr>
              <a:t>-US$ 45.025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3752" y="2500884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  <a:latin typeface="Avenir Next LT Pro"/>
              </a:rPr>
              <a:t>Ano1-T4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500884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69" b="1" i="0">
                <a:solidFill>
                  <a:srgbClr val="B03020"/>
                </a:solidFill>
                <a:latin typeface="Avenir Next LT Pro"/>
              </a:rPr>
              <a:t>-US$ 40.568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3752" y="2724912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  <a:latin typeface="Avenir Next LT Pro"/>
              </a:rPr>
              <a:t>Ano2-T1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724912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69" b="1" i="0">
                <a:solidFill>
                  <a:srgbClr val="B03020"/>
                </a:solidFill>
                <a:latin typeface="Avenir Next LT Pro"/>
              </a:rPr>
              <a:t>-US$ 35.355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3752" y="2948940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  <a:latin typeface="Avenir Next LT Pro"/>
              </a:rPr>
              <a:t>Ano2-T2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2948940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69" b="1" i="0">
                <a:solidFill>
                  <a:srgbClr val="B03020"/>
                </a:solidFill>
                <a:latin typeface="Avenir Next LT Pro"/>
              </a:rPr>
              <a:t>-US$ 29.206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73752" y="3172968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  <a:latin typeface="Avenir Next LT Pro"/>
              </a:rPr>
              <a:t>Ano2-T3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17296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69" b="1" i="0">
                <a:solidFill>
                  <a:srgbClr val="B03020"/>
                </a:solidFill>
                <a:latin typeface="Avenir Next LT Pro"/>
              </a:rPr>
              <a:t>-US$ 21.894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73752" y="3396996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  <a:latin typeface="Avenir Next LT Pro"/>
              </a:rPr>
              <a:t>Ano2-T4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3396996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69" b="1" i="0">
                <a:solidFill>
                  <a:srgbClr val="B03020"/>
                </a:solidFill>
                <a:latin typeface="Avenir Next LT Pro"/>
              </a:rPr>
              <a:t>-US$ 13.133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73752" y="3694176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venir Next LT Pro"/>
              </a:rPr>
              <a:t>EBITDA acumulado 24m: </a:t>
            </a:r>
            <a:r>
              <a:rPr sz="900" b="1" i="0">
                <a:solidFill>
                  <a:srgbClr val="B03020"/>
                </a:solidFill>
                <a:latin typeface="Avenir Next LT Pro"/>
              </a:rPr>
              <a:t>-US$ 286.000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3752" y="395020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80" b="0" i="0">
                <a:solidFill>
                  <a:srgbClr val="1A1A1A"/>
                </a:solidFill>
                <a:latin typeface="Avenir Next LT Pro"/>
              </a:rPr>
              <a:t>O piloto, neste tamanho, não atinge EBITDA positivo em 24 meses — Opex recorrente (~US$22,5k/mês) supera a margem de contribuição gerada pelo volume-piloto.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4434840"/>
            <a:ext cx="7863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1E4221"/>
                </a:solidFill>
                <a:latin typeface="Avenir Next LT Pro"/>
              </a:rPr>
              <a:t>Implicação para o WS: </a:t>
            </a:r>
            <a:r>
              <a:rPr sz="880" b="0" i="0">
                <a:solidFill>
                  <a:srgbClr val="1A1A1A"/>
                </a:solidFill>
                <a:latin typeface="Avenir Next LT Pro"/>
              </a:rPr>
              <a:t>ou o piloto escala mais rápido (mais lojas/hotéis desde o T1), ou o Opex recorrente entra faseado — GM em meio-período nos primeiros 2 trimestres, por exemplo.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— Plano Comercial Sul da Flórida (Mercado Plantio)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