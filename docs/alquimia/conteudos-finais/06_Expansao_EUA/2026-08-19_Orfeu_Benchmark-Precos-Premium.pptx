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img_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PREÇO DE PRATELEIRA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Benchmark de Preços — Marcas Premium (Amazon US &amp; Publix)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6E6E6E"/>
                </a:solidFill>
                <a:latin typeface="Avenir Next LT Pro"/>
              </a:rPr>
              <a:t>Preço médio realmente praticado (Orfeu, vendas reais Q2/2026) vs. preço de tabela dos concorrentes (pesquisa pública, ago/2026).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12848"/>
            <a:ext cx="141732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240280"/>
            <a:ext cx="127101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Marca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20" y="2212848"/>
            <a:ext cx="352044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7672" y="2240280"/>
            <a:ext cx="33741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Produto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212848"/>
            <a:ext cx="123444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2240280"/>
            <a:ext cx="10881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Embalagem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212848"/>
            <a:ext cx="155448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240280"/>
            <a:ext cx="140817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Preço Amazon 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2212848"/>
            <a:ext cx="141732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240280"/>
            <a:ext cx="127101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US$/oz (Amazon)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12848"/>
            <a:ext cx="2130552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4352" y="2240280"/>
            <a:ext cx="198424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Preço Publix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68880"/>
            <a:ext cx="11274552" cy="192024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82596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i="0">
                <a:solidFill>
                  <a:srgbClr val="BA6124"/>
                </a:solidFill>
                <a:latin typeface="Avenir Next LT Pro"/>
              </a:rPr>
              <a:t>ORFEU — PREÇO MÉDIO REALIZADO (VENDAS REAIS)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60904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79192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20" y="2660904"/>
            <a:ext cx="3520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47672" y="2679192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Drip Sachet Classic — 10 unidades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660904"/>
            <a:ext cx="1234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8112" y="2679192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100g / 3,52oz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2660904"/>
            <a:ext cx="155448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2679192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US$ 24,14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2660904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2679192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US$ 6,86*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2660904"/>
            <a:ext cx="2130552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74352" y="2679192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921507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2939795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20" y="2921507"/>
            <a:ext cx="3520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47672" y="2939795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Classic Roasted Beans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2921507"/>
            <a:ext cx="1234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68112" y="2939795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250g / 8,8oz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400" y="2921507"/>
            <a:ext cx="155448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02552" y="2939795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US$ 22,71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80" y="2921507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7032" y="2939795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US$ 2,58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2921507"/>
            <a:ext cx="2130552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4352" y="2939795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182110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3200398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3182110"/>
            <a:ext cx="3520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47672" y="3200398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Yellow Bourbon Roasted Beans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3182110"/>
            <a:ext cx="1234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68112" y="3200398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8,8oz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3182110"/>
            <a:ext cx="155448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02552" y="3200398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US$ 24,39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80" y="3182110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57032" y="3200398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US$ 2,77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3182110"/>
            <a:ext cx="2130552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3200398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442713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3461001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74520" y="3442713"/>
            <a:ext cx="3520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47672" y="3461001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Organic Coffee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3442713"/>
            <a:ext cx="1234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68112" y="3461001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250g / 8,8oz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9400" y="3442713"/>
            <a:ext cx="155448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02552" y="3461001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US$ 29,23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80" y="3442713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57032" y="3461001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US$ 3,32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01200" y="3442713"/>
            <a:ext cx="2130552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74352" y="3461001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703316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" y="3721604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74520" y="3703316"/>
            <a:ext cx="3520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47672" y="3721604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Intense Roasted Beans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94960" y="3703316"/>
            <a:ext cx="123444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68112" y="3721604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1kg / 2,25lb (35,2oz)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9400" y="3703316"/>
            <a:ext cx="155448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02552" y="3721604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US$ 47,63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80" y="3703316"/>
            <a:ext cx="1417320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57032" y="3721604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US$ 1,35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01200" y="3703316"/>
            <a:ext cx="2130552" cy="260603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74352" y="3721604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3963919"/>
            <a:ext cx="11274552" cy="19202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3977635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i="0">
                <a:solidFill>
                  <a:srgbClr val="26492D"/>
                </a:solidFill>
                <a:latin typeface="Avenir Next LT Pro"/>
              </a:rPr>
              <a:t>CONCORRÊNCIA PREMIUM — PREÇO DE TABELA (PESQUISA PÚBLICA)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155943"/>
            <a:ext cx="141732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0352" y="4174231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A1A1A"/>
                </a:solidFill>
                <a:latin typeface="Avenir Next LT Pro"/>
              </a:rPr>
              <a:t>Illy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74520" y="4155943"/>
            <a:ext cx="352044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47672" y="4174231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Classico, medium roast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394960" y="4155943"/>
            <a:ext cx="123444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68112" y="4174231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8,8oz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629400" y="4155943"/>
            <a:ext cx="155448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02552" y="4174231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US$ 9,79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83880" y="4155943"/>
            <a:ext cx="141732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57032" y="4174231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US$ 1,11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601200" y="4155943"/>
            <a:ext cx="2130552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74352" y="4174231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Provável, não confirmado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416546"/>
            <a:ext cx="141732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0352" y="4434834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A1A1A"/>
                </a:solidFill>
                <a:latin typeface="Avenir Next LT Pro"/>
              </a:rPr>
              <a:t>Lavazza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74520" y="4416546"/>
            <a:ext cx="352044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47672" y="4434834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Super Crema, whole bean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394960" y="4416546"/>
            <a:ext cx="123444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68112" y="4434834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2,2lb / 35,2oz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629400" y="4416546"/>
            <a:ext cx="155448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02552" y="4434834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US$ 24,50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83880" y="4416546"/>
            <a:ext cx="141732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57032" y="4434834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US$ 0,70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4416546"/>
            <a:ext cx="2130552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74352" y="4434834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Provável, não confirmado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4677149"/>
            <a:ext cx="141732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0352" y="4695437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A1A1A"/>
                </a:solidFill>
                <a:latin typeface="Avenir Next LT Pro"/>
              </a:rPr>
              <a:t>Stumptown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74520" y="4677149"/>
            <a:ext cx="352044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947672" y="4695437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Hair Bender, whole bean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394960" y="4677149"/>
            <a:ext cx="123444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68112" y="4695437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12oz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29400" y="4677149"/>
            <a:ext cx="155448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702552" y="4695437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US$ 19,00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183880" y="4677149"/>
            <a:ext cx="141732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57032" y="4695437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US$ 1,58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601200" y="4677149"/>
            <a:ext cx="2130552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74352" y="4695437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Não vendido (Amazon/DTC/Whole Foods)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4937752"/>
            <a:ext cx="141732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0352" y="4956040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A1A1A"/>
                </a:solidFill>
                <a:latin typeface="Avenir Next LT Pro"/>
              </a:rPr>
              <a:t>La Colombe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74520" y="4937752"/>
            <a:ext cx="352044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947672" y="4956040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Whole bean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394960" y="4937752"/>
            <a:ext cx="123444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68112" y="4956040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12oz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29400" y="4937752"/>
            <a:ext cx="155448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702552" y="4956040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US$ 14,98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183880" y="4937752"/>
            <a:ext cx="141732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257032" y="4956040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US$ 1,25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601200" y="4937752"/>
            <a:ext cx="2130552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74352" y="4956040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Não vendido (Amazon/DTC/Whole Foods)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7200" y="5198355"/>
            <a:ext cx="141732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30352" y="5216643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A1A1A"/>
                </a:solidFill>
                <a:latin typeface="Avenir Next LT Pro"/>
              </a:rPr>
              <a:t>Peet's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874520" y="5198355"/>
            <a:ext cx="352044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947672" y="5216643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Major Dickason's, whole bean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394960" y="5198355"/>
            <a:ext cx="123444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468112" y="5216643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18oz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629400" y="5198355"/>
            <a:ext cx="155448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702552" y="5216643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US$ 16,86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183880" y="5198355"/>
            <a:ext cx="141732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257032" y="5216643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US$ 0,94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601200" y="5198355"/>
            <a:ext cx="2130552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74352" y="5216643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Provável, não confirmado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7200" y="5458958"/>
            <a:ext cx="141732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30352" y="5477246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A1A1A"/>
                </a:solidFill>
                <a:latin typeface="Avenir Next LT Pro"/>
              </a:rPr>
              <a:t>Blue Bottle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874520" y="5458958"/>
            <a:ext cx="352044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947672" y="5477246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Whole bean, orgânico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394960" y="5458958"/>
            <a:ext cx="123444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468112" y="5477246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12oz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629400" y="5458958"/>
            <a:ext cx="155448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702552" y="5477246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US$ 18,99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183880" y="5458958"/>
            <a:ext cx="1417320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257032" y="5477246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US$ 1,58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601200" y="5458958"/>
            <a:ext cx="2130552" cy="2606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674352" y="5477246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Não vendido (Amazon/DTC/Whole Foods)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719561"/>
            <a:ext cx="141732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30352" y="5737849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A1A1A"/>
                </a:solidFill>
                <a:latin typeface="Avenir Next LT Pro"/>
              </a:rPr>
              <a:t>Publix GreenWise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874520" y="5719561"/>
            <a:ext cx="352044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947672" y="5737849"/>
            <a:ext cx="3374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Café orgânico (marca própria Publix)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394960" y="5719561"/>
            <a:ext cx="123444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468112" y="5737849"/>
            <a:ext cx="108813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10oz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629400" y="5719561"/>
            <a:ext cx="155448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02552" y="5737849"/>
            <a:ext cx="140817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183880" y="5719561"/>
            <a:ext cx="1417320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257032" y="5737849"/>
            <a:ext cx="1271016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601200" y="5719561"/>
            <a:ext cx="2130552" cy="260603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674352" y="5737849"/>
            <a:ext cx="1984248" cy="224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Confirmado — preço não verificado (~US$7-9 estimado)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7200" y="6035028"/>
            <a:ext cx="11247120" cy="566928"/>
          </a:xfrm>
          <a:prstGeom prst="rect">
            <a:avLst/>
          </a:prstGeom>
          <a:solidFill>
            <a:srgbClr val="E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57200" y="6035028"/>
            <a:ext cx="50800" cy="566928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85800" y="6071604"/>
            <a:ext cx="10881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 i="0">
                <a:solidFill>
                  <a:srgbClr val="26492D"/>
                </a:solidFill>
                <a:latin typeface="Avenir Next LT Pro"/>
              </a:rPr>
              <a:t>LEITURA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85800" y="6236196"/>
            <a:ext cx="108813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50"/>
              </a:spcAft>
            </a:pPr>
            <a:r>
              <a:rPr sz="780">
                <a:solidFill>
                  <a:srgbClr val="1A1A1A"/>
                </a:solidFill>
                <a:latin typeface="Avenir Next LT Pro"/>
              </a:rPr>
              <a:t>•  No formato comparável (8,8oz), o Orfeu já realiza US$2,58-3,32/oz — de 2x a 4x o US$/oz das marcas premium pesquisadas (US$0,70-1,58/oz) — com volume real (554 unidades do sachê drip só no trimestre).</a:t>
            </a:r>
          </a:p>
          <a:p>
            <a:pPr>
              <a:lnSpc>
                <a:spcPct val="112000"/>
              </a:lnSpc>
              <a:spcAft>
                <a:spcPts val="150"/>
              </a:spcAft>
            </a:pPr>
            <a:r>
              <a:rPr sz="780">
                <a:solidFill>
                  <a:srgbClr val="1A1A1A"/>
                </a:solidFill>
                <a:latin typeface="Avenir Next LT Pro"/>
              </a:rPr>
              <a:t>•  Publix: só a GreenWise (marca própria) foi confirmada na prateleira — nenhuma marca specialty pesquisada (Stumptown, La Colombe, Blue Bottle) está no canal de mercearia tradicional, só Amazon/DTC/Whole Foods.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47676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1">
                <a:solidFill>
                  <a:srgbClr val="6E6E6E"/>
                </a:solidFill>
                <a:latin typeface="Avenir Next LT Pro"/>
              </a:rPr>
              <a:t>*Sachê (100g) não é comparável a grão/moído em saco — US$/oz naturalmente mais alto. Concorrentes: pesquisa pública Amazon US, ago/2026, preço de tabela. Publix: GreenWise confirmada por catálogo (Publix.com/Instacart bloquearam scraping), preço estimado por categoria, não verificado.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