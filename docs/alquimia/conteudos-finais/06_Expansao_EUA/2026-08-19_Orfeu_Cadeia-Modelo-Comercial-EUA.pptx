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img_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ver_img_2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607" y="1188720"/>
            <a:ext cx="1554480" cy="12161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88036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Avenir Next LT Pro"/>
              </a:rPr>
              <a:t>CADEIA &amp; MODELO COMERCIAL —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1">
                <a:solidFill>
                  <a:srgbClr val="E8DDC8"/>
                </a:solidFill>
                <a:latin typeface="Avenir Next LT Pro"/>
              </a:rPr>
              <a:t>Papéis, custos e estrutura por canal — Online, Varejo e HoReCa +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D3C9"/>
                </a:solidFill>
                <a:latin typeface="Avenir Next LT Pro"/>
              </a:rPr>
              <a:t>Follow-up pós-conversas KeHE  ·  Playbook EUA — US4 · US6 · US8 · US13 · US14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355080"/>
            <a:ext cx="9445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C9D3C9"/>
                </a:solidFill>
                <a:latin typeface="Avenir Next LT Pro"/>
              </a:rPr>
              <a:t>Alquemia para Orfeu · 19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img_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ONDE ISSO SE ENCAIXA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Por Que Este Documento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1965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50">
                <a:solidFill>
                  <a:srgbClr val="1A1A1A"/>
                </a:solidFill>
                <a:latin typeface="Avenir Next LT Pro"/>
              </a:rPr>
              <a:t>•  Após as conversas com a KeHE (semana de 17/ago), ficou claro que ainda não temos clareza total sobre alguns pontos-chave do planejamento final: a cadeia esperada por canal, o modelo de operação, o custo estimado para remunerar cada terceiro, e a estrutura que a Orfeu precisa manter na Flórida para ativar o mercado diretamente.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50">
                <a:solidFill>
                  <a:srgbClr val="1A1A1A"/>
                </a:solidFill>
                <a:latin typeface="Avenir Next LT Pro"/>
              </a:rPr>
              <a:t>•  Este documento avança diretamente 5 ações do Playbook EUA: US4 (modelo HoReCa), US6 (cadeia de relacionamento e suprimento por canal — o papel do executivo Orfeu e como cobrir gaps de execução), US8 (P&amp;L e pool de margem), US13 (momentum com a KeHE) e US14 (revisão de price premium).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50">
                <a:solidFill>
                  <a:srgbClr val="1A1A1A"/>
                </a:solidFill>
                <a:latin typeface="Avenir Next LT Pro"/>
              </a:rPr>
              <a:t>•  Parte do que já foi mapeado no WS da Fazenda (Plano Comercial Sul da Flórida) e nas entrevistas da semana de 17/ago, e adiciona: a matriz de atividades por canal, o custo esperado de cada elo da cadeia, a estrutura Orfeu necessária na Flórida, e três cenários de pool de margem — Illy, Stumptown e o preço real que a Orfeu já pratica.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11247120" cy="18288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297680"/>
            <a:ext cx="50800" cy="1828800"/>
          </a:xfrm>
          <a:prstGeom prst="rect">
            <a:avLst/>
          </a:prstGeom>
          <a:solidFill>
            <a:srgbClr val="BA6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44398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26492D"/>
                </a:solidFill>
                <a:latin typeface="Avenir Next LT Pro"/>
              </a:rPr>
              <a:t>PRINCIPAL ACHADO DESTE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91456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1A1A1A"/>
                </a:solidFill>
                <a:latin typeface="Avenir Next LT Pro"/>
              </a:rPr>
              <a:t>Rodando o preço de Illy (corrigido com 4 fontes), de Stumptown e o preço que a Orfeu JÁ pratica de fato na Amazon (dados reais de venda) pela mesma cadeia tradicional completa (distribuidor + broker + varejista) — ver slides 9-12 — os 3 fecham com margem positiva, mas em um gradiente claro: Illy e Stumptown apertados (~10-14%), o preço real da Orfeu saudável (~36%). Isso confirma que a Orfeu já está posicionada corretamente ACIMA de Illy/Stumptown; o desafio é sustentar esse preço nos canais de varejo físico (Publix, KeHE), não replicar o preço dos concorrentes.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Alquemia para Orfeu · Cadeia &amp; Modelo Comercial EUA · 19/ago/2026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img_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Canais Orfeu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368503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685032" cy="50292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286000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venir Next LT Pro"/>
              </a:rPr>
              <a:t>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88920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BA6124"/>
                </a:solidFill>
                <a:latin typeface="Avenir Next LT Pro"/>
              </a:rPr>
              <a:t>DTC (site próprio) + Marketplace (Amazon)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29000"/>
            <a:ext cx="3355848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Sem intermediário de prateleira — taxas de plataforma + fulfillment (3PL) + mídia paga.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Motor de margem: contribuição &gt;40%, sem cascata de distribuidor/broker.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Gap hoje: nenhuma iniciativa do Playbook cobre DTC/marketplace — precisa de dono.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2148840"/>
            <a:ext cx="368503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2148840"/>
            <a:ext cx="3685032" cy="50292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2286000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venir Next LT Pro"/>
              </a:rPr>
              <a:t>VAREJO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788920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BA6124"/>
                </a:solidFill>
                <a:latin typeface="Avenir Next LT Pro"/>
              </a:rPr>
              <a:t>Redes Nacionais · Redes Naturais · Redes Regionais · Independentes · Conveniência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3429000"/>
            <a:ext cx="3355848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5 sub-formatos, cada um com intensidade diferente de Broker/Distribuidor (ver slide 5).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Redes (principalmente Nacionais): mínimo 50% do faturamento precisa de Broker + Distribuidor juntos.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Cadeia mais longa e mais cara — mas é onde está o volume e a exposição de marca.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2148840"/>
            <a:ext cx="3685032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2148840"/>
            <a:ext cx="3685032" cy="50292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286000"/>
            <a:ext cx="3355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venir Next LT Pro"/>
              </a:rPr>
              <a:t>HORECA + OFFICE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788920"/>
            <a:ext cx="3355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BA6124"/>
                </a:solidFill>
                <a:latin typeface="Avenir Next LT Pro"/>
              </a:rPr>
              <a:t>Hotéis boutique, food-service e escritórios/workplace coffee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429000"/>
            <a:ext cx="3355848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Distribuidor e broker especializados em food-service — diferentes dos de varejo.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Modelo Drip Coffee como "cavalo de troia": custo de aquisição zero para o hotel.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000">
                <a:solidFill>
                  <a:srgbClr val="1A1A1A"/>
                </a:solidFill>
                <a:latin typeface="Avenir Next LT Pro"/>
              </a:rPr>
              <a:t>•  Office ainda não validado como prioridade de fase Plantio (US5) — tratar como opção, não certeza.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Online é tratado como canal próprio (owned), sem intermediários de prateleira.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_img_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ESTRUTURA DA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Os Elos da Cadeia &amp; o Modelo Mais Comum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Avenir Next LT Pro"/>
              </a:rPr>
              <a:t>Modelo tradicional: o Importador coloca o produto nos EUA e mantém estoque disponível para os diferentes CDs dos Distribuidores. Brokers (ou o próprio fabricante) vendem para as Redes de clientes. Em contas mais importantes, o trabalho também precisa do apoio direto do fabricante — que muitas vezes abre a conta ou faz rota em conjunto com o distribuidor, para dar foco ao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182880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16824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Elo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3063240"/>
            <a:ext cx="57607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3099816"/>
            <a:ext cx="56144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Papel principal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063240"/>
            <a:ext cx="365760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09981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Sobreposição possível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92424"/>
            <a:ext cx="1828800" cy="77724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38144"/>
            <a:ext cx="1682496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Importador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3392424"/>
            <a:ext cx="5760720" cy="77724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3438144"/>
            <a:ext cx="5614416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Logística, câmbio, compliance de importação (FDA/FSMA); mantém estoque disponível para os CDs dos distribuidores.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392424"/>
            <a:ext cx="3657600" cy="77724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3438144"/>
            <a:ext cx="3511296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Pode assumir parte do trabalho comercial.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9664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215384"/>
            <a:ext cx="1682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Distribuidor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169664"/>
            <a:ext cx="5760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4215384"/>
            <a:ext cx="56144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Armazenagem, entrega, crédito ao varejista; recebe e fatura pelo estoque do importador.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169664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9872" y="4215384"/>
            <a:ext cx="35112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Apoia como Gerente de Contas Nacionais.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91456"/>
            <a:ext cx="1828800" cy="62179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837176"/>
            <a:ext cx="1682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Broker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791456"/>
            <a:ext cx="5760720" cy="62179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837176"/>
            <a:ext cx="56144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Representa a marca junto a compradores; negocia espaço de gôndola; gerencia trade spend.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791456"/>
            <a:ext cx="3657600" cy="62179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4837176"/>
            <a:ext cx="35112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Pode fazer execução de loja (merchandising/reposição).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13248"/>
            <a:ext cx="1828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458968"/>
            <a:ext cx="16824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Orfeu (fabricante)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5413248"/>
            <a:ext cx="5760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5458968"/>
            <a:ext cx="561441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Contas mais importantes: abertura de conta e rota conjunta com o distribuidor para dar foco ao time.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5413248"/>
            <a:ext cx="36576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5458968"/>
            <a:ext cx="3511296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Avenir Next LT Pro"/>
              </a:rPr>
              <a:t>Sempre presente nas contas-chave, independente do canal.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A6124"/>
                </a:solidFill>
                <a:latin typeface="Avenir Next LT Pro"/>
              </a:rPr>
              <a:t>Regra geral: em Redes (principalmente Nacionais), no mínimo 50% do faturamento precisa do apoio do Broker, além do Distribuidor.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As responsabilidades podem se sobrepor levemente dependendo do acordo comercial com cada parceiro.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QUEM FAZ O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Matriz de Atividades — Varejo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749039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048256"/>
            <a:ext cx="36027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Atividade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39" y="2011680"/>
            <a:ext cx="1874519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1" y="2048256"/>
            <a:ext cx="1728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Importador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8" y="2011680"/>
            <a:ext cx="1874519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0" y="2048256"/>
            <a:ext cx="1728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Distribuidor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7" y="2011680"/>
            <a:ext cx="1874519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29" y="2048256"/>
            <a:ext cx="1728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796" y="2011680"/>
            <a:ext cx="1874519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2948" y="2048256"/>
            <a:ext cx="172821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Avenir Next LT Pro"/>
              </a:rPr>
              <a:t>Orfeu (time local)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864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386584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Importação, câmbio, compliance FDA/FSMA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39" y="234086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9391" y="238658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8" y="234086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0" y="238658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7" y="234086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29" y="238658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9829796" y="234086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02948" y="238658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apoio documental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647188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692908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Manter estoque disponível para os CDs dos distribuidores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39" y="264718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1" y="269290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58" y="264718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3910" y="269290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7" y="264718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29" y="269290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9829796" y="264718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2948" y="269290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53512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2999232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Abertura de conta / prospecção — contas-chave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39" y="2953512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79391" y="299923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6080758" y="2953512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0" y="299923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7" y="2953512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28429" y="299923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apoio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29796" y="2953512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02948" y="299923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259836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3305556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Negociação comercial (preço, condições, slotting)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39" y="3259836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9391" y="330555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6080758" y="3259836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53910" y="330555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7" y="3259836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28429" y="330555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796" y="3259836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2948" y="330555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apoio direto em contas-chave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566160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0352" y="3611880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Gestão de Conta Nacional (National Account Mgmt)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39" y="3566160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79391" y="361188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6080758" y="3566160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53910" y="361188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77" y="3566160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8429" y="361188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9829796" y="3566160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02948" y="361188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acompanha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872484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0352" y="3918204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Armazenagem, logística, entrega à loja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39" y="387248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79391" y="391820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080758" y="387248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53910" y="391820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955277" y="387248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28429" y="391820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9829796" y="3872484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02948" y="391820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178808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4224528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Crédito ao varejista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06239" y="4178808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79391" y="422452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6080758" y="4178808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53910" y="422452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55277" y="4178808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28429" y="422452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9829796" y="4178808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02948" y="422452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" y="4485132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" y="4530852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Execução em loja / merchandising / reposição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06239" y="4485132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79391" y="453085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6080758" y="4485132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53910" y="453085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7955277" y="4485132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28429" y="453085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29796" y="4485132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02948" y="4530852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" y="4791456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0352" y="4837176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Gestão de trade spend / promoções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39" y="4791456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79391" y="483717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58" y="4791456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53910" y="483717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7955277" y="4791456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28429" y="483717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29796" y="4791456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902948" y="4837176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define orçamento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5097780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30352" y="5143500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Compliance EDI e documentação técnica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06239" y="5097780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79391" y="514350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080758" y="5097780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153910" y="514350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apoio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955277" y="5097780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28429" y="514350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apoio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829796" y="5097780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902948" y="5143500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5404104"/>
            <a:ext cx="374903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0352" y="5449824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Roteirização conjunta em contas-chave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206239" y="540410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279391" y="544982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6080758" y="540410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153910" y="544982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955277" y="540410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028429" y="544982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9829796" y="5404104"/>
            <a:ext cx="1874519" cy="306324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02948" y="5449824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7200" y="5710428"/>
            <a:ext cx="374903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30352" y="5756148"/>
            <a:ext cx="360273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Reporte de sell-through / dados de giro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06239" y="571042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279391" y="575614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6080758" y="571042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53910" y="575614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dado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55277" y="571042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028429" y="575614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dado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796" y="5710428"/>
            <a:ext cx="1874519" cy="3063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02948" y="5756148"/>
            <a:ext cx="1728215" cy="2331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análise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1">
                <a:solidFill>
                  <a:srgbClr val="6E6E6E"/>
                </a:solidFill>
                <a:latin typeface="Avenir Next LT Pro"/>
              </a:rPr>
              <a:t>● = responsável primário   ·   Redes Nacionais: broker + distribuidor obrigatórios em ≥50% do faturamento. Independentes/Regionais menores podem operar só com distribuidor.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Matriz de Atividades — Varejo · construída a partir do modelo tradicional descrito no slide 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QUEM FAZ O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Matriz de Atividades — Online &amp; HoReCa + Office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492D"/>
                </a:solidFill>
                <a:latin typeface="Avenir Next LT Pro"/>
              </a:rPr>
              <a:t>ONLINE (DTC + MARKETPLACE)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30175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414016"/>
            <a:ext cx="2871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Atividade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377440"/>
            <a:ext cx="11887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414016"/>
            <a:ext cx="10424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Orfeu (direto)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377440"/>
            <a:ext cx="11887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414016"/>
            <a:ext cx="10424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Avenir Next LT Pro"/>
              </a:rPr>
              <a:t>3PL / 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06624"/>
            <a:ext cx="30175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752344"/>
            <a:ext cx="28712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Loja própria (site) e conteúdo de marca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706624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752344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706624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752344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90672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136392"/>
            <a:ext cx="28712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Gestão do marketplace (Amazon: catálogo, Ads, avaliações)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30906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36392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0906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136392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30175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520440"/>
            <a:ext cx="28712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Fulfillment / armazenagem / envio ao consumidor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474720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520440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474720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3520440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58768"/>
            <a:ext cx="30175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3904488"/>
            <a:ext cx="28712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Mídia paga e aquisição de cliente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38587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47872" y="3904488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8587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3904488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42816"/>
            <a:ext cx="30175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4288536"/>
            <a:ext cx="28712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Assinatura / recorrência (Subscribe &amp; Save)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242816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47872" y="4288536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242816"/>
            <a:ext cx="1188720" cy="38404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4288536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1A1A1A"/>
                </a:solidFill>
                <a:latin typeface="Avenir Next LT Pro"/>
              </a:rPr>
              <a:t>plataforma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0574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6492D"/>
                </a:solidFill>
                <a:latin typeface="Avenir Next LT Pro"/>
              </a:rPr>
              <a:t>HORECA + OFFICE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2377440"/>
            <a:ext cx="196596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2414016"/>
            <a:ext cx="18196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1" i="0">
                <a:solidFill>
                  <a:srgbClr val="FFFFFF"/>
                </a:solidFill>
                <a:latin typeface="Avenir Next LT Pro"/>
              </a:rPr>
              <a:t>Atividade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377440"/>
            <a:ext cx="77724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2" y="2414016"/>
            <a:ext cx="630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19" b="1" i="0">
                <a:solidFill>
                  <a:srgbClr val="FFFFFF"/>
                </a:solidFill>
                <a:latin typeface="Avenir Next LT Pro"/>
              </a:rPr>
              <a:t>Importador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2377440"/>
            <a:ext cx="9601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9992" y="2414016"/>
            <a:ext cx="8138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19" b="1" i="0">
                <a:solidFill>
                  <a:srgbClr val="FFFFFF"/>
                </a:solidFill>
                <a:latin typeface="Avenir Next LT Pro"/>
              </a:rPr>
              <a:t>Distribuidor Food-Service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2377440"/>
            <a:ext cx="86868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40112" y="2414016"/>
            <a:ext cx="7223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19" b="1" i="0">
                <a:solidFill>
                  <a:srgbClr val="FFFFFF"/>
                </a:solidFill>
                <a:latin typeface="Avenir Next LT Pro"/>
              </a:rPr>
              <a:t>Broker Especializado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35640" y="2377440"/>
            <a:ext cx="9601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08792" y="2414016"/>
            <a:ext cx="8138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19" b="1" i="0">
                <a:solidFill>
                  <a:srgbClr val="FFFFFF"/>
                </a:solidFill>
                <a:latin typeface="Avenir Next LT Pro"/>
              </a:rPr>
              <a:t>Orfeu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2706624"/>
            <a:ext cx="196596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36792" y="2752344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Fornecimento de máquinas / enxoval / apoio de barista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2706624"/>
            <a:ext cx="77724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02752" y="2752344"/>
            <a:ext cx="630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9006840" y="2706624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79992" y="2752344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2706624"/>
            <a:ext cx="86868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40112" y="2752344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0835640" y="2706624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08792" y="2752344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63640" y="3145536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36792" y="3191256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Distribuição a hotéis/restaurantes (rota food-service)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314553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2752" y="3191256"/>
            <a:ext cx="630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9006840" y="3145536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9992" y="3191256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3145536"/>
            <a:ext cx="868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0112" y="3191256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10835640" y="3145536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08792" y="3191256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6263640" y="3584448"/>
            <a:ext cx="196596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36792" y="3630168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Negociação com compradores de F&amp;B / procurement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3584448"/>
            <a:ext cx="77724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02752" y="3630168"/>
            <a:ext cx="630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9006840" y="3584448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079992" y="3630168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584448"/>
            <a:ext cx="86868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040112" y="3630168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835640" y="3584448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908792" y="3630168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apoio em contas-chave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63640" y="4023360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36792" y="4069080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Treinamento de equipe do cliente (barista/qualidade)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0" y="402336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02752" y="4069080"/>
            <a:ext cx="630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9006840" y="4023360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79992" y="4069080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9966960" y="4023360"/>
            <a:ext cx="868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40112" y="4069080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0835640" y="4023360"/>
            <a:ext cx="960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08792" y="4069080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63640" y="4462272"/>
            <a:ext cx="196596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6792" y="4507992"/>
            <a:ext cx="181965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Reposição de sachês/cápsulas em quarto/copa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29600" y="4462272"/>
            <a:ext cx="77724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02752" y="4507992"/>
            <a:ext cx="63093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9006840" y="4462272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79992" y="4507992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66960" y="4462272"/>
            <a:ext cx="86868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40112" y="4507992"/>
            <a:ext cx="722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>apoio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835640" y="4462272"/>
            <a:ext cx="960120" cy="43891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908792" y="4507992"/>
            <a:ext cx="813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70" b="0" i="0">
                <a:solidFill>
                  <a:srgbClr val="1A1A1A"/>
                </a:solidFill>
                <a:latin typeface="Avenir Next LT Pro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892040"/>
            <a:ext cx="11247120" cy="14173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7200" y="4892040"/>
            <a:ext cx="50800" cy="1417320"/>
          </a:xfrm>
          <a:prstGeom prst="rect">
            <a:avLst/>
          </a:prstGeom>
          <a:solidFill>
            <a:srgbClr val="BA6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13232" y="50292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26492D"/>
                </a:solidFill>
                <a:latin typeface="Avenir Next LT Pro"/>
              </a:rPr>
              <a:t>LEITURA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3232" y="5349240"/>
            <a:ext cx="107899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Avenir Next LT Pro"/>
              </a:rPr>
              <a:t>•  Online é o único canal 100% owned — sem broker nem distribuidor tradicional, maior margem de contribuição.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Avenir Next LT Pro"/>
              </a:rPr>
              <a:t>•  HoReCa+Office usa um distribuidor e um broker DIFERENTES dos de varejo (especializados em food-service) — não reutilizar o mesmo parceiro dos dois lados sem confirmar que ele cobre as duas frentes.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Estrutura de atividades por canal — Online e HoReCa+Office.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ECONOMICS DA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Custos Esperados por Elo da Cadeia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55448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139696"/>
            <a:ext cx="14081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103120"/>
            <a:ext cx="365760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84832" y="213969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O que faz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103120"/>
            <a:ext cx="310896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42432" y="2139696"/>
            <a:ext cx="29626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Margem / comissão típica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103120"/>
            <a:ext cx="310896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2139696"/>
            <a:ext cx="29626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Recursos esperados da Orfeu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32304"/>
            <a:ext cx="1554480" cy="8686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78024"/>
            <a:ext cx="140817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Importador</a:t>
            </a:r>
          </a:p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/ Trader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432304"/>
            <a:ext cx="3657600" cy="8686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478024"/>
            <a:ext cx="351129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Logística, câmbio, compliance de importação (FDA/FSMA); às vezes financia estoque em trânsito.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432304"/>
            <a:ext cx="3108960" cy="8686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478024"/>
            <a:ext cx="296265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5–15% (commodity) a 15–30% (specialty / lote rastreável)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432304"/>
            <a:ext cx="3108960" cy="8686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2478024"/>
            <a:ext cx="296265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Volume mínimo, documentação de compliance, previsibilidade de embarque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00984"/>
            <a:ext cx="1554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34670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Distribuidor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300984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84832" y="3346704"/>
            <a:ext cx="35112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Armazenagem, logística, entrega às lojas, crédito ao varejista.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00984"/>
            <a:ext cx="3108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42432" y="3346704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12–20% (geral) a 20–35% (specialty/premium) de margem bruta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300984"/>
            <a:ext cx="310896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51392" y="3346704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Compliance EDI, seguro (US$2M+), cumprimento de embalagem/prazo de entrega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32504"/>
            <a:ext cx="1554480" cy="7315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0782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Broker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4032504"/>
            <a:ext cx="3657600" cy="7315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4078224"/>
            <a:ext cx="35112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Representa a marca junto a compradores; negocia espaço de gôndola; gerencia trade spend.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032504"/>
            <a:ext cx="3108960" cy="7315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42432" y="4078224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2–5% (convencional) a 5–7%+ (natural/specialty) sobre vendas líquidas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4032504"/>
            <a:ext cx="3108960" cy="7315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1392" y="4078224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Orçamento de trade marketing, material de vendas, ponto focal Orfeu dedicado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764024"/>
            <a:ext cx="1554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809744"/>
            <a:ext cx="140817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Varejista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4764024"/>
            <a:ext cx="3657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84832" y="4809744"/>
            <a:ext cx="351129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Espaço de prateleira, exposição ao consumidor final, dados de sell-through.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4764024"/>
            <a:ext cx="3108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42432" y="4809744"/>
            <a:ext cx="296265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~30–40% de margem de categoria sobre o preço de venda (mercearia seca/embalados)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764024"/>
            <a:ext cx="3108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51392" y="4809744"/>
            <a:ext cx="2962656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69" b="0" i="0">
                <a:solidFill>
                  <a:srgbClr val="1A1A1A"/>
                </a:solidFill>
                <a:latin typeface="Avenir Next LT Pro"/>
              </a:rPr>
              <a:t>Possível slotting fee, formulário de dados do produto, amostra, 12–24 meses do cadastro à 1ª PO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6967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A6124"/>
                </a:solidFill>
                <a:latin typeface="Avenir Next LT Pro"/>
              </a:rPr>
              <a:t>Somando a cadeia completa de Varejo: ~50–85% do preço de prateleira pode ser consumido por broker + distribuidor + varejista antes de chegar à Orfeu.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Benchmarks de mercado — validar os números reais com cada parceiro em cotação. Fonte: pesquisa pública + entrevistas da semana de 17/ago (KeHE, C.A. Ferolie, Publix).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O QUE A ORFEU PRECISA MONTAR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Estrutura Orfeu na Flórida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venir Next LT Pro"/>
              </a:rPr>
              <a:t>Mesmo com importador, distribuidor e broker cobrindo grande parte da execução, a Orfeu precisa manter recursos próprios na Flórida para que a cadeia funcione — ligado a US25 (estrutura do time local).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39319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734056"/>
            <a:ext cx="37856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Recurso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697480"/>
            <a:ext cx="731520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2734056"/>
            <a:ext cx="7168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Avenir Next LT Pro"/>
              </a:rPr>
              <a:t>Por quê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26664"/>
            <a:ext cx="393192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0723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GM / Country Manager sediado na Flórida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026664"/>
            <a:ext cx="731520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30723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Ponto focal único para importador, distribuidor, broker e contas-chave — sem isso, ninguém "dono" da relação.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8386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5295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Gestor de Contas — 1 para cada ~100 PDVs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483864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2" y="35295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Apoia visitas às lojas em atuação conjunta com o Country Manager. Posição escala em quantidade e geografia conforme a profundidade de cobertura em cada mercado.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41064"/>
            <a:ext cx="393192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9867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Pessoa dedicada de trade marketing / vendas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41064"/>
            <a:ext cx="731520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9867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Gerencia orçamento de trade spend, material de vendas e acompanha o broker de perto.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9826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4439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Orçamento de trade marketing / slotting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398264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44439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Custo de entrada em Redes Nacionais — não incluso na margem do broker/distribuidor.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55464"/>
            <a:ext cx="393192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49011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Seguro de responsabilidade civil (US$2M+)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855464"/>
            <a:ext cx="731520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49011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Pré-requisito de compliance de distribuidores como a KeHE (segurada adicional).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1266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3583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Certificação FDA/FSMA + registro de instalação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5312664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2" y="53583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Pré-requisito legal para qualquer importação de alimento nos EUA.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769864"/>
            <a:ext cx="393192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58155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Capital de giro para prazo de pagamento do distribuidor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5769864"/>
            <a:ext cx="7315200" cy="45720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2" y="58155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Distribuidores pagam em prazo (não à vista) — a Orfeu financia esse hiato (ligado a US10/US18).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227064"/>
            <a:ext cx="3931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6272784"/>
            <a:ext cx="378561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Compliance EDI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6227064"/>
            <a:ext cx="7315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6272784"/>
            <a:ext cx="71688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Pré-requisito técnico de pedido/faturamento eletrônico com KeHE, Publix e a maioria dos grandes distribuidores/varejistas.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Estrutura mínima recomendada para o piloto Sul da Flórida — dimensionamento fino depende do volume validado em campo (US25).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PREÇO DE PRATELEIRA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Benchmark de Preços — Marcas Premium (Amazon US &amp; Publix)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Preço médio realmente praticado (Orfeu, vendas reais Q2/2026) vs. preço de tabela dos concorrentes — checado em múltiplas fontes por marca, ago/2026.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12848"/>
            <a:ext cx="118872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240280"/>
            <a:ext cx="106070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Marca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2212848"/>
            <a:ext cx="320040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9928" y="2240280"/>
            <a:ext cx="307238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Produto / Embalagem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212848"/>
            <a:ext cx="169164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2240280"/>
            <a:ext cx="156362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Preço Amazon 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212848"/>
            <a:ext cx="96012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240280"/>
            <a:ext cx="83210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US$/oz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0" y="2212848"/>
            <a:ext cx="201168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2240280"/>
            <a:ext cx="188366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Preço Publix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2212848"/>
            <a:ext cx="2194560" cy="256032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3768" y="2240280"/>
            <a:ext cx="2066544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1" i="0">
                <a:solidFill>
                  <a:srgbClr val="FFFFFF"/>
                </a:solidFill>
                <a:latin typeface="Avenir Next LT Pro"/>
              </a:rPr>
              <a:t>Fontes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68880"/>
            <a:ext cx="11247120" cy="18288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82596"/>
            <a:ext cx="36576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1" i="0">
                <a:solidFill>
                  <a:srgbClr val="BA6124"/>
                </a:solidFill>
                <a:latin typeface="Avenir Next LT Pro"/>
              </a:rPr>
              <a:t>ORFEU — PREÇO MÉDIO REALIZADO (VENDAS REAIS)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51760"/>
            <a:ext cx="11887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2670048"/>
            <a:ext cx="10607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651760"/>
            <a:ext cx="320040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09928" y="2670048"/>
            <a:ext cx="3072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Drip Sachet Classic — 10un, 100g/3,52oz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651760"/>
            <a:ext cx="169164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0328" y="2670048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US$ 24,14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2651760"/>
            <a:ext cx="9601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670048"/>
            <a:ext cx="8321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US$ 6,86*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2651760"/>
            <a:ext cx="201168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2670048"/>
            <a:ext cx="18836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651760"/>
            <a:ext cx="219456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3768" y="2670048"/>
            <a:ext cx="20665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Vendas reais Orfeu Amazon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907792"/>
            <a:ext cx="11887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2926080"/>
            <a:ext cx="10607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0" y="2907792"/>
            <a:ext cx="320040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9928" y="2926080"/>
            <a:ext cx="3072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Classic Roasted Beans, 250g/8,8oz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2907792"/>
            <a:ext cx="169164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0328" y="2926080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US$ 22,71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907792"/>
            <a:ext cx="9601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1968" y="2926080"/>
            <a:ext cx="8321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US$ 2,58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2907792"/>
            <a:ext cx="201168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62088" y="2926080"/>
            <a:ext cx="18836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2907792"/>
            <a:ext cx="219456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2926080"/>
            <a:ext cx="20665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Vendas reais Orfeu Amazon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163824"/>
            <a:ext cx="11887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" y="3182112"/>
            <a:ext cx="10607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0" y="3163824"/>
            <a:ext cx="320040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09928" y="3182112"/>
            <a:ext cx="3072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Yellow Bourbon Roasted Beans, 8,8oz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3163824"/>
            <a:ext cx="169164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0328" y="3182112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US$ 24,39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3163824"/>
            <a:ext cx="9601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3182112"/>
            <a:ext cx="8321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US$ 2,77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3163824"/>
            <a:ext cx="201168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62088" y="3182112"/>
            <a:ext cx="18836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163824"/>
            <a:ext cx="219456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3768" y="3182112"/>
            <a:ext cx="20665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Vendas reais Orfeu Amazon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419856"/>
            <a:ext cx="11887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" y="3438144"/>
            <a:ext cx="10607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45920" y="3419856"/>
            <a:ext cx="320040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09928" y="3438144"/>
            <a:ext cx="3072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Organic Coffee, 250g/8,8oz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3419856"/>
            <a:ext cx="169164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10328" y="3438144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US$ 29,23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419856"/>
            <a:ext cx="9601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01968" y="3438144"/>
            <a:ext cx="8321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US$ 3,32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98080" y="3419856"/>
            <a:ext cx="201168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62088" y="3438144"/>
            <a:ext cx="18836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3419856"/>
            <a:ext cx="219456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73768" y="3438144"/>
            <a:ext cx="20665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Vendas reais Orfeu Amazon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675888"/>
            <a:ext cx="11887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3694176"/>
            <a:ext cx="10607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BA6124"/>
                </a:solidFill>
                <a:latin typeface="Avenir Next LT Pro"/>
              </a:rPr>
              <a:t>Orfeu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0" y="3675888"/>
            <a:ext cx="320040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09928" y="3694176"/>
            <a:ext cx="30723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Intense Roasted Beans, 1kg/35,2oz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46320" y="3675888"/>
            <a:ext cx="169164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10328" y="3694176"/>
            <a:ext cx="15636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US$ 47,63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3675888"/>
            <a:ext cx="96012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01968" y="3694176"/>
            <a:ext cx="83210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US$ 1,35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98080" y="3675888"/>
            <a:ext cx="201168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62088" y="3694176"/>
            <a:ext cx="18836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09760" y="3675888"/>
            <a:ext cx="2194560" cy="256032"/>
          </a:xfrm>
          <a:prstGeom prst="rect">
            <a:avLst/>
          </a:prstGeom>
          <a:solidFill>
            <a:srgbClr val="FCF6EC"/>
          </a:solidFill>
          <a:ln w="6350">
            <a:solidFill>
              <a:srgbClr val="E6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73768" y="3694176"/>
            <a:ext cx="20665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Vendas reais Orfeu Amazon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3931920"/>
            <a:ext cx="11247120" cy="18288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3945636"/>
            <a:ext cx="548640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80" b="1" i="0">
                <a:solidFill>
                  <a:srgbClr val="26492D"/>
                </a:solidFill>
                <a:latin typeface="Avenir Next LT Pro"/>
              </a:rPr>
              <a:t>CONCORRÊNCIA PREMIUM — MÚLTIPLAS FONTES, AGO/2026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4114800"/>
            <a:ext cx="11887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413308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Illy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645920" y="4114800"/>
            <a:ext cx="320040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709928" y="413308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Classico, medium roast, 8,8oz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846320" y="4114800"/>
            <a:ext cx="169164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10328" y="413308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US$11,64-17,29 (méd. US$14,85)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37960" y="4114800"/>
            <a:ext cx="9601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601968" y="413308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US$ 1,69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498080" y="4114800"/>
            <a:ext cx="201168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62088" y="413308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US$13,29 (promo) / 15,49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09760" y="4114800"/>
            <a:ext cx="219456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73768" y="413308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illy.com, Target, Walmart, delivery.publix.com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389120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1208" y="440740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Lavazza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645920" y="4389120"/>
            <a:ext cx="3200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709928" y="440740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Super Crema, whole bean, 2,2lb/35,2oz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46320" y="4389120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10328" y="440740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US$17,49-26,99 (alta variação/promo)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37960" y="4389120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01968" y="440740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US$ 0,63-0,77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98080" y="438912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62088" y="440740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confirmado (Super Crema); Tiramisu (outra linha) é vendido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509760" y="4389120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73768" y="440740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Amazon (slickdeals), Target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4663440"/>
            <a:ext cx="11887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1208" y="468172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Stumptown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645920" y="4663440"/>
            <a:ext cx="320040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709928" y="468172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Hair Bender, whole bean, 12oz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846320" y="4663440"/>
            <a:ext cx="169164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910328" y="468172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US$ 19,00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37960" y="4663440"/>
            <a:ext cx="9601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01968" y="468172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US$ 1,58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498080" y="4663440"/>
            <a:ext cx="201168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62088" y="468172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 (Amazon/DTC/Whole Foods)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509760" y="4663440"/>
            <a:ext cx="219456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573768" y="468172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Site da marca / Whole Foods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4937760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21208" y="495604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La Colombe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0" y="4937760"/>
            <a:ext cx="3200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709928" y="495604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Whole bean, 12oz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846320" y="4937760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10328" y="495604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US$ 14,98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37960" y="4937760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01968" y="495604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US$ 1,25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98080" y="493776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62088" y="495604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Só RTD Cold Brew (não vende grão/moído)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9509760" y="4937760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573768" y="495604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Amazon; delivery.publix.com (RTD)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7200" y="5212080"/>
            <a:ext cx="11887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1208" y="523036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Peet's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45920" y="5212080"/>
            <a:ext cx="320040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709928" y="523036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Major Dickason's, whole bean, 18oz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46320" y="5212080"/>
            <a:ext cx="169164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910328" y="523036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US$ 16,86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37960" y="5212080"/>
            <a:ext cx="9601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601968" y="523036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US$ 0,94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498080" y="5212080"/>
            <a:ext cx="201168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62088" y="523036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Provável, não confirmado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509760" y="5212080"/>
            <a:ext cx="219456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573768" y="523036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Amazon (fonte única — validar)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57200" y="5486400"/>
            <a:ext cx="1188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21208" y="550468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Blue Bottle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45920" y="5486400"/>
            <a:ext cx="3200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709928" y="550468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Whole bean, orgânico, 12oz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846320" y="5486400"/>
            <a:ext cx="16916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10328" y="550468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US$ 18,99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37960" y="5486400"/>
            <a:ext cx="960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601968" y="550468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US$ 1,58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498080" y="5486400"/>
            <a:ext cx="201168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562088" y="550468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 (Amazon/DTC/Whole Foods)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509760" y="5486400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573768" y="550468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Acme Markets / Amazon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7200" y="5760720"/>
            <a:ext cx="11887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21208" y="5779008"/>
            <a:ext cx="10607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1" i="0">
                <a:solidFill>
                  <a:srgbClr val="1A1A1A"/>
                </a:solidFill>
                <a:latin typeface="Avenir Next LT Pro"/>
              </a:rPr>
              <a:t>Publix GreenWise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645920" y="5760720"/>
            <a:ext cx="320040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709928" y="5779008"/>
            <a:ext cx="307238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Café orgânico (marca própria), 10oz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846320" y="5760720"/>
            <a:ext cx="169164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910328" y="5779008"/>
            <a:ext cx="15636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Não vendido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37960" y="5760720"/>
            <a:ext cx="96012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01968" y="5779008"/>
            <a:ext cx="83210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498080" y="5760720"/>
            <a:ext cx="201168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562088" y="5779008"/>
            <a:ext cx="188366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US$ 13,29 (US$1,33/oz) CONFIRMADO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509760" y="5760720"/>
            <a:ext cx="2194560" cy="27432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573768" y="5779008"/>
            <a:ext cx="20665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" b="0" i="0">
                <a:solidFill>
                  <a:srgbClr val="1A1A1A"/>
                </a:solidFill>
                <a:latin typeface="Avenir Next LT Pro"/>
              </a:rPr>
              <a:t>delivery.publix.com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E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57200" y="6080760"/>
            <a:ext cx="50800" cy="4572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85800" y="6108192"/>
            <a:ext cx="1088136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30" b="1" i="0">
                <a:solidFill>
                  <a:srgbClr val="26492D"/>
                </a:solidFill>
                <a:latin typeface="Avenir Next LT Pro"/>
              </a:rPr>
              <a:t>LEITURA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85800" y="6263640"/>
            <a:ext cx="108813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50"/>
              </a:spcAft>
            </a:pPr>
            <a:r>
              <a:rPr sz="760">
                <a:solidFill>
                  <a:srgbClr val="1A1A1A"/>
                </a:solidFill>
                <a:latin typeface="Avenir Next LT Pro"/>
              </a:rPr>
              <a:t>•  Illy CORRIGIDO com múltiplas fontes: média US$1,69/oz — mais caro que Stumptown (US$1,58/oz), como esperado para uma marca âncora do segmento premium; a 1ª pesquisa usou um preço de terceiro isolado e estava errada.</a:t>
            </a:r>
          </a:p>
          <a:p>
            <a:pPr>
              <a:lnSpc>
                <a:spcPct val="112000"/>
              </a:lnSpc>
              <a:spcAft>
                <a:spcPts val="150"/>
              </a:spcAft>
            </a:pPr>
            <a:r>
              <a:rPr sz="760">
                <a:solidFill>
                  <a:srgbClr val="1A1A1A"/>
                </a:solidFill>
                <a:latin typeface="Avenir Next LT Pro"/>
              </a:rPr>
              <a:t>•  Orfeu já realiza US$2,58-3,32/oz no formato 8,8oz — acima de todas as marcas pesquisadas, com volume real (554 unidades do sachê drip só no trimestre).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574536"/>
            <a:ext cx="11247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 i="1">
                <a:solidFill>
                  <a:srgbClr val="6E6E6E"/>
                </a:solidFill>
                <a:latin typeface="Avenir Next LT Pro"/>
              </a:rPr>
              <a:t>*Sachê (100g) não é comparável a grão/moído em saco. Illy: média de 4 fontes independentes (site oficial, Target, Walmart, Publix). Publix geral: preços de delivery.publix.com podem ser levemente acima da loja física. GreenWise e La Colombe RTD confirmados diretamente via delivery.publix.com.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MARGIN POOL · PACOTE 10OZ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Cenário Illy — Pool de Margem (10oz)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Avenir Next LT Pro"/>
              </a:rPr>
              <a:t>Equivalência de preço a Illy (corrigido, múltiplas fontes): US$1.69/oz × 10oz = US$16.88 de MSRP.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MSRP (preço de prateleira, 10oz)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5117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US$ 16.88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Varejista (35%)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-5.91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72968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954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= Preço pago pelo Varejista ao Distribuidor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95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US$ 10.97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0215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Distribuidor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3872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-2.19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6791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Bruta Inicial da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6791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US$ 8.78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9709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Trade spend + shrink + broker (~22% da receita bruta)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9709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-1.93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Frete outbound (10oz, escalado de 250g)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-0.51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18888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5546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Líquida por Unidade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5546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US$ 6.34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4807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8464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COGS posto EUA (10oz, escalado de 250g)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8464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-5.11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7725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1383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Margem de Contribuição por Unidade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1383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US$ 1.23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514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514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660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US$ 1.23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999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Margem de contribuição / unidade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657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657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803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14%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142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% sobre a receita bruta da marca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800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4800600"/>
            <a:ext cx="3108960" cy="38100"/>
          </a:xfrm>
          <a:prstGeom prst="rect">
            <a:avLst/>
          </a:prstGeom>
          <a:solidFill>
            <a:srgbClr val="BA6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946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A6124"/>
                </a:solidFill>
                <a:latin typeface="Avenir Next LT Pro"/>
              </a:rPr>
              <a:t>US$ 22,52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285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MSRP equivalente p/ 30% de margem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(cadeia completa)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5955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1">
                <a:solidFill>
                  <a:srgbClr val="6E6E6E"/>
                </a:solidFill>
                <a:latin typeface="Avenir Next LT Pro"/>
              </a:rPr>
              <a:t>referência fixa entre os 3 cenários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A6124"/>
                </a:solidFill>
                <a:latin typeface="Avenir Next LT Pro"/>
              </a:rPr>
              <a:t>A cadeia tradicional completa fecha com margem positiva, mas apertada — abaixo do patamar saudável de ~30%.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Referência de preço: Illy Classico 8.8oz — média de 4 fontes: illy.com US$17,29, Target US$14,99, Walmart US$11,64, Publix US$15,49 (regular) = média US$14.85 = US$1.69/oz. COGS e frete escalados linearmente da premissa de 250g do Simulador DRE Sul da Flórida — validar custo real para o formato 10oz antes de fechar preço.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MARGIN POOL · PACOTE 10OZ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Cenário Stumptown — Pool de Margem (10oz)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Avenir Next LT Pro"/>
              </a:rPr>
              <a:t>Segmento Stumptown: US$1,58/oz × 10oz = US$15.83 de MSRP. Com o preço de Illy corrigido (múltiplas fontes), a Illy volta a ficar mais cara por oz que a Stumptown, como esperado para as duas marcas.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MSRP (preço de prateleira, 10oz)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5117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US$ 15.83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Varejista (35%)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-5.54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72968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954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= Preço pago pelo Varejista ao Distribuidor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95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US$ 10.29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0215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Distribuidor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3872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-2.06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6791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Bruta Inicial da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6791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US$ 8.23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9709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Trade spend + shrink + broker (~22% da receita bruta)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9709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-1.81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Frete outbound (10oz, escalado de 250g)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-0.51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18888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5546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Líquida por Unidade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5546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US$ 5.91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4807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8464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COGS posto EUA (10oz, escalado de 250g)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8464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-5.11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7725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1383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Margem de Contribuição por Unidade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1383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US$ 0.80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514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514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660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US$ 0.80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999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Margem de contribuição / unidade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657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657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803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142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% sobre a receita bruta da marca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800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4800600"/>
            <a:ext cx="3108960" cy="38100"/>
          </a:xfrm>
          <a:prstGeom prst="rect">
            <a:avLst/>
          </a:prstGeom>
          <a:solidFill>
            <a:srgbClr val="BA6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946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A6124"/>
                </a:solidFill>
                <a:latin typeface="Avenir Next LT Pro"/>
              </a:rPr>
              <a:t>US$ 22,52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285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MSRP equivalente p/ 30% de margem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(cadeia completa)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5955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1">
                <a:solidFill>
                  <a:srgbClr val="6E6E6E"/>
                </a:solidFill>
                <a:latin typeface="Avenir Next LT Pro"/>
              </a:rPr>
              <a:t>referência fixa entre os 3 cenários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BA6124"/>
                </a:solidFill>
                <a:latin typeface="Avenir Next LT Pro"/>
              </a:rPr>
              <a:t>A cadeia tradicional completa fecha com margem positiva, mas apertada — abaixo do patamar saudável de ~30%.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Referência de preço: Stumptown Hair Bender 12oz, US$19,00 (site da marca / Whole Foods) = US$1,58/oz. COGS e frete escalados linearmente da premissa de 250g do Simulador DRE Sul da Flórida — validar custo real para o formato 10oz antes de fechar preço.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MARGIN POOL · PACOTE 10OZ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Cenário Orfeu Real — Pool de Margem (10oz)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E6E6E"/>
                </a:solidFill>
                <a:latin typeface="Avenir Next LT Pro"/>
              </a:rPr>
              <a:t>Rodando o preço que a Orfeu já pratica de fato: US$2,58/oz × 10oz = US$25.81 de MSRP.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5117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MSRP (preço de prateleira, 10oz)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55117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US$ 25.81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Varejista (35%)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-9.03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72968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20954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= Preço pago pelo Varejista ao Distribuidor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954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US$ 16.78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0215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Margem do Distribuidor (20%)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3872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-3.36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6791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Bruta Inicial da Marca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6791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US$ 13.42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197096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Trade spend + shrink + broker (~22% da receita bruta)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9709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-2.95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26280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Frete outbound (10oz, escalado de 250g)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-0.51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18888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855464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Receita Líquida por Unidade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5546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US$ 9.96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48072"/>
            <a:ext cx="78638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84648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0" i="0">
                <a:solidFill>
                  <a:srgbClr val="1A1A1A"/>
                </a:solidFill>
                <a:latin typeface="Avenir Next LT Pro"/>
              </a:rPr>
              <a:t>(–) COGS posto EUA (10oz, escalado de 250g)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184648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0" i="0">
                <a:solidFill>
                  <a:srgbClr val="A83A2E"/>
                </a:solidFill>
                <a:latin typeface="Avenir Next LT Pro"/>
              </a:rPr>
              <a:t>US$ -5.11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77256"/>
            <a:ext cx="7863840" cy="329184"/>
          </a:xfrm>
          <a:prstGeom prst="rect">
            <a:avLst/>
          </a:prstGeom>
          <a:solidFill>
            <a:srgbClr val="F2F1EC"/>
          </a:solidFill>
          <a:ln w="6350"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513832"/>
            <a:ext cx="5852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1A1A1A"/>
                </a:solidFill>
                <a:latin typeface="Avenir Next LT Pro"/>
              </a:rPr>
              <a:t>= Margem de Contribuição por Unidade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1383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30" b="1" i="0">
                <a:solidFill>
                  <a:srgbClr val="26492D"/>
                </a:solidFill>
                <a:latin typeface="Avenir Next LT Pro"/>
              </a:rPr>
              <a:t>US$ 4.85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514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514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32520" y="2660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US$ 4.85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999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Margem de contribuição / unidade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3657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95360" y="3657600"/>
            <a:ext cx="3108960" cy="3810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3803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6492D"/>
                </a:solidFill>
                <a:latin typeface="Avenir Next LT Pro"/>
              </a:rPr>
              <a:t>36%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4142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% sobre a receita bruta da marca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95360" y="480060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4800600"/>
            <a:ext cx="3108960" cy="38100"/>
          </a:xfrm>
          <a:prstGeom prst="rect">
            <a:avLst/>
          </a:prstGeom>
          <a:solidFill>
            <a:srgbClr val="BA6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20" y="494690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A6124"/>
                </a:solidFill>
                <a:latin typeface="Avenir Next LT Pro"/>
              </a:rPr>
              <a:t>US$ 22,52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52852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MSRP equivalente p/ 30% de margem</a:t>
            </a:r>
          </a:p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E6E6E"/>
                </a:solidFill>
                <a:latin typeface="Avenir Next LT Pro"/>
              </a:rPr>
              <a:t>(cadeia completa)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59552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1">
                <a:solidFill>
                  <a:srgbClr val="6E6E6E"/>
                </a:solidFill>
                <a:latin typeface="Avenir Next LT Pro"/>
              </a:rPr>
              <a:t>referência fixa entre os 3 cenários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080760"/>
            <a:ext cx="11247120" cy="594360"/>
          </a:xfrm>
          <a:prstGeom prst="rect">
            <a:avLst/>
          </a:prstGeom>
          <a:solidFill>
            <a:srgbClr val="E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6492D"/>
                </a:solidFill>
                <a:latin typeface="Avenir Next LT Pro"/>
              </a:rPr>
              <a:t>A cadeia tradicional completa fecha com margem saudável neste preço de prateleira.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Referência de preço: Orfeu Classic Roasted Beans 250g/8.8oz, US$22,71 (preço médio REALIZADO, vendas reais Amazon Q2/2026) = US$2,58/oz. COGS e frete escalados linearmente da premissa de 250g do Simulador DRE Sul da Flórida — validar custo real para o formato 10oz antes de fechar preço.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QUEM COTAR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Targets por Elo da Cadeia — Café/Alimento, Flórida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1">
                <a:solidFill>
                  <a:srgbClr val="6E6E6E"/>
                </a:solidFill>
                <a:latin typeface="Avenir Next LT Pro"/>
              </a:rPr>
              <a:t>Empresas reais com presença/relevância na Flórida para iniciar cotação e conversas — pesquisa pública, validar experiência específica em café no primeiro contato.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95728"/>
            <a:ext cx="277063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95728"/>
            <a:ext cx="2770632" cy="41148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49631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IMPORTADOR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92608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Coex Coffee International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154680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Miami, FL — 40+ funcionários, negocia 3M+ sacas/ano nas Américas/Europa/África/Ásia.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391363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Superium Coffee 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142232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Miami — armazém certificado ICE, sampler/weigher certificado, 25+ anos em café.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4901184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InterAmerican Coffee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5129784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Grupo Neumann Kaffee (maior trading de café verde do mundo) — canal specialty nos EUA.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888736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Atlantic Specialty Coffee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6117336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Importador de café verde specialty — detalhe público limitado, contato direto.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2395728"/>
            <a:ext cx="277063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395728"/>
            <a:ext cx="2770632" cy="41148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49631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DISTRIBUIDOR VAREJO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92608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KeHE Distributors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3154680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Já em conversa — grande distribuidor nacional natural/orgânico/specialty.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391363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UNFI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4142232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DC em Lakeland/Pompano Beach — cobre Sul da Flórida junto com a KeHE.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65576" y="4901184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Sunbelt Natural Foods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5129784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FL — health food stores/institucional, Sudeste/Centro-Oeste/Atlântico + Caribe.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888736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Specialty Food Distributors (SFD)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6117336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65+ anos combinados de experiência no setor de alimentos naturais.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395728"/>
            <a:ext cx="277063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395728"/>
            <a:ext cx="2770632" cy="41148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249631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DISTRIBUIDOR HORECA+OFFICE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292608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Cheney Brothers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154680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Riviera Beach, FL — ~US$3,2 bi receita, 5 CDs na Flórida/Carolina do Norte. Já opera "Cheney Brothers Estate Coffee" torrado pela Joffrey's (Tampa) — programa de café ativo.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91363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Sysco / US Foods (regional FL)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4142232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Broadline nacional com operação forte na Flórida — avaliar encaixe de um programa de café premium/specialty.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2395728"/>
            <a:ext cx="2770632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98280" y="2395728"/>
            <a:ext cx="2770632" cy="411480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8008" y="2496312"/>
            <a:ext cx="2551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BROKER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296" y="2926080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C.A. Ferolie (grupo CA Brands)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296" y="3154680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Já em conversa — cobertura Maine-Flórida-Ohio, fundado em 1948.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3913632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Florida Sunshine Brokers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296" y="4142232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Cobertura estadual FL — restaurantes/hotéis/caterers/gourmet stores.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6296" y="4901184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Seidman Food Brokerage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6296" y="5129784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Independente, alimentos especiais na Flórida desde 1994.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296" y="5888736"/>
            <a:ext cx="2514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 i="0">
                <a:solidFill>
                  <a:srgbClr val="BA6124"/>
                </a:solidFill>
                <a:latin typeface="Avenir Next LT Pro"/>
              </a:rPr>
              <a:t>Riteway Sales &amp; Marketing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6296" y="6117336"/>
            <a:ext cx="2514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0">
                <a:solidFill>
                  <a:srgbClr val="1A1A1A"/>
                </a:solidFill>
                <a:latin typeface="Avenir Next LT Pro"/>
              </a:rPr>
              <a:t>Lakeland, FL — 40+ anos, foco supermercado/mercearia, Sudeste dos EUA.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Fontes: pesquisa pública (sites institucionais, PR, LinkedIn), agosto/2026 — confirmar experiência em café/bebidas na primeira conversa; nenhum destes é uma indicação, apenas ponto de partida para cotação.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ALÉM DO CUSTO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Critérios de Avaliação por Parceiro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237744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185416"/>
            <a:ext cx="2231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Critério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48840"/>
            <a:ext cx="466344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185416"/>
            <a:ext cx="45171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O que buscar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2148840"/>
            <a:ext cx="420624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2" y="2185416"/>
            <a:ext cx="4059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Avenir Next LT Pro"/>
              </a:rPr>
              <a:t>Pergunta-chave na cotação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78024"/>
            <a:ext cx="2377440" cy="71323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523744"/>
            <a:ext cx="2231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Book de contas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478024"/>
            <a:ext cx="4663440" cy="71323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2523744"/>
            <a:ext cx="45171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Quais contas o parceiro já atende hoje — sobreposição real com os alvos de varejo/HoReCa da Orfeu (slide 13), não apenas alcance genérico.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478024"/>
            <a:ext cx="4206240" cy="713232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71232" y="2523744"/>
            <a:ext cx="40599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Quais contas específicas vocês atendem hoje que também são alvo da Orfeu?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91256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236976"/>
            <a:ext cx="2231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Carteira de clientes na categoria café/bebidas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191256"/>
            <a:ext cx="4663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3236976"/>
            <a:ext cx="4517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Experiência comprovada com marcas de café ou bebidas premium — não apenas alimentos em geral.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3191256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2" y="3236976"/>
            <a:ext cx="40599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Que marcas de café/bebidas vocês representam ou já representaram?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31336"/>
            <a:ext cx="2377440" cy="6400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877056"/>
            <a:ext cx="2231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Qualificação técnica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831336"/>
            <a:ext cx="4663440" cy="6400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3877056"/>
            <a:ext cx="4517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Compliance EDI, certificações, capacidade de atender exigências específicas de cada varejista/distribuidor (ex.: seguro US$2M+ da KeHE).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831336"/>
            <a:ext cx="4206240" cy="640080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2" y="3877056"/>
            <a:ext cx="40599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Vocês já atendem os requisitos técnicos dos nossos distribuidores/varejistas-alvo?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71416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517136"/>
            <a:ext cx="2231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Diferenciais competitivos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471416"/>
            <a:ext cx="4663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7792" y="4517136"/>
            <a:ext cx="45171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O que o torna melhor que os concorrentes diretos — cobertura geográfica, relacionamento histórico, capacidade de execução em loja.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4471416"/>
            <a:ext cx="4206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71232" y="4517136"/>
            <a:ext cx="40599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Por que a Orfeu deveria escolher vocês em vez do concorrente X?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11496"/>
            <a:ext cx="2377440" cy="56692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157216"/>
            <a:ext cx="22311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Modelo de remuneração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111496"/>
            <a:ext cx="4663440" cy="56692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07792" y="5157216"/>
            <a:ext cx="45171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Comissão sobre vendas líquidas vs. retainer vs. híbrido — e o que está incluso vs. cobrado à parte.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5111496"/>
            <a:ext cx="4206240" cy="56692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1232" y="5157216"/>
            <a:ext cx="4059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O que está incluso na comissão — apresentação a novos compradores, trade spend, relatórios de sell-through?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678424"/>
            <a:ext cx="2377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5724144"/>
            <a:ext cx="22311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Recursos esperados da Orfeu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678424"/>
            <a:ext cx="46634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7792" y="5724144"/>
            <a:ext cx="45171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Clareza do que o parceiro precisa da Orfeu para a parceria funcionar nos primeiros 6 meses.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0" y="567842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71232" y="5724144"/>
            <a:ext cx="405993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A1A1A"/>
                </a:solidFill>
                <a:latin typeface="Avenir Next LT Pro"/>
              </a:rPr>
              <a:t>O que vocês esperam da Orfeu (pessoa dedicada, orçamento, amostras) para a parceria funcionar?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Critérios complementares às 10 perguntas já preparadas para as entrevistas da semana de 17/ago (KeHE, C.A. Ferolie, distribuidores e varejistas).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133856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A6124"/>
                </a:solidFill>
                <a:latin typeface="Avenir Next LT Pro"/>
              </a:rP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898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26492D"/>
                </a:solidFill>
                <a:latin typeface="Avenir Next LT Pro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4023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FFFFFF"/>
                </a:solidFill>
                <a:latin typeface="Avenir Next LT Pro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0175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2139696"/>
            <a:ext cx="2871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FFFFFF"/>
                </a:solidFill>
                <a:latin typeface="Avenir Next LT Pro"/>
              </a:rPr>
              <a:t>Ação (Playbook EUA)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457200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2139696"/>
            <a:ext cx="44256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FFFFFF"/>
                </a:solidFill>
                <a:latin typeface="Avenir Next LT Pro"/>
              </a:rPr>
              <a:t>O que fazer com este documento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103120"/>
            <a:ext cx="210312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2" y="2139696"/>
            <a:ext cx="19568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FFFFFF"/>
                </a:solidFill>
                <a:latin typeface="Avenir Next LT Pro"/>
              </a:rPr>
              <a:t>Dono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2103120"/>
            <a:ext cx="1554480" cy="329184"/>
          </a:xfrm>
          <a:prstGeom prst="rect">
            <a:avLst/>
          </a:prstGeom>
          <a:solidFill>
            <a:srgbClr val="2649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22992" y="2139696"/>
            <a:ext cx="140817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30" b="1" i="0">
                <a:solidFill>
                  <a:srgbClr val="FFFFFF"/>
                </a:solidFill>
                <a:latin typeface="Avenir Next LT Pro"/>
              </a:rPr>
              <a:t>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32304"/>
            <a:ext cx="30175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78024"/>
            <a:ext cx="2871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US6 — Cadeia de relacionamento e suprimento por canal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432304"/>
            <a:ext cx="457200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478024"/>
            <a:ext cx="442569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Validar a matriz de atividades (slides 5-6) e o modelo de elos (slide 4) com Distribuidor/Broker reais em cotação.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432304"/>
            <a:ext cx="21031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2478024"/>
            <a:ext cx="1956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Felipe Szpigel / Augusto Kraft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0" y="2432304"/>
            <a:ext cx="155448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2992" y="2478024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30/set/2026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90672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136392"/>
            <a:ext cx="2871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US4 — Modelo de operação HoReCa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090672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136392"/>
            <a:ext cx="442569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Aprofundar o modelo de distribuidor/broker especializado em food-service (slide 6) com os targets do slide 13.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090672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9872" y="3136392"/>
            <a:ext cx="1956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Augusto Kraft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0" y="3090672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2" y="3136392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10/dez/2026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49040"/>
            <a:ext cx="30175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794760"/>
            <a:ext cx="2871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US8 — P&amp;L e pool de margem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49040"/>
            <a:ext cx="457200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794760"/>
            <a:ext cx="442569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Validar COGS real para o formato 10oz e refazer os cenários de margin pool (slides 10-12) com dado real, não escalado.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3749040"/>
            <a:ext cx="21031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3794760"/>
            <a:ext cx="1956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Rafaela Santos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3749040"/>
            <a:ext cx="155448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2992" y="3794760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30/set/2026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407408"/>
            <a:ext cx="3017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453128"/>
            <a:ext cx="2871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US13 — Momentum KeHE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407408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4453128"/>
            <a:ext cx="442569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Levar a matriz de atividades e o custo esperado por elo (slides 5-7) para oficializar portfólio e preço com a KeHE.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440740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2" y="4453128"/>
            <a:ext cx="1956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Augusto Kraft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440740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2992" y="4453128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1/out/2026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65776"/>
            <a:ext cx="30175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0352" y="5111496"/>
            <a:ext cx="2871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US14 — Revisão de Price Premium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5065776"/>
            <a:ext cx="457200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47872" y="5111496"/>
            <a:ext cx="442569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Usar o benchmark real (slide 9) e os 3 cenários de margin pool (slides 10-12) para confirmar o posicionamento acima de Illy/Stumptown já praticado na Amazon.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5065776"/>
            <a:ext cx="210312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9872" y="5111496"/>
            <a:ext cx="1956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Augusto Kraft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49840" y="5065776"/>
            <a:ext cx="1554480" cy="658368"/>
          </a:xfrm>
          <a:prstGeom prst="rect">
            <a:avLst/>
          </a:prstGeom>
          <a:solidFill>
            <a:srgbClr val="F2F1E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22992" y="5111496"/>
            <a:ext cx="140817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A1A1A"/>
                </a:solidFill>
                <a:latin typeface="Avenir Next LT Pro"/>
              </a:rPr>
              <a:t>1/set/2026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BA6124"/>
                </a:solidFill>
                <a:latin typeface="Avenir Next LT Pro"/>
              </a:rPr>
              <a:t>Achado central: rodando os 3 cenários de margin pool (slides 10-12) — Illy (US$16,88, corrigido com 4 fontes) e Stumptown (US$15,83) fecham positivo mas apertado (~14% e ~10%), e o preço que a Orfeu JÁ pratica de fato na Amazon (US$25,81 equivalente a 10oz) fecha com margem saudável (~36%). A Orfeu já está posicionada corretamente acima de Illy/Stumptown — o desafio agora é sustentar esse preço nos canais de varejo físico (Publix, KeHE), não replicar o preço dos concorrentes.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583680"/>
            <a:ext cx="10515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1">
                <a:solidFill>
                  <a:srgbClr val="6E6E6E"/>
                </a:solidFill>
                <a:latin typeface="Avenir Next LT Pro"/>
              </a:rPr>
              <a:t>Alquemia para Orfeu · Cadeia &amp; Modelo Comercial EUA · 19/ago/2026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