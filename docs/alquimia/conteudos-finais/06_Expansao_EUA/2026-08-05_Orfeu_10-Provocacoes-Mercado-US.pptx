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07028"/>
                </a:solidFill>
                <a:latin typeface="Avenir Next LT Pro"/>
              </a:rPr>
              <a:t>ENTENDIMENTO DO MERCADO AMERICANO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venir Next LT Pro"/>
              </a:rPr>
              <a:t>10 Provocações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E8EEE6"/>
                </a:solidFill>
                <a:latin typeface="Avenir Next LT Pro"/>
              </a:rPr>
              <a:t>O que já sabemos sobre o consumidor — e o que o mercado exige de quem entra</a:t>
            </a:r>
          </a:p>
        </p:txBody>
      </p:sp>
      <p:pic>
        <p:nvPicPr>
          <p:cNvPr id="6" name="Picture 5" descr="orfeu_icon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3108960"/>
            <a:ext cx="1344706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E8EEE6"/>
                </a:solidFill>
                <a:latin typeface="Avenir Next LT Pro"/>
              </a:rPr>
              <a:t>Revisita: Mercado Americano de Café — Tendências 2026 (Euromonitor · NCDT Spring 2026)  ·  Orfeu × Alquemia  ·  Agosto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PROVOCAÇÕES 01-03  ·  O QUE O CONSUMIDOR JÁ MUDOU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 i="0">
                <a:solidFill>
                  <a:srgbClr val="1E4221"/>
                </a:solidFill>
                <a:latin typeface="Avenir Next LT Pro"/>
              </a:rPr>
              <a:t>O consumidor não vai mudar — ele já mudou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2679192" cy="3063240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54864" cy="306324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961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07028"/>
                </a:solidFill>
                <a:latin typeface="Avenir Next LT Pr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1E4221"/>
                </a:solidFill>
                <a:latin typeface="Avenir Next LT Pro"/>
              </a:rPr>
              <a:t>A virada já aconteceu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57016"/>
            <a:ext cx="2276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 i="0">
                <a:solidFill>
                  <a:srgbClr val="1A1A1A"/>
                </a:solidFill>
                <a:latin typeface="Avenir Next LT Pro"/>
              </a:rPr>
              <a:t>Specialty superou o café tradicional: 59% das xícaras consumidas nos EUA já são specialty. Não é mais uma tendência — é a maioria.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389888"/>
            <a:ext cx="2679192" cy="3063240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2" y="1389888"/>
            <a:ext cx="54864" cy="306324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49961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07028"/>
                </a:solidFill>
                <a:latin typeface="Avenir Next LT Pr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65376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1E4221"/>
                </a:solidFill>
                <a:latin typeface="Avenir Next LT Pro"/>
              </a:rPr>
              <a:t>O jogo é valor, não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57016"/>
            <a:ext cx="2276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 i="0">
                <a:solidFill>
                  <a:srgbClr val="1A1A1A"/>
                </a:solidFill>
                <a:latin typeface="Avenir Next LT Pro"/>
              </a:rPr>
              <a:t>Valor do mercado sobe 48% desde 2015 enquanto o volume cai 6%. Quem compete por volume está competindo no jogo errado.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389888"/>
            <a:ext cx="2679192" cy="3063240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9904" y="1389888"/>
            <a:ext cx="54864" cy="306324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49961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07028"/>
                </a:solidFill>
                <a:latin typeface="Avenir Next LT Pr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865376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1E4221"/>
                </a:solidFill>
                <a:latin typeface="Avenir Next LT Pro"/>
              </a:rPr>
              <a:t>Gen Z entra pelo frio e pelos criadores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557016"/>
            <a:ext cx="2276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 i="0">
                <a:solidFill>
                  <a:srgbClr val="1A1A1A"/>
                </a:solidFill>
                <a:latin typeface="Avenir Next LT Pro"/>
              </a:rPr>
              <a:t>Cold brew e formatos gelados são a porta de entrada — não a xícara quente tradicional. Criadoras como Morgan Eckroth (6,1M TikTok) definem gosto mais que anúncio.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Entendendo o Mercado Americano: 10 Provocações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PROVOCAÇÕES 04-06  ·  O QUE O CANAL EXIGE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E4221"/>
                </a:solidFill>
                <a:latin typeface="Avenir Next LT Pro"/>
              </a:rPr>
              <a:t>Distribuição nos EUA não perdoa amadorismo financeiro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2679192" cy="3063240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54864" cy="306324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961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07028"/>
                </a:solidFill>
                <a:latin typeface="Avenir Next LT Pro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1E4221"/>
                </a:solidFill>
                <a:latin typeface="Avenir Next LT Pro"/>
              </a:rPr>
              <a:t>Presença física ainda define a marca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57016"/>
            <a:ext cx="2276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 i="0">
                <a:solidFill>
                  <a:srgbClr val="1A1A1A"/>
                </a:solidFill>
                <a:latin typeface="Avenir Next LT Pro"/>
              </a:rPr>
              <a:t>E-commerce mudou a distribuição, mas a cafeteria/prateleira continua sendo a prova de marca que o consumidor confia.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389888"/>
            <a:ext cx="2679192" cy="3063240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2" y="1389888"/>
            <a:ext cx="54864" cy="306324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49961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07028"/>
                </a:solidFill>
                <a:latin typeface="Avenir Next LT Pro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65376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1E4221"/>
                </a:solidFill>
                <a:latin typeface="Avenir Next LT Pro"/>
              </a:rPr>
              <a:t>O ciclo de caixa é armadilha silenciosa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57016"/>
            <a:ext cx="2276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 i="0">
                <a:solidFill>
                  <a:srgbClr val="1A1A1A"/>
                </a:solidFill>
                <a:latin typeface="Avenir Next LT Pro"/>
              </a:rPr>
              <a:t>Distribuidores pagam em 90-120 dias. Capital de giro de 3-4x a receita mensal esperada não é reserva — é pré-requisito para sobreviver ao primeiro trimestre.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389888"/>
            <a:ext cx="2679192" cy="3063240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9904" y="1389888"/>
            <a:ext cx="54864" cy="306324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49961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07028"/>
                </a:solidFill>
                <a:latin typeface="Avenir Next LT Pro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865376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1E4221"/>
                </a:solidFill>
                <a:latin typeface="Avenir Next LT Pro"/>
              </a:rPr>
              <a:t>Existir na prateleira já custa caro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557016"/>
            <a:ext cx="2276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 i="0">
                <a:solidFill>
                  <a:srgbClr val="1A1A1A"/>
                </a:solidFill>
                <a:latin typeface="Avenir Next LT Pro"/>
              </a:rPr>
              <a:t>Slotting fees de US$500 a US$50.000+ por SKU/rede — a marca paga para "alugar" o espaço antes de vender a primeira unidade.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Entendendo o Mercado Americano: 10 Provocações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PROVOCAÇÕES 07-08  ·  CÂMBIO E VELOCIDADE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E4221"/>
                </a:solidFill>
                <a:latin typeface="Avenir Next LT Pro"/>
              </a:rPr>
              <a:t>O tempo e o câmbio não estão sob nosso controle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977639" cy="2834640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" cy="283464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184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07028"/>
                </a:solidFill>
                <a:latin typeface="Avenir Next LT Pro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84248"/>
            <a:ext cx="35753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1E4221"/>
                </a:solidFill>
                <a:latin typeface="Avenir Next LT Pro"/>
              </a:rPr>
              <a:t>A margem some com a volatilidade do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447288"/>
            <a:ext cx="35753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 i="0">
                <a:solidFill>
                  <a:srgbClr val="1A1A1A"/>
                </a:solidFill>
                <a:latin typeface="Avenir Next LT Pro"/>
              </a:rPr>
              <a:t>MSRP é fixado em USD, mas o custo é produzido em BRL. Sem hedge cambial ou repricing dinâmico, a margem projetada hoje pode não existir amanhã.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508760"/>
            <a:ext cx="3977639" cy="2834640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508760"/>
            <a:ext cx="54864" cy="283464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6184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07028"/>
                </a:solidFill>
                <a:latin typeface="Avenir Next LT Pro"/>
              </a:rPr>
              <a:t>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1984248"/>
            <a:ext cx="35753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1E4221"/>
                </a:solidFill>
                <a:latin typeface="Avenir Next LT Pro"/>
              </a:rPr>
              <a:t>Ninguém entra "amanhã", mesmo com produto pronto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447288"/>
            <a:ext cx="35753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 i="0">
                <a:solidFill>
                  <a:srgbClr val="1A1A1A"/>
                </a:solidFill>
                <a:latin typeface="Avenir Next LT Pro"/>
              </a:rPr>
              <a:t>Distribuidores e varejistas têm calendários de revisão de categoria rígidos — meses de espera são a regra, não a exceção, antes da primeira PO.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Entendendo o Mercado Americano: 10 Provocações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PROVOCAÇÕES 09-10  ·  A EXIGÊNCIA QUE NINGUÉM ESCAPA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4221"/>
                </a:solidFill>
                <a:latin typeface="Avenir Next LT Pro"/>
              </a:rPr>
              <a:t>Estrutura local não é opcional — é a licença para negociar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977639" cy="2834640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" cy="283464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184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07028"/>
                </a:solidFill>
                <a:latin typeface="Avenir Next LT Pro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84248"/>
            <a:ext cx="35753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1E4221"/>
                </a:solidFill>
                <a:latin typeface="Avenir Next LT Pro"/>
              </a:rPr>
              <a:t>Todo parceiro espera time local dedicado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447288"/>
            <a:ext cx="35753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 i="0">
                <a:solidFill>
                  <a:srgbClr val="1A1A1A"/>
                </a:solidFill>
                <a:latin typeface="Avenir Next LT Pro"/>
              </a:rPr>
              <a:t>Distribuidor, broker, varejista — todos esperam um Country Manager sediado nos EUA. Sem alguém local, não há relação, não há negociação, não há resposta a chargebacks em tempo real.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508760"/>
            <a:ext cx="3977639" cy="2834640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508760"/>
            <a:ext cx="54864" cy="283464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6184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07028"/>
                </a:solidFill>
                <a:latin typeface="Avenir Next LT Pro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1984248"/>
            <a:ext cx="35753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1E4221"/>
                </a:solidFill>
                <a:latin typeface="Avenir Next LT Pro"/>
              </a:rPr>
              <a:t>Investimento e estrutura equivalentes ao Brasil, não uma versão enxuta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447288"/>
            <a:ext cx="35753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 i="0">
                <a:solidFill>
                  <a:srgbClr val="1A1A1A"/>
                </a:solidFill>
                <a:latin typeface="Avenir Next LT Pro"/>
              </a:rPr>
              <a:t>Os EUA não aceitam operação remota e barata. Broker, 3PL, GM dedicado e fundo de trade spend são custos fixos mínimos — não escalam linearmente a partir do modelo brasileiro.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Entendendo o Mercado Americano: 10 Provocações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