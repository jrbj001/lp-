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9048" y="0"/>
            <a:ext cx="6089904" cy="6858000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8A45E"/>
                </a:solidFill>
                <a:latin typeface="Calibri"/>
              </a:rPr>
              <a:t>CAFÉ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029200" cy="54864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Expansão para os EUA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E8D8"/>
                </a:solidFill>
                <a:latin typeface="Calibri"/>
              </a:rPr>
              <a:t>Estratégia de Go-to-Market
Foco: Sul da Flórida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Junho 2026  |  CONFIDENCIAL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Preparado por AKA Consultoria para Alquemia Consulting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88A"/>
                </a:solidFill>
                <a:latin typeface="Calibri"/>
              </a:rPr>
              <a:t>O maior mercado de café
do mundo está em
transformação.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0E8D8"/>
                </a:solidFill>
                <a:latin typeface="Calibri"/>
              </a:rPr>
              <a:t>•  Especialidade ultrapassa cafe comum pela 1a vez</a:t>
            </a:r>
          </a:p>
          <a:p>
            <a:pPr algn="l"/>
            <a:r>
              <a:rPr sz="1100">
                <a:solidFill>
                  <a:srgbClr val="F0E8D8"/>
                </a:solidFill>
                <a:latin typeface="Calibri"/>
              </a:rPr>
              <a:t>•  $10,73B → $16,15B ate 2031 (CAGR 7,03%)</a:t>
            </a:r>
          </a:p>
          <a:p>
            <a:pPr algn="l"/>
            <a:r>
              <a:rPr sz="1100">
                <a:solidFill>
                  <a:srgbClr val="F0E8D8"/>
                </a:solidFill>
                <a:latin typeface="Calibri"/>
              </a:rPr>
              <a:t>•  300K+ brasileiros no Sul da Florida</a:t>
            </a:r>
          </a:p>
          <a:p>
            <a:pPr algn="l"/>
            <a:r>
              <a:rPr sz="1100">
                <a:solidFill>
                  <a:srgbClr val="F0E8D8"/>
                </a:solidFill>
                <a:latin typeface="Calibri"/>
              </a:rPr>
              <a:t>•  Orfeu: Cup of Excellence + Controle Vertical</a:t>
            </a:r>
          </a:p>
          <a:p>
            <a:pPr algn="l"/>
            <a:r>
              <a:rPr sz="1100">
                <a:solidFill>
                  <a:srgbClr val="F0E8D8"/>
                </a:solidFill>
                <a:latin typeface="Calibri"/>
              </a:rPr>
              <a:t>•  Drip Coffee + Capsulas Biodegradaveis: mercado em aceleracao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789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115568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097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Sumario Executivo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1773936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17556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Mercado de Especialidade nos EUA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22576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39572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432304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41401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O Consumidor Americano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80944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05409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090672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07238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Formatos em Alta: Drip, Capsulas e Grao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39312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712463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3749039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7307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Por que a Florida?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97679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70831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407407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38911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Licoes de Miami: Fracasso vs. Sucesso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56048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02920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5065776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50474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O que Orfeu tem de Diferente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614416"/>
            <a:ext cx="5760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68756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5724144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570585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Hipoteses de Go-to-Market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05840"/>
            <a:ext cx="5605272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0789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95160" y="1115568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1097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Estrategia Recomendada: Florida + Amazon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664208"/>
            <a:ext cx="5605272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73736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1773936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14032" y="17556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Arquitetura de Precos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322576"/>
            <a:ext cx="5605272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239572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95160" y="2432304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14032" y="2414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Realidade Financeira (CPG 101)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2980944"/>
            <a:ext cx="5605272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05409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3090672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14032" y="30723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Estrutura Operacional Necessaria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3639312"/>
            <a:ext cx="5605272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3712463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13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3749039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14032" y="37307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Follow-up Critico Pendente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297679"/>
            <a:ext cx="5605272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4370831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95160" y="4407407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14032" y="43891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Dados a Comprar (Euromonitor/NCA/SCA)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4956048"/>
            <a:ext cx="5605272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02920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95160" y="5065776"/>
            <a:ext cx="27432" cy="347472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14032" y="50474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D8"/>
                </a:solidFill>
                <a:latin typeface="Calibri"/>
              </a:rPr>
              <a:t>Proximos Passos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Sumario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3794760" cy="544068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3794760" cy="50292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875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Calibri"/>
              </a:rPr>
              <a:t>O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5448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Especialidade (47%) ultrapassa cafe tradicional (42%)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$10,73B → $16,15B ate 2031, CAGR 7,03%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66% dos adultos bebem cafe diariamente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Capsulas: 47% dos lares (+5% em 1 ano)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Quarta Onda: qualidade artesanal em qualquer lugar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'Little Treat': consumidor migrou da cafeteria para o premium em casa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960120"/>
            <a:ext cx="3794760" cy="5440680"/>
          </a:xfrm>
          <a:prstGeom prst="rect">
            <a:avLst/>
          </a:prstGeom>
          <a:solidFill>
            <a:srgbClr val="222222"/>
          </a:solidFill>
          <a:ln w="19050">
            <a:solidFill>
              <a:srgbClr val="4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960120"/>
            <a:ext cx="3794760" cy="502920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9875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Calibri"/>
              </a:rPr>
              <a:t>A OPORTUNIDADE ORFEU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Unica marca brasileira com: COE + Controle Vertical + Stack de Certificacoes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Perfil Classico e Intenso = exatamente o que Miami quer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Drip Coffee com N2: Cavalo de Troia de custo zero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Capsulas biodegradaveis: vantagem ambiental em segmento em boom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300K+ brasileiros na FL: early adopters organicos de baixo custo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Hispanicos (67%): maior taxa de adocao de especialidade do pais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94760" cy="544068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960120"/>
            <a:ext cx="3794760" cy="50292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98755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Calibri"/>
              </a:rPr>
              <a:t>NOSSA RECOMENDACAO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554480"/>
            <a:ext cx="3520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Fase 1 (M1-3): Amazon DTC + Drip Coffee em hoteis boutique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Fase 2 (M3-6): HoReCa + broker + influencers + demos em loja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Fase 3 (M6-12): Whole Foods LEAP + Publix GreenWise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Budget total: $150K-$350K (12 meses na Florida)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Pre-requisito critico: Country Manager em Miami 100% dedicado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Acao imediata: FDA Registration + Customs Bond + Amazon Seller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Mercado de Especialidade nos EUA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Specialty Coffee ultrapassa cafe comum pela 1a vez na historia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A45E"/>
                </a:solidFill>
                <a:latin typeface="Calibri"/>
              </a:rPr>
              <a:t>$10,73B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Mercado de Especialidade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188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A45E"/>
                </a:solidFill>
                <a:latin typeface="Calibri"/>
              </a:rPr>
              <a:t>$16,15B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Projecao 2031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188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A45E"/>
                </a:solidFill>
                <a:latin typeface="Calibri"/>
              </a:rPr>
              <a:t>7,03%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CAGR projetado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1887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A45E"/>
                </a:solidFill>
                <a:latin typeface="Calibri"/>
              </a:rPr>
              <a:t>$101B+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AAAA"/>
                </a:solidFill>
                <a:latin typeface="Calibri"/>
              </a:rPr>
              <a:t>Mercado Total EUA
(retail + HoReCa)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77440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5146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45E"/>
                </a:solidFill>
                <a:latin typeface="Calibri"/>
              </a:rPr>
              <a:t>Consumo no dia anterior — adultos americanos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017520"/>
            <a:ext cx="4114800" cy="59436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0175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Especialidade: 47%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017520"/>
            <a:ext cx="3657600" cy="5943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0175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  <a:latin typeface="Calibri"/>
              </a:rPr>
              <a:t>Cafe Tradicional: 42%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0175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E8C88A"/>
                </a:solidFill>
                <a:latin typeface="Calibri"/>
              </a:rPr>
              <a:t>MAIOR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66% dos adultos americanos tomam cafe diariamente (mais que agua)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A 'Quarta Onda': qualidade artesanal disponivel em qualquer lugar, a qualquer hora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Sul dos EUA: 31,6% das receitas nacionais de varejo de cafe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'Little Treat': 61% alteraram comportamentos, mas migraram para premium em casa — nao para mais barato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Gen 25-39 anos: 69% consumiram especialidade na semana anterior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O Consumidor Americano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834640" cy="2377440"/>
          </a:xfrm>
          <a:prstGeom prst="rect">
            <a:avLst/>
          </a:prstGeom>
          <a:solidFill>
            <a:srgbClr val="222222"/>
          </a:solidFill>
          <a:ln w="1270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8A45E"/>
                </a:solidFill>
                <a:latin typeface="Calibri"/>
              </a:rPr>
              <a:t>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adultos tomam cafe diariamente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334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(mais que agua)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1" y="1005840"/>
            <a:ext cx="2834640" cy="2377440"/>
          </a:xfrm>
          <a:prstGeom prst="rect">
            <a:avLst/>
          </a:prstGeom>
          <a:solidFill>
            <a:srgbClr val="222222"/>
          </a:solidFill>
          <a:ln w="1270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1" y="1143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8A45E"/>
                </a:solidFill>
                <a:latin typeface="Calibri"/>
              </a:rPr>
              <a:t>47%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1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consumiram especialidade ontem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26334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vs. 42% cafe comum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3" y="1005840"/>
            <a:ext cx="2834640" cy="2377440"/>
          </a:xfrm>
          <a:prstGeom prst="rect">
            <a:avLst/>
          </a:prstGeom>
          <a:solidFill>
            <a:srgbClr val="222222"/>
          </a:solidFill>
          <a:ln w="1270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143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8A45E"/>
                </a:solidFill>
                <a:latin typeface="Calibri"/>
              </a:rPr>
              <a:t>69%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3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Gen 25-39 consumiram
especialidade na semana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3" y="26334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maior geracao consumidora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2016" y="1005840"/>
            <a:ext cx="2834640" cy="2377440"/>
          </a:xfrm>
          <a:prstGeom prst="rect">
            <a:avLst/>
          </a:prstGeom>
          <a:solidFill>
            <a:srgbClr val="222222"/>
          </a:solidFill>
          <a:ln w="1270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143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8A45E"/>
                </a:solidFill>
                <a:latin typeface="Calibri"/>
              </a:rPr>
              <a:t>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2103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Hispanicos consumiram
especialidade na semana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6334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AAAAA"/>
                </a:solidFill>
                <a:latin typeface="Calibri"/>
              </a:rPr>
              <a:t>maior indice demografico nacional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03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45E"/>
                </a:solidFill>
                <a:latin typeface="Calibri"/>
              </a:rPr>
              <a:t>O fenomeno 'Little Treat'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605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Em cenario inflacionario, 61% dos consumidores alteraram habitos — mas a maioria migrou das cafeterias para o premium em casa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Cafe de especialidade se tornou o 'pequeno luxo acessivel' que o consumidor se permite mesmo sob pressao financeira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Elasticidade de preco favoravel: o consumidor americano aceita pagar mais por origem, processo e historia verificaveis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Preferencias de preparo: lattes (21%), espresso puro (20%), cappuccinos (17%) — demanda por capsulas e extrato concentrado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Formatos em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Tres canais de acesso ao consumidor premium em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384048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960120"/>
            <a:ext cx="3840480" cy="54864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9875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0D0D"/>
                </a:solidFill>
                <a:latin typeface="Calibri"/>
              </a:rPr>
              <a:t>DRIP COFFEE
(Sachês com Nitrogenio)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3566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36-38% usam drip como metodo principal em casa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Zero investimento em hardware pelo consumidor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Cavaleiro de Troia: entrada em qualquer ambiente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Kuju: $14,99/6un | Copper Cow: $11-17/5un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Orfeu 10 sachês: $15,99-19,99 = dobro do volume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Embalagem N2: frescor garantido sem abertura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Instrucoes visuais com bloom (30s) e limite em oz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960120"/>
            <a:ext cx="384048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4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960120"/>
            <a:ext cx="3840480" cy="548640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9875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0D0D"/>
                </a:solidFill>
                <a:latin typeface="Calibri"/>
              </a:rPr>
              <a:t>CAPSULAS
NESPRESSO-COMPATIVEIS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600200"/>
            <a:ext cx="3566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47% dos lares possuem maquina individual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Crescimento de +5% em apenas 1 ano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Mercado global: $58B ate 2036 (CAGR 6,1-7,59%)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Nespresso: 34,9% do mercado global de compativeis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Illy e Lavazza: crescimento exponencial via Amazon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Capsulas biodegradaveis Orfeu: diferencial ambiental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Canal obrigatorio para competir em lares premium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960120"/>
            <a:ext cx="384048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E8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960120"/>
            <a:ext cx="3840480" cy="548640"/>
          </a:xfrm>
          <a:prstGeom prst="rect">
            <a:avLst/>
          </a:prstGeom>
          <a:solidFill>
            <a:srgbClr val="E8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9875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D0D0D"/>
                </a:solidFill>
                <a:latin typeface="Calibri"/>
              </a:rPr>
              <a:t>GRAO INTEIRO
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600200"/>
            <a:ext cx="35661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Crescimento entre aficionados e home baristas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Investimento em equipamento domestico acelerado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Origem + variedade botanica = narrativa de valor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Bourbon Amarelo, Arara: variedades raras = autoridade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Fermentacao anaerobica: complexidade comparavel a cafe etiope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MSRP alvo: $14,99-16,99 (250g/8,8oz)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Concorrentes: Stumptown $14-18, Blue Bottle $16-22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Por que a Florida?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Convergencia unica de diaspora, cultura e infraestrutura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A45E"/>
                </a:solidFill>
                <a:latin typeface="Calibri"/>
              </a:rPr>
              <a:t>Florida do Sul: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O Beachhead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5303520" cy="530352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75104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45E"/>
                </a:solidFill>
                <a:latin typeface="Calibri"/>
              </a:rPr>
              <a:t>300K+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8D8"/>
                </a:solidFill>
                <a:latin typeface="Calibri"/>
              </a:rPr>
              <a:t>brasileiros residentes no Sul da Florida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42032"/>
            <a:ext cx="5303520" cy="530352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96896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45E"/>
                </a:solidFill>
                <a:latin typeface="Calibri"/>
              </a:rPr>
              <a:t>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6334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8D8"/>
                </a:solidFill>
                <a:latin typeface="Calibri"/>
              </a:rPr>
              <a:t>do total de brasileiros nos EUA estao na Florida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63824"/>
            <a:ext cx="5303520" cy="530352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18688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45E"/>
                </a:solidFill>
                <a:latin typeface="Calibri"/>
              </a:rPr>
              <a:t>$87.500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2552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8D8"/>
                </a:solidFill>
                <a:latin typeface="Calibri"/>
              </a:rPr>
              <a:t>renda mediana brasileira (vs. $81.400 americanos)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85616"/>
            <a:ext cx="5303520" cy="530352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40480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45E"/>
                </a:solidFill>
                <a:latin typeface="Calibri"/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8770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8D8"/>
                </a:solidFill>
                <a:latin typeface="Calibri"/>
              </a:rPr>
              <a:t>turistas brasileiros/ano passam pela Florida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07408"/>
            <a:ext cx="5303520" cy="530352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462272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45E"/>
                </a:solidFill>
                <a:latin typeface="Calibri"/>
              </a:rPr>
              <a:t>70,3%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4988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8D8"/>
                </a:solidFill>
                <a:latin typeface="Calibri"/>
              </a:rPr>
              <a:t>de Miami-Dade e hispanico ou latino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5303520" cy="530352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084064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45E"/>
                </a:solidFill>
                <a:latin typeface="Calibri"/>
              </a:rPr>
              <a:t>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120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8D8"/>
                </a:solidFill>
                <a:latin typeface="Calibri"/>
              </a:rPr>
              <a:t>de hispanicos consumiram especialidade na semana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650992"/>
            <a:ext cx="5303520" cy="530352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705855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A45E"/>
                </a:solidFill>
                <a:latin typeface="Calibri"/>
              </a:rPr>
              <a:t>2,8M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7424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E8D8"/>
                </a:solidFill>
                <a:latin typeface="Calibri"/>
              </a:rPr>
              <a:t>habitantes em Miami-Dade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0058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45E"/>
                </a:solidFill>
                <a:latin typeface="Calibri"/>
              </a:rPr>
              <a:t>Por que isso importa para Orfeu: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150876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Diaspora brasileira = early adopters de baixo custo de aquisicao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Hispanicos: maior taxa de adocao de especialidade de qualquer grupo nos EUA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Cultura do cafe forte e encorpado = perfis Classico e Intenso encaixam nativamente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Porto de Miami: infraestrutura de importacao consolidada e proxima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Turismo brasileiro: amostragem natural e efeito multiplicador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Cena gastronômica premium: hoteis boutique em Miami Beach, Brickell, Coral Gables</a:t>
            </a:r>
          </a:p>
          <a:p>
            <a:pPr algn="l"/>
            <a:r>
              <a:rPr sz="1050">
                <a:solidFill>
                  <a:srgbClr val="F0E8D8"/>
                </a:solidFill>
                <a:latin typeface="Calibri"/>
              </a:rPr>
              <a:t>•  Amazon South Region + distribuicao fisica convergem aqui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Licoes de Miami: Fracasso vs. Sucesso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Dois modelos opostos. Uma liçao clara para a Orfeu.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394960" cy="502920"/>
          </a:xfrm>
          <a:prstGeom prst="rect">
            <a:avLst/>
          </a:prstGeom>
          <a:solidFill>
            <a:srgbClr val="D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784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BLUE BOTTLE  |  Miami 2017-2019  |  FRACASSO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Light roast acido e citrico: nao suporta leite e acucar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Estetica minimalista, sem Wi-Fi, experiencia austera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Precos exorbitantes sem narrativa de valor local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Zero programa B2B ou adaptacao a restauracao local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Ignorou cultura cubana do cafe forte e encorpado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Fechou em 2 anos sem deixar rastro na cidade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846320"/>
            <a:ext cx="5394960" cy="502920"/>
          </a:xfrm>
          <a:prstGeom prst="rect">
            <a:avLst/>
          </a:prstGeom>
          <a:solidFill>
            <a:srgbClr val="55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4873752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Erro central: produto errado + posicionamento errado para Miami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960120"/>
            <a:ext cx="5394960" cy="5029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9784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PANTHER COFFEE  |  desde 2010  |  SUCESSO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72768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Perfis adaptados ao gosto local: suportam leite e acucar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Ambiente social e integrado a cultura de Miami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Forte programa B2B para restauracao e hoteis locais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Premium justificado por qualidade e experiencia — nao so por nome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Cresceu para multiplas unidades; referencia nacional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Cultura como vantagem competitiva — nao obstaculo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846320"/>
            <a:ext cx="5394960" cy="5029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873752"/>
            <a:ext cx="5303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Exito: produto certo + B2B forte + respeto a cultura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960120"/>
            <a:ext cx="45720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2926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45E"/>
                </a:solidFill>
                <a:latin typeface="Calibri"/>
              </a:rPr>
              <a:t>VS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440680"/>
            <a:ext cx="11640312" cy="914400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440680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04688"/>
            <a:ext cx="11247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8C88A"/>
                </a:solidFill>
                <a:latin typeface="Calibri"/>
              </a:rPr>
              <a:t>Licao para Orfeu: Classico e Intenso (notas de chocolate e caramelo) encaixam nativamente em Miami.
O risco Blue Bottle nao se aplica. Posicionar preco com narrativa de COE + origem verificavel = vencedor.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O que Orfeu tem de Diferente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5 vantagens estruturais raramente reunidas em uma unica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228600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960120"/>
            <a:ext cx="2286000" cy="45720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784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Calibri"/>
              </a:rPr>
              <a:t>CUP OF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50876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Maior premiacao internacional de cafe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O 'Selo Michelin' do setor global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Multiplas premiacoes = destruicao do estigma brasileiro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Argumento principal com coffee educators e baristas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960120"/>
            <a:ext cx="228600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4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4328" y="960120"/>
            <a:ext cx="2286000" cy="457200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9784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Calibri"/>
              </a:rPr>
              <a:t>CONTROLE VERTICAL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150876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Fazendas proprias: Fincas Orfeu e Sertaozinho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Sul de Minas Gerais e Mogiana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Rastreabilidade completa: da planta a capsula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Narrativa exclusiva para hoteis de luxo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960120"/>
            <a:ext cx="228600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008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0056" y="960120"/>
            <a:ext cx="2286000" cy="4572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9784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Calibri"/>
              </a:rPr>
              <a:t>STACK DE CERTIFICACOES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150876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Rainforest Alliance + USDA Organic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Ecocert + UTZ + Agricultura Regenerativa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Nenhuma outra marca brasileira reune isso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Vantagem competitiva em Whole Foods e The Fresh Market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15783" y="960120"/>
            <a:ext cx="228600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E8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15783" y="960120"/>
            <a:ext cx="2286000" cy="457200"/>
          </a:xfrm>
          <a:prstGeom prst="rect">
            <a:avLst/>
          </a:prstGeom>
          <a:solidFill>
            <a:srgbClr val="E8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9784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Calibri"/>
              </a:rPr>
              <a:t>DRIP COM NITROGENIO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3" y="150876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Tecnologia de embalagem ativa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Frescor garantido: diferencial verificavel pelo consumidor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Zero custo de hardware para o parceiro B2B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Sachê de hotel = sampling pago pelo parceiro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11512" y="960120"/>
            <a:ext cx="228600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70A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11512" y="960120"/>
            <a:ext cx="2286000" cy="457200"/>
          </a:xfrm>
          <a:prstGeom prst="rect">
            <a:avLst/>
          </a:prstGeom>
          <a:solidFill>
            <a:srgbClr val="70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9784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0D0D"/>
                </a:solidFill>
                <a:latin typeface="Calibri"/>
              </a:rPr>
              <a:t>CAPSULAS BIODEGRADAVEIS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1508760"/>
            <a:ext cx="21031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Compativel com Nespresso — sem excecoes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'Pod guilt': preocupacao real do consumidor americano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Vantagem ambiental enorme vs. capsulas de aluminio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Canal em boom: $58B globais ate 2036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Hipoteses de 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Tres cenarios avaliados — um recomendado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241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Criterio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960120"/>
            <a:ext cx="2834640" cy="640080"/>
          </a:xfrm>
          <a:prstGeom prst="rect">
            <a:avLst/>
          </a:prstGeom>
          <a:solidFill>
            <a:srgbClr val="2A1A08"/>
          </a:solidFill>
          <a:ln w="1270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9784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8A45E"/>
                </a:solidFill>
                <a:latin typeface="Calibri"/>
              </a:rPr>
              <a:t>H1: FLORIDA + AMAZON
(RECOMENDADO)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960120"/>
            <a:ext cx="2834640" cy="640080"/>
          </a:xfrm>
          <a:prstGeom prst="rect">
            <a:avLst/>
          </a:prstGeom>
          <a:solidFill>
            <a:srgbClr val="222222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9784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AAAAA"/>
                </a:solidFill>
                <a:latin typeface="Calibri"/>
              </a:rPr>
              <a:t>H2: WEST COAST
Erewhon como validador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960120"/>
            <a:ext cx="2834640" cy="640080"/>
          </a:xfrm>
          <a:prstGeom prst="rect">
            <a:avLst/>
          </a:prstGeom>
          <a:solidFill>
            <a:srgbClr val="222222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9784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AAAAA"/>
                </a:solidFill>
                <a:latin typeface="Calibri"/>
              </a:rPr>
              <a:t>H3: NYC via HoReCa
Alta gastronomia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91640"/>
            <a:ext cx="2331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78308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Canal de entrada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691640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1764792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Amazon DTC + Varejo Florida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691640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1764792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Erewhon + DTC premium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691640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764792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Restaurantes Michelin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50008"/>
            <a:ext cx="23317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441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Custo de entrada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350008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2423160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$150K-$350K (12 meses)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350008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2423160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$200K-$500K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350008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2423160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$80K-200K (ciclo longo)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08376"/>
            <a:ext cx="2331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09981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Velocidade de tracão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008376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6352" y="3081528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RAPIDA — diaspora + base hispânica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008376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3081528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LENTA — sem base local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008376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3081528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MUITO LENTA — ciclo B2B 6-18m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666744"/>
            <a:ext cx="23317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758183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Risco principal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666744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16352" y="3739896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Trade spend + capital de giro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666744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3739896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Custo alto + competicao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3666744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7152" y="3739896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Dependencia de poucos clientes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325112"/>
            <a:ext cx="233172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41655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Aprendizado operacional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325112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6352" y="4398264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ALTO — Amazon + shelf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4325112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16752" y="4398264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MEDIO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4325112"/>
            <a:ext cx="2834640" cy="566928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17152" y="4398264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BAIXO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983479"/>
            <a:ext cx="23317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074919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Validacao de marca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983479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16352" y="5056631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Diáspora + reviews Amazon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4983479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16752" y="5056631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Halo Erewhon global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4983479"/>
            <a:ext cx="283464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17152" y="5056631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Editorial NY + Michelin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641848"/>
            <a:ext cx="2331720" cy="566928"/>
          </a:xfrm>
          <a:prstGeom prst="rect">
            <a:avLst/>
          </a:prstGeom>
          <a:solidFill>
            <a:srgbClr val="2A1A08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73328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Recomendacao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5641848"/>
            <a:ext cx="2834640" cy="566928"/>
          </a:xfrm>
          <a:prstGeom prst="rect">
            <a:avLst/>
          </a:prstGeom>
          <a:solidFill>
            <a:srgbClr val="1F4A1F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16352" y="5715000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8A45E"/>
                </a:solidFill>
                <a:latin typeface="Calibri"/>
              </a:rPr>
              <a:t>PRIORIDADE 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0" y="5641848"/>
            <a:ext cx="2834640" cy="566928"/>
          </a:xfrm>
          <a:prstGeom prst="rect">
            <a:avLst/>
          </a:prstGeom>
          <a:solidFill>
            <a:srgbClr val="2A1A0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16752" y="5715000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AAAAA"/>
                </a:solidFill>
                <a:latin typeface="Calibri"/>
              </a:rPr>
              <a:t>Fase 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5641848"/>
            <a:ext cx="2834640" cy="566928"/>
          </a:xfrm>
          <a:prstGeom prst="rect">
            <a:avLst/>
          </a:prstGeom>
          <a:solidFill>
            <a:srgbClr val="2A1A08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17152" y="5715000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AAAAA"/>
                </a:solidFill>
                <a:latin typeface="Calibri"/>
              </a:rPr>
              <a:t>Fase 2 (NYC)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Estrategia Recomendada: Florida + Amazon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Tres fases sequenciais com gates de validacao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379476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3794760" cy="5943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9784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  <a:latin typeface="Calibri"/>
              </a:rPr>
              <a:t>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024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D0D0D"/>
                </a:solidFill>
                <a:latin typeface="Calibri"/>
              </a:rPr>
              <a:t>Meses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002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88A"/>
                </a:solidFill>
                <a:latin typeface="Calibri"/>
              </a:rPr>
              <a:t>Budget: $30K-60K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29968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029968"/>
            <a:ext cx="35844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Amazon DTC: Drip Coffee + Capsulas + Grao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Subscribe &amp; Save para capsulas — CLTV alto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5-10 hoteis boutique: drip bag no quarto (B2B)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FDA Registration + Customs Bond + 3PL setup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Brand Registry Amazon + A+ Content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Keywords: 'Brazilian specialty coffee', 'COE'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960120"/>
            <a:ext cx="379476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4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960120"/>
            <a:ext cx="3794760" cy="594360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9784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  <a:latin typeface="Calibri"/>
              </a:rPr>
              <a:t>FASE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024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D0D0D"/>
                </a:solidFill>
                <a:latin typeface="Calibri"/>
              </a:rPr>
              <a:t>Meses 3-6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16002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88A"/>
                </a:solidFill>
                <a:latin typeface="Calibri"/>
              </a:rPr>
              <a:t>Budget: $60K-120K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29968"/>
            <a:ext cx="11640312" cy="13716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2029968"/>
            <a:ext cx="35844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Contratar broker regional (Bay Food Brokerage)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HoReCa: coworkings, conferencias, corporativo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Demos em loja: $500-1.500/loja (90 dias)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Influencers: coffee educators + brasileiros FL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Monitorar BSR Amazon e ajustar estrategia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Abrir conversas com Whole Foods LEAP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960120"/>
            <a:ext cx="379476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E8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960120"/>
            <a:ext cx="3794760" cy="594360"/>
          </a:xfrm>
          <a:prstGeom prst="rect">
            <a:avLst/>
          </a:prstGeom>
          <a:solidFill>
            <a:srgbClr val="E8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9784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0D0D"/>
                </a:solidFill>
                <a:latin typeface="Calibri"/>
              </a:rPr>
              <a:t>FASE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024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D0D0D"/>
                </a:solidFill>
                <a:latin typeface="Calibri"/>
              </a:rPr>
              <a:t>Meses 6-12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6002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Calibri"/>
              </a:rPr>
              <a:t>Budget: $80K-200K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029968"/>
            <a:ext cx="11640312" cy="13716"/>
          </a:xfrm>
          <a:prstGeom prst="rect">
            <a:avLst/>
          </a:prstGeom>
          <a:solidFill>
            <a:srgbClr val="E8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2029968"/>
            <a:ext cx="35844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Whole Foods LEAP: South Region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Publix GreenWise: locacoes premium Florida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The Fresh Market: pitch sustentabilidade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Avaliar expansao: Texas ou West Coast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Baseado em dados reais de sell-through Amazon</a:t>
            </a:r>
          </a:p>
          <a:p>
            <a:pPr algn="l"/>
            <a:r>
              <a:rPr sz="1000">
                <a:solidFill>
                  <a:srgbClr val="F0E8D8"/>
                </a:solidFill>
                <a:latin typeface="Calibri"/>
              </a:rPr>
              <a:t>•  Estrutura de equipe revisada com base em volume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&gt;&gt;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45E"/>
                </a:solidFill>
                <a:latin typeface="Calibri"/>
              </a:rPr>
              <a:t>&gt;&gt;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Arquitetura de Precos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Cascata CPG e posicionamento vs. concorrentes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45E"/>
                </a:solidFill>
                <a:latin typeface="Calibri"/>
              </a:rPr>
              <a:t>Cascata de Margens 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097280" cy="6400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COGS maximo viavel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105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  <a:latin typeface="Calibri"/>
              </a:rPr>
              <a:t>20-25% do MSRP  $3,40-$4,25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67712"/>
            <a:ext cx="1828800" cy="640080"/>
          </a:xfrm>
          <a:prstGeom prst="rect">
            <a:avLst/>
          </a:prstGeom>
          <a:solidFill>
            <a:srgbClr val="1F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13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Fabricante (Orfeu) — FOB Miami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151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  <a:latin typeface="Calibri"/>
              </a:rPr>
              <a:t>Recebe:  $7,00-$9,00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72384"/>
            <a:ext cx="2560320" cy="640080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18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Distribuidor (UNFI/KeHE)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4198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  <a:latin typeface="Calibri"/>
              </a:rPr>
              <a:t>+15-35% markup  $6,25-$10,35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77056"/>
            <a:ext cx="3291840" cy="640080"/>
          </a:xfrm>
          <a:prstGeom prst="rect">
            <a:avLst/>
          </a:prstGeom>
          <a:solidFill>
            <a:srgbClr val="8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22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Varejista (Whole Foods)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245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  <a:latin typeface="Calibri"/>
              </a:rPr>
              <a:t>+30-50% margem  $8,50-$11,90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81728"/>
            <a:ext cx="4023360" cy="64008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7274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MSRP — preco de prateleira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029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DDDDD"/>
                </a:solidFill>
                <a:latin typeface="Calibri"/>
              </a:rPr>
              <a:t>Consumidor paga:  $14,99-$16,99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98755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45E"/>
                </a:solidFill>
                <a:latin typeface="Calibri"/>
              </a:rPr>
              <a:t>MSRP por Produto — Orfeu vs. Concorrentes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63040"/>
            <a:ext cx="2926080" cy="868680"/>
          </a:xfrm>
          <a:prstGeom prst="rect">
            <a:avLst/>
          </a:prstGeom>
          <a:solidFill>
            <a:srgbClr val="C8A45E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5544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Calibri"/>
              </a:rPr>
              <a:t>Produto Orfeu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463040"/>
            <a:ext cx="1828800" cy="868680"/>
          </a:xfrm>
          <a:prstGeom prst="rect">
            <a:avLst/>
          </a:prstGeom>
          <a:solidFill>
            <a:srgbClr val="C8A45E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15544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Calibri"/>
              </a:rPr>
              <a:t>MSRP Alvo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54512" y="1463040"/>
            <a:ext cx="3474720" cy="868680"/>
          </a:xfrm>
          <a:prstGeom prst="rect">
            <a:avLst/>
          </a:prstGeom>
          <a:solidFill>
            <a:srgbClr val="C8A45E"/>
          </a:solidFill>
          <a:ln w="63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00232" y="155448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Calibri"/>
              </a:rPr>
              <a:t>Concorrente referencia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450592"/>
            <a:ext cx="2926080" cy="868680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54203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Drip Coffee 10 saches (N2)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2450592"/>
            <a:ext cx="1828800" cy="868680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254203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$15,99-19,99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54512" y="2450592"/>
            <a:ext cx="3474720" cy="868680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00232" y="2542032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Kuju $14,99/6un | Copper Cow $11-17/5un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3438144"/>
            <a:ext cx="292608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529584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Capsulas Nespresso (10un)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3438144"/>
            <a:ext cx="18288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3529584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$12,99-15,99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54512" y="3438144"/>
            <a:ext cx="34747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00232" y="3529584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Illy $10-14 | Lavazza $9-13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425696"/>
            <a:ext cx="2926080" cy="868680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4517136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Grao Inteiro 250g/8,8oz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4425696"/>
            <a:ext cx="1828800" cy="868680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4517136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$14,99-16,99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54512" y="4425696"/>
            <a:ext cx="3474720" cy="868680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00232" y="4517136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Stumptown $14-18 | Blue Bottle $16-22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5413248"/>
            <a:ext cx="292608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550468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Moido Premium 250g/8,8oz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5413248"/>
            <a:ext cx="182880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55046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$13,99-15,99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54512" y="5413248"/>
            <a:ext cx="3474720" cy="868680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5504688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Counter Culture $13-17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Realidade Financeira: CPG 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Custos ocultos que destroem margens — saiba antes de entrar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E8D8"/>
                </a:solidFill>
                <a:latin typeface="Calibri"/>
              </a:rPr>
              <a:t>Antes de qualquer compromisso com varejo, estes numeros precisam estar no planejamento: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08760"/>
            <a:ext cx="2880360" cy="5120640"/>
          </a:xfrm>
          <a:prstGeom prst="rect">
            <a:avLst/>
          </a:prstGeom>
          <a:solidFill>
            <a:srgbClr val="222222"/>
          </a:solidFill>
          <a:ln w="19050">
            <a:solidFill>
              <a:srgbClr val="D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08760"/>
            <a:ext cx="2880360" cy="457200"/>
          </a:xfrm>
          <a:prstGeom prst="rect">
            <a:avLst/>
          </a:prstGeom>
          <a:solidFill>
            <a:srgbClr val="D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5361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Calibri"/>
              </a:rPr>
              <a:t>SLOTTING FEES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3911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4030"/>
                </a:solidFill>
                <a:latin typeface="Calibri"/>
              </a:rPr>
              <a:t>$500-$1.500 / SKU por conjunto de lojas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487168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Redes maiores: $5.000-$50.000+ por SKU. Custo de entrada pago antes de uma unica venda.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82112"/>
            <a:ext cx="11640312" cy="13716"/>
          </a:xfrm>
          <a:prstGeom prst="rect">
            <a:avLst/>
          </a:prstGeom>
          <a:solidFill>
            <a:srgbClr val="D0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461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Whole Foods, Publix, Fresh Market cobram slotting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Re-entry fee se produto sair e quiser voltar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Negociavel com broker de relacionamento consolidado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1508760"/>
            <a:ext cx="2880360" cy="5120640"/>
          </a:xfrm>
          <a:prstGeom prst="rect">
            <a:avLst/>
          </a:prstGeom>
          <a:solidFill>
            <a:srgbClr val="222222"/>
          </a:solidFill>
          <a:ln w="1905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27832" y="1508760"/>
            <a:ext cx="2880360" cy="457200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15361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Calibri"/>
              </a:rPr>
              <a:t>TRADE 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03911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7A20"/>
                </a:solidFill>
                <a:latin typeface="Calibri"/>
              </a:rPr>
              <a:t>10-20% da receita bruta — contínuo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2487168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Promocos obrigatorias (4-6x/ano), chargebacks automaticos, demos em loja.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82112"/>
            <a:ext cx="11640312" cy="13716"/>
          </a:xfrm>
          <a:prstGeom prst="rect">
            <a:avLst/>
          </a:prstGeom>
          <a:solidFill>
            <a:srgbClr val="E07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32461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Desconto promocional: 15-25% por ciclo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Chargebacks automaticos: 2-3% por conformidade logistica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Demos: $500-1.500 por loja nos primeiros 90 dias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1508760"/>
            <a:ext cx="2880360" cy="512064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1508760"/>
            <a:ext cx="2880360" cy="45720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15361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Calibri"/>
              </a:rPr>
              <a:t>BUDGET DE LANCAMENTO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3" y="203911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A45E"/>
                </a:solidFill>
                <a:latin typeface="Calibri"/>
              </a:rPr>
              <a:t>$150.000-$350.000 (apenas Florida, 12 meses)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3" y="2487168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Inclui: slotting, trade spend, broker, 3PL, compliance. Nao inclui: Country Manager, marketing digital.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82112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3" y="32461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Capital de giro: 90-120 dias antes do primeiro pagamento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Broker: $5-10K/mes + 5-8% de comissao sobre vendas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Demos + in-store marketing: ate $50K no primeiro ano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26296" y="1508760"/>
            <a:ext cx="2880360" cy="5120640"/>
          </a:xfrm>
          <a:prstGeom prst="rect">
            <a:avLst/>
          </a:prstGeom>
          <a:solidFill>
            <a:srgbClr val="222222"/>
          </a:solidFill>
          <a:ln w="19050">
            <a:solidFill>
              <a:srgbClr val="A06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26296" y="1508760"/>
            <a:ext cx="2880360" cy="45720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5361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0D0D"/>
                </a:solidFill>
                <a:latin typeface="Calibri"/>
              </a:rPr>
              <a:t>MARGENS REAIS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2039112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60FF"/>
                </a:solidFill>
                <a:latin typeface="Calibri"/>
              </a:rPr>
              <a:t>DTC/Amazon: 40%+ contribuicao liquida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7736" y="2487168"/>
            <a:ext cx="2697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Varejo CPG: margens espremidas. Amazon e DTC sao os canais de margem saudavel.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182112"/>
            <a:ext cx="11640312" cy="13716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32461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COGS maximo: 20-25% do MSRP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Amazon FBA: 15-20% da receita + fees de publicidade</a:t>
            </a:r>
          </a:p>
          <a:p>
            <a:pPr algn="l"/>
            <a:r>
              <a:rPr sz="900">
                <a:solidFill>
                  <a:srgbClr val="F0E8D8"/>
                </a:solidFill>
                <a:latin typeface="Calibri"/>
              </a:rPr>
              <a:t>•  Subscribe &amp; Save: menor CAC, maior CLTV = melhor canal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Estrutura Operacional Necessaria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Quatro pilares sem os quais a operacao nao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288036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960120"/>
            <a:ext cx="2880360" cy="54864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97840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COUNTRY MANAGER
Miami, FL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581912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100% dedicado — sem este recurso, nenhum broker ou 3PL supre a ausencia humana.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95728"/>
            <a:ext cx="2697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Interface com brokers, auditoria de chargebacks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Gestao de relacionamento com category managers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Documentacao de compliance e FDA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Coordenacao de demos e ativacoes em loja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Alternativa: Brand Manager subsidiado pelo 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32" y="960120"/>
            <a:ext cx="288036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4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27832" y="960120"/>
            <a:ext cx="2880360" cy="548640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97840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BROKER REGIONAL
Sudeste EUA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581912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Vendas para varejistas — os distribuidores fazem logistica, nao vendem.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31720"/>
            <a:ext cx="11640312" cy="13716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2395728"/>
            <a:ext cx="2697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Bay Food Brokerage: relacoes com Publix, Whole Foods, Fresh Market, Earth Fare, Harris Teeter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Retainer: $5-10K/mes + 5-8% comissao sobre vendas brutas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Escolher broker com relacoes ativas, nao apenas cadastro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Auditar o portfolio atual: conflito de interesse?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960120"/>
            <a:ext cx="288036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3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960120"/>
            <a:ext cx="2880360" cy="548640"/>
          </a:xfrm>
          <a:prstGeom prst="rect">
            <a:avLst/>
          </a:prstGeom>
          <a:solidFill>
            <a:srgbClr val="3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97840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3PL FOOD &amp; BEVERAGE
South Florida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1581912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Armazem proximo ao Porto de Miami — EDI compativel com UNFI/KeHE.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331720"/>
            <a:ext cx="11640312" cy="13716"/>
          </a:xfrm>
          <a:prstGeom prst="rect">
            <a:avLst/>
          </a:prstGeom>
          <a:solidFill>
            <a:srgbClr val="3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3" y="2395728"/>
            <a:ext cx="2697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ASN (Advanced Shipping Notice) automatico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Temperatura controlada para qualidade do cafe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Processamento de pedidos e devolucoes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Pick &amp; pack para Amazon FBM e DTC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Custo: variavel por volume movimentado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6296" y="960120"/>
            <a:ext cx="2880360" cy="5486400"/>
          </a:xfrm>
          <a:prstGeom prst="rect">
            <a:avLst/>
          </a:prstGeom>
          <a:solidFill>
            <a:srgbClr val="222222"/>
          </a:solidFill>
          <a:ln w="19050">
            <a:solidFill>
              <a:srgbClr val="C05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26296" y="960120"/>
            <a:ext cx="2880360" cy="548640"/>
          </a:xfrm>
          <a:prstGeom prst="rect">
            <a:avLst/>
          </a:prstGeom>
          <a:solidFill>
            <a:srgbClr val="C05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97840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0D0D"/>
                </a:solidFill>
                <a:latin typeface="Calibri"/>
              </a:rPr>
              <a:t>COMPLIANCE /
CUSTOMS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581912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  <a:latin typeface="Calibri"/>
              </a:rPr>
              <a:t>Sem conformidade, o produto e confiscado ou multado antes de chegar a prateleira.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331720"/>
            <a:ext cx="11640312" cy="13716"/>
          </a:xfrm>
          <a:prstGeom prst="rect">
            <a:avLst/>
          </a:prstGeom>
          <a:solidFill>
            <a:srgbClr val="C05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2395728"/>
            <a:ext cx="2697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FDA Facility Registration + agente residente nos EUA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Prior Notice: 8h maritimo, 4h aereo — sem isso = confisco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ISF (Importer Security Filing): 24-48h antes do embarque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Customs Bond: minimo $50.000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Certificacao fitossanitaria MAPA para cada embarque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D0D0D"/>
                </a:solidFill>
                <a:latin typeface="Calibri"/>
              </a:rPr>
              <a:t>Follow-up Critico Pendente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Tres frentes de validacao necessarias antes de comprometer budget de lancamento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1640312" cy="457200"/>
          </a:xfrm>
          <a:prstGeom prst="rect">
            <a:avLst/>
          </a:prstGeom>
          <a:solidFill>
            <a:srgbClr val="44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33271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7A20"/>
                </a:solidFill>
                <a:latin typeface="Calibri"/>
              </a:rPr>
              <a:t>ATENCAO: As hipoteses deste relatorio sao baseadas em pesquisa secundaria. Validacao primaria com mercado e critica antes de qualquer decisao de investimento.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600200"/>
            <a:ext cx="3840480" cy="4892040"/>
          </a:xfrm>
          <a:prstGeom prst="rect">
            <a:avLst/>
          </a:prstGeom>
          <a:solidFill>
            <a:srgbClr val="222222"/>
          </a:solidFill>
          <a:ln w="19050">
            <a:solidFill>
              <a:srgbClr val="C8A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3840480" cy="50292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18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Calibri"/>
              </a:rPr>
              <a:t>INFLUENCERS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579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A45E"/>
                </a:solidFill>
                <a:latin typeface="Calibri"/>
              </a:rPr>
              <a:t>Mapear e contatar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87168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2542032"/>
            <a:ext cx="36210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Coffee Educators/Reviewers (100K-500K): YouTube, TikTok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Brazilian-American Lifestyle (FL): 50K-300K seguidores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Luxury Lifestyle + Wellness Miami: 100K-1M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Baristas/Roasters locais: 5K-50K (credencial B2B)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Criterio: audiencia local, engajamento real, fit com cafe premium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Acao: briefing + kit de amostras + proposta de parceria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3672" y="1600200"/>
            <a:ext cx="3840480" cy="4892040"/>
          </a:xfrm>
          <a:prstGeom prst="rect">
            <a:avLst/>
          </a:prstGeom>
          <a:solidFill>
            <a:srgbClr val="222222"/>
          </a:solidFill>
          <a:ln w="19050">
            <a:solidFill>
              <a:srgbClr val="4A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3672" y="1600200"/>
            <a:ext cx="3840480" cy="502920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618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Calibri"/>
              </a:rPr>
              <a:t>VAREJISTAS E INDUSTRIA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1579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A45E"/>
                </a:solidFill>
                <a:latin typeface="Calibri"/>
              </a:rPr>
              <a:t>Visitas e entrevistas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87168"/>
            <a:ext cx="11640312" cy="13716"/>
          </a:xfrm>
          <a:prstGeom prst="rect">
            <a:avLst/>
          </a:prstGeom>
          <a:solidFill>
            <a:srgbClr val="4A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542032"/>
            <a:ext cx="36210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Category Managers: Whole Foods South Region, Publix GreenWise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Brokers: Bay Food Brokerage + 2 alternativas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3PL: 3 opcoes em South Florida proximo ao porto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HoReCa: Buyers de hoteis boutique em Miami Beach e Brickell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Baristas/Cena local: Panther, Per'la, Vice City Bean, All Day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Protocolo: visita de 5-7 dias + questionarios padronizados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1600200"/>
            <a:ext cx="3840480" cy="4892040"/>
          </a:xfrm>
          <a:prstGeom prst="rect">
            <a:avLst/>
          </a:prstGeom>
          <a:solidFill>
            <a:srgbClr val="222222"/>
          </a:solidFill>
          <a:ln w="19050">
            <a:solidFill>
              <a:srgbClr val="E8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1600200"/>
            <a:ext cx="3840480" cy="502920"/>
          </a:xfrm>
          <a:prstGeom prst="rect">
            <a:avLst/>
          </a:prstGeom>
          <a:solidFill>
            <a:srgbClr val="E8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16184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Calibri"/>
              </a:rPr>
              <a:t>DADOS A COMPRAR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215798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A45E"/>
                </a:solidFill>
                <a:latin typeface="Calibri"/>
              </a:rPr>
              <a:t>Acao imediata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87168"/>
            <a:ext cx="11640312" cy="13716"/>
          </a:xfrm>
          <a:prstGeom prst="rect">
            <a:avLst/>
          </a:prstGeom>
          <a:solidFill>
            <a:srgbClr val="E8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1" y="2542032"/>
            <a:ext cx="36210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NCA: NCDT 2026 completo (ncausa.org)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Euromonitor: 'Coffee in the US 2025/2026' (Passport)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Euromonitor: 'Coffee Premiumisation' + 'Future of Coffee'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SPINS/NielsenIQ: POS data Florida (via broker ou diretamente)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Amazon: Helium 10 ou Jungle Scout — $50-200/mes</a:t>
            </a:r>
          </a:p>
          <a:p>
            <a:pPr algn="l"/>
            <a:r>
              <a:rPr sz="950">
                <a:solidFill>
                  <a:srgbClr val="F0E8D8"/>
                </a:solidFill>
                <a:latin typeface="Calibri"/>
              </a:rPr>
              <a:t>•  USDA FAS GAIN Report: Brazil Coffee Annual 2026 (GRATIS)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0D0D"/>
                </a:solidFill>
                <a:latin typeface="Calibri"/>
              </a:rPr>
              <a:t>Dados a Comprar: Euromonitor, NCA, SCA e SPINS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D0D0D"/>
                </a:solidFill>
                <a:latin typeface="Calibri"/>
              </a:rPr>
              <a:t>Gaps criticos de informacao que limitam a qualidade da decisao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241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Fonte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0241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Relatorio Especifico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0241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Por que e critico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02412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Acao / Custo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1481328"/>
            <a:ext cx="242316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5544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NCA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24912" y="1481328"/>
            <a:ext cx="388620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152704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NCDT 2026 — National Coffee Data Trends (completo)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6832" y="1481328"/>
            <a:ext cx="352044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15270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Unico relatorio com dados por metodo, canal, regiao e demografia incluindo hispanicos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22992" y="1481328"/>
            <a:ext cx="178308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68712" y="152704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8D8"/>
                </a:solidFill>
                <a:latin typeface="Calibri"/>
              </a:rPr>
              <a:t>ncausa.org | $99-499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" y="2103120"/>
            <a:ext cx="242316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17627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Euromonitor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24912" y="2103120"/>
            <a:ext cx="388620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16352" y="214884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Coffee in the US (2025/2026) via Passport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56832" y="2103120"/>
            <a:ext cx="352044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14884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Market share por canal, formato, marca; dados de competicao por regiao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22992" y="2103120"/>
            <a:ext cx="178308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8712" y="214884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8D8"/>
                </a:solidFill>
                <a:latin typeface="Calibri"/>
              </a:rPr>
              <a:t>Euromonitor.com | $1.500-3.000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724912"/>
            <a:ext cx="242316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798064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Euromonitor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24912" y="2724912"/>
            <a:ext cx="388620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16352" y="277063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Coffee Premiumisation in Inflation-Weary World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6832" y="2724912"/>
            <a:ext cx="352044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277063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Elasticidade de preco; comportamento do consumidor premium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22992" y="2724912"/>
            <a:ext cx="178308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68712" y="277063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8D8"/>
                </a:solidFill>
                <a:latin typeface="Calibri"/>
              </a:rPr>
              <a:t>Incluido no Passport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346704"/>
            <a:ext cx="242316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419856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Euromonitor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24912" y="3346704"/>
            <a:ext cx="388620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3392424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The Future of Coffee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56832" y="3346704"/>
            <a:ext cx="352044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8272" y="3392424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Tendencias 2025-2030; projecoes por categoria e formato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22992" y="3346704"/>
            <a:ext cx="178308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68712" y="3392424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8D8"/>
                </a:solidFill>
                <a:latin typeface="Calibri"/>
              </a:rPr>
              <a:t>Incluido no Passport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" y="3968496"/>
            <a:ext cx="242316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04164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SCA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24912" y="3968496"/>
            <a:ext cx="388620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16352" y="4014215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Specialty Coffee Retail Report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56832" y="3968496"/>
            <a:ext cx="352044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48272" y="4014215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Definicao e dados de segmentacao de especialidade; tendencias de torra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22992" y="3968496"/>
            <a:ext cx="178308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68712" y="4014215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8D8"/>
                </a:solidFill>
                <a:latin typeface="Calibri"/>
              </a:rPr>
              <a:t>sca.coffee | $199-599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" y="4590288"/>
            <a:ext cx="242316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6634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SPINS/NielsenIQ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24912" y="4590288"/>
            <a:ext cx="388620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16352" y="463600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POS data Florida — vendas em varejo por SKU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56832" y="4590288"/>
            <a:ext cx="352044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48272" y="46360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Velocidade de giro, preco medio, share por loja na Florida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22992" y="4590288"/>
            <a:ext cx="178308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68712" y="4636008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8D8"/>
                </a:solidFill>
                <a:latin typeface="Calibri"/>
              </a:rPr>
              <a:t>Via broker ou direto | variavel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5212080"/>
            <a:ext cx="242316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5285232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Helium 10 / Jungle Scout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24912" y="5212080"/>
            <a:ext cx="388620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16352" y="525780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Amazon BSR, keywords, sell-through de concorrentes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56832" y="5212080"/>
            <a:ext cx="352044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48272" y="52578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Validar demanda online antes de comprometer budget de lancamento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22992" y="5212080"/>
            <a:ext cx="1783080" cy="530352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68712" y="52578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0E8D8"/>
                </a:solidFill>
                <a:latin typeface="Calibri"/>
              </a:rPr>
              <a:t>$50-200/mes — assinar imediatamente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" y="5833872"/>
            <a:ext cx="242316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7472" y="5907024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45E"/>
                </a:solidFill>
                <a:latin typeface="Calibri"/>
              </a:rPr>
              <a:t>USDA FAS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24912" y="5833872"/>
            <a:ext cx="388620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16352" y="587959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GAIN Report: Brazil Coffee Annual 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56832" y="5833872"/>
            <a:ext cx="352044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48272" y="587959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Exportacoes, precos, tendencias de producao brasileira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22992" y="5833872"/>
            <a:ext cx="1783080" cy="530352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68712" y="5879592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8C88A"/>
                </a:solidFill>
                <a:latin typeface="Calibri"/>
              </a:rPr>
              <a:t>GRATIS: apps.fas.usda.gov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0D0D"/>
                </a:solidFill>
                <a:latin typeface="Calibri"/>
              </a:rPr>
              <a:t>Proximos Passos — Acoes e Responsaveis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0972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D0D0D"/>
                </a:solidFill>
                <a:latin typeface="Calibri"/>
              </a:rPr>
              <a:t>CAFÉ ORFEU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241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24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Responsavel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0241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Prazo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10241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45E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11640312" cy="1371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481328"/>
            <a:ext cx="598932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0876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7A20"/>
                </a:solidFill>
                <a:latin typeface="Calibri"/>
              </a:rPr>
              <a:t>Baixar USDA FAS GAIN Report Brazil Coffee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481328"/>
            <a:ext cx="233172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087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1481328"/>
            <a:ext cx="169164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150876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Imediato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05872" y="1481328"/>
            <a:ext cx="155448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51592" y="15087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1847088"/>
            <a:ext cx="59893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1874519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Adquirir NCDT 2026 completo (ncausa.org)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847088"/>
            <a:ext cx="23317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874519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Felipe/AKA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68512" y="1847088"/>
            <a:ext cx="169164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1874519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05872" y="1847088"/>
            <a:ext cx="155448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51592" y="187451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2212848"/>
            <a:ext cx="59893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2240279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Adquirir 'Coffee in the US' Euromonitor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2212848"/>
            <a:ext cx="23317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2240279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Felipe/AKA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68512" y="2212848"/>
            <a:ext cx="169164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4232" y="2240279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05872" y="2212848"/>
            <a:ext cx="155448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51592" y="224027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2578608"/>
            <a:ext cx="59893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260604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Assinar Helium 10 ou Jungle Scout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91072" y="2578608"/>
            <a:ext cx="23317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260604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AKA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2578608"/>
            <a:ext cx="169164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4232" y="260604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05872" y="2578608"/>
            <a:ext cx="155448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51592" y="2606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2944368"/>
            <a:ext cx="59893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297180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Mapear 10 influencers prioritarios (coffee + brasileiros FL)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2944368"/>
            <a:ext cx="23317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29718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AKA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68512" y="2944368"/>
            <a:ext cx="169164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14232" y="29718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05872" y="2944368"/>
            <a:ext cx="155448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51592" y="2971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" y="3310128"/>
            <a:ext cx="598932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333756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7A20"/>
                </a:solidFill>
                <a:latin typeface="Calibri"/>
              </a:rPr>
              <a:t>Agendar visitas em Miami (Whole Foods, Publix, hotel, broker)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3310128"/>
            <a:ext cx="233172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33375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Felipe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68512" y="3310128"/>
            <a:ext cx="169164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14232" y="333756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Jul/Ago 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05872" y="3310128"/>
            <a:ext cx="155448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51592" y="33375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3675888"/>
            <a:ext cx="59893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370332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Contatar Bay Food Brokerage + 2 brokers alternativos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91072" y="3675888"/>
            <a:ext cx="23317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82512" y="370332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AKA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68512" y="3675888"/>
            <a:ext cx="169164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14232" y="370332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05872" y="3675888"/>
            <a:ext cx="155448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51592" y="37033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" y="4041648"/>
            <a:ext cx="59893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" y="406908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Identificar 3 opcoes de 3PL em South Florida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4041648"/>
            <a:ext cx="23317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82512" y="40690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AKA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68512" y="4041648"/>
            <a:ext cx="169164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14232" y="40690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05872" y="4041648"/>
            <a:ext cx="155448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51592" y="40690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" y="4407408"/>
            <a:ext cx="598932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7472" y="443484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7A20"/>
                </a:solidFill>
                <a:latin typeface="Calibri"/>
              </a:rPr>
              <a:t>Verificar status de FDA Facility Registration da planta Orfeu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91072" y="4407408"/>
            <a:ext cx="233172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82512" y="443484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Orfeu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4407408"/>
            <a:ext cx="169164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14232" y="443484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Imediato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05872" y="4407408"/>
            <a:ext cx="1554480" cy="320040"/>
          </a:xfrm>
          <a:prstGeom prst="rect">
            <a:avLst/>
          </a:prstGeom>
          <a:solidFill>
            <a:srgbClr val="281005"/>
          </a:solidFill>
          <a:ln w="3810">
            <a:solidFill>
              <a:srgbClr val="E07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51592" y="44348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" y="4773168"/>
            <a:ext cx="59893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" y="480060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Preparar kit de amostras para visitas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91072" y="4773168"/>
            <a:ext cx="23317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82512" y="480060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Orfeu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68512" y="4773168"/>
            <a:ext cx="169164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714232" y="480060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405872" y="4773168"/>
            <a:ext cx="155448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51592" y="48006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6032" y="5138928"/>
            <a:ext cx="59893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7472" y="516636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Definir MSRP final por SKU e calcular COGS como % do MSRP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91072" y="5138928"/>
            <a:ext cx="23317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2512" y="516636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Orfeu+AKA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68512" y="5138928"/>
            <a:ext cx="169164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14232" y="516636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405872" y="5138928"/>
            <a:ext cx="155448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51592" y="5166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032" y="5504688"/>
            <a:ext cx="59893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7472" y="553212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Criar conta Amazon Seller e verificar Brand Registry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91072" y="5504688"/>
            <a:ext cx="23317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82512" y="553212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Orfeu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68512" y="5504688"/>
            <a:ext cx="169164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14232" y="553212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Jul 2026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405872" y="5504688"/>
            <a:ext cx="155448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51592" y="55321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032" y="5870448"/>
            <a:ext cx="59893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7472" y="589788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Elaborar pitch deck para Whole Foods LEAP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91072" y="5870448"/>
            <a:ext cx="233172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82512" y="589788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AKA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68512" y="5870448"/>
            <a:ext cx="169164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14232" y="58978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Ago 2026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405872" y="5870448"/>
            <a:ext cx="1554480" cy="320040"/>
          </a:xfrm>
          <a:prstGeom prst="rect">
            <a:avLst/>
          </a:prstGeom>
          <a:solidFill>
            <a:srgbClr val="222222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451592" y="58978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56032" y="6236208"/>
            <a:ext cx="59893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7472" y="626364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E8D8"/>
                </a:solidFill>
                <a:latin typeface="Calibri"/>
              </a:rPr>
              <a:t>Definir budget de lancamento e estrutura de capital de giro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91072" y="6236208"/>
            <a:ext cx="233172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82512" y="6263640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Felipe+Orfeu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68512" y="6236208"/>
            <a:ext cx="169164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714232" y="626364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C88A"/>
                </a:solidFill>
                <a:latin typeface="Calibri"/>
              </a:rPr>
              <a:t>Ago 2026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405872" y="6236208"/>
            <a:ext cx="1554480" cy="320040"/>
          </a:xfrm>
          <a:prstGeom prst="rect">
            <a:avLst/>
          </a:prstGeom>
          <a:solidFill>
            <a:srgbClr val="1A1A1A"/>
          </a:solidFill>
          <a:ln w="381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451592" y="62636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AAAA"/>
                </a:solidFill>
                <a:latin typeface="Calibri"/>
              </a:rPr>
              <a:t>Pendente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4320" y="65836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AAAAA"/>
                </a:solidFill>
                <a:latin typeface="Calibri"/>
              </a:rPr>
              <a:t>AKA Consultoria | Alquemia Consulting | Junho 2026 | CONFIDENCIAL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8A45E"/>
                </a:solidFill>
                <a:latin typeface="Calibri"/>
              </a:rPr>
              <a:t>CAFE ORFEU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4572000" cy="54864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Expansao para os EUA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E8D8"/>
                </a:solidFill>
                <a:latin typeface="Calibri"/>
              </a:rPr>
              <a:t>Sul da Florida — Go-to-Market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Junho 2026  |  CONFIDENCIAL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Preparado por AKA Consultoria para Alquemia Consulting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8A45E"/>
                </a:solidFill>
                <a:latin typeface="Calibri"/>
              </a:rPr>
              <a:t>AKA Consultoria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Alquemia Consulting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4572000" cy="36576"/>
          </a:xfrm>
          <a:prstGeom prst="rect">
            <a:avLst/>
          </a:prstGeom>
          <a:solidFill>
            <a:srgbClr val="C8A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fszpigel@gmail.com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01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>Sao Paulo, SP, Brasil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7705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5254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7A20"/>
                </a:solidFill>
                <a:latin typeface="Calibri"/>
              </a:rPr>
              <a:t>Este documento e confidencial.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280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7A20"/>
                </a:solidFill>
                <a:latin typeface="Calibri"/>
              </a:rPr>
              <a:t>Nao reproduzir sem autorizacao expressa.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5778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45E"/>
                </a:solidFill>
                <a:latin typeface="Calibri"/>
              </a:rPr>
              <a:t>Obrigado.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10896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AAAA"/>
                </a:solidFill>
                <a:latin typeface="Calibri"/>
              </a:rPr>
              <a:t>AKA Consultoria | Alquemia Consulting | Cafe Orfeu Expansao EUA 2026 |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