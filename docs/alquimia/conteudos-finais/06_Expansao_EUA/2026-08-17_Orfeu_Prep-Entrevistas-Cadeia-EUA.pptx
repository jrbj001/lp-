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4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_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365760"/>
            <a:ext cx="1513936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965960"/>
            <a:ext cx="7863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Avenir Next LT Pro"/>
              </a:rPr>
              <a:t>Preparação — Entrevistas da Cadeia EUA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87168"/>
            <a:ext cx="7863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D8E4D6"/>
                </a:solidFill>
                <a:latin typeface="Avenir Next LT Pro"/>
              </a:rPr>
              <a:t>Trader · Broker (C.A. Ferolie) · 2 Distribuidores · 2 Varejistas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71800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C07028"/>
                </a:solidFill>
                <a:latin typeface="Avenir Next LT Pro"/>
              </a:rPr>
              <a:t>10 perguntas-chave + framework de validação do plano de entrada nos EUA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B8C8B6"/>
                </a:solidFill>
                <a:latin typeface="Avenir Next LT Pro"/>
              </a:rPr>
              <a:t>Preparado por Alquemia  ·  Semana de 17 de 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7315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FFFFF"/>
                </a:solidFill>
                <a:latin typeface="Avenir Next LT Pro"/>
              </a:rPr>
              <a:t>Contexto — Por Que Estas Entrevistas Importam Agora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8412480" cy="1188720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79552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5C2E"/>
                </a:solidFill>
                <a:latin typeface="Avenir Next LT Pro"/>
              </a:rPr>
              <a:t>Onde isso se encaixa no Playbook EUA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79552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Avenir Next LT Pro"/>
              </a:rPr>
              <a:t>Estas 6 conversas alimentam diretamente 5 iniciativas já mapeadas: US1 (modelo HoReCa), US3 (cadeia de relacionamento/parceiros), US7 (KeHE — parceria e preço), US14 (estrutura do time local) e US19 (preço/posicionamento). O objetivo desta semana é sair com inputs reais para fechar essas 5 iniciativas.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94560"/>
            <a:ext cx="8412480" cy="2286000"/>
          </a:xfrm>
          <a:prstGeom prst="roundRect">
            <a:avLst>
              <a:gd name="adj" fmla="val 8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13432"/>
            <a:ext cx="79552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4221"/>
                </a:solidFill>
                <a:latin typeface="Avenir Next LT Pro"/>
              </a:rPr>
              <a:t>As 6 conversas desta semana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07028"/>
                </a:solidFill>
                <a:latin typeface="Avenir Next LT Pro"/>
              </a:rPr>
              <a:t>Trader / Importador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651760"/>
            <a:ext cx="562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Logística, câmbio, compliance de importação — a ponte física entre a fazenda no Brasil e o produto em solo americano.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9067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07028"/>
                </a:solidFill>
                <a:latin typeface="Avenir Next LT Pro"/>
              </a:rPr>
              <a:t>Broker — C.A. Ferolie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090672"/>
            <a:ext cx="562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Representação comercial junto a distribuidores e varejistas; cobertura Maine–Flórida–Ohio, herança de 1948, hoje sob o guarda-chuva CA Brands (com CA Carlin e CA Fortune).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2958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07028"/>
                </a:solidFill>
                <a:latin typeface="Avenir Next LT Pro"/>
              </a:rPr>
              <a:t>Distribuidor #1 e 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529584"/>
            <a:ext cx="562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Provavelmente KeHE e um segundo (UNFI ou regional) — armazenagem, entrega, crédito ao varejista.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6849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07028"/>
                </a:solidFill>
                <a:latin typeface="Avenir Next LT Pro"/>
              </a:rPr>
              <a:t>Varejista #1 e 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968496"/>
            <a:ext cx="562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Provavelmente Publix e um segundo (Whole Foods/especialidade) — espaço de prateleira e acesso ao consumidor final.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956048"/>
            <a:ext cx="6858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 i="0">
                <a:solidFill>
                  <a:srgbClr val="6E6E6E"/>
                </a:solidFill>
                <a:latin typeface="Avenir Next LT Pro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956048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E6E6E"/>
                </a:solidFill>
                <a:latin typeface="Avenir Next LT Pr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7315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FFFFF"/>
                </a:solidFill>
                <a:latin typeface="Avenir Next LT Pro"/>
              </a:rPr>
              <a:t>O Que Já Sabemos — KeHE Distributors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1">
                <a:solidFill>
                  <a:srgbClr val="6E6E6E"/>
                </a:solidFill>
                <a:latin typeface="Avenir Next LT Pro"/>
              </a:rPr>
              <a:t>Pesquisa pública, a validar/aprofundar na entrevista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1417320" cy="621792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417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Perfil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74519" y="914400"/>
            <a:ext cx="6903720" cy="621792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914400"/>
            <a:ext cx="6583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Grande distribuidor nacional focado em natural, orgânico, fresco e specialty — categoria em que café premium/specialty se encaixa naturalmente.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609344"/>
            <a:ext cx="1417320" cy="621792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417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Processo de onboarding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1609344"/>
            <a:ext cx="6903720" cy="621792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1609344"/>
            <a:ext cx="6583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Avaliação de produto, análise financeira e checagem de compliance. Favorece produtos orgânicos, non-GMO, de origem ética e com benefício claro de saúde/bem-estar.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304288"/>
            <a:ext cx="1417320" cy="621792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304288"/>
            <a:ext cx="1417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Exigências de seguro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19" y="2304288"/>
            <a:ext cx="6903720" cy="621792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2304288"/>
            <a:ext cx="6583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Responsabilidade civil geral e de produto: mínimo US$2M por ocorrência e US$2M agregado, com a KeHE como segurada adicional.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999232"/>
            <a:ext cx="1417320" cy="621792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999232"/>
            <a:ext cx="1417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Compliance técnico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2999232"/>
            <a:ext cx="6903720" cy="621792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2999232"/>
            <a:ext cx="6583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Exige conformidade EDI (troca eletrônica de dados) para pedidos e faturamento — pré-requisito técnico, não opcional.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694176"/>
            <a:ext cx="1417320" cy="621792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694176"/>
            <a:ext cx="1417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Prazo até a prateleira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19" y="3694176"/>
            <a:ext cx="6903720" cy="621792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3694176"/>
            <a:ext cx="6583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6 a 12 meses do cadastro até a efetiva compra pelo varejista — não é um processo rápido.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956048"/>
            <a:ext cx="6858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 i="0">
                <a:solidFill>
                  <a:srgbClr val="6E6E6E"/>
                </a:solidFill>
                <a:latin typeface="Avenir Next LT Pro"/>
              </a:rPr>
              <a:t>Fontes: kehe.com/suppliers, govividly.com, guide.foodbevy.com, infoconn.com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956048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E6E6E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7315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FFFFF"/>
                </a:solidFill>
                <a:latin typeface="Avenir Next LT Pro"/>
              </a:rPr>
              <a:t>O Que Já Sabemos — Publix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1">
                <a:solidFill>
                  <a:srgbClr val="6E6E6E"/>
                </a:solidFill>
                <a:latin typeface="Avenir Next LT Pro"/>
              </a:rPr>
              <a:t>Pesquisa pública, a validar/aprofundar na entrevista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1417320" cy="621792"/>
          </a:xfrm>
          <a:prstGeom prst="roundRect">
            <a:avLst>
              <a:gd name="adj" fmla="val 15000"/>
            </a:avLst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417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Categoria já validada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74519" y="914400"/>
            <a:ext cx="6903720" cy="621792"/>
          </a:xfrm>
          <a:prstGeom prst="roundRect">
            <a:avLst>
              <a:gd name="adj" fmla="val 8000"/>
            </a:avLst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914400"/>
            <a:ext cx="6583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A marca própria GreenWise já vende café orgânico/Fair Trade em grãos e cápsulas — confirma que a Publix já trabalha o território "café premium/orgânico", reduz o risco de ser categoria nova para o comprador.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609344"/>
            <a:ext cx="1417320" cy="621792"/>
          </a:xfrm>
          <a:prstGeom prst="roundRect">
            <a:avLst>
              <a:gd name="adj" fmla="val 15000"/>
            </a:avLst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417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Processo formal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1609344"/>
            <a:ext cx="6903720" cy="621792"/>
          </a:xfrm>
          <a:prstGeom prst="roundRect">
            <a:avLst>
              <a:gd name="adj" fmla="val 8000"/>
            </a:avLst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1609344"/>
            <a:ext cx="6583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Cadastro via Publix Business Connection; exige Cost/Promotion Form, Item Data Form e (para alimentos) o Bio-Terrorism Act Product Sample Form.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304288"/>
            <a:ext cx="1417320" cy="621792"/>
          </a:xfrm>
          <a:prstGeom prst="roundRect">
            <a:avLst>
              <a:gd name="adj" fmla="val 15000"/>
            </a:avLst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304288"/>
            <a:ext cx="1417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Compliance técnico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19" y="2304288"/>
            <a:ext cx="6903720" cy="621792"/>
          </a:xfrm>
          <a:prstGeom prst="roundRect">
            <a:avLst>
              <a:gd name="adj" fmla="val 8000"/>
            </a:avLst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2304288"/>
            <a:ext cx="6583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Todo fornecedor de produto precisa ser parceiro EDI.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999232"/>
            <a:ext cx="1417320" cy="621792"/>
          </a:xfrm>
          <a:prstGeom prst="roundRect">
            <a:avLst>
              <a:gd name="adj" fmla="val 15000"/>
            </a:avLst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999232"/>
            <a:ext cx="1417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Prazo até a prateleira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2999232"/>
            <a:ext cx="6903720" cy="621792"/>
          </a:xfrm>
          <a:prstGeom prst="roundRect">
            <a:avLst>
              <a:gd name="adj" fmla="val 8000"/>
            </a:avLst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2999232"/>
            <a:ext cx="6583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12 a 24 meses do cadastro inicial até o primeiro pedido de compra — mais longo que a KeHE.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694176"/>
            <a:ext cx="1417320" cy="621792"/>
          </a:xfrm>
          <a:prstGeom prst="roundRect">
            <a:avLst>
              <a:gd name="adj" fmla="val 15000"/>
            </a:avLst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694176"/>
            <a:ext cx="1417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Cultura de fornecedor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19" y="3694176"/>
            <a:ext cx="6903720" cy="621792"/>
          </a:xfrm>
          <a:prstGeom prst="roundRect">
            <a:avLst>
              <a:gd name="adj" fmla="val 8000"/>
            </a:avLst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3694176"/>
            <a:ext cx="6583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Publix descreve a relação esperada como baseada em "profissionalismo, altos padrões éticos e comunicação consistente e aberta" — tom consultivo, não transacional.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956048"/>
            <a:ext cx="6858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 i="0">
                <a:solidFill>
                  <a:srgbClr val="6E6E6E"/>
                </a:solidFill>
                <a:latin typeface="Avenir Next LT Pro"/>
              </a:rPr>
              <a:t>Fontes: corporate.publix.com/business/publix-business-connection, publix.com (GreenWise Coffee)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956048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E6E6E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7315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FFFFF"/>
                </a:solidFill>
                <a:latin typeface="Avenir Next LT Pro"/>
              </a:rPr>
              <a:t>O Que Já Sabemos — Broker C.A. Ferolie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1">
                <a:solidFill>
                  <a:srgbClr val="6E6E6E"/>
                </a:solidFill>
                <a:latin typeface="Avenir Next LT Pro"/>
              </a:rPr>
              <a:t>Pesquisa pública, a validar/aprofundar na entrevista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1417320" cy="621792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417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Perfil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74519" y="914400"/>
            <a:ext cx="6903720" cy="621792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914400"/>
            <a:ext cx="6583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10" b="0" i="0">
                <a:solidFill>
                  <a:srgbClr val="1A1A1A"/>
                </a:solidFill>
                <a:latin typeface="Avenir Next LT Pro"/>
              </a:rPr>
              <a:t>Agência familiar de 4ª geração, fundada em 1948. Hoje opera sob o grupo "CA Brands", junto com CA Carlin e CA Fortune — três agências irmãs, não uma só.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609344"/>
            <a:ext cx="1417320" cy="621792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417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Cobertura geográfica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1609344"/>
            <a:ext cx="6903720" cy="621792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1609344"/>
            <a:ext cx="6583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10" b="0" i="0">
                <a:solidFill>
                  <a:srgbClr val="1A1A1A"/>
                </a:solidFill>
                <a:latin typeface="Avenir Next LT Pro"/>
              </a:rPr>
              <a:t>"Super regional, nacional e omnichannel" — presença de Maine até a Flórida e a oeste até Ohio. Cobertura da Flórida é confirmada, relevante para o piloto Sul da Flórida.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304288"/>
            <a:ext cx="1417320" cy="621792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304288"/>
            <a:ext cx="1417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Canais atendidos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19" y="2304288"/>
            <a:ext cx="6903720" cy="621792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2304288"/>
            <a:ext cx="6583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10" b="0" i="0">
                <a:solidFill>
                  <a:srgbClr val="1A1A1A"/>
                </a:solidFill>
                <a:latin typeface="Avenir Next LT Pro"/>
              </a:rPr>
              <a:t>Grocery, conveniência, clubes, mass retailers, distribuidores, atacadistas e canais alternativos — cobertura ampla de classes de trade.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999232"/>
            <a:ext cx="1417320" cy="621792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999232"/>
            <a:ext cx="1417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Movimento recente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2999232"/>
            <a:ext cx="6903720" cy="621792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2999232"/>
            <a:ext cx="6583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10" b="0" i="0">
                <a:solidFill>
                  <a:srgbClr val="1A1A1A"/>
                </a:solidFill>
                <a:latin typeface="Avenir Next LT Pro"/>
              </a:rPr>
              <a:t>Fusão com a Integrity Food Marketing em abril/2024, após ~25 anos de colaboração informal — sinal de crescimento e consolidação ativa da rede.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694176"/>
            <a:ext cx="1417320" cy="621792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694176"/>
            <a:ext cx="1417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Gap a preencher na entrevista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19" y="3694176"/>
            <a:ext cx="6903720" cy="621792"/>
          </a:xfrm>
          <a:prstGeom prst="roundRect">
            <a:avLst>
              <a:gd name="adj" fmla="val 8000"/>
            </a:avLst>
          </a:prstGeom>
          <a:solidFill>
            <a:srgbClr val="F6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3694176"/>
            <a:ext cx="6583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10" b="0" i="0">
                <a:solidFill>
                  <a:srgbClr val="1A1A1A"/>
                </a:solidFill>
                <a:latin typeface="Avenir Next LT Pro"/>
              </a:rPr>
              <a:t>Nenhuma menção pública específica a café/bebidas — validar diretamente se o time tem experiência ou conta ativa na categoria.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956048"/>
            <a:ext cx="6858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 i="0">
                <a:solidFill>
                  <a:srgbClr val="6E6E6E"/>
                </a:solidFill>
                <a:latin typeface="Avenir Next LT Pro"/>
              </a:rPr>
              <a:t>Fontes: cafortune.com, prnewswire.com (release Integrity/CA Ferolie, abr/2024), linkedin.com/company/caferolie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956048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E6E6E"/>
                </a:solidFill>
                <a:latin typeface="Avenir Next LT Pr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7315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FFFFF"/>
                </a:solidFill>
                <a:latin typeface="Avenir Next LT Pro"/>
              </a:rPr>
              <a:t>Papéis da Cadeia &amp; Margens/Recursos Esperados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1">
                <a:solidFill>
                  <a:srgbClr val="6E6E6E"/>
                </a:solidFill>
                <a:latin typeface="Avenir Next LT Pro"/>
              </a:rPr>
              <a:t>Benchmarks de mercado — validar os números reais com cada entrevistado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896112"/>
            <a:ext cx="1371600" cy="310896"/>
          </a:xfrm>
          <a:prstGeom prst="roundRect">
            <a:avLst>
              <a:gd name="adj" fmla="val 8000"/>
            </a:avLst>
          </a:prstGeom>
          <a:solidFill>
            <a:srgbClr val="1E4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9611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venir Next LT Pro"/>
              </a:rPr>
              <a:t>Papel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896112"/>
            <a:ext cx="2468880" cy="310896"/>
          </a:xfrm>
          <a:prstGeom prst="roundRect">
            <a:avLst>
              <a:gd name="adj" fmla="val 8000"/>
            </a:avLst>
          </a:prstGeom>
          <a:solidFill>
            <a:srgbClr val="1E4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896112"/>
            <a:ext cx="2468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venir Next LT Pro"/>
              </a:rPr>
              <a:t>O que faz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896112"/>
            <a:ext cx="2651760" cy="310896"/>
          </a:xfrm>
          <a:prstGeom prst="roundRect">
            <a:avLst>
              <a:gd name="adj" fmla="val 8000"/>
            </a:avLst>
          </a:prstGeom>
          <a:solidFill>
            <a:srgbClr val="1E4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896112"/>
            <a:ext cx="2651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venir Next LT Pro"/>
              </a:rPr>
              <a:t>Margem/comissão típica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896112"/>
            <a:ext cx="1920240" cy="310896"/>
          </a:xfrm>
          <a:prstGeom prst="roundRect">
            <a:avLst>
              <a:gd name="adj" fmla="val 8000"/>
            </a:avLst>
          </a:prstGeom>
          <a:solidFill>
            <a:srgbClr val="1E4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896112"/>
            <a:ext cx="1920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venir Next LT Pro"/>
              </a:rPr>
              <a:t>Recursos esperados da Orfeu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225296"/>
            <a:ext cx="137160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252728"/>
            <a:ext cx="126187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19" b="1" i="0">
                <a:solidFill>
                  <a:srgbClr val="C07028"/>
                </a:solidFill>
                <a:latin typeface="Avenir Next LT Pro"/>
              </a:rPr>
              <a:t>Trader / Importador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1640" y="1225296"/>
            <a:ext cx="246888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46504" y="1252728"/>
            <a:ext cx="235915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Logística, câmbio, compliance de importação (FDA/FSMA), por vezes financiamento de estoque em trânsito.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1225296"/>
            <a:ext cx="265176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15384" y="1252728"/>
            <a:ext cx="254203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5–15% (commodity) a 15–30% (specialty/lote rastreável)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1225296"/>
            <a:ext cx="19202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67144" y="1252728"/>
            <a:ext cx="181051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Volume mínimo, documentação de compliance, previsibilidade de embarque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066544"/>
            <a:ext cx="1371600" cy="84124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093976"/>
            <a:ext cx="126187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19" b="1" i="0">
                <a:solidFill>
                  <a:srgbClr val="C07028"/>
                </a:solidFill>
                <a:latin typeface="Avenir Next LT Pro"/>
              </a:rPr>
              <a:t>Broker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91640" y="2066544"/>
            <a:ext cx="2468880" cy="84124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46504" y="2093976"/>
            <a:ext cx="235915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Representa a marca junto a compradores de varejo/distribuidor; negocia espaço de gôndola; gerencia trade spend.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2066544"/>
            <a:ext cx="2651760" cy="84124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15384" y="2093976"/>
            <a:ext cx="254203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2–5% (convencional) a 5–7%+ (natural/specialty) sobre vendas líquidas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12280" y="2066544"/>
            <a:ext cx="1920240" cy="84124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67144" y="2093976"/>
            <a:ext cx="181051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Orçamento de trade marketing, material de vendas, ponto focal Orfeu dedicado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907792"/>
            <a:ext cx="137160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2935224"/>
            <a:ext cx="126187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19" b="1" i="0">
                <a:solidFill>
                  <a:srgbClr val="C07028"/>
                </a:solidFill>
                <a:latin typeface="Avenir Next LT Pro"/>
              </a:rPr>
              <a:t>Distribuidor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91640" y="2907792"/>
            <a:ext cx="246888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46504" y="2935224"/>
            <a:ext cx="235915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Armazenagem, logística, entrega às lojas, crédito ao varejista.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2907792"/>
            <a:ext cx="265176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15384" y="2935224"/>
            <a:ext cx="254203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12–20% (geral) a 20–35% (specialty/premium) de margem bruta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12280" y="2907792"/>
            <a:ext cx="19202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67144" y="2935224"/>
            <a:ext cx="181051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Compliance EDI, seguro (US$2M+), cumprimento de embalagem/prazo de entrega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749040"/>
            <a:ext cx="1371600" cy="84124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3776472"/>
            <a:ext cx="126187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19" b="1" i="0">
                <a:solidFill>
                  <a:srgbClr val="C07028"/>
                </a:solidFill>
                <a:latin typeface="Avenir Next LT Pro"/>
              </a:rPr>
              <a:t>Varejista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91640" y="3749040"/>
            <a:ext cx="2468880" cy="84124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46504" y="3776472"/>
            <a:ext cx="235915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Espaço de prateleira, exposição ao consumidor final, dados de sell-through.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0520" y="3749040"/>
            <a:ext cx="2651760" cy="84124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15384" y="3776472"/>
            <a:ext cx="254203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~30–40% de margem de categoria sobre o preço de venda (mercearia seca/embalados)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12280" y="3749040"/>
            <a:ext cx="1920240" cy="84124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67144" y="3776472"/>
            <a:ext cx="181051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Possível slotting fee, formulário de dados do produto, amostra para teste, 12–24 meses do cadastro à 1ª PO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4636008"/>
            <a:ext cx="8412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1">
                <a:solidFill>
                  <a:srgbClr val="B03020"/>
                </a:solidFill>
                <a:latin typeface="Avenir Next LT Pro"/>
              </a:rPr>
              <a:t>Somando a cadeia: ~50–85% do preço de prateleira pode ser consumido por broker + distribuidor + varejista antes de chegar à Orfeu.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956048"/>
            <a:ext cx="6858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 i="0">
                <a:solidFill>
                  <a:srgbClr val="6E6E6E"/>
                </a:solidFill>
                <a:latin typeface="Avenir Next LT Pro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4956048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E6E6E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7315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FFFFF"/>
                </a:solidFill>
                <a:latin typeface="Avenir Next LT Pro"/>
              </a:rPr>
              <a:t>As 10 Perguntas Principais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1">
                <a:solidFill>
                  <a:srgbClr val="6E6E6E"/>
                </a:solidFill>
                <a:latin typeface="Avenir Next LT Pro"/>
              </a:rPr>
              <a:t>Para levar às 6 entrevistas — adaptar por interlocutor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A5C2E"/>
                </a:solidFill>
                <a:latin typeface="Avenir Next LT Pro"/>
              </a:rPr>
              <a:t>A. Validar a Flórida como beachhead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07008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786384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1.  Que sinais concretos vocês veem de que o consumidor local paga por café super-premium, além do que já é atendido por Nespresso/Illy/Lavazza? Miami-Dade, Broward e Palm Beach se comportam de forma diferente o suficiente para importar na escolha de onde abrir loja/escritório?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A5C2E"/>
                </a:solidFill>
                <a:latin typeface="Avenir Next LT Pro"/>
              </a:rPr>
              <a:t>B. Posicionamento de produto/categoria e preço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41448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96312"/>
            <a:ext cx="786384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2.  Onde vocês posicionariam a Orfeu na gôndola — ao lado das cápsulas compatíveis com Nespresso, dos grãos de torrefação local, ou como categoria própria "Brazilian premium"? Que faixa de preço de varejo evita canibalização sem ficar invisível?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83280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A5C2E"/>
                </a:solidFill>
                <a:latin typeface="Avenir Next LT Pro"/>
              </a:rPr>
              <a:t>C. Tendências e desafios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75888"/>
            <a:ext cx="8229600" cy="566928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30752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3.  Quais as 2–3 maiores tendências de consumo de café especial na Flórida hoje (descafeinado premium, sustentabilidade, conveniência, ready-to-drink) — onde a Orfeu deveria (ou não) apostar no lançamento?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334256"/>
            <a:ext cx="8229600" cy="566928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389120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4.  Quais os maiores obstáculos operacionais que marcas importadas enfrentam nos primeiros 12 meses (slotting fees, prazo de pagamento, giro mínimo, devolução, penalidade por ruptura)?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956048"/>
            <a:ext cx="6858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 i="0">
                <a:solidFill>
                  <a:srgbClr val="6E6E6E"/>
                </a:solidFill>
                <a:latin typeface="Avenir Next LT Pro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956048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E6E6E"/>
                </a:solidFill>
                <a:latin typeface="Avenir Next LT Pr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7315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FFFFF"/>
                </a:solidFill>
                <a:latin typeface="Avenir Next LT Pro"/>
              </a:rPr>
              <a:t>As 10 Perguntas Principais (continuação)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D. Papéis de cada player e margens/recursos esperados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78992"/>
            <a:ext cx="8229600" cy="420624"/>
          </a:xfrm>
          <a:prstGeom prst="roundRect">
            <a:avLst>
              <a:gd name="adj" fmla="val 8000"/>
            </a:avLst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15568"/>
            <a:ext cx="7863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5.  Qual é o modelo de remuneração de vocês (comissão sobre vendas líquidas, retainer, ou híbrido)? O que está incluso vs. cobrado à parte (apresentação a novos compradores, gestão de trade spend, relatórios de sell-through)?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45336"/>
            <a:ext cx="8229600" cy="420624"/>
          </a:xfrm>
          <a:prstGeom prst="roundRect">
            <a:avLst>
              <a:gd name="adj" fmla="val 8000"/>
            </a:avLst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81912"/>
            <a:ext cx="7863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6.  Que recursos vocês esperam da Orfeu (pessoa dedicada nos EUA, orçamento de trade marketing, material de vendas, amostras) para a parceria funcionar nos primeiros 6 meses?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39112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E. Riscos e fatores de sucesso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76856"/>
            <a:ext cx="8229600" cy="420624"/>
          </a:xfrm>
          <a:prstGeom prst="roundRect">
            <a:avLst>
              <a:gd name="adj" fmla="val 8000"/>
            </a:avLst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7863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7.  Na sua experiência, qual foi o principal motivo de fracasso de marcas de café premium importadas nos EUA nos últimos anos — e o que diferenciou as que deram certo?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43200"/>
            <a:ext cx="8229600" cy="420624"/>
          </a:xfrm>
          <a:prstGeom prst="roundRect">
            <a:avLst>
              <a:gd name="adj" fmla="val 8000"/>
            </a:avLst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79776"/>
            <a:ext cx="7863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8.  Que KPI vocês usariam nos primeiros 90 dias para decidir se o piloto vale expandir, ou deve pausar?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23697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F. Fechamento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74720"/>
            <a:ext cx="8229600" cy="420624"/>
          </a:xfrm>
          <a:prstGeom prst="roundRect">
            <a:avLst>
              <a:gd name="adj" fmla="val 8000"/>
            </a:avLst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11296"/>
            <a:ext cx="7863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9.  Vale entrar com HoReCa e varejo premium ao mesmo tempo, ou é mais seguro provar um canal antes do outro?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941064"/>
            <a:ext cx="8229600" cy="420624"/>
          </a:xfrm>
          <a:prstGeom prst="roundRect">
            <a:avLst>
              <a:gd name="adj" fmla="val 8000"/>
            </a:avLst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977640"/>
            <a:ext cx="7863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10.  O que vocês precisariam ver da Orfeu nos próximos 60–90 dias para recomendar a marca formalmente aos seus compradores/clientes?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956048"/>
            <a:ext cx="6858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 i="0">
                <a:solidFill>
                  <a:srgbClr val="6E6E6E"/>
                </a:solidFill>
                <a:latin typeface="Avenir Next LT Pro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956048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E6E6E"/>
                </a:solidFill>
                <a:latin typeface="Avenir Next LT Pr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7315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FFFFF"/>
                </a:solidFill>
                <a:latin typeface="Avenir Next LT Pro"/>
              </a:rPr>
              <a:t>Framework de Validação do Plano — Quem Faz o Quê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1">
                <a:solidFill>
                  <a:srgbClr val="6E6E6E"/>
                </a:solidFill>
                <a:latin typeface="Avenir Next LT Pro"/>
              </a:rPr>
              <a:t>Preencher com os dados das entrevistas ao longo desta semana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1920240" cy="868680"/>
          </a:xfrm>
          <a:prstGeom prst="roundRect">
            <a:avLst>
              <a:gd name="adj" fmla="val 10000"/>
            </a:avLst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737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Avenir Next LT Pro"/>
              </a:rPr>
              <a:t>Online (DTC/marketplace)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914400"/>
            <a:ext cx="6446520" cy="868680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969264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Quem: Orfeu direta (site próprio) + marketplace (Amazon US); broker e distribuidor tradicionais têm papel menor aqui.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261872"/>
            <a:ext cx="6217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Custo/P&amp;L: Taxas de plataforma + fulfillment (3PL) + mídia paga — sem intermediário de prateleira.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508760"/>
            <a:ext cx="6217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1">
                <a:solidFill>
                  <a:srgbClr val="B03020"/>
                </a:solidFill>
                <a:latin typeface="Avenir Next LT Pro"/>
              </a:rPr>
              <a:t>⚠ Gap — nenhuma iniciativa do Playbook EUA cobre DTC/marketplace hoje. Precisa de dono.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856232"/>
            <a:ext cx="1920240" cy="868680"/>
          </a:xfrm>
          <a:prstGeom prst="roundRect">
            <a:avLst>
              <a:gd name="adj" fmla="val 10000"/>
            </a:avLst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47672"/>
            <a:ext cx="1737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Avenir Next LT Pro"/>
              </a:rPr>
              <a:t>Varejo (retail físico)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1856232"/>
            <a:ext cx="6446520" cy="868680"/>
          </a:xfrm>
          <a:prstGeom prst="roundRect">
            <a:avLst>
              <a:gd name="adj" fmla="val 8000"/>
            </a:avLst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1911096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Quem: Broker (C.A. Ferolie) representa; Distribuidor (KeHE) entrega; Varejista (Publix/outro) expõe.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203704"/>
            <a:ext cx="6217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Custo/P&amp;L: Ver cadeia de margens do slide 6 — broker + distribuidor + varejista.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450592"/>
            <a:ext cx="6217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1">
                <a:solidFill>
                  <a:srgbClr val="6E6E6E"/>
                </a:solidFill>
                <a:latin typeface="Avenir Next LT Pro"/>
              </a:rPr>
              <a:t>Ligado a: US1, US7, US19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798064"/>
            <a:ext cx="1920240" cy="868680"/>
          </a:xfrm>
          <a:prstGeom prst="roundRect">
            <a:avLst>
              <a:gd name="adj" fmla="val 10000"/>
            </a:avLst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89504"/>
            <a:ext cx="1737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Avenir Next LT Pro"/>
              </a:rPr>
              <a:t>B2B (HoReCa / Office)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20" y="2798064"/>
            <a:ext cx="6446520" cy="868680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2852928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Quem: Time comercial local Orfeu + broker especializado em foodservice (diferente do broker de varejo) + distribuidor de foodservice.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145536"/>
            <a:ext cx="6217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Custo/P&amp;L: Modelo de wholesale direto, com margem de food-service distinta da de varejo.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392424"/>
            <a:ext cx="6217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1">
                <a:solidFill>
                  <a:srgbClr val="6E6E6E"/>
                </a:solidFill>
                <a:latin typeface="Avenir Next LT Pro"/>
              </a:rPr>
              <a:t>Ligado a: US1, US2, US3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785616"/>
            <a:ext cx="8412480" cy="960120"/>
          </a:xfrm>
          <a:prstGeom prst="roundRect">
            <a:avLst>
              <a:gd name="adj" fmla="val 8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877056"/>
            <a:ext cx="8046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4221"/>
                </a:solidFill>
                <a:latin typeface="Avenir Next LT Pro"/>
              </a:rPr>
              <a:t>Escritório US e recursos adicionais da Orfeu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42232"/>
            <a:ext cx="8046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69" b="0" i="0">
                <a:solidFill>
                  <a:srgbClr val="1A1A1A"/>
                </a:solidFill>
                <a:latin typeface="Avenir Next LT Pro"/>
              </a:rPr>
              <a:t>Estrutura do time local é US14 (Diego) no Playbook — ainda não iniciado. Recursos que a própria Orfeu precisa incluir: pessoa dedicada nos EUA, orçamento de trade marketing/slotting, seguro de responsabilidade civil (US$2M+), certificação FDA/FSMA, capital de giro para prazo de pagamento do distribuidor (ligado a US10).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956048"/>
            <a:ext cx="6858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 i="0">
                <a:solidFill>
                  <a:srgbClr val="6E6E6E"/>
                </a:solidFill>
                <a:latin typeface="Avenir Next LT Pro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956048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E6E6E"/>
                </a:solidFill>
                <a:latin typeface="Avenir Next LT Pr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7315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FFFFF"/>
                </a:solidFill>
                <a:latin typeface="Avenir Next LT Pro"/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1">
                <a:solidFill>
                  <a:srgbClr val="6E6E6E"/>
                </a:solidFill>
                <a:latin typeface="Avenir Next LT Pro"/>
              </a:rPr>
              <a:t>Conectando de volta ao Playbook EUA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A1A1A"/>
                </a:solidFill>
                <a:latin typeface="Avenir Next LT Pro"/>
              </a:rPr>
              <a:t>Ao final das 6 entrevistas, consolidar os aprendizados nas iniciativas do Playbook EUA que dependem diretamente destas conversas: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8412480" cy="512064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17904"/>
            <a:ext cx="2377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A5C2E"/>
                </a:solidFill>
                <a:latin typeface="Avenir Next LT Pro"/>
              </a:rPr>
              <a:t>US1 — Modelo HoReCa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517904"/>
            <a:ext cx="5577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Validar com Trader/Broker/Distribuidor de foodservice o modelo de fornecimento de máquinas e apoio.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029968"/>
            <a:ext cx="8412480" cy="512064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84832"/>
            <a:ext cx="2377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A5C2E"/>
                </a:solidFill>
                <a:latin typeface="Avenir Next LT Pro"/>
              </a:rPr>
              <a:t>US3 — Cadeia de relacionamento e suprimento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084832"/>
            <a:ext cx="5577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Definir papel do broker/distribuidor por canal a partir das 6 entrevistas.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596896"/>
            <a:ext cx="8412480" cy="512064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2377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A5C2E"/>
                </a:solidFill>
                <a:latin typeface="Avenir Next LT Pro"/>
              </a:rPr>
              <a:t>US7 — KeHE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651760"/>
            <a:ext cx="5577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Formalizar posicionamento de preço e portfólio com a distribuidora.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163824"/>
            <a:ext cx="8412480" cy="512064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18688"/>
            <a:ext cx="2377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A5C2E"/>
                </a:solidFill>
                <a:latin typeface="Avenir Next LT Pro"/>
              </a:rPr>
              <a:t>US14 — Estrutura do time local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218688"/>
            <a:ext cx="5577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Dimensionar a partir dos recursos que broker/distribuidor/varejista disserem esperar da Orfeu.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30752"/>
            <a:ext cx="8412480" cy="512064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85616"/>
            <a:ext cx="2377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A5C2E"/>
                </a:solidFill>
                <a:latin typeface="Avenir Next LT Pro"/>
              </a:rPr>
              <a:t>US19 — Preço / Posicionamento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785616"/>
            <a:ext cx="5577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Fechar faixa de preço de varejo com base nas respostas da pergunta 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1E4221"/>
                </a:solidFill>
                <a:latin typeface="Avenir Next LT Pro"/>
              </a:rPr>
              <a:t>Resultado esperado desta semana: atualizar as 5 iniciativas do Playbook EUA acima com donos, prazos e primeira leitura de margem/custo real da cadeia — não apenas benchmarks de mercado.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956048"/>
            <a:ext cx="6858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 i="0">
                <a:solidFill>
                  <a:srgbClr val="6E6E6E"/>
                </a:solidFill>
                <a:latin typeface="Avenir Next LT Pro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956048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E6E6E"/>
                </a:solidFill>
                <a:latin typeface="Avenir Next LT Pro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