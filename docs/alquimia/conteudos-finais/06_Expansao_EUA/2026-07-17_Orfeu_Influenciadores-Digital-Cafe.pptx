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55555"/>
                </a:solidFill>
              </a:rPr>
              <a:t>ORFEU · ALQUEMIA CONSULTING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A5C2E"/>
                </a:solidFill>
              </a:rPr>
              <a:t>Influenciadores &amp; Presença Digital
no Mercado de Café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YouTube · Instagram · TikTok · Lifestyle · Arte · Gastronomia · Wellness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Quem são os principais criadores, o que as marcas líderes estão fazendo
e onde está a oportunidade para a Orfeu no ecossistema digital americano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491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BBBBB"/>
                </a:solidFill>
              </a:rPr>
              <a:t>Julho 2026  ·  Documento Estratégico Interno  · 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4008"/>
            <a:ext cx="8823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CONTEXTO · ECOSSISTEMA DIGITAL DE CAFÉ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Por Que Criadores São Centrais para Café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8823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8CC"/>
                </a:solidFill>
              </a:rPr>
              <a:t>#CoffeeTok ultrapassa 4 bilhões de views · O café é um dos nichos de maior engajamento no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2011680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152144"/>
            <a:ext cx="1883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4B+ 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53312"/>
            <a:ext cx="2011680" cy="47548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389888"/>
            <a:ext cx="1865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#CoffeeTok
no TikTok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115568"/>
            <a:ext cx="2011680" cy="23774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152144"/>
            <a:ext cx="1883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6–7%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353312"/>
            <a:ext cx="2011680" cy="47548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1389888"/>
            <a:ext cx="1865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Engajamento médio
micro-criadores de café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1115568"/>
            <a:ext cx="2011680" cy="237744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1152144"/>
            <a:ext cx="1883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USD 119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1353312"/>
            <a:ext cx="2011680" cy="475488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1389888"/>
            <a:ext cx="1865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CPM médio
criadores de specialty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28816" y="1115568"/>
            <a:ext cx="2011680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1152144"/>
            <a:ext cx="1883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USD 24Bi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28816" y="1353312"/>
            <a:ext cx="2011680" cy="47548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256" y="1389888"/>
            <a:ext cx="1865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Mercado global
influencer marketing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1920240"/>
            <a:ext cx="88239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592" y="1993392"/>
            <a:ext cx="2816352" cy="256032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" y="20299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POR QUÊ O CAFÉ FUNCIONA TÃO BEM NO DIGITAL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2249424"/>
            <a:ext cx="2816352" cy="237744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2295144"/>
            <a:ext cx="2651760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O ritual é visual e repetível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A xícara, o vapor, o pour-over, o latte art — cada preparo é fotogênico. O café é o único produto de consumo cotidiano com ritual tão rico e esteticamente carregado.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Educação gera lealdade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Ao contrário de outros produtos, quem aprende sobre café (origens, torra, preparo) tende a pagar mais e comprar de forma mais fiel. O criador que ensina vira parceiro de compra.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Micro &gt; Macro para especialidade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Criadores com 50K–500K entregam 6–7% de engajamento e audiência qualificada (home baristas, consumidores premium) vs. mega-influenciadores com &lt;1% de engajamento.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36392" y="1993392"/>
            <a:ext cx="2816352" cy="25603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9544" y="20299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O QUE AS MARCAS LÍDERES JÁ ENTENDERAM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36392" y="2249424"/>
            <a:ext cx="2816352" cy="237744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27832" y="2295144"/>
            <a:ext cx="2651760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Blue Bottle: café como cultura, não produto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"Produção cultural onde influenciadores participam organicamente" — a marca cria o espaço, criadores chegam sem ser pagos.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Onyx Coffee Lab: criadores como colaboradores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Drink build videos com ingredientes exatos. Jimmy Butler (NBA) foi à Colômbia — viagem documentada como conteúdo. Parceria com campeã de barista.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Nespresso: prestígio top-down + comunidade bottom-up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George Clooney para o prestígio. Programa de creators com barista kits para alcance. Programa "Nespresso Talents" para criadores emergentes.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8192" y="1993392"/>
            <a:ext cx="2816352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1344" y="20299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O QUE AINDA FALTA NO ECOSSISTEMA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2249424"/>
            <a:ext cx="2816352" cy="2377440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2295144"/>
            <a:ext cx="2651760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Brasil ausente como origem narrativa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Etiópia, Colômbia e Quênia já são percebidas como origens premium nos EUA. O Brasil é visto como commodity — nenhuma marca brasileira está construindo o contrário no digital americano.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Nenhum "James Hoffmann do Brasil"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Não existe um criador de referência global que conecte a excelência do café brasileiro a um público de especialidade internacional.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Oportunidade de first-mover real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A Orfeu tem ativos únicos: fazendas, processos, terroir, família, prêmios internacionais. Nenhuma marca brasileira está contando essa história para o consumidor americano de especialidade.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E8CC"/>
                </a:solidFill>
              </a:rPr>
              <a:t>BLOCO 1 · PLATAFORMAS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77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YouTube
Criadores de Referência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8CC"/>
                </a:solidFill>
              </a:rPr>
              <a:t>Canais de café, especialidade, lifestyle e culinária com audiência relevante para o público-alvo da Orfeu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46405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CC99"/>
                </a:solidFill>
              </a:rPr>
              <a:t>Fontes: YouTube · Social Blade · Perfect Daily Grind · Coffee Intelligence · Lattery.org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4008"/>
            <a:ext cx="8823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YOUTUBE · CRIADORES DE CAFÉ E LIFESTYLE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Principais Canais — Especialidade, Técnica e Cultura do Café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8823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8CC"/>
                </a:solidFill>
              </a:rPr>
              <a:t>Canais com audiência americana relevante e alinhamento com posicionamento premium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8823960" cy="27432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04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CANAL / CRIADOR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11704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TAMANHO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1704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CONTEÚDO &amp; POSICIONAMENTO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1704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PARCERIAS / RELEVÂNCIA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1389888"/>
            <a:ext cx="8823960" cy="466344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1517904"/>
            <a:ext cx="91440" cy="219456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142646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2D2D2D"/>
                </a:solidFill>
              </a:rPr>
              <a:t>@JamesHoffmann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1426464"/>
            <a:ext cx="841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2,4M inscritos
357M+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1426464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Ciência do café, origens, torra, ensaios em vídeo. Co-fundador Square Mile Coffee (Londres). Tom: intelectual, educativo profundo. O maior criador de specialty do mundo.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142646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Victoria Arduino · Nespresso · Illy · Bellwether Coffee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1856232"/>
            <a:ext cx="882396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1984248"/>
            <a:ext cx="91440" cy="219456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" y="189280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2D2D2D"/>
                </a:solidFill>
              </a:rPr>
              <a:t>@morgandrinkscoffee
Morgan Eckroth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6272" y="1892808"/>
            <a:ext cx="841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500K+ YT
6,1M TikTok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1892808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Campeã EUA Barista Championship. Especialidade com humor e acessibilidade. Receitas criativas, vida de barista. Audiência jovem e engajada nos EUA.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189280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Wrecking Ball Coffee (collab de produto) · Onyx Coffee Lab · Vessi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2322576"/>
            <a:ext cx="8823960" cy="466344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" y="2450592"/>
            <a:ext cx="91440" cy="219456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" y="23591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2D2D2D"/>
                </a:solidFill>
              </a:rPr>
              <a:t>@LanceHedrick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2359152"/>
            <a:ext cx="841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~500K inscritos
124K Instagram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2359152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Bicampeão Latte Art. Tutoriais de espresso, análise de equipamentos (entrada a ultra-premium), latte art. Audiência: 31% EUA. Home barista sério.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235915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Diversas marcas de equipamentos. Audiência: 8% Brasil — dado relevante.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2788920"/>
            <a:ext cx="882396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" y="2916936"/>
            <a:ext cx="91440" cy="219456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282549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2D2D2D"/>
                </a:solidFill>
              </a:rPr>
              <a:t>European Coffee Trip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76272" y="2825496"/>
            <a:ext cx="841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389K inscritos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2825496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Guias de cidades de café na Europa, entrevistas com indústria, tutoriais de preparo. Tom documental / cultural. Percebido como editorial independente — alta credibilidade.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5472" y="282549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Sem parcerias comerciais declaradas. Alta credibilidade editorial.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3255264"/>
            <a:ext cx="8823960" cy="466344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2880" y="3383280"/>
            <a:ext cx="91440" cy="219456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" y="32918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2D2D2D"/>
                </a:solidFill>
              </a:rPr>
              <a:t>@Sprometheus
(The Real Sprometheus)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76272" y="3291840"/>
            <a:ext cx="841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55K Instagram
Micro-canal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3291840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"Brutally honest" reviews de espresso e equipamentos. Sem patrocínio declarado. Microtorradora própria "Little Giant Coffee". Referência entre home baristas sérios.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5472" y="329184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Zero parcerias pagas declaradas — máxima credibilidade. Nicho altamente qualificado.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" y="3721608"/>
            <a:ext cx="882396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3849624"/>
            <a:ext cx="91440" cy="219456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375818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2D2D2D"/>
                </a:solidFill>
              </a:rPr>
              <a:t>La Marzocco (canal institucional)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76272" y="3758184"/>
            <a:ext cx="841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800K+ Instagram
canalintegrativo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63240" y="3758184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Exemplo de marca usando seu próprio canal como mídia editorial. Máquinas de espresso + lifestyle: ciclismo, viagem, cultura italiana. Modelo de conteúdo aspiracional.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5472" y="375818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Referência de como uma marca de equipamentos constrói cultura no digital.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4640580"/>
            <a:ext cx="8823960" cy="164592"/>
          </a:xfrm>
          <a:prstGeom prst="rect">
            <a:avLst/>
          </a:prstGeom>
          <a:solidFill>
            <a:srgbClr val="E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8600" y="4649724"/>
            <a:ext cx="8595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</a:rPr>
              <a:t>Fontes: YouTube Analytics · Coffee Intelligence (jul/2025) · Perfect Daily Grind · Latterly.org · Sprudge · AInfluencer top-25 coffee · jul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E8CC"/>
                </a:solidFill>
              </a:rPr>
              <a:t>BLOCO 1 · PLATAFORMAS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77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Instagram
Café, Lifestyle &amp; Comunidade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8CC"/>
                </a:solidFill>
              </a:rPr>
              <a:t>Perfis de café de especialidade, wellness, arte e estética com forte presença do café como elemento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46405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CC99"/>
                </a:solidFill>
              </a:rPr>
              <a:t>Fontes: Instagram · Coffee Intelligence · Influencer Marketing Hub · IZEA · jul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4008"/>
            <a:ext cx="8823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INSTAGRAM · CRIADORES DE CAFÉ E ESPECIALIDADE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Perfis Prioritários — Specialty, Estética e Lifestyle do Café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8823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8CC"/>
                </a:solidFill>
              </a:rPr>
              <a:t>Seguidores, estilo de conteúdo, audiência relevante e parcerias documentadas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8823960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6128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PERFIL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16128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SEGUIDORES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16128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CONTEÚDO &amp; POSICIONAMENTO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16128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AUDIÊNCIA / PARCERIAS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1353312"/>
            <a:ext cx="8823960" cy="402336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1444752"/>
            <a:ext cx="73152" cy="219456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138988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@dina_kalanta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13898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1,7M Instagram
6M TikTok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1389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"World's #1 coffee blogger". Café em recipientes criativos, slow-motion pours, edição minimalista. Tendência-setter global de café estético.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38988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16% EUA · 10% Índia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1755648"/>
            <a:ext cx="8823960" cy="40233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1847088"/>
            <a:ext cx="73152" cy="219456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179222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@tannercolsoncoffee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17922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1,7M Instagram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17922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Equipamentos, torras, técnicas de preparo. Audiência fortemente americana e brasileira — ponte natural entre os dois mercados.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79222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2A5C2E"/>
                </a:solidFill>
              </a:rPr>
              <a:t>32% EUA · 8% BRASIL ← relevante para Orfeu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2157984"/>
            <a:ext cx="8823960" cy="402336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" y="2249424"/>
            <a:ext cx="73152" cy="219456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219456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@themacrobarista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2194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1,3M Instagram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21945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Ex-barista Starbucks. Receitas de café saudáveis, versões sem excesso de açúcar de bebidas de grandes redes. Audiência massivamente americana.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1945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89% EUA · Wellness + Café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2560320"/>
            <a:ext cx="882396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" y="2651760"/>
            <a:ext cx="73152" cy="219456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" y="259689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@ethanrode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25968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1,1M Instagram
2,9M TikTok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25968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Café + lifestyle. Conteúdo estético com forte cobertura americana. Engajamento: 0,56%.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259689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39% EUA · 7% UK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2962656"/>
            <a:ext cx="8823960" cy="40233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2880" y="3054096"/>
            <a:ext cx="73152" cy="219456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" y="299923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@co.nfused
Christopher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29992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409K Instagram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29992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Lifestyle, viagem, estética "academic aesthetic". Engajamento 1,38% — acima da média para o porte. Audiência dual BR+US, exatamente o perfil para Orfeu.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299923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2A5C2E"/>
                </a:solidFill>
              </a:rPr>
              <a:t>16% EUA · 7% BRASIL ← perfil ideal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" y="3364992"/>
            <a:ext cx="882396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3456432"/>
            <a:ext cx="73152" cy="219456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608" y="34015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@onyxcoffeelab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34015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285K Instagram
26,2K TikTok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3401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Drink build videos com ingredientes exatos, bastidores da torra, guias bilíngues. 8.213+ posts. Referência de como uma torra de specialty constrói comunidade editorial.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34015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Jimmy Butler (NBA collab) · Morgan Eckroth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3767328"/>
            <a:ext cx="8823960" cy="402336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2880" y="3858768"/>
            <a:ext cx="73152" cy="219456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" y="380390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@lancehedrick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38039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124K Instagram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40" y="38039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Latte art, espresso premium. Técnica de alto nível para público de home baristas sérios. Audiência 31% EUA, 9% Indonésia.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380390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Marcas de equipamentos de espresso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4592" y="4169664"/>
            <a:ext cx="8823960" cy="40233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2880" y="4261104"/>
            <a:ext cx="73152" cy="219456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2608" y="420624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@sprometheus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4206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55K Instagram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4206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Reviews não patrocinados de espresso e gear. Alta credibilidade, audiência de nicho extremamente qualificada. Zero parcerias declaradas.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42062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Sem parcerias — máxima credibilidade editorial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" y="4640580"/>
            <a:ext cx="8823960" cy="164592"/>
          </a:xfrm>
          <a:prstGeom prst="rect">
            <a:avLst/>
          </a:prstGeom>
          <a:solidFill>
            <a:srgbClr val="E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4649724"/>
            <a:ext cx="8595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</a:rPr>
              <a:t>Fontes: Instagram · Influencer Marketing Hub · Coffee Intelligence · IZEA · AInfluencer top-25 coffee creators · jul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4008"/>
            <a:ext cx="8823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INSTAGRAM · PERFIS ADJACENTES COM FORTE PRESENÇA DE CAFÉ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Wellness, Arte, Gastronomia e Lifestyle — Café como Elemento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8823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8CC"/>
                </a:solidFill>
              </a:rPr>
              <a:t>Perfis que não são "sobre café" mas têm café no centro do seu universo visual e narrativo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2816352" cy="23774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152144"/>
            <a:ext cx="27066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WELLNESS &amp; MORNING RITUAL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53312"/>
            <a:ext cx="2816352" cy="320040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408176"/>
            <a:ext cx="26517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1">
                <a:solidFill>
                  <a:srgbClr val="555555"/>
                </a:solidFill>
              </a:rPr>
              <a:t>Contas de morning routine, mindfulness e wellness integram café como símbolo de intenção e presença. Não vendem café — mas criam o contexto aspiracional em que uma marca como a Orfeu pode aparecer organicamente.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Jay Shetty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21M seguidores · mindfulness, manhã estruturada, propósito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Rachel Brathen / @yoga_girl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2,7M · yoga + família + rituais matinais com café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Morning Brew Accounts (categoria)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Centenas de contas com 100K–500K que fazem "o café da manhã perfeito" como conteúdo diário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→ Oportunidade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Product placement orgânico via gifting sem brief — o café aparece na xícara, não na legenda.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6392" y="1115568"/>
            <a:ext cx="2816352" cy="237744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1152144"/>
            <a:ext cx="27066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ARTE, CULTURA &amp;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6392" y="1353312"/>
            <a:ext cx="2816352" cy="32004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7832" y="1408176"/>
            <a:ext cx="26517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1">
                <a:solidFill>
                  <a:srgbClr val="555555"/>
                </a:solidFill>
              </a:rPr>
              <a:t>Contas de arte, design de interiores, arquitetura e cultura urbana frequentemente usam cafeterias e café como cenário. A estética do café de especialidade se alinha a um público que valoriza craft e curadoria.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Cafés como cenário de arte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Fotógrafos de arquitetura e design visitam e publicam cafeterias como Blue Bottle, Sightglass — a cafeteria vira content peg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Contas de "cidade certa"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Perfis de NYC, LA, SF que documentam "the best in the city" — incluem café specialty como pauta editorial recorrente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Marcas de lifestyle premium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Aesop, Le Labo, Byredo — marcas que usam café esporadicamente como vetor de identidade cultural (sem parceria de produto)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→ Oportunidade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A Orfeu como "o café que uma galeria de arte serviria". Gifting editorial, não advertising.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8192" y="1115568"/>
            <a:ext cx="2816352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152144"/>
            <a:ext cx="27066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GASTRONOMIA &amp; CULINÁRIA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1353312"/>
            <a:ext cx="2816352" cy="3200400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408176"/>
            <a:ext cx="26517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1">
                <a:solidFill>
                  <a:srgbClr val="555555"/>
                </a:solidFill>
              </a:rPr>
              <a:t>Food influencers e chefs que têm café como ingrediente ou pano de fundo. Receitas com café, maridamentos, cafés no pós-refeição. Audiência premium com interesse em origem e qualidade.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Chefs e food critics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Eric Ripert, David Chang (Momofuku tem parceria histórica com Stumptown) — chef + café premium = validação de qualidade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Food photographers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Contas de 200K–1M que fotografam café specialty como objeto gastronômico — composição, cor, textura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Padarias premium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Tartine (SF), Bread Alone (NY) — parceria natural: pão artesanal + café de origem = alinhamento de valores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→ Oportunidade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Orfeu como "o café de padaria premium brasileira". Collab com chefs para recipe content com café de origem.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E8CC"/>
                </a:solidFill>
              </a:rPr>
              <a:t>BLOCO 1 · PLATAFORMAS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77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TikTok
&amp; #CoffeeTok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8CC"/>
                </a:solidFill>
              </a:rPr>
              <a:t>4B+ views · O maior polo de descoberta de café para Millennials e Gen Z americanos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46405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CC99"/>
                </a:solidFill>
              </a:rPr>
              <a:t>Fontes: TikTok · Coffee Intelligence · IZEA · Stack Influence · jul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4008"/>
            <a:ext cx="8823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TIKTOK · #COFFEETOK — CRIADORES E FORMATOS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Os Principais Criadores e o Que Está Funcionando no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8823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8CC"/>
                </a:solidFill>
              </a:rPr>
              <a:t>Formatos predominantes: receitas rápidas, morning rituals, café shop vlogs, latte art reveals, "what I ordered at X"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5303520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152144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CRIADORES PRIORITÁRIOS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53312"/>
            <a:ext cx="5303520" cy="438912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463040"/>
            <a:ext cx="73152" cy="2286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" y="13898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</a:rPr>
              <a:t>@morgandrinkscoffee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159105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6,1M seguidores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1399032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Campeã EUA. Specialty com humor e receitas acessíveis. O criador de café com maior credencial profissional + maior alcance jovem.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1792224"/>
            <a:ext cx="5303520" cy="438912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1901952"/>
            <a:ext cx="73152" cy="22860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1828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</a:rPr>
              <a:t>@dina_kalanta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202996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6M seguidores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837944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"World's #1 coffee blogger". Café estético, viral por slow-motion e criatividade visual. Trendsetter global.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2231136"/>
            <a:ext cx="5303520" cy="438912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340864"/>
            <a:ext cx="73152" cy="228600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2677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</a:rPr>
              <a:t>@ethanrode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" y="246888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2,9M seguidores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276856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Café + lifestyle premium. Audiência jovem americana e britânica.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2670048"/>
            <a:ext cx="5303520" cy="438912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" y="2779776"/>
            <a:ext cx="73152" cy="228600"/>
          </a:xfrm>
          <a:prstGeom prst="rect">
            <a:avLst/>
          </a:prstGeom>
          <a:solidFill>
            <a:srgbClr val="6E3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" y="270662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</a:rPr>
              <a:t>@coffeebae97 · Vivian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" y="290779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~967K seguidores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5648" y="271576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Receitas criativas de café, iced lattes coloridas, sobremesas. Público jovem americano. Lançou linha própria de sabores.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3108960"/>
            <a:ext cx="5303520" cy="438912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3218688"/>
            <a:ext cx="73152" cy="2286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" y="314553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</a:rPr>
              <a:t>James Hoffmann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" y="334670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~400K seguidores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55648" y="315468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Conteúdo educativo adaptado para formato curto. Nicho mas altamente influente entre quem decide comprar café premium.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3547872"/>
            <a:ext cx="5303520" cy="438912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" y="3657600"/>
            <a:ext cx="73152" cy="22860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" y="3584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</a:rPr>
              <a:t>@therookiebarista · Annie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" y="378561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234K seguidores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593592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Barista de Orlando. Conteúdo estético "dia a dia" de uma barista. Acessível e íntimo. Bom para parcerias de produto autênticas.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50992" y="1115568"/>
            <a:ext cx="3337560" cy="23774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24144" y="115214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FORMATOS QUE FUNCIONAM NO #COFFEETOK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50992" y="1353312"/>
            <a:ext cx="3337560" cy="47548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24144" y="1389888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028"/>
                </a:solidFill>
              </a:rPr>
              <a:t>Receitas em 30–60s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24144" y="157276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Como fazer o dalgona, o iced latte, o café vietnamita — vídeo curto com ingredientes visíveis. Maior taxa de salvamento da plataforma.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50992" y="1828800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24144" y="1865376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028"/>
                </a:solidFill>
              </a:rPr>
              <a:t>Morning ritual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4144" y="204825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"Minha rotina de manhã" com café como centro. Combina com wellness e mindfulness. Alto engajamento pela rotina partilhável.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50992" y="2304288"/>
            <a:ext cx="3337560" cy="47548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24144" y="2340864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028"/>
                </a:solidFill>
              </a:rPr>
              <a:t>Café shop vlog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24144" y="252374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"Fui a X cafeteria" — jornada de descoberta. Gera tráfego para o local + associa o criador a uma cena de qualidade.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0992" y="2779776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24144" y="28163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028"/>
                </a:solidFill>
              </a:rPr>
              <a:t>Latte art reveal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24144" y="299923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Close na xícara, revelação do desenho, reação ao primeiro gole. Muito compartilhável, alto alcance orgânico.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50992" y="3255264"/>
            <a:ext cx="3337560" cy="47548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24144" y="329184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028"/>
                </a:solidFill>
              </a:rPr>
              <a:t>"What I ordered at X"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24144" y="347472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Crítica rápida de produto, comparativos, tier lists. Formato honesto que gera comentários e reshares.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50992" y="3730752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24144" y="3767328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028"/>
                </a:solidFill>
              </a:rPr>
              <a:t>Behind the scenes de torra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24144" y="395020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Processo de torra artesanal — grãos, fumaça, cor, aroma descrito. Funciona especialmente para marcas de specialty.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4592" y="4640580"/>
            <a:ext cx="8823960" cy="164592"/>
          </a:xfrm>
          <a:prstGeom prst="rect">
            <a:avLst/>
          </a:prstGeom>
          <a:solidFill>
            <a:srgbClr val="E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4649724"/>
            <a:ext cx="8595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</a:rPr>
              <a:t>Fontes: TikTok · Coffee Intelligence · IZEA top TikTok coffee · Stack Influence · Perfect Daily Grind · jul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E8CC"/>
                </a:solidFill>
              </a:rPr>
              <a:t>BLOCO 2 · MARCAS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77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as Marcas
Líderes Fazem Bem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8CC"/>
                </a:solidFill>
              </a:rPr>
              <a:t>Cases de estratégia digital de café premium — modelos e anti-modelos para a Orfeu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46405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CC99"/>
                </a:solidFill>
              </a:rPr>
              <a:t>Fontes: Coffee Intelligence · Latterly.org · Influencer Marketing Hub · Perfect Daily Grind · relatórios anuais · jul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4008"/>
            <a:ext cx="8823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CASES DE MARCA · ESTRATÉGIAS OPOSTAS, IGUAL 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Nespresso vs Blue Bottle — Dois Modelos de Sucesso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8823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8CC"/>
                </a:solidFill>
              </a:rPr>
              <a:t>Prestígio top-down vs. cultura bottom-up: ambos constroem percepção premium, por caminhos opostos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4297680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143000"/>
            <a:ext cx="4169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NESPRESSO  ·  Prestígio Top-Down + Comunidade Bottom-Up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53312"/>
            <a:ext cx="4297680" cy="3383280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408176"/>
            <a:ext cx="4133088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2A5C2E"/>
                </a:solidFill>
              </a:rPr>
              <a:t>ÂNCORA DE PRESTÍGIO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• George Clooney desde 2006: dezenas de milhões de views. "What else?" tornou-se jingle cultural da marca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• Penélope Cruz, Matt Damon para alcance regional. Cada mercado tem seu embaixador de status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4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2A5C2E"/>
                </a:solidFill>
              </a:rPr>
              <a:t>PROGRAMA DE CREATORS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• Barista kits enviados a creators com acesso antecipado a cápsulas sazonais → conteúdo autêntico de produto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• "Nespresso Talents": programa global de curta-metragem com criadores emergentes sobre sustentabilidade e comunidade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• Escala: 62 mercados, 1 agência de social. 1,8M Instagram. TikTok com receitas + creators jovens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4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2A5C2E"/>
                </a:solidFill>
              </a:rPr>
              <a:t>LIÇÃO PARA ORFEU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2A5C2E"/>
                </a:solidFill>
              </a:rPr>
              <a:t>→ Marca de prestígio precisa de âncora cultural de alto status + programa de creators em paralelo.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2A5C2E"/>
                </a:solidFill>
              </a:rPr>
              <a:t>→ O "George Clooney da Orfeu" não precisa ser celebridade — precisa ser a pessoa mais respeitada no mundo de café specialty.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115568"/>
            <a:ext cx="4297680" cy="237744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143000"/>
            <a:ext cx="4169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BLUE BOTTLE COFFEE  ·  Produção Cultural Orgânica (sem hard selling)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353312"/>
            <a:ext cx="4297680" cy="338328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408176"/>
            <a:ext cx="4133088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1A3C7A"/>
                </a:solidFill>
              </a:rPr>
              <a:t>MODELO SEM INFLUENCER TRADICIONAL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• Colaborações com baristas e educadores que enfatizam técnica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• Designers e arquitetos: cafeterias como artefatos culturais (não lojas)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• Chefs e padarias: menus limitados em pop-ups, cuppings sazonais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4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1A3C7A"/>
                </a:solidFill>
              </a:rPr>
              <a:t>CONTEÚDO COMO CULTURA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• TikTok: clipes calmos e processuais que desmistificam o preparo com design sonoro impecável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• YouTube: documentários de origem e tutoriais de equipamentos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• A loja física como mídia: cuppings, aulas, eventos geram advocacy local medido por redemption codes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4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1A3C7A"/>
                </a:solidFill>
              </a:rPr>
              <a:t>LIÇÃO PARA ORFEU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1A3C7A"/>
                </a:solidFill>
              </a:rPr>
              <a:t>→ A Blue Bottle não vende através de influenciadores — cria espaço cultural onde influenciadores participam organicamente.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1" i="0">
                <a:solidFill>
                  <a:srgbClr val="1A3C7A"/>
                </a:solidFill>
              </a:rPr>
              <a:t>→ Orfeu pode fazer o mesmo: a fazenda, o processo de torra, a origem brasileira são o "espaço cultural" a ser criado.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115568"/>
            <a:ext cx="73152" cy="3657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4640580"/>
            <a:ext cx="8823960" cy="164592"/>
          </a:xfrm>
          <a:prstGeom prst="rect">
            <a:avLst/>
          </a:prstGeom>
          <a:solidFill>
            <a:srgbClr val="E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4649724"/>
            <a:ext cx="8595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</a:rPr>
              <a:t>Fontes: Latterly.org · Coffee Intelligence (ago 2024) · Blue Bottle Social Reports · Nespresso Annual Report 2025 · jul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4008"/>
            <a:ext cx="8823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CASES DE MARCA · MODELOS COMPLEMENTARES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Onyx · Chamberlain · Death Wish · Intelligentsia — O Que Cada Um Ensina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8823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8CC"/>
                </a:solidFill>
              </a:rPr>
              <a:t>Da especialidade comunitária ao viral de micro-influenciadores: diferentes escalas, mesma lógica de autenticidade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2084831" cy="31089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143000"/>
            <a:ext cx="1975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1" i="0">
                <a:solidFill>
                  <a:srgbClr val="FFFFFF"/>
                </a:solidFill>
              </a:rPr>
              <a:t>ONYX COFFEE LAB
Criadores como Colaboradores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426464"/>
            <a:ext cx="2084831" cy="331012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472184"/>
            <a:ext cx="19202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Jimmy Butler (NBA)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→ Viagem à Colômbia em agosto/2022, documentada como conteúdo editorial. Não foi "endosso" — foi co-criação.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Morgan Eckroth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→ Parceira no US Barista Championship. Drink build videos com ingredientes exatos (o cliente aprende E compra).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Lição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Construir relações de longa duração com criadores como colaboradores, não contratos de campanha.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1115568"/>
            <a:ext cx="2084831" cy="310896"/>
          </a:xfrm>
          <a:prstGeom prst="rect">
            <a:avLst/>
          </a:prstGeom>
          <a:solidFill>
            <a:srgbClr val="6E3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43000"/>
            <a:ext cx="1975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1" i="0">
                <a:solidFill>
                  <a:srgbClr val="FFFFFF"/>
                </a:solidFill>
              </a:rPr>
              <a:t>CHAMBERLAIN COFFEE
O Modelo Criador-Fundador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1426464"/>
            <a:ext cx="2084831" cy="3310128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1472184"/>
            <a:ext cx="19202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6E3A9C"/>
                </a:solidFill>
              </a:rPr>
              <a:t>Emma Chamberlain: 12M+ inscritos YouTube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→ Transformados em marca de café em 2020. Club Chamberlain: programa de embaixadores com links de desconto 30% que incentivam posts contínuos.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Criou um loop loyalty-to-advocacy.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6E3A9C"/>
                </a:solidFill>
              </a:rPr>
              <a:t>Lição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Orfeu não precisa de Emma — precisa de 10–15 criadores certos transformados em sócios editoriais, não porta-vozes pagos.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8848" y="1115568"/>
            <a:ext cx="2084831" cy="31089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143000"/>
            <a:ext cx="1975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1" i="0">
                <a:solidFill>
                  <a:srgbClr val="FFFFFF"/>
                </a:solidFill>
              </a:rPr>
              <a:t>DEATH WISH COFFEE
O Modelo Viral de Micro-Influenciadores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1426464"/>
            <a:ext cx="2084831" cy="331012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1472184"/>
            <a:ext cx="19202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Estratégia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Enviou caixas de cold brew para micro-influenciadores de fitness e games sem briefing, sem exigência de post.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Resultado: ROI de 605%.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Parcerias com bandas de heavy metal alinhadas à identidade da marca.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Lição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Autenticidade não-dirigida supera brief elaborado — mas requer produto que fala por si.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5976" y="1115568"/>
            <a:ext cx="2084831" cy="310896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1143000"/>
            <a:ext cx="1975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1" i="0">
                <a:solidFill>
                  <a:srgbClr val="FFFFFF"/>
                </a:solidFill>
              </a:rPr>
              <a:t>INTELLIGENTSIA
Credibilidade Técnica + Lifestyle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5976" y="1426464"/>
            <a:ext cx="2084831" cy="3310128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7416" y="1472184"/>
            <a:ext cx="19202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007A7A"/>
                </a:solidFill>
              </a:rPr>
              <a:t>Scott Rao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→ Especialista em extração reconhecido globalmente. Conteúdo educacional de alto nível. Valida a qualidade técnica da marca para o público de specialty.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Food bloggers + baristas + lifestyle influencers para extensão.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007A7A"/>
                </a:solidFill>
              </a:rPr>
              <a:t>Lição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Ancorar em autoridade técnica (o "especialista mais respeitado") + distribuir via lifestyle. A credibilidade do especialista transfere para a marca.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4640580"/>
            <a:ext cx="8823960" cy="164592"/>
          </a:xfrm>
          <a:prstGeom prst="rect">
            <a:avLst/>
          </a:prstGeom>
          <a:solidFill>
            <a:srgbClr val="E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4649724"/>
            <a:ext cx="8595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</a:rPr>
              <a:t>Fontes: Coffee Intelligence · Sprudge · Latterly.org · Perfect Daily Grind · Influencer Marketing Hub · jul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E8CC"/>
                </a:solidFill>
              </a:rPr>
              <a:t>BLOCO 3 · ORFEU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77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Gap e a
Oportunidade da Orfeu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8CC"/>
                </a:solidFill>
              </a:rPr>
              <a:t>Nenhuma marca brasileira de café premium está executando estratégia de criadores no mercado americano — essa é a oportunidade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46405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CC99"/>
                </a:solidFill>
              </a:rPr>
              <a:t>Análise Alquemia Consulting para Orfeu · jul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4008"/>
            <a:ext cx="8823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GAP DE MERCADO · BRASIL NO ECOSSISTEMA DIGITAL DE CAFÉ EUA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 Brasil É o Maior Produtor de Arábica do Mundo — e Está Ausente da Conversa de Specialty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8823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8CC"/>
                </a:solidFill>
              </a:rPr>
              <a:t>Enquanto Etiópia, Colômbia e Quênia são percebidas como origens premium, o Brasil segue associado a commodity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4206240" cy="237744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14300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✗  O PRECONCEITO EXISTENTE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53312"/>
            <a:ext cx="4206240" cy="3401568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" y="1408176"/>
            <a:ext cx="402336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3020"/>
                </a:solidFill>
              </a:rPr>
              <a:t>No ecossistema digital americano de café specialty: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• Brasil = commodity, blends, Folgers, volume massivo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• Etiópia = florais, fermentados, micro-lots, artesanal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• Colômbia = origens diversas, SCA-approved, premium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• Quênia = AA grade, auction lots, jornalismo de café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3020"/>
                </a:solidFill>
              </a:rPr>
              <a:t>Nenhum criador de referência conta a história do café brasileiro como objeto de specialty.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Nenhuma marca brasileira está presente no ecossistema de criadores americanos de café premium.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O café brasileiro aparece no menu de grandes torrefadores (Peet's, Stumptown, Counter Culture) como single origin — mas a narrativa é construída pelo torrefador americano, não pela fazenda ou marca brasileira.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53712" y="1115568"/>
            <a:ext cx="4434840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14300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✓  O QUE A ORFEU TEM E NINGUÉM MAIS 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1353312"/>
            <a:ext cx="4434840" cy="340156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1408176"/>
            <a:ext cx="425196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Ativos narrativos únicos para o mercado de specialty: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História de fazenda e família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→ Rastreabilidade total, origem verificada, décadas de relação com o produtor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Terroir brasileiro real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→ Cerrado Mineiro, Sul de Minas, Mantiqueira — cada origem com características distintas não exploradas no digital US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Processo de torra autoral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→ Torra artesanal, controle de temperatura, desenvolvimento de perfil — conteúdo rico e diferenciado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Prêmios internacionais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→ SCA e BSCA validam a qualidade — credencial para o público de specialty que valoriza reconhecimento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Narrativa de luxo discreto brasileiro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→ "Brasilidade" como diferencial — não o Brasil estereotipado, mas a sofisticação que o consumidor americano premium ainda não conhece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1">
                <a:solidFill>
                  <a:srgbClr val="2A5C2E"/>
                </a:solidFill>
              </a:rPr>
              <a:t>→ A Orfeu seria a primeira marca brasileira a contar essa história diretamente ao consumidor americano de specialty.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4640580"/>
            <a:ext cx="8823960" cy="164592"/>
          </a:xfrm>
          <a:prstGeom prst="rect">
            <a:avLst/>
          </a:prstGeom>
          <a:solidFill>
            <a:srgbClr val="E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4649724"/>
            <a:ext cx="8595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</a:rPr>
              <a:t>Análise: Alquemia Consulting com base em Coffee Intelligence, Perfect Daily Grind e mapeamento do ecossistema digital americano de café · jul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4008"/>
            <a:ext cx="8823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MAPA DE CRIADORES · ABORDAGEM EM 3 CAMADAS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Quem São os Parceiros Prioritários para a Orfeu no Mercado Americano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8823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8CC"/>
                </a:solidFill>
              </a:rPr>
              <a:t>Modelo Aesop/Blue Bottle híbrido: credibilidade técnica + alcance + lifestyle adjacente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2816352" cy="31089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13385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15214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1" i="0">
                <a:solidFill>
                  <a:srgbClr val="FFFFFF"/>
                </a:solidFill>
              </a:rPr>
              <a:t>CAMADA 1
CREDIBILIDADE DE SPECIALTY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1426464"/>
            <a:ext cx="2816352" cy="3182112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4630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Objetivo: construir reputação técnica e endosso editorial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1682496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James Hoffmann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@JamesHoffmann · 2,4M YT · co-fundador Square Mile · validação global de torra e origem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Lance Hedrick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@lancehedrick · 500K YT + 124K IG · bicampeão latte art · 8% audiência Brasil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Sprometheus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@sprometheus · 55K IG · "brutally honest" reviews · zero parcerias → máxima credibilidade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Modelo de abordagem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Envio editorial sem brief: "enviamos nosso café, sem obrigação de post". Se postam → orgânico. Esse perfil é muito influente entre quem compra café premium.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4608576"/>
            <a:ext cx="2816352" cy="18288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" y="4626864"/>
            <a:ext cx="27066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★ Alta credibilidade · Baixo alcance · Alta conversão no nicho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6392" y="1115568"/>
            <a:ext cx="2816352" cy="31089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9544" y="113385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115214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1" i="0">
                <a:solidFill>
                  <a:srgbClr val="FFFFFF"/>
                </a:solidFill>
              </a:rPr>
              <a:t>CAMADA 2
ALCANCE + DESCOBERTA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36392" y="1426464"/>
            <a:ext cx="2816352" cy="3182112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7832" y="14630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Objetivo: awareness, viralidade de origem, conteúdo co-criado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7832" y="1682496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Morgan Eckroth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@morgandrinkscoffee · 6,1M TikTok + 500K YT · campeã EUA · credencial + alcance jovem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Christopher @co.nfused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409K IG · 16% EUA + 7% Brasil · lifestyle academic aesthetic · engajamento 1,38%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Dina Kalanta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@dina_kalanta · 1,7M IG + 6M TikTok · café estético viral · trendsetter global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Modelo de abordagem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Collab estruturada: produto + viagem à fazenda documentada (como Onyx/Jimmy Butler) → conteúdo rico de origem em formato TikTok/Reels.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36392" y="4608576"/>
            <a:ext cx="2816352" cy="18288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9544" y="4626864"/>
            <a:ext cx="27066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★★ Alto alcance · Credencial de café · Audiência dual BR+US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1115568"/>
            <a:ext cx="2816352" cy="310896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113385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115214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1" i="0">
                <a:solidFill>
                  <a:srgbClr val="FFFFFF"/>
                </a:solidFill>
              </a:rPr>
              <a:t>CAMADA 3
LIFESTYLE ADJACENTE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1426464"/>
            <a:ext cx="2816352" cy="3182112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14630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Objetivo: posicionar Orfeu no universo aspiracional além do café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1682496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Morning Ritual / Wellness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Jay Shetty, Rachel Brathen — café como parte de vida intencional. Gifting sem brief.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Arte e Cultura Urbana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Fotógrafos de NY/SF/LA que documentam specialty cafés como artefatos culturais.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Gastronomia Premium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Chefs, padarias premium (Tartine, Bread Alone) — alinhamento de valores, não publicidade.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Modelo de abordagem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Ativações de espaço: café da Orfeu em eventos de arte, culinária e lifestyle premium. A marca aparece como curadoria, não advertising.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4608576"/>
            <a:ext cx="2816352" cy="182880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1344" y="4626864"/>
            <a:ext cx="27066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★★★ Alto alcance · Lifestyle aspiracional · Posicionamento de marca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4640580"/>
            <a:ext cx="8823960" cy="164592"/>
          </a:xfrm>
          <a:prstGeom prst="rect">
            <a:avLst/>
          </a:prstGeom>
          <a:solidFill>
            <a:srgbClr val="E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4649724"/>
            <a:ext cx="8595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</a:rPr>
              <a:t>Análise: Alquemia Consulting · Baseado em mapeamento de plataformas, dados de audiência e cases documentados de marcas de café premium · jul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4008"/>
            <a:ext cx="8823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FORMATOS &amp; CONTEÚDO · O QUE FUNCIONA PARA CAFÉ PREMIUM DE ORIGEM ÚNICA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Tipos de Conteúdo por Objetivo e Plataforma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8823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8CC"/>
                </a:solidFill>
              </a:rPr>
              <a:t>YouTube: credibilidade · TikTok: descoberta · Instagram: comunidade aspiracional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8823960" cy="27432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612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TIPO DE CONTEÚDO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1612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PLATAFORMA IDEAL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1612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OBJETIVO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1612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EXEMPLO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1612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PARA A ORFEU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1389888"/>
            <a:ext cx="8823960" cy="40233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" y="142646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Origem &amp; Fazenda
(documentário)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1426464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C7A"/>
                </a:solidFill>
              </a:rPr>
              <a:t>YouTube (10–20min)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4264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Credibilidade, consideração de compra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4264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James Hoffmann visita farm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4264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A5C2E"/>
                </a:solidFill>
              </a:rPr>
              <a:t>Vídeo na fazenda: colheita, processamento, torra artesanal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792224"/>
            <a:ext cx="882396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" y="18288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Torra ao vivo
(processo)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182880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C7A"/>
                </a:solidFill>
              </a:rPr>
              <a:t>Instagram Reels + TikTok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1828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Awareness, fascínio pelo craft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288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Onyx bastidores de torra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18288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A5C2E"/>
                </a:solidFill>
              </a:rPr>
              <a:t>Slow-mo dos grãos na máquina de torra. Antes/depois de cor e aroma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2194560"/>
            <a:ext cx="8823960" cy="40233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22311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Receita criativa
(60s)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2231136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C7A"/>
                </a:solidFill>
              </a:rPr>
              <a:t>TikTok &gt; Instagram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223113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Descoberta, viralidade, salvamento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2311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Morgan Eckroth receitas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2311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A5C2E"/>
                </a:solidFill>
              </a:rPr>
              <a:t>"O espresso perfeito com café Cerrado Mineiro" — simples e replicável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2596896"/>
            <a:ext cx="882396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" y="26334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Morning ritual
(lifestyle)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263347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C7A"/>
                </a:solidFill>
              </a:rPr>
              <a:t>Instagram Stories/Reels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2633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Lifestyle aspiracional, awareness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6334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@co.nfused routine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26334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A5C2E"/>
                </a:solidFill>
              </a:rPr>
              <a:t>Café Orfeu como objeto de uma manhã intencional e sofisticada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2999232"/>
            <a:ext cx="8823960" cy="40233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" y="30358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Cupping educativo
(série)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303580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C7A"/>
                </a:solidFill>
              </a:rPr>
              <a:t>YouTube (5–10min)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03580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Educação, lealdade, comunidade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0358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European Coffee Trip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A5C2E"/>
                </a:solidFill>
              </a:rPr>
              <a:t>Série "As 5 Fazendas da Orfeu" — aprender a diferenciar origens brasileiras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" y="3401568"/>
            <a:ext cx="882396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1168" y="34381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Product review
não-patrocinado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3438144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C7A"/>
                </a:solidFill>
              </a:rPr>
              <a:t>YouTube + TikTok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34381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Credibilidade máxima, conversão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34381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Sprometheus reviews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34381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A5C2E"/>
                </a:solidFill>
              </a:rPr>
              <a:t>Envio sem brief para Sprometheus e Lance Hedrick: conteúdo orgânico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4592" y="3803904"/>
            <a:ext cx="8823960" cy="40233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1168" y="38404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2D2D"/>
                </a:solidFill>
              </a:rPr>
              <a:t>Collab de produto
(co-criado)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1760" y="384048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C7A"/>
                </a:solidFill>
              </a:rPr>
              <a:t>Todas as plataformas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3840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Awareness + vendas diretas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38404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Morgan × Wrecking Ball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38404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A5C2E"/>
                </a:solidFill>
              </a:rPr>
              <a:t>Orfeu × Morgan Eckroth: blend "Seleção Barista" co-desenvolvido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" y="4206240"/>
            <a:ext cx="882396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1168" y="42428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</a:rPr>
              <a:t>Lifestyle adjacente
(arte/gastronomia)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51760" y="4242816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C7A"/>
                </a:solidFill>
              </a:rPr>
              <a:t>Instagram + Pinterest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424281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Posicionamento premium, brand love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42428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Blue Bottle pop-ups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42428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A5C2E"/>
                </a:solidFill>
              </a:rPr>
              <a:t>Orfeu como "o café que uma galeria de arte serviria"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4592" y="4640580"/>
            <a:ext cx="8823960" cy="164592"/>
          </a:xfrm>
          <a:prstGeom prst="rect">
            <a:avLst/>
          </a:prstGeom>
          <a:solidFill>
            <a:srgbClr val="E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8600" y="4649724"/>
            <a:ext cx="8595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</a:rPr>
              <a:t>Análise: Alquemia Consulting · Baseado em performance de criadores documentada por Coffee Intelligence, IZEA, Perfect Daily Grind e Stack Influence · jul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4008"/>
            <a:ext cx="8823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REFLEXÕES · PERGUNTAS PARA O TIME ORFEU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 Que Este Mapeamento Levanta — Não Respostas, Perguntas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8823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8CC"/>
                </a:solidFill>
              </a:rPr>
              <a:t>Material de pré-read para a próxima sessão de alinhamento estratégico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88239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" y="1188720"/>
            <a:ext cx="2816352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1225296"/>
            <a:ext cx="27066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SOBRE POSICIONAMENTO DIGITAL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1426464"/>
            <a:ext cx="2816352" cy="3474720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481328"/>
            <a:ext cx="26517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Qual é a história que a Orfeu quer contar no digital americano?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Fazenda familiar? Torra artesanal? Origem única? Brasilidade sofisticada? A escolha da narrativa define os criadores, os formatos e os canais.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Quem é o "James Hoffmann da Orfeu" — o criador que vai construir credibilidade técnica?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Não precisa ser o maior — precisa ser o mais respeitado no nicho de specialty americano que ainda não tem um brasileiro favorito.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392" y="1188720"/>
            <a:ext cx="2816352" cy="23774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9544" y="1225296"/>
            <a:ext cx="27066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SOBRE MODELO DE PARCERIA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6392" y="1426464"/>
            <a:ext cx="2816352" cy="347472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27832" y="1481328"/>
            <a:ext cx="26517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Qual é o orçamento e o apetite de risco para parcerias de criadores?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Micro-criadores de nicho (Camada 1) podem custar USD 500–2.000 por post. Morgan Eckroth (Camada 2) pode ser estruturado como collab de produto, não publicidade paga.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A Orfeu tem produto e embalagem prontos para o mercado americano?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Gifting editorial exige embalagem em inglês, informações nutricionais FDA-compliant e capability de envio internacional. Isso está mapeado?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1188720"/>
            <a:ext cx="2816352" cy="237744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1225296"/>
            <a:ext cx="27066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SOBRE PRIORIDADE DE PLATAFORMA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426464"/>
            <a:ext cx="2816352" cy="347472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1481328"/>
            <a:ext cx="26517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Por onde começar — YouTube (credibilidade longa) ou TikTok (descoberta rápida)?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Recomendação geral: YouTube + newsletter/email para construir base fiel. TikTok/Reels para awareness. Mas depende do perfil do primeiro consumidor americano que a Orfeu quer alcançar.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1A3C7A"/>
                </a:solidFill>
              </a:rPr>
              <a:t>Existe audiência brasileira nos EUA que pode ser a ponte?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0" i="0">
                <a:solidFill>
                  <a:srgbClr val="2D2D2D"/>
                </a:solidFill>
              </a:rPr>
              <a:t>@tannercolsoncoffee tem 8% de audiência brasileira. @co.nfused tem 7%. Usuários brasileiros nos EUA podem ser early adopters naturais antes de cruzar para o público americano.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4613148"/>
            <a:ext cx="882396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4631436"/>
            <a:ext cx="8503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Este material é base para discussão — não contém recomendações ou plano de ação. As decisões serão tomadas junto com o time Orfeu na próxima sessão.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