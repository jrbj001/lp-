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00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CONTEXTO REGULATÓRIO · IMPORTAÇÃO DE CAFÉ NOS EUA · 2018–2025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6032"/>
            <a:ext cx="8778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Tarifas de Importação: Movimentos Recentes e Mapa de Competitividade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68096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E8CC"/>
                </a:solidFill>
              </a:rPr>
              <a:t>Café verde tinha tarifa 0% (MFN) para todos os países — 2025 mudou tudo, e depois voltou parcialmente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896612"/>
            <a:ext cx="8686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078992"/>
            <a:ext cx="1700784" cy="274320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106424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PRÉ-2025
Base histórica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353312"/>
            <a:ext cx="1700784" cy="9326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" y="1399032"/>
            <a:ext cx="1572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00" b="0" i="0">
                <a:solidFill>
                  <a:srgbClr val="2D2D2D"/>
                </a:solidFill>
              </a:rPr>
              <a:t>Tarifa MFN = 0% para
todos os países.
FTAs reforçam: Colômbia,
CAFTA-DR, AGOA, USMCA.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65376" y="1581912"/>
            <a:ext cx="64008" cy="7315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29384" y="1078992"/>
            <a:ext cx="1700784" cy="274320"/>
          </a:xfrm>
          <a:prstGeom prst="rect">
            <a:avLst/>
          </a:prstGeom>
          <a:solidFill>
            <a:srgbClr val="F5C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3392" y="1106424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JAN 2025
Crise Colômbia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9384" y="1353312"/>
            <a:ext cx="1700784" cy="932688"/>
          </a:xfrm>
          <a:prstGeom prst="rect">
            <a:avLst/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02536" y="1399032"/>
            <a:ext cx="1572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00" b="0" i="0">
                <a:solidFill>
                  <a:srgbClr val="2D2D2D"/>
                </a:solidFill>
              </a:rPr>
              <a:t>Trump ameaça 25%→50%
sobre produtos colombianos.
Colômbia capitulou em 24h.
Impacto real: zero.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30168" y="1581912"/>
            <a:ext cx="64008" cy="7315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94176" y="1078992"/>
            <a:ext cx="1700784" cy="274320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58184" y="1106424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2 ABR 2025
"Liberation Day"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94176" y="1353312"/>
            <a:ext cx="1700784" cy="932688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7328" y="1399032"/>
            <a:ext cx="1572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00" b="0" i="0">
                <a:solidFill>
                  <a:srgbClr val="2D2D2D"/>
                </a:solidFill>
              </a:rPr>
              <a:t>Universal 10% baseline.
Tarifas por país anunciadas:
Vietnam 46% · Indonesia 32%
Brasil 10% (base)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1581912"/>
            <a:ext cx="64008" cy="7315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58968" y="1078992"/>
            <a:ext cx="1700784" cy="27432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22976" y="1106424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9 ABR – JUL 2025
Pausa 90 dias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58968" y="1353312"/>
            <a:ext cx="1700784" cy="932688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1399032"/>
            <a:ext cx="1572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00" b="0" i="0">
                <a:solidFill>
                  <a:srgbClr val="2D2D2D"/>
                </a:solidFill>
              </a:rPr>
              <a:t>Tarifas altas pausadas.
10% universal mantido.
Brasil: 10%+40% em agosto
→ Café brasileiro = 50%!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9752" y="1581912"/>
            <a:ext cx="64008" cy="7315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23759" y="1078992"/>
            <a:ext cx="1700784" cy="27432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7767" y="1106424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NOV 2025
Isenção agrícola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59" y="1353312"/>
            <a:ext cx="1700784" cy="93268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96911" y="1399032"/>
            <a:ext cx="1572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00" b="0" i="0">
                <a:solidFill>
                  <a:srgbClr val="2D2D2D"/>
                </a:solidFill>
              </a:rPr>
              <a:t>EO remove café verde de
todas as tarifas IEEPA.
Voltou quase a 0%, mas
sem proteção legal firme.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2359152"/>
            <a:ext cx="88239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592" y="2423160"/>
            <a:ext cx="4343400" cy="23774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459736"/>
            <a:ext cx="4215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✓  FICARAM MAIS COMPETITIVOS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2660904"/>
            <a:ext cx="4343400" cy="484632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" y="26974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A5C2E"/>
                </a:solidFill>
              </a:rPr>
              <a:t>México (USMCA)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01952" y="2697480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A5C2E"/>
                </a:solidFill>
              </a:rPr>
              <a:t>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" y="2880360"/>
            <a:ext cx="4215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750" b="0" i="0">
                <a:solidFill>
                  <a:srgbClr val="2D2D2D"/>
                </a:solidFill>
              </a:rPr>
              <a:t>Único com proteção legal firme. Não foi afetado em nenhum momento. Tornou-se rota de transbordo estratégica.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3145536"/>
            <a:ext cx="43434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" y="31821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A5C2E"/>
                </a:solidFill>
              </a:rPr>
              <a:t>Colômbia (FTA 2012)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318211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A5C2E"/>
                </a:solidFill>
              </a:rPr>
              <a:t>0% → 10% (base)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" y="3364992"/>
            <a:ext cx="4215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750" b="0" i="0">
                <a:solidFill>
                  <a:srgbClr val="2D2D2D"/>
                </a:solidFill>
              </a:rPr>
              <a:t>FTA funciona como backstop. Crise de jan/2025 resolvida em 24h. Origens colombianas ganharam atratividade vs. Brasil em ago–nov.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" y="3630168"/>
            <a:ext cx="4343400" cy="484632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7744" y="366674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A5C2E"/>
                </a:solidFill>
              </a:rPr>
              <a:t>Honduras / Guatemala (CAFTA-DR)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01952" y="3666744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A5C2E"/>
                </a:solidFill>
              </a:rPr>
              <a:t>0% → 10% (base)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" y="3849624"/>
            <a:ext cx="4215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750" b="0" i="0">
                <a:solidFill>
                  <a:srgbClr val="2D2D2D"/>
                </a:solidFill>
              </a:rPr>
              <a:t>Nunca foram além dos 10% base. CAFTA oferece proteção estrutural. Cresceram em relevância durante a crise brasileira.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" y="4114800"/>
            <a:ext cx="43434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7744" y="415137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A5C2E"/>
                </a:solidFill>
              </a:rPr>
              <a:t>Etiópia / Quênia (AGOA)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01952" y="4151376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A5C2E"/>
                </a:solidFill>
              </a:rPr>
              <a:t>0% (prorrogado)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7744" y="4334256"/>
            <a:ext cx="4215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750" b="0" i="0">
                <a:solidFill>
                  <a:srgbClr val="2D2D2D"/>
                </a:solidFill>
              </a:rPr>
              <a:t>AGOA estendido por 1 ano (fev/2026). Origens africanas ganharam market share de torra durante a crise Brasil ago–nov/2025.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90288" y="2423160"/>
            <a:ext cx="36576" cy="217627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63440" y="2423160"/>
            <a:ext cx="4343400" cy="237744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2459736"/>
            <a:ext cx="4215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✗  FICARAM MENOS COMPETITIVOS (2025)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2660904"/>
            <a:ext cx="4343400" cy="64008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36592" y="2697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3020"/>
                </a:solidFill>
              </a:rPr>
              <a:t>Brasil 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26974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3020"/>
                </a:solidFill>
              </a:rPr>
              <a:t>0% → 50%* → 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36592" y="2916936"/>
            <a:ext cx="4215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750" b="0" i="0">
                <a:solidFill>
                  <a:srgbClr val="2D2D2D"/>
                </a:solidFill>
              </a:rPr>
              <a:t>Maior produtor de arábica mundial. 50% de tarifa ago–nov/2025 foi disruptivo. Voltou a 0% por EO, mas sem proteção legal — pode ser re-atingido por razão política.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3300984"/>
            <a:ext cx="4343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36592" y="33375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3020"/>
                </a:solidFill>
              </a:rPr>
              <a:t>Vietnam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33375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3020"/>
                </a:solidFill>
              </a:rPr>
              <a:t>0% → 46% → 20%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36592" y="3557016"/>
            <a:ext cx="4215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750" b="0" i="0">
                <a:solidFill>
                  <a:srgbClr val="2D2D2D"/>
                </a:solidFill>
              </a:rPr>
              <a:t>Maior exportador de robusta. 46% tornou café invendível no US por meses. Agora a 20% + isenção verde. Cadeias de suprimento danificadas.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63440" y="3941064"/>
            <a:ext cx="4343400" cy="64008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36592" y="39776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3020"/>
                </a:solidFill>
              </a:rPr>
              <a:t>Indonésia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39776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3020"/>
                </a:solidFill>
              </a:rPr>
              <a:t>0% → 32% → 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36592" y="4197096"/>
            <a:ext cx="4215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750" b="0" i="0">
                <a:solidFill>
                  <a:srgbClr val="2D2D2D"/>
                </a:solidFill>
              </a:rPr>
              <a:t>Cafés especiais Sumatra/Sulawesi afetados. Pausado a 10%, agora isenção, mas incerteza continua. Menor exposição que Brasil/Vietnam.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4592" y="4663440"/>
            <a:ext cx="8823960" cy="182880"/>
          </a:xfrm>
          <a:prstGeom prst="rect">
            <a:avLst/>
          </a:prstGeom>
          <a:solidFill>
            <a:srgbClr val="ED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8600" y="4672584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Fontes: USITC HTS Database · EO 14257 (Liberation Day, Apr 2025) · EO Annex II (Nov 2025 exemption) · USTR CAFTA-DR · AGOA Extension Act 2026 · Fresh Cup Magazine (Dec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00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IMPLICAÇÕES ESTRATÉGICAS · ORFEU SINGLE ORIGIN · ENTRADA NO MERCADO EUA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6032"/>
            <a:ext cx="8778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Tarifas, Origem e Posicionamento — Riscos e Oportunidades para a Orfeu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68096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E8CC"/>
                </a:solidFill>
              </a:rPr>
              <a:t>O mercado americano de café premium está sob pressão de preços — o que representa ameaça e janela ao mesmo tempo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896612"/>
            <a:ext cx="8686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078992"/>
            <a:ext cx="2743200" cy="2286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115568"/>
            <a:ext cx="2615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USD 9,14/lb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307592"/>
            <a:ext cx="2743200" cy="42976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335024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Preço recorde café moído (set/2025)
+21,7% YoY pós-tarifa brasileira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90672" y="1078992"/>
            <a:ext cx="2743200" cy="228600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1115568"/>
            <a:ext cx="2615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BRASIL = alvo político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90672" y="1307592"/>
            <a:ext cx="2743200" cy="429768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2112" y="1335024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Sem FTA com os EUA. Pode ser re-atingido por EO sem processo legislativo.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16752" y="1078992"/>
            <a:ext cx="2743200" cy="22860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115568"/>
            <a:ext cx="2615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Isenção = frágil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16752" y="1307592"/>
            <a:ext cx="2743200" cy="429768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1335024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Nov/2025: café verde isento via EO. Um novo decreto reverte. Não é lei.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1828800"/>
            <a:ext cx="88239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1901952"/>
            <a:ext cx="2743200" cy="256032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" y="194767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⚠  RISCOS PARA A ORFEU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2157984"/>
            <a:ext cx="2743200" cy="2395728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2212848"/>
            <a:ext cx="25786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3020"/>
                </a:solidFill>
              </a:rPr>
              <a:t>1. Concentração em uma origem (Brasil)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Sem FTA, o Brasil pode ser re-atingido por EO a qualquer momento. 100% de dependência de um único país é o maior risco estrutural.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3020"/>
                </a:solidFill>
              </a:rPr>
              <a:t>2. Café verde isento hoje — não amanhã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A isenção de nov/2025 é uma EO, não legislação. Uma crise diplomática Brasil-EUA (como a da Colômbia em jan) pode reverter em horas.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3020"/>
                </a:solidFill>
              </a:rPr>
              <a:t>3. Volatilidade de custo → pricing instável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Durante ago–nov/2025, o café brasileiro no US subiu +33%. Para uma marca premium, instabilidade de preço compromete o posicionamento.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90672" y="1901952"/>
            <a:ext cx="27432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63824" y="194767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✓  OPORTUNIDADES ABERTAS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90672" y="2157984"/>
            <a:ext cx="2743200" cy="239572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82112" y="2212848"/>
            <a:ext cx="25786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1. Mercado premium sob pressão = receptivo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O consumidor americano já pagou USD 9,14/lb. O teto de preço percebido subiu. A Orfeu entra em um mercado "treinado" para aceitar preços mais altos.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2. Robusta vietnamita fora do mercado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A tarifa de 46% sobre o Vietnam devastou o café comercial. O espaço de prateleira que era de blends baratos está migrando para arábica premium.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2A5C2E"/>
                </a:solidFill>
              </a:rPr>
              <a:t>3. Origens africanas como hedge narrativo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Etiópia e Quênia têm proteção AGOA e cresceram durante a crise brasileira. Orfeu pode ancorar um 2º SKU em origem africana como hedge estratégico.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16752" y="1901952"/>
            <a:ext cx="2743200" cy="25603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9904" y="194767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→  MOVIMENTOS PARA A ORFEU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16752" y="2157984"/>
            <a:ext cx="2743200" cy="2395728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2212848"/>
            <a:ext cx="25786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A. Lobbying e proteção contratual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Associar-se à NCA (National Coffee Association) como exportadora. Ter contratos de fornecimento com cláusula de force majeure em tarifa.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B. Pricing de entrada que absorve volatilidade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Lançar com margem que suporta +15% de custo. Comunicar ao consumidor: "preço reflete origem, não tarifa".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900" b="1" i="0">
                <a:solidFill>
                  <a:srgbClr val="C07028"/>
                </a:solidFill>
              </a:rPr>
              <a:t>C. 2º SKU como hedge: Colômbia ou Etiópia</a:t>
            </a:r>
          </a:p>
          <a:p>
            <a:pPr>
              <a:spcBef>
                <a:spcPts val="150"/>
              </a:spcBef>
              <a:spcAft>
                <a:spcPts val="50"/>
              </a:spcAft>
            </a:pPr>
            <a:r>
              <a:rPr sz="850" b="0" i="0">
                <a:solidFill>
                  <a:srgbClr val="2D2D2D"/>
                </a:solidFill>
              </a:rPr>
              <a:t>Lançar "Orfeu Seleção Etiópia" ou "Seleção Colômbia" simultaneamente. Ambos têm proteção legal mais robusta e diversificam o risco geopolítico.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2" y="4617720"/>
            <a:ext cx="8823960" cy="2286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4645152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SÍNTESE: O caos tarifário de 2025 foi ruim para o Brasil no curto prazo e bom para o premium no longo. A Orfeu entra em um mercado com consumidores sensibilizados para preço alto, menor oferta de robusta barato e abertura para origens com narrativa. O risco é estrutural: Brasil sem FTA = alvo recorrente.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