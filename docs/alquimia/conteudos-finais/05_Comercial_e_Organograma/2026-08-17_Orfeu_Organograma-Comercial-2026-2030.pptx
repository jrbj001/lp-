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half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half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02920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Box 2"/>
          <p:cNvSpPr txBox="1"/>
          <p:nvPr/>
        </p:nvSpPr>
        <p:spPr>
          <a:xfrm>
            <a:off x="365759" y="126238"/>
            <a:ext cx="64008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Organograma Comercial — Orfeu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6766559" y="170688"/>
            <a:ext cx="20116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0D8C0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Atual (Organograma)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365759" y="530351"/>
            <a:ext cx="841248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2026</a:t>
            </a:r>
          </a:p>
        </p:txBody>
      </p:sp>
      <p:sp>
        <p:nvSpPr>
          <p:cNvPr id="98" name="Rounded Rectangle 5"/>
          <p:cNvSpPr/>
          <p:nvPr/>
        </p:nvSpPr>
        <p:spPr>
          <a:xfrm>
            <a:off x="3520440" y="777240"/>
            <a:ext cx="2103121" cy="329185"/>
          </a:xfrm>
          <a:prstGeom prst="roundRect">
            <a:avLst>
              <a:gd name="adj" fmla="val 15000"/>
            </a:avLst>
          </a:prstGeom>
          <a:solidFill>
            <a:srgbClr val="1E422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extBox 6"/>
          <p:cNvSpPr txBox="1"/>
          <p:nvPr/>
        </p:nvSpPr>
        <p:spPr>
          <a:xfrm>
            <a:off x="3520440" y="865632"/>
            <a:ext cx="21031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Augusto — Diretor Comercial</a:t>
            </a:r>
          </a:p>
        </p:txBody>
      </p:sp>
      <p:sp>
        <p:nvSpPr>
          <p:cNvPr id="100" name="Connector 7"/>
          <p:cNvSpPr/>
          <p:nvPr/>
        </p:nvSpPr>
        <p:spPr>
          <a:xfrm>
            <a:off x="4572000" y="1106424"/>
            <a:ext cx="0" cy="91441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" name="Connector 8"/>
          <p:cNvSpPr/>
          <p:nvPr/>
        </p:nvSpPr>
        <p:spPr>
          <a:xfrm>
            <a:off x="905255" y="1197863"/>
            <a:ext cx="7159754" cy="1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" name="Connector 9"/>
          <p:cNvSpPr/>
          <p:nvPr/>
        </p:nvSpPr>
        <p:spPr>
          <a:xfrm>
            <a:off x="905255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" name="Rounded Rectangle 10"/>
          <p:cNvSpPr/>
          <p:nvPr/>
        </p:nvSpPr>
        <p:spPr>
          <a:xfrm>
            <a:off x="320040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TextBox 11"/>
          <p:cNvSpPr txBox="1"/>
          <p:nvPr/>
        </p:nvSpPr>
        <p:spPr>
          <a:xfrm>
            <a:off x="356615" y="1307591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Priscila</a:t>
            </a:r>
          </a:p>
        </p:txBody>
      </p:sp>
      <p:sp>
        <p:nvSpPr>
          <p:cNvPr id="105" name="TextBox 12"/>
          <p:cNvSpPr txBox="1"/>
          <p:nvPr/>
        </p:nvSpPr>
        <p:spPr>
          <a:xfrm>
            <a:off x="356615" y="1527047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Gerente Varejo</a:t>
            </a:r>
          </a:p>
        </p:txBody>
      </p:sp>
      <p:sp>
        <p:nvSpPr>
          <p:cNvPr id="106" name="Connector 13"/>
          <p:cNvSpPr/>
          <p:nvPr/>
        </p:nvSpPr>
        <p:spPr>
          <a:xfrm>
            <a:off x="2098548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" name="Rounded Rectangle 14"/>
          <p:cNvSpPr/>
          <p:nvPr/>
        </p:nvSpPr>
        <p:spPr>
          <a:xfrm>
            <a:off x="1513332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TextBox 15"/>
          <p:cNvSpPr txBox="1"/>
          <p:nvPr/>
        </p:nvSpPr>
        <p:spPr>
          <a:xfrm>
            <a:off x="1549908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Cristiane Pagano</a:t>
            </a:r>
          </a:p>
        </p:txBody>
      </p:sp>
      <p:sp>
        <p:nvSpPr>
          <p:cNvPr id="109" name="TextBox 16"/>
          <p:cNvSpPr txBox="1"/>
          <p:nvPr/>
        </p:nvSpPr>
        <p:spPr>
          <a:xfrm>
            <a:off x="1549908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Gerente B2B</a:t>
            </a:r>
          </a:p>
        </p:txBody>
      </p:sp>
      <p:sp>
        <p:nvSpPr>
          <p:cNvPr id="110" name="Connector 17"/>
          <p:cNvSpPr/>
          <p:nvPr/>
        </p:nvSpPr>
        <p:spPr>
          <a:xfrm>
            <a:off x="3291840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" name="Rounded Rectangle 18"/>
          <p:cNvSpPr/>
          <p:nvPr/>
        </p:nvSpPr>
        <p:spPr>
          <a:xfrm>
            <a:off x="2706623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TextBox 19"/>
          <p:cNvSpPr txBox="1"/>
          <p:nvPr/>
        </p:nvSpPr>
        <p:spPr>
          <a:xfrm>
            <a:off x="2743199" y="1307591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Amanda Lopes</a:t>
            </a:r>
          </a:p>
        </p:txBody>
      </p:sp>
      <p:sp>
        <p:nvSpPr>
          <p:cNvPr id="113" name="TextBox 20"/>
          <p:cNvSpPr txBox="1"/>
          <p:nvPr/>
        </p:nvSpPr>
        <p:spPr>
          <a:xfrm>
            <a:off x="2743199" y="1527047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Inteligência/Amazon</a:t>
            </a:r>
          </a:p>
        </p:txBody>
      </p:sp>
      <p:sp>
        <p:nvSpPr>
          <p:cNvPr id="114" name="Connector 21"/>
          <p:cNvSpPr/>
          <p:nvPr/>
        </p:nvSpPr>
        <p:spPr>
          <a:xfrm>
            <a:off x="4485132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" name="Rounded Rectangle 22"/>
          <p:cNvSpPr/>
          <p:nvPr/>
        </p:nvSpPr>
        <p:spPr>
          <a:xfrm>
            <a:off x="3899915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23"/>
          <p:cNvSpPr txBox="1"/>
          <p:nvPr/>
        </p:nvSpPr>
        <p:spPr>
          <a:xfrm>
            <a:off x="3936491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Ana Cláudia</a:t>
            </a:r>
          </a:p>
        </p:txBody>
      </p:sp>
      <p:sp>
        <p:nvSpPr>
          <p:cNvPr id="117" name="TextBox 24"/>
          <p:cNvSpPr txBox="1"/>
          <p:nvPr/>
        </p:nvSpPr>
        <p:spPr>
          <a:xfrm>
            <a:off x="3936491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Consumidor</a:t>
            </a:r>
          </a:p>
        </p:txBody>
      </p:sp>
      <p:sp>
        <p:nvSpPr>
          <p:cNvPr id="118" name="Connector 25"/>
          <p:cNvSpPr/>
          <p:nvPr/>
        </p:nvSpPr>
        <p:spPr>
          <a:xfrm>
            <a:off x="5678423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" name="Rounded Rectangle 26"/>
          <p:cNvSpPr/>
          <p:nvPr/>
        </p:nvSpPr>
        <p:spPr>
          <a:xfrm>
            <a:off x="5093208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TextBox 27"/>
          <p:cNvSpPr txBox="1"/>
          <p:nvPr/>
        </p:nvSpPr>
        <p:spPr>
          <a:xfrm>
            <a:off x="5129784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Renato</a:t>
            </a:r>
          </a:p>
        </p:txBody>
      </p:sp>
      <p:sp>
        <p:nvSpPr>
          <p:cNvPr id="121" name="TextBox 28"/>
          <p:cNvSpPr txBox="1"/>
          <p:nvPr/>
        </p:nvSpPr>
        <p:spPr>
          <a:xfrm>
            <a:off x="5129784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Mercado Livre</a:t>
            </a:r>
          </a:p>
        </p:txBody>
      </p:sp>
      <p:sp>
        <p:nvSpPr>
          <p:cNvPr id="122" name="Connector 29"/>
          <p:cNvSpPr/>
          <p:nvPr/>
        </p:nvSpPr>
        <p:spPr>
          <a:xfrm>
            <a:off x="6871716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" name="Rounded Rectangle 30"/>
          <p:cNvSpPr/>
          <p:nvPr/>
        </p:nvSpPr>
        <p:spPr>
          <a:xfrm>
            <a:off x="6286500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TextBox 31"/>
          <p:cNvSpPr txBox="1"/>
          <p:nvPr/>
        </p:nvSpPr>
        <p:spPr>
          <a:xfrm>
            <a:off x="6323076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Grazielle</a:t>
            </a:r>
          </a:p>
        </p:txBody>
      </p:sp>
      <p:sp>
        <p:nvSpPr>
          <p:cNvPr id="125" name="TextBox 32"/>
          <p:cNvSpPr txBox="1"/>
          <p:nvPr/>
        </p:nvSpPr>
        <p:spPr>
          <a:xfrm>
            <a:off x="6323076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Exportação</a:t>
            </a:r>
          </a:p>
        </p:txBody>
      </p:sp>
      <p:sp>
        <p:nvSpPr>
          <p:cNvPr id="126" name="Connector 33"/>
          <p:cNvSpPr/>
          <p:nvPr/>
        </p:nvSpPr>
        <p:spPr>
          <a:xfrm>
            <a:off x="8065007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" name="Rounded Rectangle 34"/>
          <p:cNvSpPr/>
          <p:nvPr/>
        </p:nvSpPr>
        <p:spPr>
          <a:xfrm>
            <a:off x="7479792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extBox 35"/>
          <p:cNvSpPr txBox="1"/>
          <p:nvPr/>
        </p:nvSpPr>
        <p:spPr>
          <a:xfrm>
            <a:off x="7516368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Silvia Laliny</a:t>
            </a:r>
          </a:p>
        </p:txBody>
      </p:sp>
      <p:sp>
        <p:nvSpPr>
          <p:cNvPr id="129" name="TextBox 36"/>
          <p:cNvSpPr txBox="1"/>
          <p:nvPr/>
        </p:nvSpPr>
        <p:spPr>
          <a:xfrm>
            <a:off x="7516368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Trade Marketing</a:t>
            </a:r>
          </a:p>
        </p:txBody>
      </p:sp>
      <p:sp>
        <p:nvSpPr>
          <p:cNvPr id="130" name="Rounded Rectangle 37"/>
          <p:cNvSpPr/>
          <p:nvPr/>
        </p:nvSpPr>
        <p:spPr>
          <a:xfrm>
            <a:off x="320040" y="1965960"/>
            <a:ext cx="3794760" cy="274321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TextBox 38"/>
          <p:cNvSpPr txBox="1"/>
          <p:nvPr/>
        </p:nvSpPr>
        <p:spPr>
          <a:xfrm>
            <a:off x="320039" y="2026920"/>
            <a:ext cx="37947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VAREJO — Priscila</a:t>
            </a:r>
          </a:p>
        </p:txBody>
      </p:sp>
      <p:sp>
        <p:nvSpPr>
          <p:cNvPr id="132" name="Rounded Rectangle 39"/>
          <p:cNvSpPr/>
          <p:nvPr/>
        </p:nvSpPr>
        <p:spPr>
          <a:xfrm>
            <a:off x="320040" y="2313432"/>
            <a:ext cx="3794760" cy="713233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TextBox 40"/>
          <p:cNvSpPr txBox="1"/>
          <p:nvPr/>
        </p:nvSpPr>
        <p:spPr>
          <a:xfrm>
            <a:off x="429768" y="2368295"/>
            <a:ext cx="2057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Direto (SP/RJ) — payroll Orfeu</a:t>
            </a:r>
          </a:p>
        </p:txBody>
      </p:sp>
      <p:sp>
        <p:nvSpPr>
          <p:cNvPr id="134" name="TextBox 41"/>
          <p:cNvSpPr txBox="1"/>
          <p:nvPr/>
        </p:nvSpPr>
        <p:spPr>
          <a:xfrm>
            <a:off x="429768" y="2551176"/>
            <a:ext cx="2057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Victória, Jéssica, Janete, Adriana, Patrick</a:t>
            </a:r>
          </a:p>
        </p:txBody>
      </p:sp>
      <p:sp>
        <p:nvSpPr>
          <p:cNvPr id="135" name="Rounded Rectangle 42"/>
          <p:cNvSpPr/>
          <p:nvPr/>
        </p:nvSpPr>
        <p:spPr>
          <a:xfrm>
            <a:off x="2514600" y="2395727"/>
            <a:ext cx="658369" cy="256033"/>
          </a:xfrm>
          <a:prstGeom prst="roundRect">
            <a:avLst>
              <a:gd name="adj" fmla="val 50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43"/>
          <p:cNvSpPr txBox="1"/>
          <p:nvPr/>
        </p:nvSpPr>
        <p:spPr>
          <a:xfrm>
            <a:off x="2514599" y="2453893"/>
            <a:ext cx="65837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37" name="TextBox 44"/>
          <p:cNvSpPr txBox="1"/>
          <p:nvPr/>
        </p:nvSpPr>
        <p:spPr>
          <a:xfrm>
            <a:off x="2514599" y="2679192"/>
            <a:ext cx="6583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vendedor</a:t>
            </a:r>
          </a:p>
        </p:txBody>
      </p:sp>
      <p:sp>
        <p:nvSpPr>
          <p:cNvPr id="138" name="Rounded Rectangle 45"/>
          <p:cNvSpPr/>
          <p:nvPr/>
        </p:nvSpPr>
        <p:spPr>
          <a:xfrm>
            <a:off x="3246120" y="2395727"/>
            <a:ext cx="749809" cy="256033"/>
          </a:xfrm>
          <a:prstGeom prst="roundRect">
            <a:avLst>
              <a:gd name="adj" fmla="val 50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46"/>
          <p:cNvSpPr txBox="1"/>
          <p:nvPr/>
        </p:nvSpPr>
        <p:spPr>
          <a:xfrm>
            <a:off x="3246120" y="2453893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0" name="TextBox 47"/>
          <p:cNvSpPr txBox="1"/>
          <p:nvPr/>
        </p:nvSpPr>
        <p:spPr>
          <a:xfrm>
            <a:off x="3246120" y="2679192"/>
            <a:ext cx="7498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promotor</a:t>
            </a:r>
          </a:p>
        </p:txBody>
      </p:sp>
      <p:sp>
        <p:nvSpPr>
          <p:cNvPr id="141" name="Rounded Rectangle 48"/>
          <p:cNvSpPr/>
          <p:nvPr/>
        </p:nvSpPr>
        <p:spPr>
          <a:xfrm>
            <a:off x="320040" y="3099816"/>
            <a:ext cx="3794760" cy="713233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TextBox 49"/>
          <p:cNvSpPr txBox="1"/>
          <p:nvPr/>
        </p:nvSpPr>
        <p:spPr>
          <a:xfrm>
            <a:off x="429768" y="3154679"/>
            <a:ext cx="2057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Gestão de Representantes</a:t>
            </a:r>
          </a:p>
        </p:txBody>
      </p:sp>
      <p:sp>
        <p:nvSpPr>
          <p:cNvPr id="143" name="TextBox 50"/>
          <p:cNvSpPr txBox="1"/>
          <p:nvPr/>
        </p:nvSpPr>
        <p:spPr>
          <a:xfrm>
            <a:off x="429768" y="3337559"/>
            <a:ext cx="2057401" cy="204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Dayane · 1 comercial a cada 12 reps</a:t>
            </a:r>
          </a:p>
          <a:p>
            <a: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↳ gerencia Representante terceiro (comissionado)</a:t>
            </a:r>
          </a:p>
        </p:txBody>
      </p:sp>
      <p:sp>
        <p:nvSpPr>
          <p:cNvPr id="144" name="Rounded Rectangle 51"/>
          <p:cNvSpPr/>
          <p:nvPr/>
        </p:nvSpPr>
        <p:spPr>
          <a:xfrm>
            <a:off x="2514600" y="3182111"/>
            <a:ext cx="566928" cy="256033"/>
          </a:xfrm>
          <a:prstGeom prst="roundRect">
            <a:avLst>
              <a:gd name="adj" fmla="val 50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TextBox 52"/>
          <p:cNvSpPr txBox="1"/>
          <p:nvPr/>
        </p:nvSpPr>
        <p:spPr>
          <a:xfrm>
            <a:off x="2514600" y="3240277"/>
            <a:ext cx="56692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6" name="TextBox 53"/>
          <p:cNvSpPr txBox="1"/>
          <p:nvPr/>
        </p:nvSpPr>
        <p:spPr>
          <a:xfrm>
            <a:off x="2514600" y="3465576"/>
            <a:ext cx="56692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comercial</a:t>
            </a:r>
          </a:p>
        </p:txBody>
      </p:sp>
      <p:sp>
        <p:nvSpPr>
          <p:cNvPr id="147" name="Rounded Rectangle 54"/>
          <p:cNvSpPr/>
          <p:nvPr/>
        </p:nvSpPr>
        <p:spPr>
          <a:xfrm>
            <a:off x="3246120" y="3182111"/>
            <a:ext cx="749809" cy="256033"/>
          </a:xfrm>
          <a:prstGeom prst="roundRect">
            <a:avLst>
              <a:gd name="adj" fmla="val 50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TextBox 55"/>
          <p:cNvSpPr txBox="1"/>
          <p:nvPr/>
        </p:nvSpPr>
        <p:spPr>
          <a:xfrm>
            <a:off x="3246120" y="3240277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49" name="TextBox 56"/>
          <p:cNvSpPr txBox="1"/>
          <p:nvPr/>
        </p:nvSpPr>
        <p:spPr>
          <a:xfrm>
            <a:off x="3246120" y="3465576"/>
            <a:ext cx="7498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representantes</a:t>
            </a:r>
          </a:p>
        </p:txBody>
      </p:sp>
      <p:sp>
        <p:nvSpPr>
          <p:cNvPr id="150" name="Rounded Rectangle 57"/>
          <p:cNvSpPr/>
          <p:nvPr/>
        </p:nvSpPr>
        <p:spPr>
          <a:xfrm>
            <a:off x="320040" y="3886200"/>
            <a:ext cx="3794760" cy="713232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TextBox 58"/>
          <p:cNvSpPr txBox="1"/>
          <p:nvPr/>
        </p:nvSpPr>
        <p:spPr>
          <a:xfrm>
            <a:off x="429767" y="3941064"/>
            <a:ext cx="2880362" cy="141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Merchandising → Promotores via agência</a:t>
            </a:r>
          </a:p>
        </p:txBody>
      </p:sp>
      <p:sp>
        <p:nvSpPr>
          <p:cNvPr id="152" name="TextBox 59"/>
          <p:cNvSpPr txBox="1"/>
          <p:nvPr/>
        </p:nvSpPr>
        <p:spPr>
          <a:xfrm>
            <a:off x="429767" y="4151376"/>
            <a:ext cx="2880362" cy="204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Elisângela+Eduarda (Coord.+Analista, 2, fixo) → agência externa, demais estados</a:t>
            </a:r>
          </a:p>
        </p:txBody>
      </p:sp>
      <p:sp>
        <p:nvSpPr>
          <p:cNvPr id="153" name="TextBox 60"/>
          <p:cNvSpPr txBox="1"/>
          <p:nvPr/>
        </p:nvSpPr>
        <p:spPr>
          <a:xfrm>
            <a:off x="3246120" y="4179316"/>
            <a:ext cx="777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i="1" sz="7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agência (elástico)</a:t>
            </a:r>
          </a:p>
        </p:txBody>
      </p:sp>
      <p:sp>
        <p:nvSpPr>
          <p:cNvPr id="154" name="Rounded Rectangle 61"/>
          <p:cNvSpPr/>
          <p:nvPr/>
        </p:nvSpPr>
        <p:spPr>
          <a:xfrm>
            <a:off x="4251959" y="1965960"/>
            <a:ext cx="2331721" cy="274321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TextBox 62"/>
          <p:cNvSpPr txBox="1"/>
          <p:nvPr/>
        </p:nvSpPr>
        <p:spPr>
          <a:xfrm>
            <a:off x="4251959" y="2026920"/>
            <a:ext cx="23317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B2B — Cristiane</a:t>
            </a:r>
          </a:p>
        </p:txBody>
      </p:sp>
      <p:sp>
        <p:nvSpPr>
          <p:cNvPr id="156" name="Rounded Rectangle 63"/>
          <p:cNvSpPr/>
          <p:nvPr/>
        </p:nvSpPr>
        <p:spPr>
          <a:xfrm>
            <a:off x="4251959" y="2313432"/>
            <a:ext cx="2331721" cy="713233"/>
          </a:xfrm>
          <a:prstGeom prst="roundRect">
            <a:avLst>
              <a:gd name="adj" fmla="val 8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64"/>
          <p:cNvSpPr txBox="1"/>
          <p:nvPr/>
        </p:nvSpPr>
        <p:spPr>
          <a:xfrm>
            <a:off x="4343399" y="2359151"/>
            <a:ext cx="1554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Comercial (B2B)</a:t>
            </a:r>
          </a:p>
        </p:txBody>
      </p:sp>
      <p:sp>
        <p:nvSpPr>
          <p:cNvPr id="158" name="TextBox 65"/>
          <p:cNvSpPr txBox="1"/>
          <p:nvPr/>
        </p:nvSpPr>
        <p:spPr>
          <a:xfrm>
            <a:off x="4343399" y="2569464"/>
            <a:ext cx="15544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Júlio, Jonas, Rosângela, Thiana, Janaína, Jemerson + 1</a:t>
            </a:r>
          </a:p>
        </p:txBody>
      </p:sp>
      <p:sp>
        <p:nvSpPr>
          <p:cNvPr id="159" name="Rounded Rectangle 66"/>
          <p:cNvSpPr/>
          <p:nvPr/>
        </p:nvSpPr>
        <p:spPr>
          <a:xfrm>
            <a:off x="5961888" y="2542032"/>
            <a:ext cx="530353" cy="256033"/>
          </a:xfrm>
          <a:prstGeom prst="roundRect">
            <a:avLst>
              <a:gd name="adj" fmla="val 50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TextBox 67"/>
          <p:cNvSpPr txBox="1"/>
          <p:nvPr/>
        </p:nvSpPr>
        <p:spPr>
          <a:xfrm>
            <a:off x="5961888" y="2600198"/>
            <a:ext cx="53035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61" name="Rounded Rectangle 68"/>
          <p:cNvSpPr/>
          <p:nvPr/>
        </p:nvSpPr>
        <p:spPr>
          <a:xfrm>
            <a:off x="4251959" y="3099816"/>
            <a:ext cx="2331721" cy="713233"/>
          </a:xfrm>
          <a:prstGeom prst="roundRect">
            <a:avLst>
              <a:gd name="adj" fmla="val 8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TextBox 69"/>
          <p:cNvSpPr txBox="1"/>
          <p:nvPr/>
        </p:nvSpPr>
        <p:spPr>
          <a:xfrm>
            <a:off x="4343399" y="3145535"/>
            <a:ext cx="1554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Baristas (B2B)</a:t>
            </a:r>
          </a:p>
        </p:txBody>
      </p:sp>
      <p:sp>
        <p:nvSpPr>
          <p:cNvPr id="163" name="TextBox 70"/>
          <p:cNvSpPr txBox="1"/>
          <p:nvPr/>
        </p:nvSpPr>
        <p:spPr>
          <a:xfrm>
            <a:off x="4343399" y="3355847"/>
            <a:ext cx="1554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Suporte técnico HoReCa</a:t>
            </a:r>
          </a:p>
        </p:txBody>
      </p:sp>
      <p:sp>
        <p:nvSpPr>
          <p:cNvPr id="164" name="Rounded Rectangle 71"/>
          <p:cNvSpPr/>
          <p:nvPr/>
        </p:nvSpPr>
        <p:spPr>
          <a:xfrm>
            <a:off x="5961888" y="3328415"/>
            <a:ext cx="530353" cy="256033"/>
          </a:xfrm>
          <a:prstGeom prst="roundRect">
            <a:avLst>
              <a:gd name="adj" fmla="val 50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" name="TextBox 72"/>
          <p:cNvSpPr txBox="1"/>
          <p:nvPr/>
        </p:nvSpPr>
        <p:spPr>
          <a:xfrm>
            <a:off x="5961888" y="3386581"/>
            <a:ext cx="53035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66" name="Rounded Rectangle 73"/>
          <p:cNvSpPr/>
          <p:nvPr/>
        </p:nvSpPr>
        <p:spPr>
          <a:xfrm>
            <a:off x="4251959" y="3886200"/>
            <a:ext cx="2331721" cy="384048"/>
          </a:xfrm>
          <a:prstGeom prst="roundRect">
            <a:avLst>
              <a:gd name="adj" fmla="val 8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TextBox 74"/>
          <p:cNvSpPr txBox="1"/>
          <p:nvPr/>
        </p:nvSpPr>
        <p:spPr>
          <a:xfrm>
            <a:off x="4343400" y="3922776"/>
            <a:ext cx="2148840" cy="20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BackOffice — Mariana (1)  ·  Distribuidores B2B — Emilly (1)</a:t>
            </a:r>
          </a:p>
        </p:txBody>
      </p:sp>
      <p:sp>
        <p:nvSpPr>
          <p:cNvPr id="168" name="Rounded Rectangle 75"/>
          <p:cNvSpPr/>
          <p:nvPr/>
        </p:nvSpPr>
        <p:spPr>
          <a:xfrm>
            <a:off x="6720840" y="1965960"/>
            <a:ext cx="2103121" cy="274321"/>
          </a:xfrm>
          <a:prstGeom prst="roundRect">
            <a:avLst>
              <a:gd name="adj" fmla="val 15000"/>
            </a:avLst>
          </a:prstGeom>
          <a:solidFill>
            <a:srgbClr val="1E422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TextBox 76"/>
          <p:cNvSpPr txBox="1"/>
          <p:nvPr/>
        </p:nvSpPr>
        <p:spPr>
          <a:xfrm>
            <a:off x="6720840" y="2033270"/>
            <a:ext cx="21031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OUTRAS FRENTES</a:t>
            </a:r>
          </a:p>
        </p:txBody>
      </p:sp>
      <p:sp>
        <p:nvSpPr>
          <p:cNvPr id="170" name="Rounded Rectangle 77"/>
          <p:cNvSpPr/>
          <p:nvPr/>
        </p:nvSpPr>
        <p:spPr>
          <a:xfrm>
            <a:off x="6720840" y="2313432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TextBox 78"/>
          <p:cNvSpPr txBox="1"/>
          <p:nvPr/>
        </p:nvSpPr>
        <p:spPr>
          <a:xfrm>
            <a:off x="6793992" y="2350007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Amanda Lopes</a:t>
            </a:r>
          </a:p>
        </p:txBody>
      </p:sp>
      <p:sp>
        <p:nvSpPr>
          <p:cNvPr id="172" name="TextBox 79"/>
          <p:cNvSpPr txBox="1"/>
          <p:nvPr/>
        </p:nvSpPr>
        <p:spPr>
          <a:xfrm>
            <a:off x="6793992" y="2542032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Inteligência (3) + Amazon (1)</a:t>
            </a:r>
          </a:p>
        </p:txBody>
      </p:sp>
      <p:sp>
        <p:nvSpPr>
          <p:cNvPr id="173" name="Rounded Rectangle 80"/>
          <p:cNvSpPr/>
          <p:nvPr/>
        </p:nvSpPr>
        <p:spPr>
          <a:xfrm>
            <a:off x="6720840" y="2880360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" name="TextBox 81"/>
          <p:cNvSpPr txBox="1"/>
          <p:nvPr/>
        </p:nvSpPr>
        <p:spPr>
          <a:xfrm>
            <a:off x="6793992" y="2916935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Ana Cláudia</a:t>
            </a:r>
          </a:p>
        </p:txBody>
      </p:sp>
      <p:sp>
        <p:nvSpPr>
          <p:cNvPr id="175" name="TextBox 82"/>
          <p:cNvSpPr txBox="1"/>
          <p:nvPr/>
        </p:nvSpPr>
        <p:spPr>
          <a:xfrm>
            <a:off x="6793992" y="3108960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Consumidor</a:t>
            </a:r>
          </a:p>
        </p:txBody>
      </p:sp>
      <p:sp>
        <p:nvSpPr>
          <p:cNvPr id="176" name="Rounded Rectangle 83"/>
          <p:cNvSpPr/>
          <p:nvPr/>
        </p:nvSpPr>
        <p:spPr>
          <a:xfrm>
            <a:off x="6720840" y="3447288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84"/>
          <p:cNvSpPr txBox="1"/>
          <p:nvPr/>
        </p:nvSpPr>
        <p:spPr>
          <a:xfrm>
            <a:off x="6793992" y="3483864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Renato</a:t>
            </a:r>
          </a:p>
        </p:txBody>
      </p:sp>
      <p:sp>
        <p:nvSpPr>
          <p:cNvPr id="178" name="TextBox 85"/>
          <p:cNvSpPr txBox="1"/>
          <p:nvPr/>
        </p:nvSpPr>
        <p:spPr>
          <a:xfrm>
            <a:off x="6793992" y="3675888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Mercado Livre — Gustavo Santos</a:t>
            </a:r>
          </a:p>
        </p:txBody>
      </p:sp>
      <p:sp>
        <p:nvSpPr>
          <p:cNvPr id="179" name="Rounded Rectangle 86"/>
          <p:cNvSpPr/>
          <p:nvPr/>
        </p:nvSpPr>
        <p:spPr>
          <a:xfrm>
            <a:off x="6720840" y="4014215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TextBox 87"/>
          <p:cNvSpPr txBox="1"/>
          <p:nvPr/>
        </p:nvSpPr>
        <p:spPr>
          <a:xfrm>
            <a:off x="6793992" y="4050791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Grazielle</a:t>
            </a:r>
          </a:p>
        </p:txBody>
      </p:sp>
      <p:sp>
        <p:nvSpPr>
          <p:cNvPr id="181" name="TextBox 88"/>
          <p:cNvSpPr txBox="1"/>
          <p:nvPr/>
        </p:nvSpPr>
        <p:spPr>
          <a:xfrm>
            <a:off x="6793992" y="4242815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Exportação — Amanda Sousa</a:t>
            </a:r>
          </a:p>
        </p:txBody>
      </p:sp>
      <p:sp>
        <p:nvSpPr>
          <p:cNvPr id="182" name="Rounded Rectangle 89"/>
          <p:cNvSpPr/>
          <p:nvPr/>
        </p:nvSpPr>
        <p:spPr>
          <a:xfrm>
            <a:off x="6720840" y="4581144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TextBox 90"/>
          <p:cNvSpPr txBox="1"/>
          <p:nvPr/>
        </p:nvSpPr>
        <p:spPr>
          <a:xfrm>
            <a:off x="6793992" y="4617720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Silvia Laliny</a:t>
            </a:r>
          </a:p>
        </p:txBody>
      </p:sp>
      <p:sp>
        <p:nvSpPr>
          <p:cNvPr id="184" name="TextBox 91"/>
          <p:cNvSpPr txBox="1"/>
          <p:nvPr/>
        </p:nvSpPr>
        <p:spPr>
          <a:xfrm>
            <a:off x="6793992" y="4809744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Trade Marketing — Júlia + Yasmim</a:t>
            </a:r>
          </a:p>
        </p:txBody>
      </p:sp>
      <p:sp>
        <p:nvSpPr>
          <p:cNvPr id="185" name="TextBox 92"/>
          <p:cNvSpPr txBox="1"/>
          <p:nvPr/>
        </p:nvSpPr>
        <p:spPr>
          <a:xfrm>
            <a:off x="320040" y="4645152"/>
            <a:ext cx="8503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(SP/RJ + gestão + merch. ref.): 25  ·  Rep. 3os: 10  ·  Promotores agência</a:t>
            </a:r>
          </a:p>
        </p:txBody>
      </p:sp>
      <p:sp>
        <p:nvSpPr>
          <p:cNvPr id="186" name="TextBox 93"/>
          <p:cNvSpPr txBox="1"/>
          <p:nvPr/>
        </p:nvSpPr>
        <p:spPr>
          <a:xfrm>
            <a:off x="320040" y="4864608"/>
            <a:ext cx="8503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Estado atual real — fonte: Organograma_Time_Comercial_SNomes.xlsx (abas Org e Avaliação).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02920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TextBox 2"/>
          <p:cNvSpPr txBox="1"/>
          <p:nvPr/>
        </p:nvSpPr>
        <p:spPr>
          <a:xfrm>
            <a:off x="365759" y="126238"/>
            <a:ext cx="64008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Organograma Comercial — Orfeu</a:t>
            </a:r>
          </a:p>
        </p:txBody>
      </p:sp>
      <p:sp>
        <p:nvSpPr>
          <p:cNvPr id="190" name="TextBox 3"/>
          <p:cNvSpPr txBox="1"/>
          <p:nvPr/>
        </p:nvSpPr>
        <p:spPr>
          <a:xfrm>
            <a:off x="6766559" y="170688"/>
            <a:ext cx="20116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0D8C0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Projeção (Simulador)</a:t>
            </a:r>
          </a:p>
        </p:txBody>
      </p:sp>
      <p:sp>
        <p:nvSpPr>
          <p:cNvPr id="191" name="TextBox 4"/>
          <p:cNvSpPr txBox="1"/>
          <p:nvPr/>
        </p:nvSpPr>
        <p:spPr>
          <a:xfrm>
            <a:off x="365759" y="530351"/>
            <a:ext cx="841248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2027</a:t>
            </a:r>
          </a:p>
        </p:txBody>
      </p:sp>
      <p:sp>
        <p:nvSpPr>
          <p:cNvPr id="192" name="Rounded Rectangle 5"/>
          <p:cNvSpPr/>
          <p:nvPr/>
        </p:nvSpPr>
        <p:spPr>
          <a:xfrm>
            <a:off x="3520440" y="777240"/>
            <a:ext cx="2103121" cy="329185"/>
          </a:xfrm>
          <a:prstGeom prst="roundRect">
            <a:avLst>
              <a:gd name="adj" fmla="val 15000"/>
            </a:avLst>
          </a:prstGeom>
          <a:solidFill>
            <a:srgbClr val="1E422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" name="TextBox 6"/>
          <p:cNvSpPr txBox="1"/>
          <p:nvPr/>
        </p:nvSpPr>
        <p:spPr>
          <a:xfrm>
            <a:off x="3520440" y="865632"/>
            <a:ext cx="21031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Augusto — Diretor Comercial</a:t>
            </a:r>
          </a:p>
        </p:txBody>
      </p:sp>
      <p:sp>
        <p:nvSpPr>
          <p:cNvPr id="194" name="Connector 7"/>
          <p:cNvSpPr/>
          <p:nvPr/>
        </p:nvSpPr>
        <p:spPr>
          <a:xfrm>
            <a:off x="4572000" y="1106424"/>
            <a:ext cx="0" cy="91441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" name="Connector 8"/>
          <p:cNvSpPr/>
          <p:nvPr/>
        </p:nvSpPr>
        <p:spPr>
          <a:xfrm>
            <a:off x="905255" y="1197863"/>
            <a:ext cx="7159754" cy="1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" name="Connector 9"/>
          <p:cNvSpPr/>
          <p:nvPr/>
        </p:nvSpPr>
        <p:spPr>
          <a:xfrm>
            <a:off x="905255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" name="Rounded Rectangle 10"/>
          <p:cNvSpPr/>
          <p:nvPr/>
        </p:nvSpPr>
        <p:spPr>
          <a:xfrm>
            <a:off x="320040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" name="TextBox 11"/>
          <p:cNvSpPr txBox="1"/>
          <p:nvPr/>
        </p:nvSpPr>
        <p:spPr>
          <a:xfrm>
            <a:off x="356615" y="1307591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Priscila</a:t>
            </a:r>
          </a:p>
        </p:txBody>
      </p:sp>
      <p:sp>
        <p:nvSpPr>
          <p:cNvPr id="199" name="TextBox 12"/>
          <p:cNvSpPr txBox="1"/>
          <p:nvPr/>
        </p:nvSpPr>
        <p:spPr>
          <a:xfrm>
            <a:off x="356615" y="1527047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Gerente Varejo</a:t>
            </a:r>
          </a:p>
        </p:txBody>
      </p:sp>
      <p:sp>
        <p:nvSpPr>
          <p:cNvPr id="200" name="Connector 13"/>
          <p:cNvSpPr/>
          <p:nvPr/>
        </p:nvSpPr>
        <p:spPr>
          <a:xfrm>
            <a:off x="2098548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" name="Rounded Rectangle 14"/>
          <p:cNvSpPr/>
          <p:nvPr/>
        </p:nvSpPr>
        <p:spPr>
          <a:xfrm>
            <a:off x="1513332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" name="TextBox 15"/>
          <p:cNvSpPr txBox="1"/>
          <p:nvPr/>
        </p:nvSpPr>
        <p:spPr>
          <a:xfrm>
            <a:off x="1549908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Cristiane Pagano</a:t>
            </a:r>
          </a:p>
        </p:txBody>
      </p:sp>
      <p:sp>
        <p:nvSpPr>
          <p:cNvPr id="203" name="TextBox 16"/>
          <p:cNvSpPr txBox="1"/>
          <p:nvPr/>
        </p:nvSpPr>
        <p:spPr>
          <a:xfrm>
            <a:off x="1549908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Gerente B2B</a:t>
            </a:r>
          </a:p>
        </p:txBody>
      </p:sp>
      <p:sp>
        <p:nvSpPr>
          <p:cNvPr id="204" name="Connector 17"/>
          <p:cNvSpPr/>
          <p:nvPr/>
        </p:nvSpPr>
        <p:spPr>
          <a:xfrm>
            <a:off x="3291840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" name="Rounded Rectangle 18"/>
          <p:cNvSpPr/>
          <p:nvPr/>
        </p:nvSpPr>
        <p:spPr>
          <a:xfrm>
            <a:off x="2706623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" name="TextBox 19"/>
          <p:cNvSpPr txBox="1"/>
          <p:nvPr/>
        </p:nvSpPr>
        <p:spPr>
          <a:xfrm>
            <a:off x="2743199" y="1307591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Amanda Lopes</a:t>
            </a:r>
          </a:p>
        </p:txBody>
      </p:sp>
      <p:sp>
        <p:nvSpPr>
          <p:cNvPr id="207" name="TextBox 20"/>
          <p:cNvSpPr txBox="1"/>
          <p:nvPr/>
        </p:nvSpPr>
        <p:spPr>
          <a:xfrm>
            <a:off x="2743199" y="1527047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Inteligência/Amazon</a:t>
            </a:r>
          </a:p>
        </p:txBody>
      </p:sp>
      <p:sp>
        <p:nvSpPr>
          <p:cNvPr id="208" name="Connector 21"/>
          <p:cNvSpPr/>
          <p:nvPr/>
        </p:nvSpPr>
        <p:spPr>
          <a:xfrm>
            <a:off x="4485132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" name="Rounded Rectangle 22"/>
          <p:cNvSpPr/>
          <p:nvPr/>
        </p:nvSpPr>
        <p:spPr>
          <a:xfrm>
            <a:off x="3899915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" name="TextBox 23"/>
          <p:cNvSpPr txBox="1"/>
          <p:nvPr/>
        </p:nvSpPr>
        <p:spPr>
          <a:xfrm>
            <a:off x="3936491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Ana Cláudia</a:t>
            </a:r>
          </a:p>
        </p:txBody>
      </p:sp>
      <p:sp>
        <p:nvSpPr>
          <p:cNvPr id="211" name="TextBox 24"/>
          <p:cNvSpPr txBox="1"/>
          <p:nvPr/>
        </p:nvSpPr>
        <p:spPr>
          <a:xfrm>
            <a:off x="3936491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Consumidor</a:t>
            </a:r>
          </a:p>
        </p:txBody>
      </p:sp>
      <p:sp>
        <p:nvSpPr>
          <p:cNvPr id="212" name="Connector 25"/>
          <p:cNvSpPr/>
          <p:nvPr/>
        </p:nvSpPr>
        <p:spPr>
          <a:xfrm>
            <a:off x="5678423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" name="Rounded Rectangle 26"/>
          <p:cNvSpPr/>
          <p:nvPr/>
        </p:nvSpPr>
        <p:spPr>
          <a:xfrm>
            <a:off x="5093208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" name="TextBox 27"/>
          <p:cNvSpPr txBox="1"/>
          <p:nvPr/>
        </p:nvSpPr>
        <p:spPr>
          <a:xfrm>
            <a:off x="5129784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Renato</a:t>
            </a:r>
          </a:p>
        </p:txBody>
      </p:sp>
      <p:sp>
        <p:nvSpPr>
          <p:cNvPr id="215" name="TextBox 28"/>
          <p:cNvSpPr txBox="1"/>
          <p:nvPr/>
        </p:nvSpPr>
        <p:spPr>
          <a:xfrm>
            <a:off x="5129784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Mercado Livre</a:t>
            </a:r>
          </a:p>
        </p:txBody>
      </p:sp>
      <p:sp>
        <p:nvSpPr>
          <p:cNvPr id="216" name="Connector 29"/>
          <p:cNvSpPr/>
          <p:nvPr/>
        </p:nvSpPr>
        <p:spPr>
          <a:xfrm>
            <a:off x="6871716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" name="Rounded Rectangle 30"/>
          <p:cNvSpPr/>
          <p:nvPr/>
        </p:nvSpPr>
        <p:spPr>
          <a:xfrm>
            <a:off x="6286500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TextBox 31"/>
          <p:cNvSpPr txBox="1"/>
          <p:nvPr/>
        </p:nvSpPr>
        <p:spPr>
          <a:xfrm>
            <a:off x="6323076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Grazielle</a:t>
            </a:r>
          </a:p>
        </p:txBody>
      </p:sp>
      <p:sp>
        <p:nvSpPr>
          <p:cNvPr id="219" name="TextBox 32"/>
          <p:cNvSpPr txBox="1"/>
          <p:nvPr/>
        </p:nvSpPr>
        <p:spPr>
          <a:xfrm>
            <a:off x="6323076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Exportação</a:t>
            </a:r>
          </a:p>
        </p:txBody>
      </p:sp>
      <p:sp>
        <p:nvSpPr>
          <p:cNvPr id="220" name="Connector 33"/>
          <p:cNvSpPr/>
          <p:nvPr/>
        </p:nvSpPr>
        <p:spPr>
          <a:xfrm>
            <a:off x="8065007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" name="Rounded Rectangle 34"/>
          <p:cNvSpPr/>
          <p:nvPr/>
        </p:nvSpPr>
        <p:spPr>
          <a:xfrm>
            <a:off x="7479792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2" name="TextBox 35"/>
          <p:cNvSpPr txBox="1"/>
          <p:nvPr/>
        </p:nvSpPr>
        <p:spPr>
          <a:xfrm>
            <a:off x="7516368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Silvia Laliny</a:t>
            </a:r>
          </a:p>
        </p:txBody>
      </p:sp>
      <p:sp>
        <p:nvSpPr>
          <p:cNvPr id="223" name="TextBox 36"/>
          <p:cNvSpPr txBox="1"/>
          <p:nvPr/>
        </p:nvSpPr>
        <p:spPr>
          <a:xfrm>
            <a:off x="7516368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Trade Marketing</a:t>
            </a:r>
          </a:p>
        </p:txBody>
      </p:sp>
      <p:sp>
        <p:nvSpPr>
          <p:cNvPr id="224" name="Rounded Rectangle 37"/>
          <p:cNvSpPr/>
          <p:nvPr/>
        </p:nvSpPr>
        <p:spPr>
          <a:xfrm>
            <a:off x="320040" y="1965960"/>
            <a:ext cx="3794760" cy="274321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5" name="TextBox 38"/>
          <p:cNvSpPr txBox="1"/>
          <p:nvPr/>
        </p:nvSpPr>
        <p:spPr>
          <a:xfrm>
            <a:off x="320039" y="2026920"/>
            <a:ext cx="37947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VAREJO — Priscila</a:t>
            </a:r>
          </a:p>
        </p:txBody>
      </p:sp>
      <p:sp>
        <p:nvSpPr>
          <p:cNvPr id="226" name="Rounded Rectangle 39"/>
          <p:cNvSpPr/>
          <p:nvPr/>
        </p:nvSpPr>
        <p:spPr>
          <a:xfrm>
            <a:off x="320040" y="2313432"/>
            <a:ext cx="3794760" cy="713233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TextBox 40"/>
          <p:cNvSpPr txBox="1"/>
          <p:nvPr/>
        </p:nvSpPr>
        <p:spPr>
          <a:xfrm>
            <a:off x="429768" y="2368295"/>
            <a:ext cx="2057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Direto (SP/RJ) — payroll Orfeu</a:t>
            </a:r>
          </a:p>
        </p:txBody>
      </p:sp>
      <p:sp>
        <p:nvSpPr>
          <p:cNvPr id="228" name="TextBox 41"/>
          <p:cNvSpPr txBox="1"/>
          <p:nvPr/>
        </p:nvSpPr>
        <p:spPr>
          <a:xfrm>
            <a:off x="429768" y="2551176"/>
            <a:ext cx="2057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Vendedor + Promotor/Abordador próprios</a:t>
            </a:r>
          </a:p>
        </p:txBody>
      </p:sp>
      <p:sp>
        <p:nvSpPr>
          <p:cNvPr id="229" name="Rounded Rectangle 42"/>
          <p:cNvSpPr/>
          <p:nvPr/>
        </p:nvSpPr>
        <p:spPr>
          <a:xfrm>
            <a:off x="2514600" y="2395727"/>
            <a:ext cx="658369" cy="256033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0" name="TextBox 43"/>
          <p:cNvSpPr txBox="1"/>
          <p:nvPr/>
        </p:nvSpPr>
        <p:spPr>
          <a:xfrm>
            <a:off x="2514599" y="2453893"/>
            <a:ext cx="65837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9  (+4)</a:t>
            </a:r>
          </a:p>
        </p:txBody>
      </p:sp>
      <p:sp>
        <p:nvSpPr>
          <p:cNvPr id="231" name="TextBox 44"/>
          <p:cNvSpPr txBox="1"/>
          <p:nvPr/>
        </p:nvSpPr>
        <p:spPr>
          <a:xfrm>
            <a:off x="2514599" y="2679192"/>
            <a:ext cx="6583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vendedor</a:t>
            </a:r>
          </a:p>
        </p:txBody>
      </p:sp>
      <p:sp>
        <p:nvSpPr>
          <p:cNvPr id="232" name="Rounded Rectangle 45"/>
          <p:cNvSpPr/>
          <p:nvPr/>
        </p:nvSpPr>
        <p:spPr>
          <a:xfrm>
            <a:off x="3246120" y="2395727"/>
            <a:ext cx="749809" cy="256033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3" name="TextBox 46"/>
          <p:cNvSpPr txBox="1"/>
          <p:nvPr/>
        </p:nvSpPr>
        <p:spPr>
          <a:xfrm>
            <a:off x="3246120" y="2453893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5  (+3)</a:t>
            </a:r>
          </a:p>
        </p:txBody>
      </p:sp>
      <p:sp>
        <p:nvSpPr>
          <p:cNvPr id="234" name="TextBox 47"/>
          <p:cNvSpPr txBox="1"/>
          <p:nvPr/>
        </p:nvSpPr>
        <p:spPr>
          <a:xfrm>
            <a:off x="3246120" y="2679192"/>
            <a:ext cx="7498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promotor</a:t>
            </a:r>
          </a:p>
        </p:txBody>
      </p:sp>
      <p:sp>
        <p:nvSpPr>
          <p:cNvPr id="235" name="Rounded Rectangle 48"/>
          <p:cNvSpPr/>
          <p:nvPr/>
        </p:nvSpPr>
        <p:spPr>
          <a:xfrm>
            <a:off x="320040" y="3099816"/>
            <a:ext cx="3794760" cy="713233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6" name="TextBox 49"/>
          <p:cNvSpPr txBox="1"/>
          <p:nvPr/>
        </p:nvSpPr>
        <p:spPr>
          <a:xfrm>
            <a:off x="429768" y="3154679"/>
            <a:ext cx="2057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Gestão de Representantes</a:t>
            </a:r>
          </a:p>
        </p:txBody>
      </p:sp>
      <p:sp>
        <p:nvSpPr>
          <p:cNvPr id="237" name="TextBox 50"/>
          <p:cNvSpPr txBox="1"/>
          <p:nvPr/>
        </p:nvSpPr>
        <p:spPr>
          <a:xfrm>
            <a:off x="429768" y="3337559"/>
            <a:ext cx="2057401" cy="204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Dayane +eq. · 1 comercial a cada 12 reps</a:t>
            </a:r>
          </a:p>
          <a:p>
            <a: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↳ gerencia Representante terceiro (comissionado)</a:t>
            </a:r>
          </a:p>
        </p:txBody>
      </p:sp>
      <p:sp>
        <p:nvSpPr>
          <p:cNvPr id="238" name="Rounded Rectangle 51"/>
          <p:cNvSpPr/>
          <p:nvPr/>
        </p:nvSpPr>
        <p:spPr>
          <a:xfrm>
            <a:off x="2514600" y="3182111"/>
            <a:ext cx="566928" cy="256033"/>
          </a:xfrm>
          <a:prstGeom prst="roundRect">
            <a:avLst>
              <a:gd name="adj" fmla="val 50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9" name="TextBox 52"/>
          <p:cNvSpPr txBox="1"/>
          <p:nvPr/>
        </p:nvSpPr>
        <p:spPr>
          <a:xfrm>
            <a:off x="2514600" y="3240277"/>
            <a:ext cx="56692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40" name="TextBox 53"/>
          <p:cNvSpPr txBox="1"/>
          <p:nvPr/>
        </p:nvSpPr>
        <p:spPr>
          <a:xfrm>
            <a:off x="2514600" y="3465576"/>
            <a:ext cx="56692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comercial</a:t>
            </a:r>
          </a:p>
        </p:txBody>
      </p:sp>
      <p:sp>
        <p:nvSpPr>
          <p:cNvPr id="241" name="Rounded Rectangle 54"/>
          <p:cNvSpPr/>
          <p:nvPr/>
        </p:nvSpPr>
        <p:spPr>
          <a:xfrm>
            <a:off x="3246120" y="3182111"/>
            <a:ext cx="749809" cy="256033"/>
          </a:xfrm>
          <a:prstGeom prst="roundRect">
            <a:avLst>
              <a:gd name="adj" fmla="val 50000"/>
            </a:avLst>
          </a:prstGeom>
          <a:solidFill>
            <a:srgbClr val="6E6E7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TextBox 55"/>
          <p:cNvSpPr txBox="1"/>
          <p:nvPr/>
        </p:nvSpPr>
        <p:spPr>
          <a:xfrm>
            <a:off x="3246120" y="3240277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7  (-3)</a:t>
            </a:r>
          </a:p>
        </p:txBody>
      </p:sp>
      <p:sp>
        <p:nvSpPr>
          <p:cNvPr id="243" name="TextBox 56"/>
          <p:cNvSpPr txBox="1"/>
          <p:nvPr/>
        </p:nvSpPr>
        <p:spPr>
          <a:xfrm>
            <a:off x="3246120" y="3465576"/>
            <a:ext cx="7498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representantes</a:t>
            </a:r>
          </a:p>
        </p:txBody>
      </p:sp>
      <p:sp>
        <p:nvSpPr>
          <p:cNvPr id="244" name="Rounded Rectangle 57"/>
          <p:cNvSpPr/>
          <p:nvPr/>
        </p:nvSpPr>
        <p:spPr>
          <a:xfrm>
            <a:off x="320040" y="3886200"/>
            <a:ext cx="3794760" cy="713232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5" name="TextBox 58"/>
          <p:cNvSpPr txBox="1"/>
          <p:nvPr/>
        </p:nvSpPr>
        <p:spPr>
          <a:xfrm>
            <a:off x="429767" y="3941064"/>
            <a:ext cx="2880362" cy="141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Merchandising → Promotores via agência</a:t>
            </a:r>
          </a:p>
        </p:txBody>
      </p:sp>
      <p:sp>
        <p:nvSpPr>
          <p:cNvPr id="246" name="TextBox 59"/>
          <p:cNvSpPr txBox="1"/>
          <p:nvPr/>
        </p:nvSpPr>
        <p:spPr>
          <a:xfrm>
            <a:off x="429767" y="4151376"/>
            <a:ext cx="2880362" cy="204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Elisângela+Eduarda (Coord.+Analista, 2, fixo) → agência externa, demais estados</a:t>
            </a:r>
          </a:p>
        </p:txBody>
      </p:sp>
      <p:sp>
        <p:nvSpPr>
          <p:cNvPr id="247" name="Rounded Rectangle 60"/>
          <p:cNvSpPr/>
          <p:nvPr/>
        </p:nvSpPr>
        <p:spPr>
          <a:xfrm>
            <a:off x="3337559" y="4114800"/>
            <a:ext cx="658369" cy="256032"/>
          </a:xfrm>
          <a:prstGeom prst="roundRect">
            <a:avLst>
              <a:gd name="adj" fmla="val 50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TextBox 61"/>
          <p:cNvSpPr txBox="1"/>
          <p:nvPr/>
        </p:nvSpPr>
        <p:spPr>
          <a:xfrm>
            <a:off x="3337559" y="4172965"/>
            <a:ext cx="6583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49" name="Rounded Rectangle 62"/>
          <p:cNvSpPr/>
          <p:nvPr/>
        </p:nvSpPr>
        <p:spPr>
          <a:xfrm>
            <a:off x="4251959" y="1965960"/>
            <a:ext cx="2331721" cy="274321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TextBox 63"/>
          <p:cNvSpPr txBox="1"/>
          <p:nvPr/>
        </p:nvSpPr>
        <p:spPr>
          <a:xfrm>
            <a:off x="4251959" y="2026920"/>
            <a:ext cx="23317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B2B — Cristiane</a:t>
            </a:r>
          </a:p>
        </p:txBody>
      </p:sp>
      <p:sp>
        <p:nvSpPr>
          <p:cNvPr id="251" name="Rounded Rectangle 64"/>
          <p:cNvSpPr/>
          <p:nvPr/>
        </p:nvSpPr>
        <p:spPr>
          <a:xfrm>
            <a:off x="4251959" y="2313432"/>
            <a:ext cx="2331721" cy="713233"/>
          </a:xfrm>
          <a:prstGeom prst="roundRect">
            <a:avLst>
              <a:gd name="adj" fmla="val 8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TextBox 65"/>
          <p:cNvSpPr txBox="1"/>
          <p:nvPr/>
        </p:nvSpPr>
        <p:spPr>
          <a:xfrm>
            <a:off x="4343399" y="2359151"/>
            <a:ext cx="1554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Comercial (B2B)</a:t>
            </a:r>
          </a:p>
        </p:txBody>
      </p:sp>
      <p:sp>
        <p:nvSpPr>
          <p:cNvPr id="253" name="TextBox 66"/>
          <p:cNvSpPr txBox="1"/>
          <p:nvPr/>
        </p:nvSpPr>
        <p:spPr>
          <a:xfrm>
            <a:off x="4343399" y="2569464"/>
            <a:ext cx="1554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Time comercial B2B</a:t>
            </a:r>
          </a:p>
        </p:txBody>
      </p:sp>
      <p:sp>
        <p:nvSpPr>
          <p:cNvPr id="254" name="Rounded Rectangle 67"/>
          <p:cNvSpPr/>
          <p:nvPr/>
        </p:nvSpPr>
        <p:spPr>
          <a:xfrm>
            <a:off x="5961888" y="2542032"/>
            <a:ext cx="530353" cy="256033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5" name="TextBox 68"/>
          <p:cNvSpPr txBox="1"/>
          <p:nvPr/>
        </p:nvSpPr>
        <p:spPr>
          <a:xfrm>
            <a:off x="5961888" y="2600198"/>
            <a:ext cx="53035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10  (+3)</a:t>
            </a:r>
          </a:p>
        </p:txBody>
      </p:sp>
      <p:sp>
        <p:nvSpPr>
          <p:cNvPr id="256" name="Rounded Rectangle 69"/>
          <p:cNvSpPr/>
          <p:nvPr/>
        </p:nvSpPr>
        <p:spPr>
          <a:xfrm>
            <a:off x="4251959" y="3099816"/>
            <a:ext cx="2331721" cy="713233"/>
          </a:xfrm>
          <a:prstGeom prst="roundRect">
            <a:avLst>
              <a:gd name="adj" fmla="val 8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TextBox 70"/>
          <p:cNvSpPr txBox="1"/>
          <p:nvPr/>
        </p:nvSpPr>
        <p:spPr>
          <a:xfrm>
            <a:off x="4343399" y="3145535"/>
            <a:ext cx="1554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Baristas (B2B)</a:t>
            </a:r>
          </a:p>
        </p:txBody>
      </p:sp>
      <p:sp>
        <p:nvSpPr>
          <p:cNvPr id="258" name="TextBox 71"/>
          <p:cNvSpPr txBox="1"/>
          <p:nvPr/>
        </p:nvSpPr>
        <p:spPr>
          <a:xfrm>
            <a:off x="4343399" y="3355847"/>
            <a:ext cx="1554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Suporte técnico HoReCa</a:t>
            </a:r>
          </a:p>
        </p:txBody>
      </p:sp>
      <p:sp>
        <p:nvSpPr>
          <p:cNvPr id="259" name="Rounded Rectangle 72"/>
          <p:cNvSpPr/>
          <p:nvPr/>
        </p:nvSpPr>
        <p:spPr>
          <a:xfrm>
            <a:off x="5961888" y="3328415"/>
            <a:ext cx="530353" cy="256033"/>
          </a:xfrm>
          <a:prstGeom prst="roundRect">
            <a:avLst>
              <a:gd name="adj" fmla="val 50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TextBox 73"/>
          <p:cNvSpPr txBox="1"/>
          <p:nvPr/>
        </p:nvSpPr>
        <p:spPr>
          <a:xfrm>
            <a:off x="5961888" y="3386581"/>
            <a:ext cx="53035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61" name="Rounded Rectangle 74"/>
          <p:cNvSpPr/>
          <p:nvPr/>
        </p:nvSpPr>
        <p:spPr>
          <a:xfrm>
            <a:off x="4251959" y="3886200"/>
            <a:ext cx="2331721" cy="384048"/>
          </a:xfrm>
          <a:prstGeom prst="roundRect">
            <a:avLst>
              <a:gd name="adj" fmla="val 8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TextBox 75"/>
          <p:cNvSpPr txBox="1"/>
          <p:nvPr/>
        </p:nvSpPr>
        <p:spPr>
          <a:xfrm>
            <a:off x="4343400" y="3922776"/>
            <a:ext cx="2148840" cy="20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BackOffice — Mariana (1)  ·  Distribuidores B2B — Emilly (1)</a:t>
            </a:r>
          </a:p>
        </p:txBody>
      </p:sp>
      <p:sp>
        <p:nvSpPr>
          <p:cNvPr id="263" name="Rounded Rectangle 76"/>
          <p:cNvSpPr/>
          <p:nvPr/>
        </p:nvSpPr>
        <p:spPr>
          <a:xfrm>
            <a:off x="6720840" y="1965960"/>
            <a:ext cx="2103121" cy="274321"/>
          </a:xfrm>
          <a:prstGeom prst="roundRect">
            <a:avLst>
              <a:gd name="adj" fmla="val 15000"/>
            </a:avLst>
          </a:prstGeom>
          <a:solidFill>
            <a:srgbClr val="1E422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TextBox 77"/>
          <p:cNvSpPr txBox="1"/>
          <p:nvPr/>
        </p:nvSpPr>
        <p:spPr>
          <a:xfrm>
            <a:off x="6720840" y="2033270"/>
            <a:ext cx="21031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OUTRAS FRENTES</a:t>
            </a:r>
          </a:p>
        </p:txBody>
      </p:sp>
      <p:sp>
        <p:nvSpPr>
          <p:cNvPr id="265" name="Rounded Rectangle 78"/>
          <p:cNvSpPr/>
          <p:nvPr/>
        </p:nvSpPr>
        <p:spPr>
          <a:xfrm>
            <a:off x="6720840" y="2313432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" name="TextBox 79"/>
          <p:cNvSpPr txBox="1"/>
          <p:nvPr/>
        </p:nvSpPr>
        <p:spPr>
          <a:xfrm>
            <a:off x="6793992" y="2350007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Amanda Lopes</a:t>
            </a:r>
          </a:p>
        </p:txBody>
      </p:sp>
      <p:sp>
        <p:nvSpPr>
          <p:cNvPr id="267" name="TextBox 80"/>
          <p:cNvSpPr txBox="1"/>
          <p:nvPr/>
        </p:nvSpPr>
        <p:spPr>
          <a:xfrm>
            <a:off x="6793992" y="2542032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Inteligência (3) + Amazon (1)</a:t>
            </a:r>
          </a:p>
        </p:txBody>
      </p:sp>
      <p:sp>
        <p:nvSpPr>
          <p:cNvPr id="268" name="Rounded Rectangle 81"/>
          <p:cNvSpPr/>
          <p:nvPr/>
        </p:nvSpPr>
        <p:spPr>
          <a:xfrm>
            <a:off x="6720840" y="2880360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TextBox 82"/>
          <p:cNvSpPr txBox="1"/>
          <p:nvPr/>
        </p:nvSpPr>
        <p:spPr>
          <a:xfrm>
            <a:off x="6793992" y="2916935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Ana Cláudia</a:t>
            </a:r>
          </a:p>
        </p:txBody>
      </p:sp>
      <p:sp>
        <p:nvSpPr>
          <p:cNvPr id="270" name="TextBox 83"/>
          <p:cNvSpPr txBox="1"/>
          <p:nvPr/>
        </p:nvSpPr>
        <p:spPr>
          <a:xfrm>
            <a:off x="6793992" y="3108960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Consumidor</a:t>
            </a:r>
          </a:p>
        </p:txBody>
      </p:sp>
      <p:sp>
        <p:nvSpPr>
          <p:cNvPr id="271" name="Rounded Rectangle 84"/>
          <p:cNvSpPr/>
          <p:nvPr/>
        </p:nvSpPr>
        <p:spPr>
          <a:xfrm>
            <a:off x="6720840" y="3447288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TextBox 85"/>
          <p:cNvSpPr txBox="1"/>
          <p:nvPr/>
        </p:nvSpPr>
        <p:spPr>
          <a:xfrm>
            <a:off x="6793992" y="3483864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Renato</a:t>
            </a:r>
          </a:p>
        </p:txBody>
      </p:sp>
      <p:sp>
        <p:nvSpPr>
          <p:cNvPr id="273" name="TextBox 86"/>
          <p:cNvSpPr txBox="1"/>
          <p:nvPr/>
        </p:nvSpPr>
        <p:spPr>
          <a:xfrm>
            <a:off x="6793992" y="3675888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Mercado Livre — Gustavo Santos</a:t>
            </a:r>
          </a:p>
        </p:txBody>
      </p:sp>
      <p:sp>
        <p:nvSpPr>
          <p:cNvPr id="274" name="Rounded Rectangle 87"/>
          <p:cNvSpPr/>
          <p:nvPr/>
        </p:nvSpPr>
        <p:spPr>
          <a:xfrm>
            <a:off x="6720840" y="4014215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TextBox 88"/>
          <p:cNvSpPr txBox="1"/>
          <p:nvPr/>
        </p:nvSpPr>
        <p:spPr>
          <a:xfrm>
            <a:off x="6793992" y="4050791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Grazielle</a:t>
            </a:r>
          </a:p>
        </p:txBody>
      </p:sp>
      <p:sp>
        <p:nvSpPr>
          <p:cNvPr id="276" name="TextBox 89"/>
          <p:cNvSpPr txBox="1"/>
          <p:nvPr/>
        </p:nvSpPr>
        <p:spPr>
          <a:xfrm>
            <a:off x="6793992" y="4242815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Exportação — Amanda Sousa</a:t>
            </a:r>
          </a:p>
        </p:txBody>
      </p:sp>
      <p:sp>
        <p:nvSpPr>
          <p:cNvPr id="277" name="Rounded Rectangle 90"/>
          <p:cNvSpPr/>
          <p:nvPr/>
        </p:nvSpPr>
        <p:spPr>
          <a:xfrm>
            <a:off x="6720840" y="4581144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TextBox 91"/>
          <p:cNvSpPr txBox="1"/>
          <p:nvPr/>
        </p:nvSpPr>
        <p:spPr>
          <a:xfrm>
            <a:off x="6793992" y="4617720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Silvia Laliny</a:t>
            </a:r>
          </a:p>
        </p:txBody>
      </p:sp>
      <p:sp>
        <p:nvSpPr>
          <p:cNvPr id="279" name="TextBox 92"/>
          <p:cNvSpPr txBox="1"/>
          <p:nvPr/>
        </p:nvSpPr>
        <p:spPr>
          <a:xfrm>
            <a:off x="6793992" y="4809744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Trade Marketing — Júlia + Yasmim</a:t>
            </a:r>
          </a:p>
        </p:txBody>
      </p:sp>
      <p:sp>
        <p:nvSpPr>
          <p:cNvPr id="280" name="TextBox 94"/>
          <p:cNvSpPr txBox="1"/>
          <p:nvPr/>
        </p:nvSpPr>
        <p:spPr>
          <a:xfrm>
            <a:off x="320040" y="4864608"/>
            <a:ext cx="8503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Projeção: base real 2026 + curva recalibrada do Simulador (sinergia geográfica fora de SP/RJ, ago/2026). Badge cinza = cobertura real já adianta a curva do modelo, não é corte.</a:t>
            </a:r>
          </a:p>
        </p:txBody>
      </p:sp>
      <p:sp>
        <p:nvSpPr>
          <p:cNvPr id="281" name="TextBox 92"/>
          <p:cNvSpPr txBox="1"/>
          <p:nvPr/>
        </p:nvSpPr>
        <p:spPr>
          <a:xfrm>
            <a:off x="320040" y="4645152"/>
            <a:ext cx="8503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(SP/RJ + gestão + merch. ref.): 35  ·  Rep. 3os: 7  ·  Promotores agência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02920"/>
          </a:xfrm>
          <a:prstGeom prst="rect">
            <a:avLst/>
          </a:prstGeom>
          <a:ln w="12700">
            <a:miter lim="400000"/>
          </a:ln>
        </p:spPr>
      </p:pic>
      <p:sp>
        <p:nvSpPr>
          <p:cNvPr id="284" name="TextBox 2"/>
          <p:cNvSpPr txBox="1"/>
          <p:nvPr/>
        </p:nvSpPr>
        <p:spPr>
          <a:xfrm>
            <a:off x="365759" y="126238"/>
            <a:ext cx="64008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Organograma Comercial — Orfeu</a:t>
            </a:r>
          </a:p>
        </p:txBody>
      </p:sp>
      <p:sp>
        <p:nvSpPr>
          <p:cNvPr id="285" name="TextBox 3"/>
          <p:cNvSpPr txBox="1"/>
          <p:nvPr/>
        </p:nvSpPr>
        <p:spPr>
          <a:xfrm>
            <a:off x="6766559" y="170688"/>
            <a:ext cx="20116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0D8C0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Projeção (Simulador)</a:t>
            </a:r>
          </a:p>
        </p:txBody>
      </p:sp>
      <p:sp>
        <p:nvSpPr>
          <p:cNvPr id="286" name="TextBox 4"/>
          <p:cNvSpPr txBox="1"/>
          <p:nvPr/>
        </p:nvSpPr>
        <p:spPr>
          <a:xfrm>
            <a:off x="365759" y="530351"/>
            <a:ext cx="841248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2028</a:t>
            </a:r>
          </a:p>
        </p:txBody>
      </p:sp>
      <p:sp>
        <p:nvSpPr>
          <p:cNvPr id="287" name="Rounded Rectangle 5"/>
          <p:cNvSpPr/>
          <p:nvPr/>
        </p:nvSpPr>
        <p:spPr>
          <a:xfrm>
            <a:off x="3520440" y="777240"/>
            <a:ext cx="2103121" cy="329185"/>
          </a:xfrm>
          <a:prstGeom prst="roundRect">
            <a:avLst>
              <a:gd name="adj" fmla="val 15000"/>
            </a:avLst>
          </a:prstGeom>
          <a:solidFill>
            <a:srgbClr val="1E422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TextBox 6"/>
          <p:cNvSpPr txBox="1"/>
          <p:nvPr/>
        </p:nvSpPr>
        <p:spPr>
          <a:xfrm>
            <a:off x="3520440" y="865632"/>
            <a:ext cx="21031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Augusto — Diretor Comercial</a:t>
            </a:r>
          </a:p>
        </p:txBody>
      </p:sp>
      <p:sp>
        <p:nvSpPr>
          <p:cNvPr id="289" name="Connector 7"/>
          <p:cNvSpPr/>
          <p:nvPr/>
        </p:nvSpPr>
        <p:spPr>
          <a:xfrm>
            <a:off x="4572000" y="1106424"/>
            <a:ext cx="0" cy="91441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" name="Connector 8"/>
          <p:cNvSpPr/>
          <p:nvPr/>
        </p:nvSpPr>
        <p:spPr>
          <a:xfrm>
            <a:off x="905255" y="1197863"/>
            <a:ext cx="7159754" cy="1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" name="Connector 9"/>
          <p:cNvSpPr/>
          <p:nvPr/>
        </p:nvSpPr>
        <p:spPr>
          <a:xfrm>
            <a:off x="905255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" name="Rounded Rectangle 10"/>
          <p:cNvSpPr/>
          <p:nvPr/>
        </p:nvSpPr>
        <p:spPr>
          <a:xfrm>
            <a:off x="320040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TextBox 11"/>
          <p:cNvSpPr txBox="1"/>
          <p:nvPr/>
        </p:nvSpPr>
        <p:spPr>
          <a:xfrm>
            <a:off x="356615" y="1307591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Priscila</a:t>
            </a:r>
          </a:p>
        </p:txBody>
      </p:sp>
      <p:sp>
        <p:nvSpPr>
          <p:cNvPr id="294" name="TextBox 12"/>
          <p:cNvSpPr txBox="1"/>
          <p:nvPr/>
        </p:nvSpPr>
        <p:spPr>
          <a:xfrm>
            <a:off x="356615" y="1527047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Gerente Varejo</a:t>
            </a:r>
          </a:p>
        </p:txBody>
      </p:sp>
      <p:sp>
        <p:nvSpPr>
          <p:cNvPr id="295" name="Connector 13"/>
          <p:cNvSpPr/>
          <p:nvPr/>
        </p:nvSpPr>
        <p:spPr>
          <a:xfrm>
            <a:off x="2098548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" name="Rounded Rectangle 14"/>
          <p:cNvSpPr/>
          <p:nvPr/>
        </p:nvSpPr>
        <p:spPr>
          <a:xfrm>
            <a:off x="1513332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TextBox 15"/>
          <p:cNvSpPr txBox="1"/>
          <p:nvPr/>
        </p:nvSpPr>
        <p:spPr>
          <a:xfrm>
            <a:off x="1549908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Cristiane Pagano</a:t>
            </a:r>
          </a:p>
        </p:txBody>
      </p:sp>
      <p:sp>
        <p:nvSpPr>
          <p:cNvPr id="298" name="TextBox 16"/>
          <p:cNvSpPr txBox="1"/>
          <p:nvPr/>
        </p:nvSpPr>
        <p:spPr>
          <a:xfrm>
            <a:off x="1549908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Gerente B2B</a:t>
            </a:r>
          </a:p>
        </p:txBody>
      </p:sp>
      <p:sp>
        <p:nvSpPr>
          <p:cNvPr id="299" name="Connector 17"/>
          <p:cNvSpPr/>
          <p:nvPr/>
        </p:nvSpPr>
        <p:spPr>
          <a:xfrm>
            <a:off x="3291840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0" name="Rounded Rectangle 18"/>
          <p:cNvSpPr/>
          <p:nvPr/>
        </p:nvSpPr>
        <p:spPr>
          <a:xfrm>
            <a:off x="2706623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TextBox 19"/>
          <p:cNvSpPr txBox="1"/>
          <p:nvPr/>
        </p:nvSpPr>
        <p:spPr>
          <a:xfrm>
            <a:off x="2743199" y="1307591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Amanda Lopes</a:t>
            </a:r>
          </a:p>
        </p:txBody>
      </p:sp>
      <p:sp>
        <p:nvSpPr>
          <p:cNvPr id="302" name="TextBox 20"/>
          <p:cNvSpPr txBox="1"/>
          <p:nvPr/>
        </p:nvSpPr>
        <p:spPr>
          <a:xfrm>
            <a:off x="2743199" y="1527047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Inteligência/Amazon</a:t>
            </a:r>
          </a:p>
        </p:txBody>
      </p:sp>
      <p:sp>
        <p:nvSpPr>
          <p:cNvPr id="303" name="Connector 21"/>
          <p:cNvSpPr/>
          <p:nvPr/>
        </p:nvSpPr>
        <p:spPr>
          <a:xfrm>
            <a:off x="4485132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4" name="Rounded Rectangle 22"/>
          <p:cNvSpPr/>
          <p:nvPr/>
        </p:nvSpPr>
        <p:spPr>
          <a:xfrm>
            <a:off x="3899915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TextBox 23"/>
          <p:cNvSpPr txBox="1"/>
          <p:nvPr/>
        </p:nvSpPr>
        <p:spPr>
          <a:xfrm>
            <a:off x="3936491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Ana Cláudia</a:t>
            </a:r>
          </a:p>
        </p:txBody>
      </p:sp>
      <p:sp>
        <p:nvSpPr>
          <p:cNvPr id="306" name="TextBox 24"/>
          <p:cNvSpPr txBox="1"/>
          <p:nvPr/>
        </p:nvSpPr>
        <p:spPr>
          <a:xfrm>
            <a:off x="3936491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Consumidor</a:t>
            </a:r>
          </a:p>
        </p:txBody>
      </p:sp>
      <p:sp>
        <p:nvSpPr>
          <p:cNvPr id="307" name="Connector 25"/>
          <p:cNvSpPr/>
          <p:nvPr/>
        </p:nvSpPr>
        <p:spPr>
          <a:xfrm>
            <a:off x="5678423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" name="Rounded Rectangle 26"/>
          <p:cNvSpPr/>
          <p:nvPr/>
        </p:nvSpPr>
        <p:spPr>
          <a:xfrm>
            <a:off x="5093208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TextBox 27"/>
          <p:cNvSpPr txBox="1"/>
          <p:nvPr/>
        </p:nvSpPr>
        <p:spPr>
          <a:xfrm>
            <a:off x="5129784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Renato</a:t>
            </a:r>
          </a:p>
        </p:txBody>
      </p:sp>
      <p:sp>
        <p:nvSpPr>
          <p:cNvPr id="310" name="TextBox 28"/>
          <p:cNvSpPr txBox="1"/>
          <p:nvPr/>
        </p:nvSpPr>
        <p:spPr>
          <a:xfrm>
            <a:off x="5129784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Mercado Livre</a:t>
            </a:r>
          </a:p>
        </p:txBody>
      </p:sp>
      <p:sp>
        <p:nvSpPr>
          <p:cNvPr id="311" name="Connector 29"/>
          <p:cNvSpPr/>
          <p:nvPr/>
        </p:nvSpPr>
        <p:spPr>
          <a:xfrm>
            <a:off x="6871716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" name="Rounded Rectangle 30"/>
          <p:cNvSpPr/>
          <p:nvPr/>
        </p:nvSpPr>
        <p:spPr>
          <a:xfrm>
            <a:off x="6286500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TextBox 31"/>
          <p:cNvSpPr txBox="1"/>
          <p:nvPr/>
        </p:nvSpPr>
        <p:spPr>
          <a:xfrm>
            <a:off x="6323076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Grazielle</a:t>
            </a:r>
          </a:p>
        </p:txBody>
      </p:sp>
      <p:sp>
        <p:nvSpPr>
          <p:cNvPr id="314" name="TextBox 32"/>
          <p:cNvSpPr txBox="1"/>
          <p:nvPr/>
        </p:nvSpPr>
        <p:spPr>
          <a:xfrm>
            <a:off x="6323076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Exportação</a:t>
            </a:r>
          </a:p>
        </p:txBody>
      </p:sp>
      <p:sp>
        <p:nvSpPr>
          <p:cNvPr id="315" name="Connector 33"/>
          <p:cNvSpPr/>
          <p:nvPr/>
        </p:nvSpPr>
        <p:spPr>
          <a:xfrm>
            <a:off x="8065007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6" name="Rounded Rectangle 34"/>
          <p:cNvSpPr/>
          <p:nvPr/>
        </p:nvSpPr>
        <p:spPr>
          <a:xfrm>
            <a:off x="7479792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TextBox 35"/>
          <p:cNvSpPr txBox="1"/>
          <p:nvPr/>
        </p:nvSpPr>
        <p:spPr>
          <a:xfrm>
            <a:off x="7516368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Silvia Laliny</a:t>
            </a:r>
          </a:p>
        </p:txBody>
      </p:sp>
      <p:sp>
        <p:nvSpPr>
          <p:cNvPr id="318" name="TextBox 36"/>
          <p:cNvSpPr txBox="1"/>
          <p:nvPr/>
        </p:nvSpPr>
        <p:spPr>
          <a:xfrm>
            <a:off x="7516368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Trade Marketing</a:t>
            </a:r>
          </a:p>
        </p:txBody>
      </p:sp>
      <p:sp>
        <p:nvSpPr>
          <p:cNvPr id="319" name="Rounded Rectangle 37"/>
          <p:cNvSpPr/>
          <p:nvPr/>
        </p:nvSpPr>
        <p:spPr>
          <a:xfrm>
            <a:off x="320040" y="1965960"/>
            <a:ext cx="3794760" cy="274321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TextBox 38"/>
          <p:cNvSpPr txBox="1"/>
          <p:nvPr/>
        </p:nvSpPr>
        <p:spPr>
          <a:xfrm>
            <a:off x="320039" y="2026920"/>
            <a:ext cx="37947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VAREJO — Priscila</a:t>
            </a:r>
          </a:p>
        </p:txBody>
      </p:sp>
      <p:sp>
        <p:nvSpPr>
          <p:cNvPr id="321" name="Rounded Rectangle 39"/>
          <p:cNvSpPr/>
          <p:nvPr/>
        </p:nvSpPr>
        <p:spPr>
          <a:xfrm>
            <a:off x="320040" y="2313432"/>
            <a:ext cx="3794760" cy="713233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2" name="TextBox 40"/>
          <p:cNvSpPr txBox="1"/>
          <p:nvPr/>
        </p:nvSpPr>
        <p:spPr>
          <a:xfrm>
            <a:off x="429768" y="2368295"/>
            <a:ext cx="2057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Direto (SP/RJ) — payroll Orfeu</a:t>
            </a:r>
          </a:p>
        </p:txBody>
      </p:sp>
      <p:sp>
        <p:nvSpPr>
          <p:cNvPr id="323" name="TextBox 41"/>
          <p:cNvSpPr txBox="1"/>
          <p:nvPr/>
        </p:nvSpPr>
        <p:spPr>
          <a:xfrm>
            <a:off x="429768" y="2551176"/>
            <a:ext cx="2057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Vendedor + Promotor/Abordador próprios</a:t>
            </a:r>
          </a:p>
        </p:txBody>
      </p:sp>
      <p:sp>
        <p:nvSpPr>
          <p:cNvPr id="324" name="Rounded Rectangle 42"/>
          <p:cNvSpPr/>
          <p:nvPr/>
        </p:nvSpPr>
        <p:spPr>
          <a:xfrm>
            <a:off x="2514600" y="2395727"/>
            <a:ext cx="658369" cy="256033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" name="TextBox 43"/>
          <p:cNvSpPr txBox="1"/>
          <p:nvPr/>
        </p:nvSpPr>
        <p:spPr>
          <a:xfrm>
            <a:off x="2514599" y="2453893"/>
            <a:ext cx="65837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12  (+3)</a:t>
            </a:r>
          </a:p>
        </p:txBody>
      </p:sp>
      <p:sp>
        <p:nvSpPr>
          <p:cNvPr id="326" name="TextBox 44"/>
          <p:cNvSpPr txBox="1"/>
          <p:nvPr/>
        </p:nvSpPr>
        <p:spPr>
          <a:xfrm>
            <a:off x="2514599" y="2679192"/>
            <a:ext cx="6583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vendedor</a:t>
            </a:r>
          </a:p>
        </p:txBody>
      </p:sp>
      <p:sp>
        <p:nvSpPr>
          <p:cNvPr id="327" name="Rounded Rectangle 45"/>
          <p:cNvSpPr/>
          <p:nvPr/>
        </p:nvSpPr>
        <p:spPr>
          <a:xfrm>
            <a:off x="3246120" y="2395727"/>
            <a:ext cx="749809" cy="256033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8" name="TextBox 46"/>
          <p:cNvSpPr txBox="1"/>
          <p:nvPr/>
        </p:nvSpPr>
        <p:spPr>
          <a:xfrm>
            <a:off x="3246120" y="2453893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7  (+2)</a:t>
            </a:r>
          </a:p>
        </p:txBody>
      </p:sp>
      <p:sp>
        <p:nvSpPr>
          <p:cNvPr id="329" name="TextBox 47"/>
          <p:cNvSpPr txBox="1"/>
          <p:nvPr/>
        </p:nvSpPr>
        <p:spPr>
          <a:xfrm>
            <a:off x="3246120" y="2679192"/>
            <a:ext cx="7498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promotor</a:t>
            </a:r>
          </a:p>
        </p:txBody>
      </p:sp>
      <p:sp>
        <p:nvSpPr>
          <p:cNvPr id="330" name="Rounded Rectangle 48"/>
          <p:cNvSpPr/>
          <p:nvPr/>
        </p:nvSpPr>
        <p:spPr>
          <a:xfrm>
            <a:off x="320040" y="3099816"/>
            <a:ext cx="3794760" cy="713233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TextBox 49"/>
          <p:cNvSpPr txBox="1"/>
          <p:nvPr/>
        </p:nvSpPr>
        <p:spPr>
          <a:xfrm>
            <a:off x="429768" y="3154679"/>
            <a:ext cx="2057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Gestão de Representantes</a:t>
            </a:r>
          </a:p>
        </p:txBody>
      </p:sp>
      <p:sp>
        <p:nvSpPr>
          <p:cNvPr id="332" name="TextBox 50"/>
          <p:cNvSpPr txBox="1"/>
          <p:nvPr/>
        </p:nvSpPr>
        <p:spPr>
          <a:xfrm>
            <a:off x="429768" y="3337559"/>
            <a:ext cx="2057401" cy="204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Dayane +eq. · 1 comercial a cada 12 reps</a:t>
            </a:r>
          </a:p>
          <a:p>
            <a: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↳ gerencia Representante terceiro (comissionado)</a:t>
            </a:r>
          </a:p>
        </p:txBody>
      </p:sp>
      <p:sp>
        <p:nvSpPr>
          <p:cNvPr id="333" name="Rounded Rectangle 51"/>
          <p:cNvSpPr/>
          <p:nvPr/>
        </p:nvSpPr>
        <p:spPr>
          <a:xfrm>
            <a:off x="2514600" y="3182111"/>
            <a:ext cx="566928" cy="256033"/>
          </a:xfrm>
          <a:prstGeom prst="roundRect">
            <a:avLst>
              <a:gd name="adj" fmla="val 50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" name="TextBox 52"/>
          <p:cNvSpPr txBox="1"/>
          <p:nvPr/>
        </p:nvSpPr>
        <p:spPr>
          <a:xfrm>
            <a:off x="2514600" y="3240277"/>
            <a:ext cx="56692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35" name="TextBox 53"/>
          <p:cNvSpPr txBox="1"/>
          <p:nvPr/>
        </p:nvSpPr>
        <p:spPr>
          <a:xfrm>
            <a:off x="2514600" y="3465576"/>
            <a:ext cx="56692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comercial</a:t>
            </a:r>
          </a:p>
        </p:txBody>
      </p:sp>
      <p:sp>
        <p:nvSpPr>
          <p:cNvPr id="336" name="Rounded Rectangle 54"/>
          <p:cNvSpPr/>
          <p:nvPr/>
        </p:nvSpPr>
        <p:spPr>
          <a:xfrm>
            <a:off x="3246120" y="3182111"/>
            <a:ext cx="749809" cy="256033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7" name="TextBox 55"/>
          <p:cNvSpPr txBox="1"/>
          <p:nvPr/>
        </p:nvSpPr>
        <p:spPr>
          <a:xfrm>
            <a:off x="3246120" y="3240277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8  (+1)</a:t>
            </a:r>
          </a:p>
        </p:txBody>
      </p:sp>
      <p:sp>
        <p:nvSpPr>
          <p:cNvPr id="338" name="TextBox 56"/>
          <p:cNvSpPr txBox="1"/>
          <p:nvPr/>
        </p:nvSpPr>
        <p:spPr>
          <a:xfrm>
            <a:off x="3246120" y="3465576"/>
            <a:ext cx="7498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representantes</a:t>
            </a:r>
          </a:p>
        </p:txBody>
      </p:sp>
      <p:sp>
        <p:nvSpPr>
          <p:cNvPr id="339" name="Rounded Rectangle 57"/>
          <p:cNvSpPr/>
          <p:nvPr/>
        </p:nvSpPr>
        <p:spPr>
          <a:xfrm>
            <a:off x="320040" y="3886200"/>
            <a:ext cx="3794760" cy="713232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" name="TextBox 58"/>
          <p:cNvSpPr txBox="1"/>
          <p:nvPr/>
        </p:nvSpPr>
        <p:spPr>
          <a:xfrm>
            <a:off x="429767" y="3941064"/>
            <a:ext cx="2880362" cy="141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Merchandising → Promotores via agência</a:t>
            </a:r>
          </a:p>
        </p:txBody>
      </p:sp>
      <p:sp>
        <p:nvSpPr>
          <p:cNvPr id="341" name="TextBox 59"/>
          <p:cNvSpPr txBox="1"/>
          <p:nvPr/>
        </p:nvSpPr>
        <p:spPr>
          <a:xfrm>
            <a:off x="429767" y="4151376"/>
            <a:ext cx="2880362" cy="204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Elisângela+Eduarda (Coord.+Analista, 2, fixo) → agência externa, demais estados</a:t>
            </a:r>
          </a:p>
        </p:txBody>
      </p:sp>
      <p:sp>
        <p:nvSpPr>
          <p:cNvPr id="342" name="Rounded Rectangle 60"/>
          <p:cNvSpPr/>
          <p:nvPr/>
        </p:nvSpPr>
        <p:spPr>
          <a:xfrm>
            <a:off x="3337559" y="4114800"/>
            <a:ext cx="658369" cy="256032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" name="TextBox 61"/>
          <p:cNvSpPr txBox="1"/>
          <p:nvPr/>
        </p:nvSpPr>
        <p:spPr>
          <a:xfrm>
            <a:off x="3337559" y="4172965"/>
            <a:ext cx="6583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2  (+1)</a:t>
            </a:r>
          </a:p>
        </p:txBody>
      </p:sp>
      <p:sp>
        <p:nvSpPr>
          <p:cNvPr id="344" name="Rounded Rectangle 62"/>
          <p:cNvSpPr/>
          <p:nvPr/>
        </p:nvSpPr>
        <p:spPr>
          <a:xfrm>
            <a:off x="4251959" y="1965960"/>
            <a:ext cx="2331721" cy="274321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5" name="TextBox 63"/>
          <p:cNvSpPr txBox="1"/>
          <p:nvPr/>
        </p:nvSpPr>
        <p:spPr>
          <a:xfrm>
            <a:off x="4251959" y="2026920"/>
            <a:ext cx="23317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B2B — Cristiane</a:t>
            </a:r>
          </a:p>
        </p:txBody>
      </p:sp>
      <p:sp>
        <p:nvSpPr>
          <p:cNvPr id="346" name="Rounded Rectangle 64"/>
          <p:cNvSpPr/>
          <p:nvPr/>
        </p:nvSpPr>
        <p:spPr>
          <a:xfrm>
            <a:off x="4251959" y="2313432"/>
            <a:ext cx="2331721" cy="713233"/>
          </a:xfrm>
          <a:prstGeom prst="roundRect">
            <a:avLst>
              <a:gd name="adj" fmla="val 8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TextBox 65"/>
          <p:cNvSpPr txBox="1"/>
          <p:nvPr/>
        </p:nvSpPr>
        <p:spPr>
          <a:xfrm>
            <a:off x="4343399" y="2359151"/>
            <a:ext cx="1554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Comercial (B2B)</a:t>
            </a:r>
          </a:p>
        </p:txBody>
      </p:sp>
      <p:sp>
        <p:nvSpPr>
          <p:cNvPr id="348" name="TextBox 66"/>
          <p:cNvSpPr txBox="1"/>
          <p:nvPr/>
        </p:nvSpPr>
        <p:spPr>
          <a:xfrm>
            <a:off x="4343399" y="2569464"/>
            <a:ext cx="1554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Time comercial B2B</a:t>
            </a:r>
          </a:p>
        </p:txBody>
      </p:sp>
      <p:sp>
        <p:nvSpPr>
          <p:cNvPr id="349" name="Rounded Rectangle 67"/>
          <p:cNvSpPr/>
          <p:nvPr/>
        </p:nvSpPr>
        <p:spPr>
          <a:xfrm>
            <a:off x="5961888" y="2542032"/>
            <a:ext cx="530353" cy="256033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" name="TextBox 68"/>
          <p:cNvSpPr txBox="1"/>
          <p:nvPr/>
        </p:nvSpPr>
        <p:spPr>
          <a:xfrm>
            <a:off x="5961888" y="2600198"/>
            <a:ext cx="53035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13  (+3)</a:t>
            </a:r>
          </a:p>
        </p:txBody>
      </p:sp>
      <p:sp>
        <p:nvSpPr>
          <p:cNvPr id="351" name="Rounded Rectangle 69"/>
          <p:cNvSpPr/>
          <p:nvPr/>
        </p:nvSpPr>
        <p:spPr>
          <a:xfrm>
            <a:off x="4251959" y="3099816"/>
            <a:ext cx="2331721" cy="713233"/>
          </a:xfrm>
          <a:prstGeom prst="roundRect">
            <a:avLst>
              <a:gd name="adj" fmla="val 8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2" name="TextBox 70"/>
          <p:cNvSpPr txBox="1"/>
          <p:nvPr/>
        </p:nvSpPr>
        <p:spPr>
          <a:xfrm>
            <a:off x="4343399" y="3145535"/>
            <a:ext cx="1554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Baristas (B2B)</a:t>
            </a:r>
          </a:p>
        </p:txBody>
      </p:sp>
      <p:sp>
        <p:nvSpPr>
          <p:cNvPr id="353" name="TextBox 71"/>
          <p:cNvSpPr txBox="1"/>
          <p:nvPr/>
        </p:nvSpPr>
        <p:spPr>
          <a:xfrm>
            <a:off x="4343399" y="3355847"/>
            <a:ext cx="1554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Suporte técnico HoReCa</a:t>
            </a:r>
          </a:p>
        </p:txBody>
      </p:sp>
      <p:sp>
        <p:nvSpPr>
          <p:cNvPr id="354" name="Rounded Rectangle 72"/>
          <p:cNvSpPr/>
          <p:nvPr/>
        </p:nvSpPr>
        <p:spPr>
          <a:xfrm>
            <a:off x="5961888" y="3328415"/>
            <a:ext cx="530353" cy="256033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" name="TextBox 73"/>
          <p:cNvSpPr txBox="1"/>
          <p:nvPr/>
        </p:nvSpPr>
        <p:spPr>
          <a:xfrm>
            <a:off x="5961888" y="3386581"/>
            <a:ext cx="53035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8  (+2)</a:t>
            </a:r>
          </a:p>
        </p:txBody>
      </p:sp>
      <p:sp>
        <p:nvSpPr>
          <p:cNvPr id="356" name="Rounded Rectangle 74"/>
          <p:cNvSpPr/>
          <p:nvPr/>
        </p:nvSpPr>
        <p:spPr>
          <a:xfrm>
            <a:off x="4251959" y="3886200"/>
            <a:ext cx="2331721" cy="384048"/>
          </a:xfrm>
          <a:prstGeom prst="roundRect">
            <a:avLst>
              <a:gd name="adj" fmla="val 8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TextBox 75"/>
          <p:cNvSpPr txBox="1"/>
          <p:nvPr/>
        </p:nvSpPr>
        <p:spPr>
          <a:xfrm>
            <a:off x="4343400" y="3922776"/>
            <a:ext cx="2148840" cy="20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BackOffice — Mariana (1)  ·  Distribuidores B2B — Emilly (1)</a:t>
            </a:r>
          </a:p>
        </p:txBody>
      </p:sp>
      <p:sp>
        <p:nvSpPr>
          <p:cNvPr id="358" name="Rounded Rectangle 76"/>
          <p:cNvSpPr/>
          <p:nvPr/>
        </p:nvSpPr>
        <p:spPr>
          <a:xfrm>
            <a:off x="6720840" y="1965960"/>
            <a:ext cx="2103121" cy="274321"/>
          </a:xfrm>
          <a:prstGeom prst="roundRect">
            <a:avLst>
              <a:gd name="adj" fmla="val 15000"/>
            </a:avLst>
          </a:prstGeom>
          <a:solidFill>
            <a:srgbClr val="1E422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9" name="TextBox 77"/>
          <p:cNvSpPr txBox="1"/>
          <p:nvPr/>
        </p:nvSpPr>
        <p:spPr>
          <a:xfrm>
            <a:off x="6720840" y="2033270"/>
            <a:ext cx="21031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OUTRAS FRENTES</a:t>
            </a:r>
          </a:p>
        </p:txBody>
      </p:sp>
      <p:sp>
        <p:nvSpPr>
          <p:cNvPr id="360" name="Rounded Rectangle 78"/>
          <p:cNvSpPr/>
          <p:nvPr/>
        </p:nvSpPr>
        <p:spPr>
          <a:xfrm>
            <a:off x="6720840" y="2313432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" name="TextBox 79"/>
          <p:cNvSpPr txBox="1"/>
          <p:nvPr/>
        </p:nvSpPr>
        <p:spPr>
          <a:xfrm>
            <a:off x="6793992" y="2350007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Amanda Lopes</a:t>
            </a:r>
          </a:p>
        </p:txBody>
      </p:sp>
      <p:sp>
        <p:nvSpPr>
          <p:cNvPr id="362" name="TextBox 80"/>
          <p:cNvSpPr txBox="1"/>
          <p:nvPr/>
        </p:nvSpPr>
        <p:spPr>
          <a:xfrm>
            <a:off x="6793992" y="2542032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Inteligência (3) + Amazon (1)</a:t>
            </a:r>
          </a:p>
        </p:txBody>
      </p:sp>
      <p:sp>
        <p:nvSpPr>
          <p:cNvPr id="363" name="Rounded Rectangle 81"/>
          <p:cNvSpPr/>
          <p:nvPr/>
        </p:nvSpPr>
        <p:spPr>
          <a:xfrm>
            <a:off x="6720840" y="2880360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4" name="TextBox 82"/>
          <p:cNvSpPr txBox="1"/>
          <p:nvPr/>
        </p:nvSpPr>
        <p:spPr>
          <a:xfrm>
            <a:off x="6793992" y="2916935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Ana Cláudia</a:t>
            </a:r>
          </a:p>
        </p:txBody>
      </p:sp>
      <p:sp>
        <p:nvSpPr>
          <p:cNvPr id="365" name="TextBox 83"/>
          <p:cNvSpPr txBox="1"/>
          <p:nvPr/>
        </p:nvSpPr>
        <p:spPr>
          <a:xfrm>
            <a:off x="6793992" y="3108960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Consumidor</a:t>
            </a:r>
          </a:p>
        </p:txBody>
      </p:sp>
      <p:sp>
        <p:nvSpPr>
          <p:cNvPr id="366" name="Rounded Rectangle 84"/>
          <p:cNvSpPr/>
          <p:nvPr/>
        </p:nvSpPr>
        <p:spPr>
          <a:xfrm>
            <a:off x="6720840" y="3447288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TextBox 85"/>
          <p:cNvSpPr txBox="1"/>
          <p:nvPr/>
        </p:nvSpPr>
        <p:spPr>
          <a:xfrm>
            <a:off x="6793992" y="3483864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Renato</a:t>
            </a:r>
          </a:p>
        </p:txBody>
      </p:sp>
      <p:sp>
        <p:nvSpPr>
          <p:cNvPr id="368" name="TextBox 86"/>
          <p:cNvSpPr txBox="1"/>
          <p:nvPr/>
        </p:nvSpPr>
        <p:spPr>
          <a:xfrm>
            <a:off x="6793992" y="3675888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Mercado Livre — Gustavo Santos</a:t>
            </a:r>
          </a:p>
        </p:txBody>
      </p:sp>
      <p:sp>
        <p:nvSpPr>
          <p:cNvPr id="369" name="Rounded Rectangle 87"/>
          <p:cNvSpPr/>
          <p:nvPr/>
        </p:nvSpPr>
        <p:spPr>
          <a:xfrm>
            <a:off x="6720840" y="4014215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" name="TextBox 88"/>
          <p:cNvSpPr txBox="1"/>
          <p:nvPr/>
        </p:nvSpPr>
        <p:spPr>
          <a:xfrm>
            <a:off x="6793992" y="4050791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Grazielle</a:t>
            </a:r>
          </a:p>
        </p:txBody>
      </p:sp>
      <p:sp>
        <p:nvSpPr>
          <p:cNvPr id="371" name="TextBox 89"/>
          <p:cNvSpPr txBox="1"/>
          <p:nvPr/>
        </p:nvSpPr>
        <p:spPr>
          <a:xfrm>
            <a:off x="6793992" y="4242815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Exportação — Amanda Sousa</a:t>
            </a:r>
          </a:p>
        </p:txBody>
      </p:sp>
      <p:sp>
        <p:nvSpPr>
          <p:cNvPr id="372" name="Rounded Rectangle 90"/>
          <p:cNvSpPr/>
          <p:nvPr/>
        </p:nvSpPr>
        <p:spPr>
          <a:xfrm>
            <a:off x="6720840" y="4581144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" name="TextBox 91"/>
          <p:cNvSpPr txBox="1"/>
          <p:nvPr/>
        </p:nvSpPr>
        <p:spPr>
          <a:xfrm>
            <a:off x="6793992" y="4617720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Silvia Laliny</a:t>
            </a:r>
          </a:p>
        </p:txBody>
      </p:sp>
      <p:sp>
        <p:nvSpPr>
          <p:cNvPr id="374" name="TextBox 92"/>
          <p:cNvSpPr txBox="1"/>
          <p:nvPr/>
        </p:nvSpPr>
        <p:spPr>
          <a:xfrm>
            <a:off x="6793992" y="4809744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Trade Marketing — Júlia + Yasmim</a:t>
            </a:r>
          </a:p>
        </p:txBody>
      </p:sp>
      <p:sp>
        <p:nvSpPr>
          <p:cNvPr id="375" name="TextBox 94"/>
          <p:cNvSpPr txBox="1"/>
          <p:nvPr/>
        </p:nvSpPr>
        <p:spPr>
          <a:xfrm>
            <a:off x="320040" y="4864608"/>
            <a:ext cx="8503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Projeção: base real 2026 + curva recalibrada do Simulador (sinergia geográfica fora de SP/RJ, ago/2026).</a:t>
            </a:r>
          </a:p>
        </p:txBody>
      </p:sp>
      <p:sp>
        <p:nvSpPr>
          <p:cNvPr id="376" name="TextBox 92"/>
          <p:cNvSpPr txBox="1"/>
          <p:nvPr/>
        </p:nvSpPr>
        <p:spPr>
          <a:xfrm>
            <a:off x="320040" y="4645152"/>
            <a:ext cx="8503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(SP/RJ + gestão + merch. ref.): 45  ·  Rep. 3os: 8  ·  Promotores agência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02920"/>
          </a:xfrm>
          <a:prstGeom prst="rect">
            <a:avLst/>
          </a:prstGeom>
          <a:ln w="12700">
            <a:miter lim="400000"/>
          </a:ln>
        </p:spPr>
      </p:pic>
      <p:sp>
        <p:nvSpPr>
          <p:cNvPr id="379" name="TextBox 2"/>
          <p:cNvSpPr txBox="1"/>
          <p:nvPr/>
        </p:nvSpPr>
        <p:spPr>
          <a:xfrm>
            <a:off x="365759" y="126238"/>
            <a:ext cx="64008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Organograma Comercial — Orfeu</a:t>
            </a:r>
          </a:p>
        </p:txBody>
      </p:sp>
      <p:sp>
        <p:nvSpPr>
          <p:cNvPr id="380" name="TextBox 3"/>
          <p:cNvSpPr txBox="1"/>
          <p:nvPr/>
        </p:nvSpPr>
        <p:spPr>
          <a:xfrm>
            <a:off x="6766559" y="170688"/>
            <a:ext cx="20116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0D8C0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Projeção (Simulador)</a:t>
            </a:r>
          </a:p>
        </p:txBody>
      </p:sp>
      <p:sp>
        <p:nvSpPr>
          <p:cNvPr id="381" name="TextBox 4"/>
          <p:cNvSpPr txBox="1"/>
          <p:nvPr/>
        </p:nvSpPr>
        <p:spPr>
          <a:xfrm>
            <a:off x="365759" y="530351"/>
            <a:ext cx="841248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2029</a:t>
            </a:r>
          </a:p>
        </p:txBody>
      </p:sp>
      <p:sp>
        <p:nvSpPr>
          <p:cNvPr id="382" name="Rounded Rectangle 5"/>
          <p:cNvSpPr/>
          <p:nvPr/>
        </p:nvSpPr>
        <p:spPr>
          <a:xfrm>
            <a:off x="3520440" y="777240"/>
            <a:ext cx="2103121" cy="329185"/>
          </a:xfrm>
          <a:prstGeom prst="roundRect">
            <a:avLst>
              <a:gd name="adj" fmla="val 15000"/>
            </a:avLst>
          </a:prstGeom>
          <a:solidFill>
            <a:srgbClr val="1E422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3" name="TextBox 6"/>
          <p:cNvSpPr txBox="1"/>
          <p:nvPr/>
        </p:nvSpPr>
        <p:spPr>
          <a:xfrm>
            <a:off x="3520440" y="865632"/>
            <a:ext cx="21031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Augusto — Diretor Comercial</a:t>
            </a:r>
          </a:p>
        </p:txBody>
      </p:sp>
      <p:sp>
        <p:nvSpPr>
          <p:cNvPr id="384" name="Connector 7"/>
          <p:cNvSpPr/>
          <p:nvPr/>
        </p:nvSpPr>
        <p:spPr>
          <a:xfrm>
            <a:off x="4572000" y="1106424"/>
            <a:ext cx="0" cy="91441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5" name="Connector 8"/>
          <p:cNvSpPr/>
          <p:nvPr/>
        </p:nvSpPr>
        <p:spPr>
          <a:xfrm>
            <a:off x="905255" y="1197863"/>
            <a:ext cx="7159754" cy="1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6" name="Connector 9"/>
          <p:cNvSpPr/>
          <p:nvPr/>
        </p:nvSpPr>
        <p:spPr>
          <a:xfrm>
            <a:off x="905255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7" name="Rounded Rectangle 10"/>
          <p:cNvSpPr/>
          <p:nvPr/>
        </p:nvSpPr>
        <p:spPr>
          <a:xfrm>
            <a:off x="320040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8" name="TextBox 11"/>
          <p:cNvSpPr txBox="1"/>
          <p:nvPr/>
        </p:nvSpPr>
        <p:spPr>
          <a:xfrm>
            <a:off x="356615" y="1307591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Priscila</a:t>
            </a:r>
          </a:p>
        </p:txBody>
      </p:sp>
      <p:sp>
        <p:nvSpPr>
          <p:cNvPr id="389" name="TextBox 12"/>
          <p:cNvSpPr txBox="1"/>
          <p:nvPr/>
        </p:nvSpPr>
        <p:spPr>
          <a:xfrm>
            <a:off x="356615" y="1527047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Gerente Varejo</a:t>
            </a:r>
          </a:p>
        </p:txBody>
      </p:sp>
      <p:sp>
        <p:nvSpPr>
          <p:cNvPr id="390" name="Connector 13"/>
          <p:cNvSpPr/>
          <p:nvPr/>
        </p:nvSpPr>
        <p:spPr>
          <a:xfrm>
            <a:off x="2098548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1" name="Rounded Rectangle 14"/>
          <p:cNvSpPr/>
          <p:nvPr/>
        </p:nvSpPr>
        <p:spPr>
          <a:xfrm>
            <a:off x="1513332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2" name="TextBox 15"/>
          <p:cNvSpPr txBox="1"/>
          <p:nvPr/>
        </p:nvSpPr>
        <p:spPr>
          <a:xfrm>
            <a:off x="1549908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Cristiane Pagano</a:t>
            </a:r>
          </a:p>
        </p:txBody>
      </p:sp>
      <p:sp>
        <p:nvSpPr>
          <p:cNvPr id="393" name="TextBox 16"/>
          <p:cNvSpPr txBox="1"/>
          <p:nvPr/>
        </p:nvSpPr>
        <p:spPr>
          <a:xfrm>
            <a:off x="1549908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Gerente B2B</a:t>
            </a:r>
          </a:p>
        </p:txBody>
      </p:sp>
      <p:sp>
        <p:nvSpPr>
          <p:cNvPr id="394" name="Connector 17"/>
          <p:cNvSpPr/>
          <p:nvPr/>
        </p:nvSpPr>
        <p:spPr>
          <a:xfrm>
            <a:off x="3291840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5" name="Rounded Rectangle 18"/>
          <p:cNvSpPr/>
          <p:nvPr/>
        </p:nvSpPr>
        <p:spPr>
          <a:xfrm>
            <a:off x="2706623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6" name="TextBox 19"/>
          <p:cNvSpPr txBox="1"/>
          <p:nvPr/>
        </p:nvSpPr>
        <p:spPr>
          <a:xfrm>
            <a:off x="2743199" y="1307591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Amanda Lopes</a:t>
            </a:r>
          </a:p>
        </p:txBody>
      </p:sp>
      <p:sp>
        <p:nvSpPr>
          <p:cNvPr id="397" name="TextBox 20"/>
          <p:cNvSpPr txBox="1"/>
          <p:nvPr/>
        </p:nvSpPr>
        <p:spPr>
          <a:xfrm>
            <a:off x="2743199" y="1527047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Inteligência/Amazon</a:t>
            </a:r>
          </a:p>
        </p:txBody>
      </p:sp>
      <p:sp>
        <p:nvSpPr>
          <p:cNvPr id="398" name="Connector 21"/>
          <p:cNvSpPr/>
          <p:nvPr/>
        </p:nvSpPr>
        <p:spPr>
          <a:xfrm>
            <a:off x="4485132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9" name="Rounded Rectangle 22"/>
          <p:cNvSpPr/>
          <p:nvPr/>
        </p:nvSpPr>
        <p:spPr>
          <a:xfrm>
            <a:off x="3899915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0" name="TextBox 23"/>
          <p:cNvSpPr txBox="1"/>
          <p:nvPr/>
        </p:nvSpPr>
        <p:spPr>
          <a:xfrm>
            <a:off x="3936491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Ana Cláudia</a:t>
            </a:r>
          </a:p>
        </p:txBody>
      </p:sp>
      <p:sp>
        <p:nvSpPr>
          <p:cNvPr id="401" name="TextBox 24"/>
          <p:cNvSpPr txBox="1"/>
          <p:nvPr/>
        </p:nvSpPr>
        <p:spPr>
          <a:xfrm>
            <a:off x="3936491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Consumidor</a:t>
            </a:r>
          </a:p>
        </p:txBody>
      </p:sp>
      <p:sp>
        <p:nvSpPr>
          <p:cNvPr id="402" name="Connector 25"/>
          <p:cNvSpPr/>
          <p:nvPr/>
        </p:nvSpPr>
        <p:spPr>
          <a:xfrm>
            <a:off x="5678423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3" name="Rounded Rectangle 26"/>
          <p:cNvSpPr/>
          <p:nvPr/>
        </p:nvSpPr>
        <p:spPr>
          <a:xfrm>
            <a:off x="5093208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4" name="TextBox 27"/>
          <p:cNvSpPr txBox="1"/>
          <p:nvPr/>
        </p:nvSpPr>
        <p:spPr>
          <a:xfrm>
            <a:off x="5129784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Renato</a:t>
            </a:r>
          </a:p>
        </p:txBody>
      </p:sp>
      <p:sp>
        <p:nvSpPr>
          <p:cNvPr id="405" name="TextBox 28"/>
          <p:cNvSpPr txBox="1"/>
          <p:nvPr/>
        </p:nvSpPr>
        <p:spPr>
          <a:xfrm>
            <a:off x="5129784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Mercado Livre</a:t>
            </a:r>
          </a:p>
        </p:txBody>
      </p:sp>
      <p:sp>
        <p:nvSpPr>
          <p:cNvPr id="406" name="Connector 29"/>
          <p:cNvSpPr/>
          <p:nvPr/>
        </p:nvSpPr>
        <p:spPr>
          <a:xfrm>
            <a:off x="6871716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7" name="Rounded Rectangle 30"/>
          <p:cNvSpPr/>
          <p:nvPr/>
        </p:nvSpPr>
        <p:spPr>
          <a:xfrm>
            <a:off x="6286500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8" name="TextBox 31"/>
          <p:cNvSpPr txBox="1"/>
          <p:nvPr/>
        </p:nvSpPr>
        <p:spPr>
          <a:xfrm>
            <a:off x="6323076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Grazielle</a:t>
            </a:r>
          </a:p>
        </p:txBody>
      </p:sp>
      <p:sp>
        <p:nvSpPr>
          <p:cNvPr id="409" name="TextBox 32"/>
          <p:cNvSpPr txBox="1"/>
          <p:nvPr/>
        </p:nvSpPr>
        <p:spPr>
          <a:xfrm>
            <a:off x="6323076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Exportação</a:t>
            </a:r>
          </a:p>
        </p:txBody>
      </p:sp>
      <p:sp>
        <p:nvSpPr>
          <p:cNvPr id="410" name="Connector 33"/>
          <p:cNvSpPr/>
          <p:nvPr/>
        </p:nvSpPr>
        <p:spPr>
          <a:xfrm>
            <a:off x="8065007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1" name="Rounded Rectangle 34"/>
          <p:cNvSpPr/>
          <p:nvPr/>
        </p:nvSpPr>
        <p:spPr>
          <a:xfrm>
            <a:off x="7479792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2" name="TextBox 35"/>
          <p:cNvSpPr txBox="1"/>
          <p:nvPr/>
        </p:nvSpPr>
        <p:spPr>
          <a:xfrm>
            <a:off x="7516368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Silvia Laliny</a:t>
            </a:r>
          </a:p>
        </p:txBody>
      </p:sp>
      <p:sp>
        <p:nvSpPr>
          <p:cNvPr id="413" name="TextBox 36"/>
          <p:cNvSpPr txBox="1"/>
          <p:nvPr/>
        </p:nvSpPr>
        <p:spPr>
          <a:xfrm>
            <a:off x="7516368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Trade Marketing</a:t>
            </a:r>
          </a:p>
        </p:txBody>
      </p:sp>
      <p:sp>
        <p:nvSpPr>
          <p:cNvPr id="414" name="Rounded Rectangle 37"/>
          <p:cNvSpPr/>
          <p:nvPr/>
        </p:nvSpPr>
        <p:spPr>
          <a:xfrm>
            <a:off x="320040" y="1965960"/>
            <a:ext cx="3794760" cy="274321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5" name="TextBox 38"/>
          <p:cNvSpPr txBox="1"/>
          <p:nvPr/>
        </p:nvSpPr>
        <p:spPr>
          <a:xfrm>
            <a:off x="320039" y="2026920"/>
            <a:ext cx="37947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VAREJO — Priscila</a:t>
            </a:r>
          </a:p>
        </p:txBody>
      </p:sp>
      <p:sp>
        <p:nvSpPr>
          <p:cNvPr id="416" name="Rounded Rectangle 39"/>
          <p:cNvSpPr/>
          <p:nvPr/>
        </p:nvSpPr>
        <p:spPr>
          <a:xfrm>
            <a:off x="320040" y="2313432"/>
            <a:ext cx="3794760" cy="713233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7" name="TextBox 40"/>
          <p:cNvSpPr txBox="1"/>
          <p:nvPr/>
        </p:nvSpPr>
        <p:spPr>
          <a:xfrm>
            <a:off x="429768" y="2368295"/>
            <a:ext cx="2057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Direto (SP/RJ) — payroll Orfeu</a:t>
            </a:r>
          </a:p>
        </p:txBody>
      </p:sp>
      <p:sp>
        <p:nvSpPr>
          <p:cNvPr id="418" name="TextBox 41"/>
          <p:cNvSpPr txBox="1"/>
          <p:nvPr/>
        </p:nvSpPr>
        <p:spPr>
          <a:xfrm>
            <a:off x="429768" y="2551176"/>
            <a:ext cx="2057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Vendedor + Promotor/Abordador próprios</a:t>
            </a:r>
          </a:p>
        </p:txBody>
      </p:sp>
      <p:sp>
        <p:nvSpPr>
          <p:cNvPr id="419" name="Rounded Rectangle 42"/>
          <p:cNvSpPr/>
          <p:nvPr/>
        </p:nvSpPr>
        <p:spPr>
          <a:xfrm>
            <a:off x="2514600" y="2395727"/>
            <a:ext cx="658369" cy="256033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0" name="TextBox 43"/>
          <p:cNvSpPr txBox="1"/>
          <p:nvPr/>
        </p:nvSpPr>
        <p:spPr>
          <a:xfrm>
            <a:off x="2514599" y="2453893"/>
            <a:ext cx="65837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16  (+4)</a:t>
            </a:r>
          </a:p>
        </p:txBody>
      </p:sp>
      <p:sp>
        <p:nvSpPr>
          <p:cNvPr id="421" name="TextBox 44"/>
          <p:cNvSpPr txBox="1"/>
          <p:nvPr/>
        </p:nvSpPr>
        <p:spPr>
          <a:xfrm>
            <a:off x="2514599" y="2679192"/>
            <a:ext cx="6583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vendedor</a:t>
            </a:r>
          </a:p>
        </p:txBody>
      </p:sp>
      <p:sp>
        <p:nvSpPr>
          <p:cNvPr id="422" name="Rounded Rectangle 45"/>
          <p:cNvSpPr/>
          <p:nvPr/>
        </p:nvSpPr>
        <p:spPr>
          <a:xfrm>
            <a:off x="3246120" y="2395727"/>
            <a:ext cx="749809" cy="256033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3" name="TextBox 46"/>
          <p:cNvSpPr txBox="1"/>
          <p:nvPr/>
        </p:nvSpPr>
        <p:spPr>
          <a:xfrm>
            <a:off x="3246120" y="2453893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11  (+4)</a:t>
            </a:r>
          </a:p>
        </p:txBody>
      </p:sp>
      <p:sp>
        <p:nvSpPr>
          <p:cNvPr id="424" name="TextBox 47"/>
          <p:cNvSpPr txBox="1"/>
          <p:nvPr/>
        </p:nvSpPr>
        <p:spPr>
          <a:xfrm>
            <a:off x="3246120" y="2679192"/>
            <a:ext cx="7498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promotor</a:t>
            </a:r>
          </a:p>
        </p:txBody>
      </p:sp>
      <p:sp>
        <p:nvSpPr>
          <p:cNvPr id="425" name="Rounded Rectangle 48"/>
          <p:cNvSpPr/>
          <p:nvPr/>
        </p:nvSpPr>
        <p:spPr>
          <a:xfrm>
            <a:off x="320040" y="3099816"/>
            <a:ext cx="3794760" cy="713233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6" name="TextBox 49"/>
          <p:cNvSpPr txBox="1"/>
          <p:nvPr/>
        </p:nvSpPr>
        <p:spPr>
          <a:xfrm>
            <a:off x="429768" y="3154679"/>
            <a:ext cx="2057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Gestão de Representantes</a:t>
            </a:r>
          </a:p>
        </p:txBody>
      </p:sp>
      <p:sp>
        <p:nvSpPr>
          <p:cNvPr id="427" name="TextBox 50"/>
          <p:cNvSpPr txBox="1"/>
          <p:nvPr/>
        </p:nvSpPr>
        <p:spPr>
          <a:xfrm>
            <a:off x="429768" y="3337559"/>
            <a:ext cx="2057401" cy="204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Dayane +eq. · 1 comercial a cada 12 reps</a:t>
            </a:r>
          </a:p>
          <a:p>
            <a: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↳ gerencia Representante terceiro (comissionado)</a:t>
            </a:r>
          </a:p>
        </p:txBody>
      </p:sp>
      <p:sp>
        <p:nvSpPr>
          <p:cNvPr id="428" name="Rounded Rectangle 51"/>
          <p:cNvSpPr/>
          <p:nvPr/>
        </p:nvSpPr>
        <p:spPr>
          <a:xfrm>
            <a:off x="2514600" y="3182111"/>
            <a:ext cx="566928" cy="256033"/>
          </a:xfrm>
          <a:prstGeom prst="roundRect">
            <a:avLst>
              <a:gd name="adj" fmla="val 50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9" name="TextBox 52"/>
          <p:cNvSpPr txBox="1"/>
          <p:nvPr/>
        </p:nvSpPr>
        <p:spPr>
          <a:xfrm>
            <a:off x="2514600" y="3240277"/>
            <a:ext cx="56692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30" name="TextBox 53"/>
          <p:cNvSpPr txBox="1"/>
          <p:nvPr/>
        </p:nvSpPr>
        <p:spPr>
          <a:xfrm>
            <a:off x="2514600" y="3465576"/>
            <a:ext cx="56692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comercial</a:t>
            </a:r>
          </a:p>
        </p:txBody>
      </p:sp>
      <p:sp>
        <p:nvSpPr>
          <p:cNvPr id="431" name="Rounded Rectangle 54"/>
          <p:cNvSpPr/>
          <p:nvPr/>
        </p:nvSpPr>
        <p:spPr>
          <a:xfrm>
            <a:off x="3246120" y="3182111"/>
            <a:ext cx="749809" cy="256033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2" name="TextBox 55"/>
          <p:cNvSpPr txBox="1"/>
          <p:nvPr/>
        </p:nvSpPr>
        <p:spPr>
          <a:xfrm>
            <a:off x="3246120" y="3240277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9  (+1)</a:t>
            </a:r>
          </a:p>
        </p:txBody>
      </p:sp>
      <p:sp>
        <p:nvSpPr>
          <p:cNvPr id="433" name="TextBox 56"/>
          <p:cNvSpPr txBox="1"/>
          <p:nvPr/>
        </p:nvSpPr>
        <p:spPr>
          <a:xfrm>
            <a:off x="3246120" y="3465576"/>
            <a:ext cx="7498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representantes</a:t>
            </a:r>
          </a:p>
        </p:txBody>
      </p:sp>
      <p:sp>
        <p:nvSpPr>
          <p:cNvPr id="434" name="Rounded Rectangle 57"/>
          <p:cNvSpPr/>
          <p:nvPr/>
        </p:nvSpPr>
        <p:spPr>
          <a:xfrm>
            <a:off x="320040" y="3886200"/>
            <a:ext cx="3794760" cy="713232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5" name="TextBox 58"/>
          <p:cNvSpPr txBox="1"/>
          <p:nvPr/>
        </p:nvSpPr>
        <p:spPr>
          <a:xfrm>
            <a:off x="429767" y="3941064"/>
            <a:ext cx="2880362" cy="141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Merchandising → Promotores via agência</a:t>
            </a:r>
          </a:p>
        </p:txBody>
      </p:sp>
      <p:sp>
        <p:nvSpPr>
          <p:cNvPr id="436" name="TextBox 59"/>
          <p:cNvSpPr txBox="1"/>
          <p:nvPr/>
        </p:nvSpPr>
        <p:spPr>
          <a:xfrm>
            <a:off x="429767" y="4151376"/>
            <a:ext cx="2880362" cy="204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Elisângela+Eduarda (Coord.+Analista, 2, fixo) → agência externa, demais estados</a:t>
            </a:r>
          </a:p>
        </p:txBody>
      </p:sp>
      <p:sp>
        <p:nvSpPr>
          <p:cNvPr id="437" name="Rounded Rectangle 60"/>
          <p:cNvSpPr/>
          <p:nvPr/>
        </p:nvSpPr>
        <p:spPr>
          <a:xfrm>
            <a:off x="3337559" y="4114800"/>
            <a:ext cx="658369" cy="256032"/>
          </a:xfrm>
          <a:prstGeom prst="roundRect">
            <a:avLst>
              <a:gd name="adj" fmla="val 50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8" name="TextBox 61"/>
          <p:cNvSpPr txBox="1"/>
          <p:nvPr/>
        </p:nvSpPr>
        <p:spPr>
          <a:xfrm>
            <a:off x="3337559" y="4172965"/>
            <a:ext cx="6583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39" name="Rounded Rectangle 62"/>
          <p:cNvSpPr/>
          <p:nvPr/>
        </p:nvSpPr>
        <p:spPr>
          <a:xfrm>
            <a:off x="4251959" y="1965960"/>
            <a:ext cx="2331721" cy="274321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0" name="TextBox 63"/>
          <p:cNvSpPr txBox="1"/>
          <p:nvPr/>
        </p:nvSpPr>
        <p:spPr>
          <a:xfrm>
            <a:off x="4251959" y="2026920"/>
            <a:ext cx="23317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B2B — Cristiane</a:t>
            </a:r>
          </a:p>
        </p:txBody>
      </p:sp>
      <p:sp>
        <p:nvSpPr>
          <p:cNvPr id="441" name="Rounded Rectangle 64"/>
          <p:cNvSpPr/>
          <p:nvPr/>
        </p:nvSpPr>
        <p:spPr>
          <a:xfrm>
            <a:off x="4251959" y="2313432"/>
            <a:ext cx="2331721" cy="713233"/>
          </a:xfrm>
          <a:prstGeom prst="roundRect">
            <a:avLst>
              <a:gd name="adj" fmla="val 8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2" name="TextBox 65"/>
          <p:cNvSpPr txBox="1"/>
          <p:nvPr/>
        </p:nvSpPr>
        <p:spPr>
          <a:xfrm>
            <a:off x="4343399" y="2359151"/>
            <a:ext cx="1554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Comercial (B2B)</a:t>
            </a:r>
          </a:p>
        </p:txBody>
      </p:sp>
      <p:sp>
        <p:nvSpPr>
          <p:cNvPr id="443" name="TextBox 66"/>
          <p:cNvSpPr txBox="1"/>
          <p:nvPr/>
        </p:nvSpPr>
        <p:spPr>
          <a:xfrm>
            <a:off x="4343399" y="2569464"/>
            <a:ext cx="1554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Time comercial B2B</a:t>
            </a:r>
          </a:p>
        </p:txBody>
      </p:sp>
      <p:sp>
        <p:nvSpPr>
          <p:cNvPr id="444" name="Rounded Rectangle 67"/>
          <p:cNvSpPr/>
          <p:nvPr/>
        </p:nvSpPr>
        <p:spPr>
          <a:xfrm>
            <a:off x="5961888" y="2542032"/>
            <a:ext cx="530353" cy="256033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5" name="TextBox 68"/>
          <p:cNvSpPr txBox="1"/>
          <p:nvPr/>
        </p:nvSpPr>
        <p:spPr>
          <a:xfrm>
            <a:off x="5961888" y="2600198"/>
            <a:ext cx="53035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16  (+3)</a:t>
            </a:r>
          </a:p>
        </p:txBody>
      </p:sp>
      <p:sp>
        <p:nvSpPr>
          <p:cNvPr id="446" name="Rounded Rectangle 69"/>
          <p:cNvSpPr/>
          <p:nvPr/>
        </p:nvSpPr>
        <p:spPr>
          <a:xfrm>
            <a:off x="4251959" y="3099816"/>
            <a:ext cx="2331721" cy="713233"/>
          </a:xfrm>
          <a:prstGeom prst="roundRect">
            <a:avLst>
              <a:gd name="adj" fmla="val 8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7" name="TextBox 70"/>
          <p:cNvSpPr txBox="1"/>
          <p:nvPr/>
        </p:nvSpPr>
        <p:spPr>
          <a:xfrm>
            <a:off x="4343399" y="3145535"/>
            <a:ext cx="1554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Baristas (B2B)</a:t>
            </a:r>
          </a:p>
        </p:txBody>
      </p:sp>
      <p:sp>
        <p:nvSpPr>
          <p:cNvPr id="448" name="TextBox 71"/>
          <p:cNvSpPr txBox="1"/>
          <p:nvPr/>
        </p:nvSpPr>
        <p:spPr>
          <a:xfrm>
            <a:off x="4343399" y="3355847"/>
            <a:ext cx="1554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Suporte técnico HoReCa</a:t>
            </a:r>
          </a:p>
        </p:txBody>
      </p:sp>
      <p:sp>
        <p:nvSpPr>
          <p:cNvPr id="449" name="Rounded Rectangle 72"/>
          <p:cNvSpPr/>
          <p:nvPr/>
        </p:nvSpPr>
        <p:spPr>
          <a:xfrm>
            <a:off x="5961888" y="3328415"/>
            <a:ext cx="530353" cy="256033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0" name="TextBox 73"/>
          <p:cNvSpPr txBox="1"/>
          <p:nvPr/>
        </p:nvSpPr>
        <p:spPr>
          <a:xfrm>
            <a:off x="5961888" y="3386581"/>
            <a:ext cx="53035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9  (+1)</a:t>
            </a:r>
          </a:p>
        </p:txBody>
      </p:sp>
      <p:sp>
        <p:nvSpPr>
          <p:cNvPr id="451" name="Rounded Rectangle 74"/>
          <p:cNvSpPr/>
          <p:nvPr/>
        </p:nvSpPr>
        <p:spPr>
          <a:xfrm>
            <a:off x="4251959" y="3886200"/>
            <a:ext cx="2331721" cy="384048"/>
          </a:xfrm>
          <a:prstGeom prst="roundRect">
            <a:avLst>
              <a:gd name="adj" fmla="val 8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2" name="TextBox 75"/>
          <p:cNvSpPr txBox="1"/>
          <p:nvPr/>
        </p:nvSpPr>
        <p:spPr>
          <a:xfrm>
            <a:off x="4343400" y="3922776"/>
            <a:ext cx="2148840" cy="20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BackOffice — Mariana (1)  ·  Distribuidores B2B — Emilly (1)</a:t>
            </a:r>
          </a:p>
        </p:txBody>
      </p:sp>
      <p:sp>
        <p:nvSpPr>
          <p:cNvPr id="453" name="Rounded Rectangle 76"/>
          <p:cNvSpPr/>
          <p:nvPr/>
        </p:nvSpPr>
        <p:spPr>
          <a:xfrm>
            <a:off x="6720840" y="1965960"/>
            <a:ext cx="2103121" cy="274321"/>
          </a:xfrm>
          <a:prstGeom prst="roundRect">
            <a:avLst>
              <a:gd name="adj" fmla="val 15000"/>
            </a:avLst>
          </a:prstGeom>
          <a:solidFill>
            <a:srgbClr val="1E422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4" name="TextBox 77"/>
          <p:cNvSpPr txBox="1"/>
          <p:nvPr/>
        </p:nvSpPr>
        <p:spPr>
          <a:xfrm>
            <a:off x="6720840" y="2033270"/>
            <a:ext cx="21031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OUTRAS FRENTES</a:t>
            </a:r>
          </a:p>
        </p:txBody>
      </p:sp>
      <p:sp>
        <p:nvSpPr>
          <p:cNvPr id="455" name="Rounded Rectangle 78"/>
          <p:cNvSpPr/>
          <p:nvPr/>
        </p:nvSpPr>
        <p:spPr>
          <a:xfrm>
            <a:off x="6720840" y="2313432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6" name="TextBox 79"/>
          <p:cNvSpPr txBox="1"/>
          <p:nvPr/>
        </p:nvSpPr>
        <p:spPr>
          <a:xfrm>
            <a:off x="6793992" y="2350007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Amanda Lopes</a:t>
            </a:r>
          </a:p>
        </p:txBody>
      </p:sp>
      <p:sp>
        <p:nvSpPr>
          <p:cNvPr id="457" name="TextBox 80"/>
          <p:cNvSpPr txBox="1"/>
          <p:nvPr/>
        </p:nvSpPr>
        <p:spPr>
          <a:xfrm>
            <a:off x="6793992" y="2542032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Inteligência (3) + Amazon (1)</a:t>
            </a:r>
          </a:p>
        </p:txBody>
      </p:sp>
      <p:sp>
        <p:nvSpPr>
          <p:cNvPr id="458" name="Rounded Rectangle 81"/>
          <p:cNvSpPr/>
          <p:nvPr/>
        </p:nvSpPr>
        <p:spPr>
          <a:xfrm>
            <a:off x="6720840" y="2880360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9" name="TextBox 82"/>
          <p:cNvSpPr txBox="1"/>
          <p:nvPr/>
        </p:nvSpPr>
        <p:spPr>
          <a:xfrm>
            <a:off x="6793992" y="2916935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Ana Cláudia</a:t>
            </a:r>
          </a:p>
        </p:txBody>
      </p:sp>
      <p:sp>
        <p:nvSpPr>
          <p:cNvPr id="460" name="TextBox 83"/>
          <p:cNvSpPr txBox="1"/>
          <p:nvPr/>
        </p:nvSpPr>
        <p:spPr>
          <a:xfrm>
            <a:off x="6793992" y="3108960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Consumidor</a:t>
            </a:r>
          </a:p>
        </p:txBody>
      </p:sp>
      <p:sp>
        <p:nvSpPr>
          <p:cNvPr id="461" name="Rounded Rectangle 84"/>
          <p:cNvSpPr/>
          <p:nvPr/>
        </p:nvSpPr>
        <p:spPr>
          <a:xfrm>
            <a:off x="6720840" y="3447288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2" name="TextBox 85"/>
          <p:cNvSpPr txBox="1"/>
          <p:nvPr/>
        </p:nvSpPr>
        <p:spPr>
          <a:xfrm>
            <a:off x="6793992" y="3483864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Renato</a:t>
            </a:r>
          </a:p>
        </p:txBody>
      </p:sp>
      <p:sp>
        <p:nvSpPr>
          <p:cNvPr id="463" name="TextBox 86"/>
          <p:cNvSpPr txBox="1"/>
          <p:nvPr/>
        </p:nvSpPr>
        <p:spPr>
          <a:xfrm>
            <a:off x="6793992" y="3675888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Mercado Livre — Gustavo Santos</a:t>
            </a:r>
          </a:p>
        </p:txBody>
      </p:sp>
      <p:sp>
        <p:nvSpPr>
          <p:cNvPr id="464" name="Rounded Rectangle 87"/>
          <p:cNvSpPr/>
          <p:nvPr/>
        </p:nvSpPr>
        <p:spPr>
          <a:xfrm>
            <a:off x="6720840" y="4014215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5" name="TextBox 88"/>
          <p:cNvSpPr txBox="1"/>
          <p:nvPr/>
        </p:nvSpPr>
        <p:spPr>
          <a:xfrm>
            <a:off x="6793992" y="4050791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Grazielle</a:t>
            </a:r>
          </a:p>
        </p:txBody>
      </p:sp>
      <p:sp>
        <p:nvSpPr>
          <p:cNvPr id="466" name="TextBox 89"/>
          <p:cNvSpPr txBox="1"/>
          <p:nvPr/>
        </p:nvSpPr>
        <p:spPr>
          <a:xfrm>
            <a:off x="6793992" y="4242815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Exportação — Amanda Sousa</a:t>
            </a:r>
          </a:p>
        </p:txBody>
      </p:sp>
      <p:sp>
        <p:nvSpPr>
          <p:cNvPr id="467" name="Rounded Rectangle 90"/>
          <p:cNvSpPr/>
          <p:nvPr/>
        </p:nvSpPr>
        <p:spPr>
          <a:xfrm>
            <a:off x="6720840" y="4581144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8" name="TextBox 91"/>
          <p:cNvSpPr txBox="1"/>
          <p:nvPr/>
        </p:nvSpPr>
        <p:spPr>
          <a:xfrm>
            <a:off x="6793992" y="4617720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Silvia Laliny</a:t>
            </a:r>
          </a:p>
        </p:txBody>
      </p:sp>
      <p:sp>
        <p:nvSpPr>
          <p:cNvPr id="469" name="TextBox 92"/>
          <p:cNvSpPr txBox="1"/>
          <p:nvPr/>
        </p:nvSpPr>
        <p:spPr>
          <a:xfrm>
            <a:off x="6793992" y="4809744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Trade Marketing — Júlia + Yasmim</a:t>
            </a:r>
          </a:p>
        </p:txBody>
      </p:sp>
      <p:sp>
        <p:nvSpPr>
          <p:cNvPr id="470" name="TextBox 94"/>
          <p:cNvSpPr txBox="1"/>
          <p:nvPr/>
        </p:nvSpPr>
        <p:spPr>
          <a:xfrm>
            <a:off x="320040" y="4864608"/>
            <a:ext cx="8503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Projeção: base real 2026 + curva recalibrada do Simulador (sinergia geográfica fora de SP/RJ, ago/2026).</a:t>
            </a:r>
          </a:p>
        </p:txBody>
      </p:sp>
      <p:sp>
        <p:nvSpPr>
          <p:cNvPr id="471" name="TextBox 92"/>
          <p:cNvSpPr txBox="1"/>
          <p:nvPr/>
        </p:nvSpPr>
        <p:spPr>
          <a:xfrm>
            <a:off x="320040" y="4645152"/>
            <a:ext cx="8503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(SP/RJ + gestão + merch. ref.): 57  ·  Rep. 3os: 9  ·  Promotores agência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02920"/>
          </a:xfrm>
          <a:prstGeom prst="rect">
            <a:avLst/>
          </a:prstGeom>
          <a:ln w="12700">
            <a:miter lim="400000"/>
          </a:ln>
        </p:spPr>
      </p:pic>
      <p:sp>
        <p:nvSpPr>
          <p:cNvPr id="474" name="TextBox 2"/>
          <p:cNvSpPr txBox="1"/>
          <p:nvPr/>
        </p:nvSpPr>
        <p:spPr>
          <a:xfrm>
            <a:off x="365759" y="126238"/>
            <a:ext cx="64008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Organograma Comercial — Orfeu</a:t>
            </a:r>
          </a:p>
        </p:txBody>
      </p:sp>
      <p:sp>
        <p:nvSpPr>
          <p:cNvPr id="475" name="TextBox 3"/>
          <p:cNvSpPr txBox="1"/>
          <p:nvPr/>
        </p:nvSpPr>
        <p:spPr>
          <a:xfrm>
            <a:off x="6766559" y="170688"/>
            <a:ext cx="20116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0D8C0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Projeção (Simulador)</a:t>
            </a:r>
          </a:p>
        </p:txBody>
      </p:sp>
      <p:sp>
        <p:nvSpPr>
          <p:cNvPr id="476" name="TextBox 4"/>
          <p:cNvSpPr txBox="1"/>
          <p:nvPr/>
        </p:nvSpPr>
        <p:spPr>
          <a:xfrm>
            <a:off x="365759" y="530351"/>
            <a:ext cx="841248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2030</a:t>
            </a:r>
          </a:p>
        </p:txBody>
      </p:sp>
      <p:sp>
        <p:nvSpPr>
          <p:cNvPr id="477" name="Rounded Rectangle 5"/>
          <p:cNvSpPr/>
          <p:nvPr/>
        </p:nvSpPr>
        <p:spPr>
          <a:xfrm>
            <a:off x="3520440" y="777240"/>
            <a:ext cx="2103121" cy="329185"/>
          </a:xfrm>
          <a:prstGeom prst="roundRect">
            <a:avLst>
              <a:gd name="adj" fmla="val 15000"/>
            </a:avLst>
          </a:prstGeom>
          <a:solidFill>
            <a:srgbClr val="1E422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8" name="TextBox 6"/>
          <p:cNvSpPr txBox="1"/>
          <p:nvPr/>
        </p:nvSpPr>
        <p:spPr>
          <a:xfrm>
            <a:off x="3520440" y="865632"/>
            <a:ext cx="21031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Augusto — Diretor Comercial</a:t>
            </a:r>
          </a:p>
        </p:txBody>
      </p:sp>
      <p:sp>
        <p:nvSpPr>
          <p:cNvPr id="479" name="Connector 7"/>
          <p:cNvSpPr/>
          <p:nvPr/>
        </p:nvSpPr>
        <p:spPr>
          <a:xfrm>
            <a:off x="4572000" y="1106424"/>
            <a:ext cx="0" cy="91441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0" name="Connector 8"/>
          <p:cNvSpPr/>
          <p:nvPr/>
        </p:nvSpPr>
        <p:spPr>
          <a:xfrm>
            <a:off x="905255" y="1197863"/>
            <a:ext cx="7159754" cy="1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1" name="Connector 9"/>
          <p:cNvSpPr/>
          <p:nvPr/>
        </p:nvSpPr>
        <p:spPr>
          <a:xfrm>
            <a:off x="905255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2" name="Rounded Rectangle 10"/>
          <p:cNvSpPr/>
          <p:nvPr/>
        </p:nvSpPr>
        <p:spPr>
          <a:xfrm>
            <a:off x="320040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3" name="TextBox 11"/>
          <p:cNvSpPr txBox="1"/>
          <p:nvPr/>
        </p:nvSpPr>
        <p:spPr>
          <a:xfrm>
            <a:off x="356615" y="1307591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Priscila</a:t>
            </a:r>
          </a:p>
        </p:txBody>
      </p:sp>
      <p:sp>
        <p:nvSpPr>
          <p:cNvPr id="484" name="TextBox 12"/>
          <p:cNvSpPr txBox="1"/>
          <p:nvPr/>
        </p:nvSpPr>
        <p:spPr>
          <a:xfrm>
            <a:off x="356615" y="1527047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Gerente Varejo</a:t>
            </a:r>
          </a:p>
        </p:txBody>
      </p:sp>
      <p:sp>
        <p:nvSpPr>
          <p:cNvPr id="485" name="Connector 13"/>
          <p:cNvSpPr/>
          <p:nvPr/>
        </p:nvSpPr>
        <p:spPr>
          <a:xfrm>
            <a:off x="2098548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6" name="Rounded Rectangle 14"/>
          <p:cNvSpPr/>
          <p:nvPr/>
        </p:nvSpPr>
        <p:spPr>
          <a:xfrm>
            <a:off x="1513332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7" name="TextBox 15"/>
          <p:cNvSpPr txBox="1"/>
          <p:nvPr/>
        </p:nvSpPr>
        <p:spPr>
          <a:xfrm>
            <a:off x="1549908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Cristiane Pagano</a:t>
            </a:r>
          </a:p>
        </p:txBody>
      </p:sp>
      <p:sp>
        <p:nvSpPr>
          <p:cNvPr id="488" name="TextBox 16"/>
          <p:cNvSpPr txBox="1"/>
          <p:nvPr/>
        </p:nvSpPr>
        <p:spPr>
          <a:xfrm>
            <a:off x="1549908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Gerente B2B</a:t>
            </a:r>
          </a:p>
        </p:txBody>
      </p:sp>
      <p:sp>
        <p:nvSpPr>
          <p:cNvPr id="489" name="Connector 17"/>
          <p:cNvSpPr/>
          <p:nvPr/>
        </p:nvSpPr>
        <p:spPr>
          <a:xfrm>
            <a:off x="3291840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0" name="Rounded Rectangle 18"/>
          <p:cNvSpPr/>
          <p:nvPr/>
        </p:nvSpPr>
        <p:spPr>
          <a:xfrm>
            <a:off x="2706623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1" name="TextBox 19"/>
          <p:cNvSpPr txBox="1"/>
          <p:nvPr/>
        </p:nvSpPr>
        <p:spPr>
          <a:xfrm>
            <a:off x="2743199" y="1307591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Amanda Lopes</a:t>
            </a:r>
          </a:p>
        </p:txBody>
      </p:sp>
      <p:sp>
        <p:nvSpPr>
          <p:cNvPr id="492" name="TextBox 20"/>
          <p:cNvSpPr txBox="1"/>
          <p:nvPr/>
        </p:nvSpPr>
        <p:spPr>
          <a:xfrm>
            <a:off x="2743199" y="1527047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Inteligência/Amazon</a:t>
            </a:r>
          </a:p>
        </p:txBody>
      </p:sp>
      <p:sp>
        <p:nvSpPr>
          <p:cNvPr id="493" name="Connector 21"/>
          <p:cNvSpPr/>
          <p:nvPr/>
        </p:nvSpPr>
        <p:spPr>
          <a:xfrm>
            <a:off x="4485132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4" name="Rounded Rectangle 22"/>
          <p:cNvSpPr/>
          <p:nvPr/>
        </p:nvSpPr>
        <p:spPr>
          <a:xfrm>
            <a:off x="3899915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5" name="TextBox 23"/>
          <p:cNvSpPr txBox="1"/>
          <p:nvPr/>
        </p:nvSpPr>
        <p:spPr>
          <a:xfrm>
            <a:off x="3936491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Ana Cláudia</a:t>
            </a:r>
          </a:p>
        </p:txBody>
      </p:sp>
      <p:sp>
        <p:nvSpPr>
          <p:cNvPr id="496" name="TextBox 24"/>
          <p:cNvSpPr txBox="1"/>
          <p:nvPr/>
        </p:nvSpPr>
        <p:spPr>
          <a:xfrm>
            <a:off x="3936491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Consumidor</a:t>
            </a:r>
          </a:p>
        </p:txBody>
      </p:sp>
      <p:sp>
        <p:nvSpPr>
          <p:cNvPr id="497" name="Connector 25"/>
          <p:cNvSpPr/>
          <p:nvPr/>
        </p:nvSpPr>
        <p:spPr>
          <a:xfrm>
            <a:off x="5678423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8" name="Rounded Rectangle 26"/>
          <p:cNvSpPr/>
          <p:nvPr/>
        </p:nvSpPr>
        <p:spPr>
          <a:xfrm>
            <a:off x="5093208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9" name="TextBox 27"/>
          <p:cNvSpPr txBox="1"/>
          <p:nvPr/>
        </p:nvSpPr>
        <p:spPr>
          <a:xfrm>
            <a:off x="5129784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Renato</a:t>
            </a:r>
          </a:p>
        </p:txBody>
      </p:sp>
      <p:sp>
        <p:nvSpPr>
          <p:cNvPr id="500" name="TextBox 28"/>
          <p:cNvSpPr txBox="1"/>
          <p:nvPr/>
        </p:nvSpPr>
        <p:spPr>
          <a:xfrm>
            <a:off x="5129784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Mercado Livre</a:t>
            </a:r>
          </a:p>
        </p:txBody>
      </p:sp>
      <p:sp>
        <p:nvSpPr>
          <p:cNvPr id="501" name="Connector 29"/>
          <p:cNvSpPr/>
          <p:nvPr/>
        </p:nvSpPr>
        <p:spPr>
          <a:xfrm>
            <a:off x="6871716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2" name="Rounded Rectangle 30"/>
          <p:cNvSpPr/>
          <p:nvPr/>
        </p:nvSpPr>
        <p:spPr>
          <a:xfrm>
            <a:off x="6286500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3" name="TextBox 31"/>
          <p:cNvSpPr txBox="1"/>
          <p:nvPr/>
        </p:nvSpPr>
        <p:spPr>
          <a:xfrm>
            <a:off x="6323076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Grazielle</a:t>
            </a:r>
          </a:p>
        </p:txBody>
      </p:sp>
      <p:sp>
        <p:nvSpPr>
          <p:cNvPr id="504" name="TextBox 32"/>
          <p:cNvSpPr txBox="1"/>
          <p:nvPr/>
        </p:nvSpPr>
        <p:spPr>
          <a:xfrm>
            <a:off x="6323076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Exportação</a:t>
            </a:r>
          </a:p>
        </p:txBody>
      </p:sp>
      <p:sp>
        <p:nvSpPr>
          <p:cNvPr id="505" name="Connector 33"/>
          <p:cNvSpPr/>
          <p:nvPr/>
        </p:nvSpPr>
        <p:spPr>
          <a:xfrm>
            <a:off x="8065007" y="1197863"/>
            <a:ext cx="1" cy="64009"/>
          </a:xfrm>
          <a:prstGeom prst="line">
            <a:avLst/>
          </a:prstGeom>
          <a:ln w="12700">
            <a:solidFill>
              <a:srgbClr val="D8D8D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6" name="Rounded Rectangle 34"/>
          <p:cNvSpPr/>
          <p:nvPr/>
        </p:nvSpPr>
        <p:spPr>
          <a:xfrm>
            <a:off x="7479792" y="1261872"/>
            <a:ext cx="1170433" cy="457201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7" name="TextBox 35"/>
          <p:cNvSpPr txBox="1"/>
          <p:nvPr/>
        </p:nvSpPr>
        <p:spPr>
          <a:xfrm>
            <a:off x="7516368" y="1307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Silvia Laliny</a:t>
            </a:r>
          </a:p>
        </p:txBody>
      </p:sp>
      <p:sp>
        <p:nvSpPr>
          <p:cNvPr id="508" name="TextBox 36"/>
          <p:cNvSpPr txBox="1"/>
          <p:nvPr/>
        </p:nvSpPr>
        <p:spPr>
          <a:xfrm>
            <a:off x="7516368" y="1527047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Trade Marketing</a:t>
            </a:r>
          </a:p>
        </p:txBody>
      </p:sp>
      <p:sp>
        <p:nvSpPr>
          <p:cNvPr id="509" name="Rounded Rectangle 37"/>
          <p:cNvSpPr/>
          <p:nvPr/>
        </p:nvSpPr>
        <p:spPr>
          <a:xfrm>
            <a:off x="320040" y="1965960"/>
            <a:ext cx="3794760" cy="274321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0" name="TextBox 38"/>
          <p:cNvSpPr txBox="1"/>
          <p:nvPr/>
        </p:nvSpPr>
        <p:spPr>
          <a:xfrm>
            <a:off x="320039" y="2026920"/>
            <a:ext cx="37947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VAREJO — Priscila</a:t>
            </a:r>
          </a:p>
        </p:txBody>
      </p:sp>
      <p:sp>
        <p:nvSpPr>
          <p:cNvPr id="511" name="Rounded Rectangle 39"/>
          <p:cNvSpPr/>
          <p:nvPr/>
        </p:nvSpPr>
        <p:spPr>
          <a:xfrm>
            <a:off x="320040" y="2313432"/>
            <a:ext cx="3794760" cy="713233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2" name="TextBox 40"/>
          <p:cNvSpPr txBox="1"/>
          <p:nvPr/>
        </p:nvSpPr>
        <p:spPr>
          <a:xfrm>
            <a:off x="429768" y="2368295"/>
            <a:ext cx="2057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Direto (SP/RJ) — payroll Orfeu</a:t>
            </a:r>
          </a:p>
        </p:txBody>
      </p:sp>
      <p:sp>
        <p:nvSpPr>
          <p:cNvPr id="513" name="TextBox 41"/>
          <p:cNvSpPr txBox="1"/>
          <p:nvPr/>
        </p:nvSpPr>
        <p:spPr>
          <a:xfrm>
            <a:off x="429768" y="2551176"/>
            <a:ext cx="2057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Vendedor + Promotor/Abordador próprios</a:t>
            </a:r>
          </a:p>
        </p:txBody>
      </p:sp>
      <p:sp>
        <p:nvSpPr>
          <p:cNvPr id="514" name="Rounded Rectangle 42"/>
          <p:cNvSpPr/>
          <p:nvPr/>
        </p:nvSpPr>
        <p:spPr>
          <a:xfrm>
            <a:off x="2514600" y="2395727"/>
            <a:ext cx="658369" cy="256033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5" name="TextBox 43"/>
          <p:cNvSpPr txBox="1"/>
          <p:nvPr/>
        </p:nvSpPr>
        <p:spPr>
          <a:xfrm>
            <a:off x="2514599" y="2453893"/>
            <a:ext cx="65837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22  (+6)</a:t>
            </a:r>
          </a:p>
        </p:txBody>
      </p:sp>
      <p:sp>
        <p:nvSpPr>
          <p:cNvPr id="516" name="TextBox 44"/>
          <p:cNvSpPr txBox="1"/>
          <p:nvPr/>
        </p:nvSpPr>
        <p:spPr>
          <a:xfrm>
            <a:off x="2514599" y="2679192"/>
            <a:ext cx="6583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vendedor</a:t>
            </a:r>
          </a:p>
        </p:txBody>
      </p:sp>
      <p:sp>
        <p:nvSpPr>
          <p:cNvPr id="517" name="Rounded Rectangle 45"/>
          <p:cNvSpPr/>
          <p:nvPr/>
        </p:nvSpPr>
        <p:spPr>
          <a:xfrm>
            <a:off x="3246120" y="2395727"/>
            <a:ext cx="749809" cy="256033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8" name="TextBox 46"/>
          <p:cNvSpPr txBox="1"/>
          <p:nvPr/>
        </p:nvSpPr>
        <p:spPr>
          <a:xfrm>
            <a:off x="3246120" y="2453893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16  (+5)</a:t>
            </a:r>
          </a:p>
        </p:txBody>
      </p:sp>
      <p:sp>
        <p:nvSpPr>
          <p:cNvPr id="519" name="TextBox 47"/>
          <p:cNvSpPr txBox="1"/>
          <p:nvPr/>
        </p:nvSpPr>
        <p:spPr>
          <a:xfrm>
            <a:off x="3246120" y="2679192"/>
            <a:ext cx="7498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promotor</a:t>
            </a:r>
          </a:p>
        </p:txBody>
      </p:sp>
      <p:sp>
        <p:nvSpPr>
          <p:cNvPr id="520" name="Rounded Rectangle 48"/>
          <p:cNvSpPr/>
          <p:nvPr/>
        </p:nvSpPr>
        <p:spPr>
          <a:xfrm>
            <a:off x="320040" y="3099816"/>
            <a:ext cx="3794760" cy="713233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1" name="TextBox 49"/>
          <p:cNvSpPr txBox="1"/>
          <p:nvPr/>
        </p:nvSpPr>
        <p:spPr>
          <a:xfrm>
            <a:off x="429768" y="3154679"/>
            <a:ext cx="2057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Gestão de Representantes</a:t>
            </a:r>
          </a:p>
        </p:txBody>
      </p:sp>
      <p:sp>
        <p:nvSpPr>
          <p:cNvPr id="522" name="TextBox 50"/>
          <p:cNvSpPr txBox="1"/>
          <p:nvPr/>
        </p:nvSpPr>
        <p:spPr>
          <a:xfrm>
            <a:off x="429768" y="3337559"/>
            <a:ext cx="2057401" cy="204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Dayane +eq. · 1 comercial a cada 12 reps</a:t>
            </a:r>
          </a:p>
          <a:p>
            <a: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↳ gerencia Representante terceiro (comissionado)</a:t>
            </a:r>
          </a:p>
        </p:txBody>
      </p:sp>
      <p:sp>
        <p:nvSpPr>
          <p:cNvPr id="523" name="Rounded Rectangle 51"/>
          <p:cNvSpPr/>
          <p:nvPr/>
        </p:nvSpPr>
        <p:spPr>
          <a:xfrm>
            <a:off x="2514600" y="3182111"/>
            <a:ext cx="566928" cy="256033"/>
          </a:xfrm>
          <a:prstGeom prst="roundRect">
            <a:avLst>
              <a:gd name="adj" fmla="val 50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4" name="TextBox 52"/>
          <p:cNvSpPr txBox="1"/>
          <p:nvPr/>
        </p:nvSpPr>
        <p:spPr>
          <a:xfrm>
            <a:off x="2514600" y="3240277"/>
            <a:ext cx="56692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25" name="TextBox 53"/>
          <p:cNvSpPr txBox="1"/>
          <p:nvPr/>
        </p:nvSpPr>
        <p:spPr>
          <a:xfrm>
            <a:off x="2514600" y="3465576"/>
            <a:ext cx="56692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comercial</a:t>
            </a:r>
          </a:p>
        </p:txBody>
      </p:sp>
      <p:sp>
        <p:nvSpPr>
          <p:cNvPr id="526" name="Rounded Rectangle 54"/>
          <p:cNvSpPr/>
          <p:nvPr/>
        </p:nvSpPr>
        <p:spPr>
          <a:xfrm>
            <a:off x="3246120" y="3182111"/>
            <a:ext cx="749809" cy="256033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7" name="TextBox 55"/>
          <p:cNvSpPr txBox="1"/>
          <p:nvPr/>
        </p:nvSpPr>
        <p:spPr>
          <a:xfrm>
            <a:off x="3246120" y="3240277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11  (+2)</a:t>
            </a:r>
          </a:p>
        </p:txBody>
      </p:sp>
      <p:sp>
        <p:nvSpPr>
          <p:cNvPr id="528" name="TextBox 56"/>
          <p:cNvSpPr txBox="1"/>
          <p:nvPr/>
        </p:nvSpPr>
        <p:spPr>
          <a:xfrm>
            <a:off x="3246120" y="3465576"/>
            <a:ext cx="7498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representantes</a:t>
            </a:r>
          </a:p>
        </p:txBody>
      </p:sp>
      <p:sp>
        <p:nvSpPr>
          <p:cNvPr id="529" name="Rounded Rectangle 57"/>
          <p:cNvSpPr/>
          <p:nvPr/>
        </p:nvSpPr>
        <p:spPr>
          <a:xfrm>
            <a:off x="320040" y="3886200"/>
            <a:ext cx="3794760" cy="713232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0" name="TextBox 58"/>
          <p:cNvSpPr txBox="1"/>
          <p:nvPr/>
        </p:nvSpPr>
        <p:spPr>
          <a:xfrm>
            <a:off x="429767" y="3941064"/>
            <a:ext cx="2880362" cy="141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Merchandising → Promotores via agência</a:t>
            </a:r>
          </a:p>
        </p:txBody>
      </p:sp>
      <p:sp>
        <p:nvSpPr>
          <p:cNvPr id="531" name="TextBox 59"/>
          <p:cNvSpPr txBox="1"/>
          <p:nvPr/>
        </p:nvSpPr>
        <p:spPr>
          <a:xfrm>
            <a:off x="429767" y="4151376"/>
            <a:ext cx="2880362" cy="204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Elisângela+Eduarda (Coord.+Analista, 2, fixo) → agência externa, demais estados</a:t>
            </a:r>
          </a:p>
        </p:txBody>
      </p:sp>
      <p:sp>
        <p:nvSpPr>
          <p:cNvPr id="532" name="Rounded Rectangle 60"/>
          <p:cNvSpPr/>
          <p:nvPr/>
        </p:nvSpPr>
        <p:spPr>
          <a:xfrm>
            <a:off x="3337559" y="4114800"/>
            <a:ext cx="658369" cy="256032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3" name="TextBox 61"/>
          <p:cNvSpPr txBox="1"/>
          <p:nvPr/>
        </p:nvSpPr>
        <p:spPr>
          <a:xfrm>
            <a:off x="3337559" y="4172965"/>
            <a:ext cx="6583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5  (+3)</a:t>
            </a:r>
          </a:p>
        </p:txBody>
      </p:sp>
      <p:sp>
        <p:nvSpPr>
          <p:cNvPr id="534" name="Rounded Rectangle 62"/>
          <p:cNvSpPr/>
          <p:nvPr/>
        </p:nvSpPr>
        <p:spPr>
          <a:xfrm>
            <a:off x="4251959" y="1965960"/>
            <a:ext cx="2331721" cy="274321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5" name="TextBox 63"/>
          <p:cNvSpPr txBox="1"/>
          <p:nvPr/>
        </p:nvSpPr>
        <p:spPr>
          <a:xfrm>
            <a:off x="4251959" y="2026920"/>
            <a:ext cx="23317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B2B — Cristiane</a:t>
            </a:r>
          </a:p>
        </p:txBody>
      </p:sp>
      <p:sp>
        <p:nvSpPr>
          <p:cNvPr id="536" name="Rounded Rectangle 64"/>
          <p:cNvSpPr/>
          <p:nvPr/>
        </p:nvSpPr>
        <p:spPr>
          <a:xfrm>
            <a:off x="4251959" y="2313432"/>
            <a:ext cx="2331721" cy="713233"/>
          </a:xfrm>
          <a:prstGeom prst="roundRect">
            <a:avLst>
              <a:gd name="adj" fmla="val 8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7" name="TextBox 65"/>
          <p:cNvSpPr txBox="1"/>
          <p:nvPr/>
        </p:nvSpPr>
        <p:spPr>
          <a:xfrm>
            <a:off x="4343399" y="2359151"/>
            <a:ext cx="1554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Comercial (B2B)</a:t>
            </a:r>
          </a:p>
        </p:txBody>
      </p:sp>
      <p:sp>
        <p:nvSpPr>
          <p:cNvPr id="538" name="TextBox 66"/>
          <p:cNvSpPr txBox="1"/>
          <p:nvPr/>
        </p:nvSpPr>
        <p:spPr>
          <a:xfrm>
            <a:off x="4343399" y="2569464"/>
            <a:ext cx="1554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Time comercial B2B</a:t>
            </a:r>
          </a:p>
        </p:txBody>
      </p:sp>
      <p:sp>
        <p:nvSpPr>
          <p:cNvPr id="539" name="Rounded Rectangle 67"/>
          <p:cNvSpPr/>
          <p:nvPr/>
        </p:nvSpPr>
        <p:spPr>
          <a:xfrm>
            <a:off x="5961888" y="2542032"/>
            <a:ext cx="530353" cy="256033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0" name="TextBox 68"/>
          <p:cNvSpPr txBox="1"/>
          <p:nvPr/>
        </p:nvSpPr>
        <p:spPr>
          <a:xfrm>
            <a:off x="5961888" y="2600198"/>
            <a:ext cx="53035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20  (+4)</a:t>
            </a:r>
          </a:p>
        </p:txBody>
      </p:sp>
      <p:sp>
        <p:nvSpPr>
          <p:cNvPr id="541" name="Rounded Rectangle 69"/>
          <p:cNvSpPr/>
          <p:nvPr/>
        </p:nvSpPr>
        <p:spPr>
          <a:xfrm>
            <a:off x="4251959" y="3099816"/>
            <a:ext cx="2331721" cy="713233"/>
          </a:xfrm>
          <a:prstGeom prst="roundRect">
            <a:avLst>
              <a:gd name="adj" fmla="val 8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2" name="TextBox 70"/>
          <p:cNvSpPr txBox="1"/>
          <p:nvPr/>
        </p:nvSpPr>
        <p:spPr>
          <a:xfrm>
            <a:off x="4343399" y="3145535"/>
            <a:ext cx="1554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Baristas (B2B)</a:t>
            </a:r>
          </a:p>
        </p:txBody>
      </p:sp>
      <p:sp>
        <p:nvSpPr>
          <p:cNvPr id="543" name="TextBox 71"/>
          <p:cNvSpPr txBox="1"/>
          <p:nvPr/>
        </p:nvSpPr>
        <p:spPr>
          <a:xfrm>
            <a:off x="4343399" y="3355847"/>
            <a:ext cx="1554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Suporte técnico HoReCa</a:t>
            </a:r>
          </a:p>
        </p:txBody>
      </p:sp>
      <p:sp>
        <p:nvSpPr>
          <p:cNvPr id="544" name="Rounded Rectangle 72"/>
          <p:cNvSpPr/>
          <p:nvPr/>
        </p:nvSpPr>
        <p:spPr>
          <a:xfrm>
            <a:off x="5961888" y="3328415"/>
            <a:ext cx="530353" cy="256033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5" name="TextBox 73"/>
          <p:cNvSpPr txBox="1"/>
          <p:nvPr/>
        </p:nvSpPr>
        <p:spPr>
          <a:xfrm>
            <a:off x="5961888" y="3386581"/>
            <a:ext cx="53035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12  (+3)</a:t>
            </a:r>
          </a:p>
        </p:txBody>
      </p:sp>
      <p:sp>
        <p:nvSpPr>
          <p:cNvPr id="546" name="Rounded Rectangle 74"/>
          <p:cNvSpPr/>
          <p:nvPr/>
        </p:nvSpPr>
        <p:spPr>
          <a:xfrm>
            <a:off x="4251959" y="3886200"/>
            <a:ext cx="2331721" cy="384048"/>
          </a:xfrm>
          <a:prstGeom prst="roundRect">
            <a:avLst>
              <a:gd name="adj" fmla="val 8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7" name="TextBox 75"/>
          <p:cNvSpPr txBox="1"/>
          <p:nvPr/>
        </p:nvSpPr>
        <p:spPr>
          <a:xfrm>
            <a:off x="4343400" y="3922776"/>
            <a:ext cx="2148840" cy="20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7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BackOffice — Mariana (1)  ·  Distribuidores B2B — Emilly (1)</a:t>
            </a:r>
          </a:p>
        </p:txBody>
      </p:sp>
      <p:sp>
        <p:nvSpPr>
          <p:cNvPr id="548" name="Rounded Rectangle 76"/>
          <p:cNvSpPr/>
          <p:nvPr/>
        </p:nvSpPr>
        <p:spPr>
          <a:xfrm>
            <a:off x="6720840" y="1965960"/>
            <a:ext cx="2103121" cy="274321"/>
          </a:xfrm>
          <a:prstGeom prst="roundRect">
            <a:avLst>
              <a:gd name="adj" fmla="val 15000"/>
            </a:avLst>
          </a:prstGeom>
          <a:solidFill>
            <a:srgbClr val="1E422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9" name="TextBox 77"/>
          <p:cNvSpPr txBox="1"/>
          <p:nvPr/>
        </p:nvSpPr>
        <p:spPr>
          <a:xfrm>
            <a:off x="6720840" y="2033270"/>
            <a:ext cx="21031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OUTRAS FRENTES</a:t>
            </a:r>
          </a:p>
        </p:txBody>
      </p:sp>
      <p:sp>
        <p:nvSpPr>
          <p:cNvPr id="550" name="Rounded Rectangle 78"/>
          <p:cNvSpPr/>
          <p:nvPr/>
        </p:nvSpPr>
        <p:spPr>
          <a:xfrm>
            <a:off x="6720840" y="2313432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1" name="TextBox 79"/>
          <p:cNvSpPr txBox="1"/>
          <p:nvPr/>
        </p:nvSpPr>
        <p:spPr>
          <a:xfrm>
            <a:off x="6793992" y="2350007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Amanda Lopes</a:t>
            </a:r>
          </a:p>
        </p:txBody>
      </p:sp>
      <p:sp>
        <p:nvSpPr>
          <p:cNvPr id="552" name="TextBox 80"/>
          <p:cNvSpPr txBox="1"/>
          <p:nvPr/>
        </p:nvSpPr>
        <p:spPr>
          <a:xfrm>
            <a:off x="6793992" y="2542032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Inteligência (3) + Amazon (1)</a:t>
            </a:r>
          </a:p>
        </p:txBody>
      </p:sp>
      <p:sp>
        <p:nvSpPr>
          <p:cNvPr id="553" name="Rounded Rectangle 81"/>
          <p:cNvSpPr/>
          <p:nvPr/>
        </p:nvSpPr>
        <p:spPr>
          <a:xfrm>
            <a:off x="6720840" y="2880360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4" name="TextBox 82"/>
          <p:cNvSpPr txBox="1"/>
          <p:nvPr/>
        </p:nvSpPr>
        <p:spPr>
          <a:xfrm>
            <a:off x="6793992" y="2916935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Ana Cláudia</a:t>
            </a:r>
          </a:p>
        </p:txBody>
      </p:sp>
      <p:sp>
        <p:nvSpPr>
          <p:cNvPr id="555" name="TextBox 83"/>
          <p:cNvSpPr txBox="1"/>
          <p:nvPr/>
        </p:nvSpPr>
        <p:spPr>
          <a:xfrm>
            <a:off x="6793992" y="3108960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Consumidor</a:t>
            </a:r>
          </a:p>
        </p:txBody>
      </p:sp>
      <p:sp>
        <p:nvSpPr>
          <p:cNvPr id="556" name="Rounded Rectangle 84"/>
          <p:cNvSpPr/>
          <p:nvPr/>
        </p:nvSpPr>
        <p:spPr>
          <a:xfrm>
            <a:off x="6720840" y="3447288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7" name="TextBox 85"/>
          <p:cNvSpPr txBox="1"/>
          <p:nvPr/>
        </p:nvSpPr>
        <p:spPr>
          <a:xfrm>
            <a:off x="6793992" y="3483864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Renato</a:t>
            </a:r>
          </a:p>
        </p:txBody>
      </p:sp>
      <p:sp>
        <p:nvSpPr>
          <p:cNvPr id="558" name="TextBox 86"/>
          <p:cNvSpPr txBox="1"/>
          <p:nvPr/>
        </p:nvSpPr>
        <p:spPr>
          <a:xfrm>
            <a:off x="6793992" y="3675888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Mercado Livre — Gustavo Santos</a:t>
            </a:r>
          </a:p>
        </p:txBody>
      </p:sp>
      <p:sp>
        <p:nvSpPr>
          <p:cNvPr id="559" name="Rounded Rectangle 87"/>
          <p:cNvSpPr/>
          <p:nvPr/>
        </p:nvSpPr>
        <p:spPr>
          <a:xfrm>
            <a:off x="6720840" y="4014215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0" name="TextBox 88"/>
          <p:cNvSpPr txBox="1"/>
          <p:nvPr/>
        </p:nvSpPr>
        <p:spPr>
          <a:xfrm>
            <a:off x="6793992" y="4050791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Grazielle</a:t>
            </a:r>
          </a:p>
        </p:txBody>
      </p:sp>
      <p:sp>
        <p:nvSpPr>
          <p:cNvPr id="561" name="TextBox 89"/>
          <p:cNvSpPr txBox="1"/>
          <p:nvPr/>
        </p:nvSpPr>
        <p:spPr>
          <a:xfrm>
            <a:off x="6793992" y="4242815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Exportação — Amanda Sousa</a:t>
            </a:r>
          </a:p>
        </p:txBody>
      </p:sp>
      <p:sp>
        <p:nvSpPr>
          <p:cNvPr id="562" name="Rounded Rectangle 90"/>
          <p:cNvSpPr/>
          <p:nvPr/>
        </p:nvSpPr>
        <p:spPr>
          <a:xfrm>
            <a:off x="6720840" y="4581144"/>
            <a:ext cx="2103121" cy="512065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3" name="TextBox 91"/>
          <p:cNvSpPr txBox="1"/>
          <p:nvPr/>
        </p:nvSpPr>
        <p:spPr>
          <a:xfrm>
            <a:off x="6793992" y="4617720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Silvia Laliny</a:t>
            </a:r>
          </a:p>
        </p:txBody>
      </p:sp>
      <p:sp>
        <p:nvSpPr>
          <p:cNvPr id="564" name="TextBox 92"/>
          <p:cNvSpPr txBox="1"/>
          <p:nvPr/>
        </p:nvSpPr>
        <p:spPr>
          <a:xfrm>
            <a:off x="6793992" y="4809744"/>
            <a:ext cx="19568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6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Trade Marketing — Júlia + Yasmim</a:t>
            </a:r>
          </a:p>
        </p:txBody>
      </p:sp>
      <p:sp>
        <p:nvSpPr>
          <p:cNvPr id="565" name="TextBox 94"/>
          <p:cNvSpPr txBox="1"/>
          <p:nvPr/>
        </p:nvSpPr>
        <p:spPr>
          <a:xfrm>
            <a:off x="320040" y="4864608"/>
            <a:ext cx="8503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6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Projeção: base real 2026 + curva recalibrada do Simulador (sinergia geográfica fora de SP/RJ, ago/2026).</a:t>
            </a:r>
          </a:p>
        </p:txBody>
      </p:sp>
      <p:sp>
        <p:nvSpPr>
          <p:cNvPr id="566" name="TextBox 92"/>
          <p:cNvSpPr txBox="1"/>
          <p:nvPr/>
        </p:nvSpPr>
        <p:spPr>
          <a:xfrm>
            <a:off x="320040" y="4645152"/>
            <a:ext cx="8503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(SP/RJ + gestão + merch. ref.): 75  ·  Rep. 3os: 11  ·  Promotores agência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