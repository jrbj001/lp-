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444" cy="51435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7220" y="1714500"/>
            <a:ext cx="7543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C07028"/>
                </a:solidFill>
                <a:latin typeface="Avenir Next"/>
              </a:rPr>
              <a:t>LIDERANÇA &amp; ORGANIZAÇÃO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" y="1988820"/>
            <a:ext cx="78867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4221"/>
                </a:solidFill>
                <a:latin typeface="Avenir Next"/>
              </a:rPr>
              <a:t>Matriz de Competências e Job Grading Comercial</a:t>
            </a:r>
          </a:p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4221"/>
                </a:solidFill>
                <a:latin typeface="Avenir Next"/>
              </a:rPr>
              <a:t>Parte 1 + Parte 2 — Rumo a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" y="3120390"/>
            <a:ext cx="7063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venir Next"/>
              </a:rPr>
              <a:t>Do estágio de crescimento às capacidades e à estrutura de Diretoria/Gerência necessárias até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3394710"/>
            <a:ext cx="706374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C07028"/>
                </a:solidFill>
                <a:latin typeface="Avenir Next"/>
              </a:rPr>
              <a:t>Parte 1: Matriz de Competências por Nível e Faixa de Crescimento  ·  Parte 2: Capacidades, Split de Diretoria e Job Grading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4491990"/>
            <a:ext cx="6172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90" b="0">
                <a:solidFill>
                  <a:srgbClr val="6E6E6E"/>
                </a:solidFill>
                <a:latin typeface="Avenir Next"/>
              </a:rPr>
              <a:t>Alquemia para Orfeu · 20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28016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00" b="1" i="0">
                <a:solidFill>
                  <a:srgbClr val="C07028"/>
                </a:solidFill>
                <a:latin typeface="Calibri"/>
              </a:rPr>
              <a:t>LIDERANÇA &amp; ORGANIZAÇÃO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320040"/>
            <a:ext cx="8412480" cy="50292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2200" b="1" i="0">
                <a:solidFill>
                  <a:srgbClr val="2A5C2E"/>
                </a:solidFill>
                <a:latin typeface="Calibri"/>
              </a:rPr>
              <a:t>Matriz de Competências por Nível e Faixa de Crescimento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" y="868680"/>
            <a:ext cx="8229600" cy="22860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900" b="0" i="0">
                <a:solidFill>
                  <a:srgbClr val="6A6A6A"/>
                </a:solidFill>
                <a:latin typeface="Calibri"/>
              </a:rPr>
              <a:t>Empresa de bens de consumo Brasil · Foco em funções comerciais · CEO / N1 (Diretores) / N2 (Gerentes)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1115568"/>
            <a:ext cx="8814816" cy="182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1207008"/>
            <a:ext cx="2913888" cy="352044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298448"/>
            <a:ext cx="2776728" cy="25603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50–200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554480"/>
            <a:ext cx="2776728" cy="16459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R$ 50–200 mi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737360"/>
            <a:ext cx="29138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810512"/>
            <a:ext cx="2776728" cy="20116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50" b="1" i="0">
                <a:solidFill>
                  <a:srgbClr val="C07028"/>
                </a:solidFill>
                <a:latin typeface="Calibri"/>
              </a:rPr>
              <a:t>ESTÁGIO DE ESTRUTURAÇÃO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048256"/>
            <a:ext cx="2776728" cy="251460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Time enxuto, CEO ainda vende. Foco em construir processos mínimos, conquistar primeiros clientes-chave e provar o modelo de go-to-market. Liderança precisa ter perfil empreendedor e mão na massa.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5056" y="1207008"/>
            <a:ext cx="2913888" cy="352044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6496" y="1298448"/>
            <a:ext cx="2776728" cy="25603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800" b="1" i="0">
                <a:solidFill>
                  <a:srgbClr val="2D2D2D"/>
                </a:solidFill>
                <a:latin typeface="Calibri"/>
              </a:rPr>
              <a:t>200–500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6496" y="1554480"/>
            <a:ext cx="2776728" cy="16459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  <a:latin typeface="Calibri"/>
              </a:rPr>
              <a:t>R$ 200–500 mi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15056" y="1737360"/>
            <a:ext cx="2913888" cy="1828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6496" y="1810512"/>
            <a:ext cx="2776728" cy="20116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50" b="1" i="0">
                <a:solidFill>
                  <a:srgbClr val="2D2D2D"/>
                </a:solidFill>
                <a:latin typeface="Calibri"/>
              </a:rPr>
              <a:t>ESTÁGIO DE PROFISSIONALIZAÇÃO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6496" y="2048256"/>
            <a:ext cx="2776728" cy="251460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800" b="0" i="0">
                <a:solidFill>
                  <a:srgbClr val="2D2D2D"/>
                </a:solidFill>
                <a:latin typeface="Calibri"/>
              </a:rPr>
              <a:t>Chegou a hora de especializar funções. CEO transita de operador a estrategista. N1 assume P&amp;L. Processos formalizados: S&amp;OP, forecast, gestão de canais. Primeiro Trade Marketing estruturado.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520" y="1207008"/>
            <a:ext cx="2913888" cy="3520440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6960" y="1298448"/>
            <a:ext cx="2776728" cy="25603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+ 500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6960" y="1554480"/>
            <a:ext cx="2776728" cy="16459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R$ 500 mi+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65520" y="1737360"/>
            <a:ext cx="291388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6960" y="1810512"/>
            <a:ext cx="2776728" cy="20116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50" b="1" i="0">
                <a:solidFill>
                  <a:srgbClr val="C07028"/>
                </a:solidFill>
                <a:latin typeface="Calibri"/>
              </a:rPr>
              <a:t>ESTÁGIO DE ESCALA E COMPLEXIDADE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6960" y="2048256"/>
            <a:ext cx="2776728" cy="251460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Multi-canal, multi-regional, possível internacional. CEO é mobilizador de cultura e investidores. N1 lidera times grandes com autonomia e agenda de inovação. N2 gerencia KPIs e processos sofisticados.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" y="4850892"/>
            <a:ext cx="8778240" cy="20116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1">
                <a:solidFill>
                  <a:srgbClr val="6A6A6A"/>
                </a:solidFill>
                <a:latin typeface="Calibri"/>
              </a:rPr>
              <a:t>Orfeu · Material de uso interno · Parte 1 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00" b="1" i="0">
                <a:solidFill>
                  <a:srgbClr val="C07028"/>
                </a:solidFill>
                <a:latin typeface="Calibri"/>
              </a:rPr>
              <a:t>NÍVEL CEO — DONO / CHIEF EXECUTIVE OFFICER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274320"/>
            <a:ext cx="8412480" cy="29260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400" b="1" i="0">
                <a:solidFill>
                  <a:srgbClr val="2A5C2E"/>
                </a:solidFill>
                <a:latin typeface="Calibri"/>
              </a:rPr>
              <a:t>O que muda no papel, capacidades e competências conforme a empresa cresce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594360"/>
            <a:ext cx="8814816" cy="182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58368"/>
            <a:ext cx="1417320" cy="34747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658368"/>
            <a:ext cx="1417320" cy="347472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DIMENSÃO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658368"/>
            <a:ext cx="2395728" cy="34747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658368"/>
            <a:ext cx="2395728" cy="347472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50–200 M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Estruturação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4216" y="658368"/>
            <a:ext cx="2395728" cy="34747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6" y="658368"/>
            <a:ext cx="2395728" cy="347472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2D2D2D"/>
                </a:solidFill>
                <a:latin typeface="Calibri"/>
              </a:rPr>
              <a:t>200–500 M</a:t>
            </a:r>
          </a:p>
          <a:p>
            <a:pPr algn="ctr"/>
            <a:r>
              <a:rPr sz="750" b="1" i="0">
                <a:solidFill>
                  <a:srgbClr val="2D2D2D"/>
                </a:solidFill>
                <a:latin typeface="Calibri"/>
              </a:rPr>
              <a:t>Profissionalização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8232" y="658368"/>
            <a:ext cx="2395728" cy="34747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658368"/>
            <a:ext cx="2395728" cy="347472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+500 M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Escala &amp; Complexidade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1019556"/>
            <a:ext cx="1417320" cy="63474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" y="1019556"/>
            <a:ext cx="32004" cy="63474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019556"/>
            <a:ext cx="1344168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PAPEL PRINCIPAL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019556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55064" y="1019556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Vende e opera · decide tudo · é o produto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14216" y="1019556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019556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Delega operação · foca em estratégia e people · define prioridades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1019556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1019556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Mobiliza cultura, conselho e capital · CEO como ativo da marca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668018"/>
            <a:ext cx="1417320" cy="63474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" y="1668018"/>
            <a:ext cx="32004" cy="63474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" y="1668018"/>
            <a:ext cx="1344168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FOCO COMERCIAL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1668018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5064" y="1668018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Abre contas · negocia pessoalmente grandes clientes · GTM empírico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6" y="1668018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1668018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Define go-to-market por canal · supervisiona VP Comercial · aprova política comercial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1668018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1668018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Decide arquitetura de portfólio, M&amp;A comercial, entrada em novos mercados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316480"/>
            <a:ext cx="1417320" cy="63474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" y="2316480"/>
            <a:ext cx="32004" cy="63474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" y="2316480"/>
            <a:ext cx="1344168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CAPACIDADE-CHAVE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2316480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55064" y="2316480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Vendas consultivas · Leitura de mercado · Execução rápida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14216" y="2316480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2316480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Gestão de P&amp;L · Recrutamento de N1 · OKR e ritmo de gestão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2316480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3096" y="2316480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Visão de plataforma · Relações estratégicas · Investor relations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2964942"/>
            <a:ext cx="1417320" cy="63474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" y="2964942"/>
            <a:ext cx="32004" cy="63474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2964942"/>
            <a:ext cx="1344168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COMPETÊNCIA CRÍTICA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2964942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55064" y="2964942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Resiliência · Foco no cliente · Tomada de decisão rápida sob incerteza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14216" y="2964942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80" y="2964942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Delegação com accountability · Gestão de talentos sênior · Comunicação estratégica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28232" y="2964942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3096" y="2964942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Liderança transformacional · Pensamento sistêmico · Cultura de alta performance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" y="3613404"/>
            <a:ext cx="1417320" cy="63474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4592" y="3613404"/>
            <a:ext cx="32004" cy="63474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0312" y="3613404"/>
            <a:ext cx="1344168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RISCO DO PAPEL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00200" y="3613404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55064" y="3613404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Centralização excessiva · gargalo de crescimento · ausência de processo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14216" y="3613404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3613404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Dificuldade de largar o operacional · micro-gestão dos N1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28232" y="3613404"/>
            <a:ext cx="2395728" cy="63474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3613404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Distância do mercado · perda de agilidade · burocracia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4261866"/>
            <a:ext cx="1417320" cy="63474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4592" y="4261866"/>
            <a:ext cx="32004" cy="63474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4261866"/>
            <a:ext cx="1344168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AGENDA TÍPICA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4261866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55064" y="4261866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70% venda e clientes · 20% time · 10% estratégia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4261866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9080" y="4261866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40% time e cultura · 30% estratégia · 30% grandes contas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28232" y="4261866"/>
            <a:ext cx="2395728" cy="63474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83096" y="4261866"/>
            <a:ext cx="2322576" cy="634746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l"/>
            <a:r>
              <a:rPr sz="680" b="0" i="0">
                <a:solidFill>
                  <a:srgbClr val="2D2D2D"/>
                </a:solidFill>
                <a:latin typeface="Calibri"/>
              </a:rPr>
              <a:t>50% estratégia e conselho · 30% cultura e talentos · 20% clientes-chave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" y="4914900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00" b="0" i="1">
                <a:solidFill>
                  <a:srgbClr val="6A6A6A"/>
                </a:solidFill>
                <a:latin typeface="Calibri"/>
              </a:rPr>
              <a:t>Orfeu · Material de uso interno · Liderança &amp; Organização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00" b="1" i="0">
                <a:solidFill>
                  <a:srgbClr val="C07028"/>
                </a:solidFill>
                <a:latin typeface="Calibri"/>
              </a:rPr>
              <a:t>NÍVEL N1 — DIRETORES / VPs  ·  Funções Comerciais: Vendas · Trade Marketing · Marketing · CS / Distribuição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274320"/>
            <a:ext cx="8412480" cy="29260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400" b="1" i="0">
                <a:solidFill>
                  <a:srgbClr val="2A5C2E"/>
                </a:solidFill>
                <a:latin typeface="Calibri"/>
              </a:rPr>
              <a:t>O que se exige de quem lidera funções-chave à medida que a empresa cresce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594360"/>
            <a:ext cx="8814816" cy="182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58368"/>
            <a:ext cx="1417320" cy="329184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658368"/>
            <a:ext cx="1417320" cy="329184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FUNÇÃO N1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658368"/>
            <a:ext cx="2395728" cy="329184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658368"/>
            <a:ext cx="2395728" cy="329184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50–200 M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Estruturação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4216" y="658368"/>
            <a:ext cx="2395728" cy="329184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6" y="658368"/>
            <a:ext cx="2395728" cy="329184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2D2D2D"/>
                </a:solidFill>
                <a:latin typeface="Calibri"/>
              </a:rPr>
              <a:t>200–500 M</a:t>
            </a:r>
          </a:p>
          <a:p>
            <a:pPr algn="ctr"/>
            <a:r>
              <a:rPr sz="750" b="1" i="0">
                <a:solidFill>
                  <a:srgbClr val="2D2D2D"/>
                </a:solidFill>
                <a:latin typeface="Calibri"/>
              </a:rPr>
              <a:t>Profissionalização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8232" y="658368"/>
            <a:ext cx="2395728" cy="329184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658368"/>
            <a:ext cx="2395728" cy="329184"/>
          </a:xfrm>
          <a:prstGeom prst="rect">
            <a:avLst/>
          </a:prstGeom>
          <a:noFill/>
        </p:spPr>
        <p:txBody>
          <a:bodyPr wrap="square" lIns="45720" rIns="27432" tIns="54864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+500 M</a:t>
            </a:r>
          </a:p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Escala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1001268"/>
            <a:ext cx="1417320" cy="64084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" y="1001268"/>
            <a:ext cx="32004" cy="64084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001268"/>
            <a:ext cx="1344168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DIR. VENDAS</a:t>
            </a:r>
          </a:p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(Comercial)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001268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55064" y="1001268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Vende junto com o time · abre canais · dono do forecast empírico · coach de vendedores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14216" y="1001268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1001268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Define estratégia por canal (GKA, Regional, B2B) · gestão de forecast S&amp;OP · política comercial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1001268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1001268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Arquitetura de GTM · Revenue Management · liderança de time &gt;20 · gestão de distribuidores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655826"/>
            <a:ext cx="1417320" cy="64084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" y="1655826"/>
            <a:ext cx="32004" cy="64084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" y="1655826"/>
            <a:ext cx="1344168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DIR. TRADE</a:t>
            </a:r>
          </a:p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1655826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5064" y="1655826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Não existe formalmente — função absorvida por Vendas ou CEO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6" y="1655826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1655826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Nasce o papel: execução de PDV, materiais de ponto de venda, ativação de categoria, JBP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1655826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1655826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Centro de competência: shopper insights, category management, sell-out analytics, ativações nacionais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310384"/>
            <a:ext cx="1417320" cy="64084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" y="2310384"/>
            <a:ext cx="32004" cy="64084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" y="2310384"/>
            <a:ext cx="1344168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DIR. MARKETING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2310384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55064" y="2310384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Criativo e generalista · cuida de brand identity, embalagem, redes sociais · budget pequeno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14216" y="2310384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2310384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Gestor de marca e comunicação · lança campanhas · lidera agência · funil digital estruturado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2310384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3096" y="2310384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CMO com agenda de posicionamento · Brand equity · Portfolio strategy · P&amp;L de marca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2964942"/>
            <a:ext cx="1417320" cy="64084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" y="2964942"/>
            <a:ext cx="32004" cy="64084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2964942"/>
            <a:ext cx="1344168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DIR. CS /</a:t>
            </a:r>
          </a:p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DISTRIBUIÇÃO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2964942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55064" y="2964942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Cuida de logística básica · pedido, entrega, NF · perfil operacional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14216" y="2964942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80" y="2964942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Customer Service com SLA · gestão de distribuidores regionais · KPIs de ruptura e shelf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28232" y="2964942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3096" y="2964942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Cadeia integrada: demand planning, S&amp;OP, last mile, supply digital, parceria estratégica GKA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" y="3619500"/>
            <a:ext cx="1417320" cy="64084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4592" y="3619500"/>
            <a:ext cx="32004" cy="64084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0312" y="3619500"/>
            <a:ext cx="1344168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COMPETÊNCIA</a:t>
            </a:r>
          </a:p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COMUM N1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00200" y="3619500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55064" y="3619500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Executor · resolve problema · aceita ambiguidade · generalista capaz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14216" y="3619500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3619500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Especialista que lidera time · faz coaching · reporta com rigor · pensa em P&amp;L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28232" y="3619500"/>
            <a:ext cx="2395728" cy="64084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3619500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Líder de função · desenvolve N2 · agenda de inovação · stakeholder management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4274058"/>
            <a:ext cx="1417320" cy="64084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4592" y="4274058"/>
            <a:ext cx="32004" cy="64084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4274058"/>
            <a:ext cx="1344168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SINAL DE</a:t>
            </a:r>
          </a:p>
          <a:p>
            <a:pPr algn="l"/>
            <a:r>
              <a:rPr sz="680" b="1" i="0">
                <a:solidFill>
                  <a:srgbClr val="FFFFFF"/>
                </a:solidFill>
                <a:latin typeface="Calibri"/>
              </a:rPr>
              <a:t>PRONTIDÃO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4274058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55064" y="4274058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Entrega resultado sem estrutura · influencia sem cargo · tem fome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4274058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9080" y="4274058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Sabe construir processo e time ao mesmo tempo · transita de técnico a gestor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28232" y="4274058"/>
            <a:ext cx="2395728" cy="64084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83096" y="4274058"/>
            <a:ext cx="2322576" cy="640842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Tem visão de negócio além da função · consegue atrair e reter talentos sênior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" y="4924044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00" b="0" i="1">
                <a:solidFill>
                  <a:srgbClr val="6A6A6A"/>
                </a:solidFill>
                <a:latin typeface="Calibri"/>
              </a:rPr>
              <a:t>Orfeu · Material de uso interno · Liderança &amp; Organização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00" b="1" i="0">
                <a:solidFill>
                  <a:srgbClr val="C07028"/>
                </a:solidFill>
                <a:latin typeface="Calibri"/>
              </a:rPr>
              <a:t>NÍVEL N2 — GERENTES / COORDENADORES  ·  Funções: Vendas Regional · Trade · Marketing Digital · CS · BI /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274320"/>
            <a:ext cx="8412480" cy="29260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400" b="1" i="0">
                <a:solidFill>
                  <a:srgbClr val="2A5C2E"/>
                </a:solidFill>
                <a:latin typeface="Calibri"/>
              </a:rPr>
              <a:t>Camada que executa e retroalimenta a estratégia — perfil e exigência por faixa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594360"/>
            <a:ext cx="8814816" cy="182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58368"/>
            <a:ext cx="1417320" cy="29260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658368"/>
            <a:ext cx="1417320" cy="292608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FUNÇÃO N2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658368"/>
            <a:ext cx="2395728" cy="292608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658368"/>
            <a:ext cx="2395728" cy="292608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50–200 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4216" y="658368"/>
            <a:ext cx="2395728" cy="29260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6" y="658368"/>
            <a:ext cx="2395728" cy="292608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ctr"/>
            <a:r>
              <a:rPr sz="750" b="1" i="0">
                <a:solidFill>
                  <a:srgbClr val="2D2D2D"/>
                </a:solidFill>
                <a:latin typeface="Calibri"/>
              </a:rPr>
              <a:t>200–500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8232" y="658368"/>
            <a:ext cx="2395728" cy="292608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658368"/>
            <a:ext cx="2395728" cy="292608"/>
          </a:xfrm>
          <a:prstGeom prst="rect">
            <a:avLst/>
          </a:prstGeom>
          <a:noFill/>
        </p:spPr>
        <p:txBody>
          <a:bodyPr wrap="square" lIns="45720" rIns="27432" bIns="9144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+500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961948"/>
            <a:ext cx="1417320" cy="64998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4592" y="961948"/>
            <a:ext cx="32004" cy="64998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961948"/>
            <a:ext cx="1344168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GER. VENDAS</a:t>
            </a:r>
          </a:p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REGIONAL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961948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55064" y="961948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Supervisor de vendedores · faz rota · resolve problema de PDV · pressão diária de sell-out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14216" y="961948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961948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Gerenicia equipe de 5–15 vendedores · forecast por região · negociação de tabloide regional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961948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3096" y="961948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Gerente de canal (GKA / Regional / Atacado) · Revenue analytics · JBP com redes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622906"/>
            <a:ext cx="1417320" cy="64998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4592" y="1622906"/>
            <a:ext cx="32004" cy="64998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" y="1622906"/>
            <a:ext cx="1344168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GER. TRADE</a:t>
            </a:r>
          </a:p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MARKETING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1622906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5064" y="1622906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Não existe ou é analista de vendas com função híbrida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6" y="1622906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1622906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Operação de PDV · planograma · material promocional · ativação por bandeira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8232" y="1622906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3096" y="1622906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Shopper expert · category manager · analytics de sell-out · gestão de agências de campo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283864"/>
            <a:ext cx="1417320" cy="64998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" y="2283864"/>
            <a:ext cx="32004" cy="64998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" y="2283864"/>
            <a:ext cx="1344168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GER. MARKETING</a:t>
            </a:r>
          </a:p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DIGITAL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2283864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55064" y="2283864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Social media + conteúdo · pode ser terceirizado · não tem budget próprio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14216" y="2283864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2283864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Funil digital estruturado · CRM embrionário · mídia paga · integração com trade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28232" y="2283864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3096" y="2283864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Performance &amp; brand: SEO, CRM, D2C, analytics, influencer management, conteúdo premium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2944822"/>
            <a:ext cx="1417320" cy="64998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" y="2944822"/>
            <a:ext cx="32004" cy="64998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2944822"/>
            <a:ext cx="1344168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GER. CS /</a:t>
            </a:r>
          </a:p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LOGÍSTICA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2944822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55064" y="2944822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Pedido, faturamento, entrega · cuida de pós-venda básico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14216" y="2944822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9080" y="2944822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SLA de atendimento · gestão de distribuidores · KPIs: OTIF, ruptura, prazo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28232" y="2944822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3096" y="2944822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Supply chain integrado · demand planning · parceria GKA, fulfillment, e-commerce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4592" y="3605780"/>
            <a:ext cx="1417320" cy="64998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64592" y="3605780"/>
            <a:ext cx="32004" cy="64998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0312" y="3605780"/>
            <a:ext cx="1344168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GER. BI /</a:t>
            </a:r>
          </a:p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00200" y="3605780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55064" y="3605780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Não existe — dados no Excel do CEO ou de vendas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14216" y="3605780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9080" y="3605780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Nasce o papel: dashboards de sell-out, forecast básico, relatórios de sell-in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28232" y="3605780"/>
            <a:ext cx="2395728" cy="649986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3605780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Data-driven decision: modelos preditivos, pricing analytics, Nielsen/Euromonitor, CRM BI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" y="4266738"/>
            <a:ext cx="1417320" cy="649986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4592" y="4266738"/>
            <a:ext cx="32004" cy="64998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0312" y="4266738"/>
            <a:ext cx="1344168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COMPETÊNCIAS</a:t>
            </a:r>
          </a:p>
          <a:p>
            <a:pPr algn="l"/>
            <a:r>
              <a:rPr sz="650" b="1" i="0">
                <a:solidFill>
                  <a:srgbClr val="FFFFFF"/>
                </a:solidFill>
                <a:latin typeface="Calibri"/>
              </a:rPr>
              <a:t>COM. N2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4266738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55064" y="4266738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Executor diligente · foco em resultado · orientado ao cliente · aprende rápido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4266738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69080" y="4266738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Analítico + relacional · gere time pequeno · domina ferramenta (CRM, ERP, Nielsen)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28232" y="4266738"/>
            <a:ext cx="2395728" cy="649986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83096" y="4266738"/>
            <a:ext cx="2322576" cy="649986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50" b="0" i="0">
                <a:solidFill>
                  <a:srgbClr val="2D2D2D"/>
                </a:solidFill>
                <a:latin typeface="Calibri"/>
              </a:rPr>
              <a:t>Especialista técnico sênior · forma sucessores · influencia pares · KPI owner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" y="4942332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00" b="0" i="1">
                <a:solidFill>
                  <a:srgbClr val="6A6A6A"/>
                </a:solidFill>
                <a:latin typeface="Calibri"/>
              </a:rPr>
              <a:t>Orfeu · Material de uso interno · Liderança &amp; Organização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00" b="1" i="0">
                <a:solidFill>
                  <a:srgbClr val="C07028"/>
                </a:solidFill>
                <a:latin typeface="Calibri"/>
              </a:rPr>
              <a:t>SÍNTESE — O QUE MUDA NA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274320"/>
            <a:ext cx="8412480" cy="292608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400" b="1" i="0">
                <a:solidFill>
                  <a:srgbClr val="2A5C2E"/>
                </a:solidFill>
                <a:latin typeface="Calibri"/>
              </a:rPr>
              <a:t>Principais transições de liderança conforme a empresa cresce — 3 momentos críticos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" y="594360"/>
            <a:ext cx="8814816" cy="18288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85800"/>
            <a:ext cx="2913888" cy="640080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" y="740664"/>
            <a:ext cx="2785872" cy="237744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800" b="1" i="0">
                <a:solidFill>
                  <a:srgbClr val="F7F4ED"/>
                </a:solidFill>
                <a:latin typeface="Calibri"/>
              </a:rPr>
              <a:t>50–200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" y="1078992"/>
            <a:ext cx="2785872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ESTRUTURAÇÃO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83052" y="941832"/>
            <a:ext cx="32004" cy="12801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" y="1399032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399032"/>
            <a:ext cx="22860" cy="53035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" y="1399032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CEO ainda é o principal vendedor e operador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1975104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" y="1975104"/>
            <a:ext cx="22860" cy="53035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" y="1975104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N1 = Gerentes generalistas com perfil executor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551176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2551176"/>
            <a:ext cx="22860" cy="53035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" y="2551176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N2 quase não existe formalmente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3127248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4592" y="3127248"/>
            <a:ext cx="22860" cy="53035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" y="3127248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Processo mínimo viável: meta, rota, forecast básico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" y="3703320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3703320"/>
            <a:ext cx="22860" cy="53035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" y="3703320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Prioridade: conquistar primeiros clientes âncora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279392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592" y="4279392"/>
            <a:ext cx="22860" cy="530352"/>
          </a:xfrm>
          <a:prstGeom prst="rect">
            <a:avLst/>
          </a:prstGeom>
          <a:solidFill>
            <a:srgbClr val="2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" y="4279392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Risco: centralização e dependência do fundador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5056" y="685800"/>
            <a:ext cx="2913888" cy="640080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88208" y="740664"/>
            <a:ext cx="2785872" cy="237744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800" b="1" i="0">
                <a:solidFill>
                  <a:srgbClr val="2D2D2D"/>
                </a:solidFill>
                <a:latin typeface="Calibri"/>
              </a:rPr>
              <a:t>200–500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88208" y="1078992"/>
            <a:ext cx="2785872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50" b="1" i="0">
                <a:solidFill>
                  <a:srgbClr val="2D2D2D"/>
                </a:solidFill>
                <a:latin typeface="Calibri"/>
              </a:rPr>
              <a:t>PROFISSIONALIZAÇÃO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3516" y="941832"/>
            <a:ext cx="32004" cy="128016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15056" y="1399032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15056" y="1399032"/>
            <a:ext cx="22860" cy="53035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69920" y="1399032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CEO delega operação e foca em estratégia e pessoas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15056" y="1975104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15056" y="1975104"/>
            <a:ext cx="22860" cy="53035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69920" y="1975104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N1 assume P&amp;L: VP de Vendas e Marketing nascem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15056" y="2551176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15056" y="2551176"/>
            <a:ext cx="22860" cy="53035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69920" y="2551176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Trade Marketing estruturado — primeiro JBP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15056" y="3127248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15056" y="3127248"/>
            <a:ext cx="22860" cy="53035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69920" y="3127248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N2 se especializa: regional, digital, analytics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15056" y="3703320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15056" y="3703320"/>
            <a:ext cx="22860" cy="53035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69920" y="3703320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Processo: S&amp;OP, CRM, OKR, forecast por canal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15056" y="4279392"/>
            <a:ext cx="2913888" cy="530352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15056" y="4279392"/>
            <a:ext cx="22860" cy="530352"/>
          </a:xfrm>
          <a:prstGeom prst="rect">
            <a:avLst/>
          </a:prstGeom>
          <a:solidFill>
            <a:srgbClr val="C07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69920" y="4279392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Risco: N1 não consegue largar o operacional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65520" y="685800"/>
            <a:ext cx="2913888" cy="640080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8672" y="740664"/>
            <a:ext cx="2785872" cy="237744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1800" b="1" i="0">
                <a:solidFill>
                  <a:srgbClr val="F7F4ED"/>
                </a:solidFill>
                <a:latin typeface="Calibri"/>
              </a:rPr>
              <a:t>+500 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38672" y="1078992"/>
            <a:ext cx="2785872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ESCALA &amp; COMPLEXIDADE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65520" y="1399032"/>
            <a:ext cx="2913888" cy="53035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65520" y="1399032"/>
            <a:ext cx="22860" cy="53035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0384" y="1399032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CEO é mobilizador de cultura, capital e conselho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65520" y="1975104"/>
            <a:ext cx="2913888" cy="53035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65520" y="1975104"/>
            <a:ext cx="22860" cy="53035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20384" y="1975104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N1 lidera times &gt;20 com autonomia e OKRs próprios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65520" y="2551176"/>
            <a:ext cx="2913888" cy="53035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65520" y="2551176"/>
            <a:ext cx="22860" cy="53035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20384" y="2551176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N2 é especialista sênior e forma sucessores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65520" y="3127248"/>
            <a:ext cx="2913888" cy="53035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65520" y="3127248"/>
            <a:ext cx="22860" cy="53035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20384" y="3127248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Revenue management, pricing analytics, D2C ativo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65520" y="3703320"/>
            <a:ext cx="2913888" cy="53035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65520" y="3703320"/>
            <a:ext cx="22860" cy="53035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20384" y="3703320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Múltiplos canais e regiões com estratégia integrada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65520" y="4279392"/>
            <a:ext cx="2913888" cy="530352"/>
          </a:xfrm>
          <a:prstGeom prst="rect">
            <a:avLst/>
          </a:prstGeom>
          <a:solidFill>
            <a:srgbClr val="EB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65520" y="4279392"/>
            <a:ext cx="22860" cy="530352"/>
          </a:xfrm>
          <a:prstGeom prst="rect">
            <a:avLst/>
          </a:prstGeom>
          <a:solidFill>
            <a:srgbClr val="184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0384" y="4279392"/>
            <a:ext cx="2840736" cy="512064"/>
          </a:xfrm>
          <a:prstGeom prst="rect">
            <a:avLst/>
          </a:prstGeom>
          <a:noFill/>
        </p:spPr>
        <p:txBody>
          <a:bodyPr wrap="square" lIns="45720" rIns="27432" tIns="73152" bIns="9144">
            <a:spAutoFit/>
          </a:bodyPr>
          <a:lstStyle/>
          <a:p>
            <a:pPr algn="l"/>
            <a:r>
              <a:rPr sz="750" b="0" i="0">
                <a:solidFill>
                  <a:srgbClr val="2D2D2D"/>
                </a:solidFill>
                <a:latin typeface="Calibri"/>
              </a:rPr>
              <a:t>Risco: perda de agilidade, burocracia, distância do mercado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4592" y="4924044"/>
            <a:ext cx="8778240" cy="182880"/>
          </a:xfrm>
          <a:prstGeom prst="rect">
            <a:avLst/>
          </a:prstGeom>
          <a:noFill/>
        </p:spPr>
        <p:txBody>
          <a:bodyPr wrap="square" lIns="45720" rIns="27432" tIns="36576" bIns="9144">
            <a:spAutoFit/>
          </a:bodyPr>
          <a:lstStyle/>
          <a:p>
            <a:pPr algn="l"/>
            <a:r>
              <a:rPr sz="600" b="0" i="1">
                <a:solidFill>
                  <a:srgbClr val="6A6A6A"/>
                </a:solidFill>
                <a:latin typeface="Calibri"/>
              </a:rPr>
              <a:t>Orfeu · Material de uso interno · Liderança &amp; Organização — Parte 1 de 2 (Parte 2 depende de organograma e plano de expansão)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164591" y="128015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C07028"/>
                </a:solidFill>
              </a:defRPr>
            </a:lvl1pPr>
          </a:lstStyle>
          <a:p>
            <a:pPr/>
            <a:r>
              <a:t>LIDERANÇA &amp; ORGANIZAÇÃO — PARTE 2 DE 2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164591" y="320040"/>
            <a:ext cx="8778242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2A5C2E"/>
                </a:solidFill>
              </a:defRPr>
            </a:lvl1pPr>
          </a:lstStyle>
          <a:p>
            <a:pPr/>
            <a:r>
              <a:t>Capacidades Comerciais e Job Grading — Rumo a 2030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164591" y="868680"/>
            <a:ext cx="8778242" cy="265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6A6A6A"/>
                </a:solidFill>
              </a:defRPr>
            </a:lvl1pPr>
          </a:lstStyle>
          <a:p>
            <a:pPr/>
            <a:r>
              <a:t>Orfeu · Complementa a Matriz de Competências (Parte 1), agora com organograma real 2026-2030, Simulador Comercial recalibrado e plano de expansão (BR + EUA) prontos — insumo para o fechamento da iniciativa A13 ‘Visão de Gente 2030’.</a:t>
            </a:r>
          </a:p>
        </p:txBody>
      </p:sp>
      <p:sp>
        <p:nvSpPr>
          <p:cNvPr id="100" name="Rectangle 7"/>
          <p:cNvSpPr/>
          <p:nvPr/>
        </p:nvSpPr>
        <p:spPr>
          <a:xfrm>
            <a:off x="164591" y="1207007"/>
            <a:ext cx="2913890" cy="3520442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256031" y="1298447"/>
            <a:ext cx="2731010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50–200 M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256031" y="1554480"/>
            <a:ext cx="27310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R$ 50–200 mi</a:t>
            </a:r>
          </a:p>
        </p:txBody>
      </p:sp>
      <p:sp>
        <p:nvSpPr>
          <p:cNvPr id="103" name="Rectangle 10"/>
          <p:cNvSpPr/>
          <p:nvPr/>
        </p:nvSpPr>
        <p:spPr>
          <a:xfrm>
            <a:off x="164591" y="1737360"/>
            <a:ext cx="2913890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11"/>
          <p:cNvSpPr txBox="1"/>
          <p:nvPr/>
        </p:nvSpPr>
        <p:spPr>
          <a:xfrm>
            <a:off x="256031" y="1810511"/>
            <a:ext cx="27310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ESTÁGIO DE ESTRUTURAÇÃO</a:t>
            </a:r>
          </a:p>
        </p:txBody>
      </p:sp>
      <p:sp>
        <p:nvSpPr>
          <p:cNvPr id="105" name="TextBox 12"/>
          <p:cNvSpPr txBox="1"/>
          <p:nvPr/>
        </p:nvSpPr>
        <p:spPr>
          <a:xfrm>
            <a:off x="256031" y="2048255"/>
            <a:ext cx="2731010" cy="389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Time enxuto, CEO ainda vende. Foco em construir processos mínimos, conquistar primeiros clientes-chave e provar o modelo de go-to-market.</a:t>
            </a:r>
          </a:p>
        </p:txBody>
      </p:sp>
      <p:sp>
        <p:nvSpPr>
          <p:cNvPr id="106" name="Rectangle 13"/>
          <p:cNvSpPr/>
          <p:nvPr/>
        </p:nvSpPr>
        <p:spPr>
          <a:xfrm>
            <a:off x="3169920" y="1207007"/>
            <a:ext cx="2913889" cy="3520442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14"/>
          <p:cNvSpPr txBox="1"/>
          <p:nvPr/>
        </p:nvSpPr>
        <p:spPr>
          <a:xfrm>
            <a:off x="3261359" y="1298447"/>
            <a:ext cx="2731009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D2D2D"/>
                </a:solidFill>
              </a:defRPr>
            </a:lvl1pPr>
          </a:lstStyle>
          <a:p>
            <a:pPr/>
            <a:r>
              <a:t>200–500 M</a:t>
            </a:r>
          </a:p>
        </p:txBody>
      </p:sp>
      <p:sp>
        <p:nvSpPr>
          <p:cNvPr id="108" name="TextBox 15"/>
          <p:cNvSpPr txBox="1"/>
          <p:nvPr/>
        </p:nvSpPr>
        <p:spPr>
          <a:xfrm>
            <a:off x="3261359" y="1554480"/>
            <a:ext cx="27310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R$ 200–500 mi</a:t>
            </a:r>
          </a:p>
        </p:txBody>
      </p:sp>
      <p:sp>
        <p:nvSpPr>
          <p:cNvPr id="109" name="Rectangle 16"/>
          <p:cNvSpPr/>
          <p:nvPr/>
        </p:nvSpPr>
        <p:spPr>
          <a:xfrm>
            <a:off x="3169920" y="1737360"/>
            <a:ext cx="2913889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17"/>
          <p:cNvSpPr txBox="1"/>
          <p:nvPr/>
        </p:nvSpPr>
        <p:spPr>
          <a:xfrm>
            <a:off x="3261359" y="1810511"/>
            <a:ext cx="27310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2D2D2D"/>
                </a:solidFill>
              </a:defRPr>
            </a:lvl1pPr>
          </a:lstStyle>
          <a:p>
            <a:pPr/>
            <a:r>
              <a:t>ESTÁGIO DE PROFISSIONALIZAÇÃO</a:t>
            </a:r>
          </a:p>
        </p:txBody>
      </p:sp>
      <p:sp>
        <p:nvSpPr>
          <p:cNvPr id="111" name="TextBox 18"/>
          <p:cNvSpPr txBox="1"/>
          <p:nvPr/>
        </p:nvSpPr>
        <p:spPr>
          <a:xfrm>
            <a:off x="3261359" y="2048255"/>
            <a:ext cx="2731009" cy="389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Chegou a hora de especializar funções. CEO transita de operador a estrategista. N1 assume P&amp;L. Nasce o primeiro Trade Marketing estruturado — ORFEU ESTÁ AQUI a partir de 2027.</a:t>
            </a:r>
          </a:p>
        </p:txBody>
      </p:sp>
      <p:sp>
        <p:nvSpPr>
          <p:cNvPr id="112" name="Rectangle 19"/>
          <p:cNvSpPr/>
          <p:nvPr/>
        </p:nvSpPr>
        <p:spPr>
          <a:xfrm>
            <a:off x="6175247" y="1207007"/>
            <a:ext cx="2913889" cy="3520442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20"/>
          <p:cNvSpPr txBox="1"/>
          <p:nvPr/>
        </p:nvSpPr>
        <p:spPr>
          <a:xfrm>
            <a:off x="6266688" y="1298447"/>
            <a:ext cx="2731009" cy="24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+500 M</a:t>
            </a:r>
          </a:p>
        </p:txBody>
      </p:sp>
      <p:sp>
        <p:nvSpPr>
          <p:cNvPr id="114" name="TextBox 21"/>
          <p:cNvSpPr txBox="1"/>
          <p:nvPr/>
        </p:nvSpPr>
        <p:spPr>
          <a:xfrm>
            <a:off x="6266688" y="1554480"/>
            <a:ext cx="27310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R$ 500 mi+</a:t>
            </a:r>
          </a:p>
        </p:txBody>
      </p:sp>
      <p:sp>
        <p:nvSpPr>
          <p:cNvPr id="115" name="Rectangle 22"/>
          <p:cNvSpPr/>
          <p:nvPr/>
        </p:nvSpPr>
        <p:spPr>
          <a:xfrm>
            <a:off x="6175247" y="1737360"/>
            <a:ext cx="2913889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3"/>
          <p:cNvSpPr txBox="1"/>
          <p:nvPr/>
        </p:nvSpPr>
        <p:spPr>
          <a:xfrm>
            <a:off x="6266688" y="1810511"/>
            <a:ext cx="273100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ESTÁGIO DE ESCALA E COMPLEXIDADE</a:t>
            </a:r>
          </a:p>
        </p:txBody>
      </p:sp>
      <p:sp>
        <p:nvSpPr>
          <p:cNvPr id="117" name="TextBox 24"/>
          <p:cNvSpPr txBox="1"/>
          <p:nvPr/>
        </p:nvSpPr>
        <p:spPr>
          <a:xfrm>
            <a:off x="6266688" y="2048255"/>
            <a:ext cx="2731009" cy="389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rgbClr val="FFFFFF"/>
                </a:solidFill>
              </a:defRPr>
            </a:lvl1pPr>
          </a:lstStyle>
          <a:p>
            <a:pPr/>
            <a:r>
              <a:t>Multi-canal, multi-regional, possível internacional. N1 lidera times grandes com autonomia. Fora do horizonte 2026-2030 do Simulador (chega a R$432M em 2030).</a:t>
            </a:r>
          </a:p>
        </p:txBody>
      </p:sp>
      <p:sp>
        <p:nvSpPr>
          <p:cNvPr id="118" name="TextBox 25"/>
          <p:cNvSpPr txBox="1"/>
          <p:nvPr/>
        </p:nvSpPr>
        <p:spPr>
          <a:xfrm>
            <a:off x="164591" y="4850891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Parte 2 de 2 (base: Organograma real 2026-2030 + Simulador Comercial)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4"/>
          <p:cNvSpPr txBox="1"/>
          <p:nvPr/>
        </p:nvSpPr>
        <p:spPr>
          <a:xfrm>
            <a:off x="164591" y="9143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POSICIONAMENTO — RECEITA x ESTÁGIO DE CRESCIMENTO</a:t>
            </a:r>
          </a:p>
        </p:txBody>
      </p:sp>
      <p:sp>
        <p:nvSpPr>
          <p:cNvPr id="124" name="TextBox 5"/>
          <p:cNvSpPr txBox="1"/>
          <p:nvPr/>
        </p:nvSpPr>
        <p:spPr>
          <a:xfrm>
            <a:off x="164591" y="274320"/>
            <a:ext cx="87782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A5C2E"/>
                </a:solidFill>
              </a:defRPr>
            </a:lvl1pPr>
          </a:lstStyle>
          <a:p>
            <a:pPr/>
            <a:r>
              <a:t>A Orfeu cruza de Estruturação para Profissionalização em 2027</a:t>
            </a:r>
          </a:p>
        </p:txBody>
      </p:sp>
      <p:sp>
        <p:nvSpPr>
          <p:cNvPr id="125" name="Rectangle 6"/>
          <p:cNvSpPr/>
          <p:nvPr/>
        </p:nvSpPr>
        <p:spPr>
          <a:xfrm>
            <a:off x="164591" y="594359"/>
            <a:ext cx="8814818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7"/>
          <p:cNvSpPr txBox="1"/>
          <p:nvPr/>
        </p:nvSpPr>
        <p:spPr>
          <a:xfrm>
            <a:off x="164591" y="4924044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Liderança &amp; Organização — Parte 2 de 2</a:t>
            </a:r>
          </a:p>
        </p:txBody>
      </p:sp>
      <p:sp>
        <p:nvSpPr>
          <p:cNvPr id="127" name="Rectangle 8"/>
          <p:cNvSpPr/>
          <p:nvPr/>
        </p:nvSpPr>
        <p:spPr>
          <a:xfrm>
            <a:off x="164592" y="642647"/>
            <a:ext cx="1417320" cy="329185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9"/>
          <p:cNvSpPr/>
          <p:nvPr/>
        </p:nvSpPr>
        <p:spPr>
          <a:xfrm>
            <a:off x="1581911" y="642647"/>
            <a:ext cx="1256001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10"/>
          <p:cNvSpPr txBox="1"/>
          <p:nvPr/>
        </p:nvSpPr>
        <p:spPr>
          <a:xfrm>
            <a:off x="1627632" y="743739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2025</a:t>
            </a:r>
          </a:p>
        </p:txBody>
      </p:sp>
      <p:sp>
        <p:nvSpPr>
          <p:cNvPr id="130" name="Rectangle 11"/>
          <p:cNvSpPr/>
          <p:nvPr/>
        </p:nvSpPr>
        <p:spPr>
          <a:xfrm>
            <a:off x="2837912" y="642647"/>
            <a:ext cx="1256001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12"/>
          <p:cNvSpPr txBox="1"/>
          <p:nvPr/>
        </p:nvSpPr>
        <p:spPr>
          <a:xfrm>
            <a:off x="2883631" y="743739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132" name="Rectangle 13"/>
          <p:cNvSpPr/>
          <p:nvPr/>
        </p:nvSpPr>
        <p:spPr>
          <a:xfrm>
            <a:off x="4093912" y="642647"/>
            <a:ext cx="1256001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14"/>
          <p:cNvSpPr txBox="1"/>
          <p:nvPr/>
        </p:nvSpPr>
        <p:spPr>
          <a:xfrm>
            <a:off x="4139631" y="743739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2027</a:t>
            </a:r>
          </a:p>
        </p:txBody>
      </p:sp>
      <p:sp>
        <p:nvSpPr>
          <p:cNvPr id="134" name="Rectangle 15"/>
          <p:cNvSpPr/>
          <p:nvPr/>
        </p:nvSpPr>
        <p:spPr>
          <a:xfrm>
            <a:off x="5349911" y="642647"/>
            <a:ext cx="1256001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16"/>
          <p:cNvSpPr txBox="1"/>
          <p:nvPr/>
        </p:nvSpPr>
        <p:spPr>
          <a:xfrm>
            <a:off x="5395631" y="743739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2028</a:t>
            </a:r>
          </a:p>
        </p:txBody>
      </p:sp>
      <p:sp>
        <p:nvSpPr>
          <p:cNvPr id="136" name="Rectangle 17"/>
          <p:cNvSpPr/>
          <p:nvPr/>
        </p:nvSpPr>
        <p:spPr>
          <a:xfrm>
            <a:off x="6605912" y="642647"/>
            <a:ext cx="1256001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18"/>
          <p:cNvSpPr txBox="1"/>
          <p:nvPr/>
        </p:nvSpPr>
        <p:spPr>
          <a:xfrm>
            <a:off x="6651631" y="743739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2029</a:t>
            </a:r>
          </a:p>
        </p:txBody>
      </p:sp>
      <p:sp>
        <p:nvSpPr>
          <p:cNvPr id="138" name="Rectangle 19"/>
          <p:cNvSpPr/>
          <p:nvPr/>
        </p:nvSpPr>
        <p:spPr>
          <a:xfrm>
            <a:off x="7861912" y="642647"/>
            <a:ext cx="1900000" cy="329185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0"/>
          <p:cNvSpPr txBox="1"/>
          <p:nvPr/>
        </p:nvSpPr>
        <p:spPr>
          <a:xfrm>
            <a:off x="7907632" y="743739"/>
            <a:ext cx="18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2D2D2D"/>
                </a:solidFill>
              </a:defRPr>
            </a:lvl1pPr>
          </a:lstStyle>
          <a:p>
            <a:pPr/>
            <a:r>
              <a:t>2030</a:t>
            </a:r>
          </a:p>
        </p:txBody>
      </p:sp>
      <p:sp>
        <p:nvSpPr>
          <p:cNvPr id="140" name="Rectangle 21"/>
          <p:cNvSpPr/>
          <p:nvPr/>
        </p:nvSpPr>
        <p:spPr>
          <a:xfrm>
            <a:off x="164592" y="971831"/>
            <a:ext cx="1417320" cy="329185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Rectangle 22"/>
          <p:cNvSpPr/>
          <p:nvPr/>
        </p:nvSpPr>
        <p:spPr>
          <a:xfrm>
            <a:off x="164592" y="971831"/>
            <a:ext cx="32005" cy="329185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23"/>
          <p:cNvSpPr txBox="1"/>
          <p:nvPr/>
        </p:nvSpPr>
        <p:spPr>
          <a:xfrm>
            <a:off x="210311" y="1072923"/>
            <a:ext cx="135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Receita projetada</a:t>
            </a:r>
          </a:p>
        </p:txBody>
      </p:sp>
      <p:sp>
        <p:nvSpPr>
          <p:cNvPr id="143" name="Rectangle 24"/>
          <p:cNvSpPr/>
          <p:nvPr/>
        </p:nvSpPr>
        <p:spPr>
          <a:xfrm>
            <a:off x="1581911" y="971831"/>
            <a:ext cx="1256001" cy="329185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25"/>
          <p:cNvSpPr txBox="1"/>
          <p:nvPr/>
        </p:nvSpPr>
        <p:spPr>
          <a:xfrm>
            <a:off x="1636776" y="1072923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R$ 116,9 mi</a:t>
            </a:r>
          </a:p>
        </p:txBody>
      </p:sp>
      <p:sp>
        <p:nvSpPr>
          <p:cNvPr id="145" name="Rectangle 26"/>
          <p:cNvSpPr/>
          <p:nvPr/>
        </p:nvSpPr>
        <p:spPr>
          <a:xfrm>
            <a:off x="2837912" y="971831"/>
            <a:ext cx="1256001" cy="329185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27"/>
          <p:cNvSpPr txBox="1"/>
          <p:nvPr/>
        </p:nvSpPr>
        <p:spPr>
          <a:xfrm>
            <a:off x="2892775" y="1072923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R$ 163,0 mi</a:t>
            </a:r>
          </a:p>
        </p:txBody>
      </p:sp>
      <p:sp>
        <p:nvSpPr>
          <p:cNvPr id="147" name="Rectangle 28"/>
          <p:cNvSpPr/>
          <p:nvPr/>
        </p:nvSpPr>
        <p:spPr>
          <a:xfrm>
            <a:off x="4093912" y="971831"/>
            <a:ext cx="1256001" cy="329185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29"/>
          <p:cNvSpPr txBox="1"/>
          <p:nvPr/>
        </p:nvSpPr>
        <p:spPr>
          <a:xfrm>
            <a:off x="4148775" y="1072923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R$ 211,4 mi</a:t>
            </a:r>
          </a:p>
        </p:txBody>
      </p:sp>
      <p:sp>
        <p:nvSpPr>
          <p:cNvPr id="149" name="Rectangle 30"/>
          <p:cNvSpPr/>
          <p:nvPr/>
        </p:nvSpPr>
        <p:spPr>
          <a:xfrm>
            <a:off x="5349911" y="971831"/>
            <a:ext cx="1256001" cy="329185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31"/>
          <p:cNvSpPr txBox="1"/>
          <p:nvPr/>
        </p:nvSpPr>
        <p:spPr>
          <a:xfrm>
            <a:off x="5404775" y="1072923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R$ 271,7 mi</a:t>
            </a:r>
          </a:p>
        </p:txBody>
      </p:sp>
      <p:sp>
        <p:nvSpPr>
          <p:cNvPr id="151" name="Rectangle 32"/>
          <p:cNvSpPr/>
          <p:nvPr/>
        </p:nvSpPr>
        <p:spPr>
          <a:xfrm>
            <a:off x="6605912" y="971831"/>
            <a:ext cx="1256001" cy="329185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33"/>
          <p:cNvSpPr txBox="1"/>
          <p:nvPr/>
        </p:nvSpPr>
        <p:spPr>
          <a:xfrm>
            <a:off x="6660776" y="1072923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R$ 343,7 mi</a:t>
            </a:r>
          </a:p>
        </p:txBody>
      </p:sp>
      <p:sp>
        <p:nvSpPr>
          <p:cNvPr id="153" name="Rectangle 34"/>
          <p:cNvSpPr/>
          <p:nvPr/>
        </p:nvSpPr>
        <p:spPr>
          <a:xfrm>
            <a:off x="7861912" y="971831"/>
            <a:ext cx="1900000" cy="329185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35"/>
          <p:cNvSpPr txBox="1"/>
          <p:nvPr/>
        </p:nvSpPr>
        <p:spPr>
          <a:xfrm>
            <a:off x="7916775" y="1072923"/>
            <a:ext cx="18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R$ 432,4 mi</a:t>
            </a:r>
          </a:p>
        </p:txBody>
      </p:sp>
      <p:sp>
        <p:nvSpPr>
          <p:cNvPr id="155" name="Rectangle 36"/>
          <p:cNvSpPr/>
          <p:nvPr/>
        </p:nvSpPr>
        <p:spPr>
          <a:xfrm>
            <a:off x="164592" y="1301016"/>
            <a:ext cx="1417320" cy="46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Rectangle 37"/>
          <p:cNvSpPr/>
          <p:nvPr/>
        </p:nvSpPr>
        <p:spPr>
          <a:xfrm>
            <a:off x="164592" y="1301016"/>
            <a:ext cx="32005" cy="46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38"/>
          <p:cNvSpPr txBox="1"/>
          <p:nvPr/>
        </p:nvSpPr>
        <p:spPr>
          <a:xfrm>
            <a:off x="210311" y="1467515"/>
            <a:ext cx="135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Estágio (Parte 1)</a:t>
            </a:r>
          </a:p>
        </p:txBody>
      </p:sp>
      <p:sp>
        <p:nvSpPr>
          <p:cNvPr id="158" name="Rectangle 39"/>
          <p:cNvSpPr/>
          <p:nvPr/>
        </p:nvSpPr>
        <p:spPr>
          <a:xfrm>
            <a:off x="1581911" y="1301016"/>
            <a:ext cx="1256001" cy="46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40"/>
          <p:cNvSpPr txBox="1"/>
          <p:nvPr/>
        </p:nvSpPr>
        <p:spPr>
          <a:xfrm>
            <a:off x="1636776" y="1467515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Estruturação</a:t>
            </a:r>
          </a:p>
        </p:txBody>
      </p:sp>
      <p:sp>
        <p:nvSpPr>
          <p:cNvPr id="160" name="Rectangle 41"/>
          <p:cNvSpPr/>
          <p:nvPr/>
        </p:nvSpPr>
        <p:spPr>
          <a:xfrm>
            <a:off x="2837912" y="1301016"/>
            <a:ext cx="1256001" cy="46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42"/>
          <p:cNvSpPr txBox="1"/>
          <p:nvPr/>
        </p:nvSpPr>
        <p:spPr>
          <a:xfrm>
            <a:off x="2892775" y="1414181"/>
            <a:ext cx="1164561" cy="23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800">
                <a:solidFill>
                  <a:srgbClr val="2D2D2D"/>
                </a:solidFill>
              </a:defRPr>
            </a:pPr>
            <a:r>
              <a:t>Estruturação</a:t>
            </a:r>
          </a:p>
          <a:p>
            <a:pPr>
              <a:lnSpc>
                <a:spcPct val="102000"/>
              </a:lnSpc>
              <a:defRPr sz="800">
                <a:solidFill>
                  <a:srgbClr val="2D2D2D"/>
                </a:solidFill>
              </a:defRPr>
            </a:pPr>
            <a:r>
              <a:t>(teto da faixa)</a:t>
            </a:r>
          </a:p>
        </p:txBody>
      </p:sp>
      <p:sp>
        <p:nvSpPr>
          <p:cNvPr id="162" name="Rectangle 43"/>
          <p:cNvSpPr/>
          <p:nvPr/>
        </p:nvSpPr>
        <p:spPr>
          <a:xfrm>
            <a:off x="4093912" y="1301016"/>
            <a:ext cx="1256001" cy="46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44"/>
          <p:cNvSpPr txBox="1"/>
          <p:nvPr/>
        </p:nvSpPr>
        <p:spPr>
          <a:xfrm>
            <a:off x="4148775" y="1414181"/>
            <a:ext cx="1164561" cy="23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800">
                <a:solidFill>
                  <a:srgbClr val="2D2D2D"/>
                </a:solidFill>
              </a:defRPr>
            </a:pPr>
            <a:r>
              <a:t>Profissionalização</a:t>
            </a:r>
          </a:p>
          <a:p>
            <a:pPr>
              <a:lnSpc>
                <a:spcPct val="102000"/>
              </a:lnSpc>
              <a:defRPr sz="800">
                <a:solidFill>
                  <a:srgbClr val="2D2D2D"/>
                </a:solidFill>
              </a:defRPr>
            </a:pPr>
            <a:r>
              <a:t>(cruza a linha)</a:t>
            </a:r>
          </a:p>
        </p:txBody>
      </p:sp>
      <p:sp>
        <p:nvSpPr>
          <p:cNvPr id="164" name="Rectangle 45"/>
          <p:cNvSpPr/>
          <p:nvPr/>
        </p:nvSpPr>
        <p:spPr>
          <a:xfrm>
            <a:off x="5349911" y="1301016"/>
            <a:ext cx="1256001" cy="46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46"/>
          <p:cNvSpPr txBox="1"/>
          <p:nvPr/>
        </p:nvSpPr>
        <p:spPr>
          <a:xfrm>
            <a:off x="5404775" y="1467515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Profissionalização</a:t>
            </a:r>
          </a:p>
        </p:txBody>
      </p:sp>
      <p:sp>
        <p:nvSpPr>
          <p:cNvPr id="166" name="Rectangle 47"/>
          <p:cNvSpPr/>
          <p:nvPr/>
        </p:nvSpPr>
        <p:spPr>
          <a:xfrm>
            <a:off x="6605912" y="1301016"/>
            <a:ext cx="1256001" cy="46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48"/>
          <p:cNvSpPr txBox="1"/>
          <p:nvPr/>
        </p:nvSpPr>
        <p:spPr>
          <a:xfrm>
            <a:off x="6660776" y="1467515"/>
            <a:ext cx="116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Profissionalização</a:t>
            </a:r>
          </a:p>
        </p:txBody>
      </p:sp>
      <p:sp>
        <p:nvSpPr>
          <p:cNvPr id="168" name="Rectangle 49"/>
          <p:cNvSpPr/>
          <p:nvPr/>
        </p:nvSpPr>
        <p:spPr>
          <a:xfrm>
            <a:off x="7861912" y="1301016"/>
            <a:ext cx="1900000" cy="46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50"/>
          <p:cNvSpPr txBox="1"/>
          <p:nvPr/>
        </p:nvSpPr>
        <p:spPr>
          <a:xfrm>
            <a:off x="7916775" y="1414181"/>
            <a:ext cx="1808561" cy="23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800">
                <a:solidFill>
                  <a:srgbClr val="2D2D2D"/>
                </a:solidFill>
              </a:defRPr>
            </a:pPr>
            <a:r>
              <a:t>Profissionalização</a:t>
            </a:r>
          </a:p>
          <a:p>
            <a:pPr>
              <a:lnSpc>
                <a:spcPct val="102000"/>
              </a:lnSpc>
              <a:defRPr sz="800">
                <a:solidFill>
                  <a:srgbClr val="2D2D2D"/>
                </a:solidFill>
              </a:defRPr>
            </a:pPr>
            <a:r>
              <a:t>(não chega a +500M)</a:t>
            </a:r>
          </a:p>
        </p:txBody>
      </p:sp>
      <p:sp>
        <p:nvSpPr>
          <p:cNvPr id="170" name="TextBox 51"/>
          <p:cNvSpPr txBox="1"/>
          <p:nvPr/>
        </p:nvSpPr>
        <p:spPr>
          <a:xfrm>
            <a:off x="164591" y="1821015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700">
                <a:solidFill>
                  <a:srgbClr val="6A6A6A"/>
                </a:solidFill>
              </a:defRPr>
            </a:lvl1pPr>
          </a:lstStyle>
          <a:p>
            <a:pPr/>
            <a:r>
              <a:t>Base: fechamento real 2026 = R$163 mi (ago/2026) + curva recalibrada do Simulador Comercial (sinergia geográfica fora de SP/RJ). Fonte: 2026-08-05_Orfeu_Simulador-Comercial-Estados.xlsx, aba Resumo.</a:t>
            </a:r>
          </a:p>
        </p:txBody>
      </p:sp>
      <p:sp>
        <p:nvSpPr>
          <p:cNvPr id="171" name="Rectangle 52"/>
          <p:cNvSpPr/>
          <p:nvPr/>
        </p:nvSpPr>
        <p:spPr>
          <a:xfrm>
            <a:off x="164591" y="2061016"/>
            <a:ext cx="8814818" cy="90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Rectangle 53"/>
          <p:cNvSpPr/>
          <p:nvPr/>
        </p:nvSpPr>
        <p:spPr>
          <a:xfrm>
            <a:off x="164592" y="2061016"/>
            <a:ext cx="32005" cy="90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54"/>
          <p:cNvSpPr txBox="1"/>
          <p:nvPr/>
        </p:nvSpPr>
        <p:spPr>
          <a:xfrm>
            <a:off x="264592" y="2101015"/>
            <a:ext cx="8600000" cy="271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900">
                <a:solidFill>
                  <a:srgbClr val="2D2D2D"/>
                </a:solidFill>
              </a:defRPr>
            </a:lvl1pPr>
          </a:lstStyle>
          <a:p>
            <a:pPr/>
            <a:r>
              <a:t>Implicação direta da Parte 1: é exatamente nesta transição (2027, R$200M) que ‘nascem’ Dir. Trade Marketing e Ger. BI/Analytics — hoje ausentes do organograma formal da Orfeu. A curva de receita confirma o timing previsto pela matriz genérica da Parte 1 com dado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5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TextBox 4"/>
          <p:cNvSpPr txBox="1"/>
          <p:nvPr/>
        </p:nvSpPr>
        <p:spPr>
          <a:xfrm>
            <a:off x="164591" y="9143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VISÃO E PROJETOS — WORKSHOPS COMERCIAIS 2026</a:t>
            </a:r>
          </a:p>
        </p:txBody>
      </p:sp>
      <p:sp>
        <p:nvSpPr>
          <p:cNvPr id="179" name="TextBox 5"/>
          <p:cNvSpPr txBox="1"/>
          <p:nvPr/>
        </p:nvSpPr>
        <p:spPr>
          <a:xfrm>
            <a:off x="164591" y="274320"/>
            <a:ext cx="87782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A5C2E"/>
                </a:solidFill>
              </a:defRPr>
            </a:lvl1pPr>
          </a:lstStyle>
          <a:p>
            <a:pPr/>
            <a:r>
              <a:t>Cada frente de crescimento já mapeada exige um conjunto específico de capacidades</a:t>
            </a:r>
          </a:p>
        </p:txBody>
      </p:sp>
      <p:sp>
        <p:nvSpPr>
          <p:cNvPr id="180" name="Rectangle 6"/>
          <p:cNvSpPr/>
          <p:nvPr/>
        </p:nvSpPr>
        <p:spPr>
          <a:xfrm>
            <a:off x="164591" y="594359"/>
            <a:ext cx="8814818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7"/>
          <p:cNvSpPr txBox="1"/>
          <p:nvPr/>
        </p:nvSpPr>
        <p:spPr>
          <a:xfrm>
            <a:off x="164591" y="4924044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Liderança &amp; Organização — Parte 2 de 2</a:t>
            </a:r>
          </a:p>
        </p:txBody>
      </p:sp>
      <p:sp>
        <p:nvSpPr>
          <p:cNvPr id="182" name="Rectangle 8"/>
          <p:cNvSpPr/>
          <p:nvPr/>
        </p:nvSpPr>
        <p:spPr>
          <a:xfrm>
            <a:off x="164592" y="642647"/>
            <a:ext cx="2100000" cy="329185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Rectangle 9"/>
          <p:cNvSpPr/>
          <p:nvPr/>
        </p:nvSpPr>
        <p:spPr>
          <a:xfrm>
            <a:off x="2264592" y="642647"/>
            <a:ext cx="3400000" cy="329185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10"/>
          <p:cNvSpPr txBox="1"/>
          <p:nvPr/>
        </p:nvSpPr>
        <p:spPr>
          <a:xfrm>
            <a:off x="2310312" y="743739"/>
            <a:ext cx="33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2D2D2D"/>
                </a:solidFill>
              </a:defRPr>
            </a:lvl1pPr>
          </a:lstStyle>
          <a:p>
            <a:pPr/>
            <a:r>
              <a:t>O QUE É</a:t>
            </a:r>
          </a:p>
        </p:txBody>
      </p:sp>
      <p:sp>
        <p:nvSpPr>
          <p:cNvPr id="185" name="Rectangle 11"/>
          <p:cNvSpPr/>
          <p:nvPr/>
        </p:nvSpPr>
        <p:spPr>
          <a:xfrm>
            <a:off x="5664591" y="642647"/>
            <a:ext cx="3300001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12"/>
          <p:cNvSpPr txBox="1"/>
          <p:nvPr/>
        </p:nvSpPr>
        <p:spPr>
          <a:xfrm>
            <a:off x="5710311" y="743739"/>
            <a:ext cx="32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CAPACIDADES-CHAVE EXIGIDAS</a:t>
            </a:r>
          </a:p>
        </p:txBody>
      </p:sp>
      <p:sp>
        <p:nvSpPr>
          <p:cNvPr id="187" name="Rectangle 13"/>
          <p:cNvSpPr/>
          <p:nvPr/>
        </p:nvSpPr>
        <p:spPr>
          <a:xfrm>
            <a:off x="164592" y="971831"/>
            <a:ext cx="2100000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Rectangle 14"/>
          <p:cNvSpPr/>
          <p:nvPr/>
        </p:nvSpPr>
        <p:spPr>
          <a:xfrm>
            <a:off x="164592" y="971831"/>
            <a:ext cx="32005" cy="43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15"/>
          <p:cNvSpPr txBox="1"/>
          <p:nvPr/>
        </p:nvSpPr>
        <p:spPr>
          <a:xfrm>
            <a:off x="210311" y="1025192"/>
            <a:ext cx="2040002" cy="32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Playbook Omnichannel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Nacional (Colheita +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Plantio)</a:t>
            </a:r>
          </a:p>
        </p:txBody>
      </p:sp>
      <p:sp>
        <p:nvSpPr>
          <p:cNvPr id="190" name="Rectangle 16"/>
          <p:cNvSpPr/>
          <p:nvPr/>
        </p:nvSpPr>
        <p:spPr>
          <a:xfrm>
            <a:off x="2264592" y="971831"/>
            <a:ext cx="3400000" cy="43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17"/>
          <p:cNvSpPr txBox="1"/>
          <p:nvPr/>
        </p:nvSpPr>
        <p:spPr>
          <a:xfrm>
            <a:off x="2319455" y="1081395"/>
            <a:ext cx="330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25 iniciativas (A1-A25): consolidar SP/RJ maduro (Colheita) e expandir Curitiba, Campinas, Florianópolis, Balneário, PR/SC (Plantio).</a:t>
            </a:r>
          </a:p>
        </p:txBody>
      </p:sp>
      <p:sp>
        <p:nvSpPr>
          <p:cNvPr id="192" name="Rectangle 18"/>
          <p:cNvSpPr/>
          <p:nvPr/>
        </p:nvSpPr>
        <p:spPr>
          <a:xfrm>
            <a:off x="5664591" y="971831"/>
            <a:ext cx="3300001" cy="43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19"/>
          <p:cNvSpPr txBox="1"/>
          <p:nvPr/>
        </p:nvSpPr>
        <p:spPr>
          <a:xfrm>
            <a:off x="5719455" y="1081395"/>
            <a:ext cx="320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Gestão de portfólio de canais · GTM regionalizado · gestão de representantes terceiros · S&amp;OP</a:t>
            </a:r>
          </a:p>
        </p:txBody>
      </p:sp>
      <p:sp>
        <p:nvSpPr>
          <p:cNvPr id="194" name="Rectangle 20"/>
          <p:cNvSpPr/>
          <p:nvPr/>
        </p:nvSpPr>
        <p:spPr>
          <a:xfrm>
            <a:off x="164592" y="1401831"/>
            <a:ext cx="2100000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 21"/>
          <p:cNvSpPr/>
          <p:nvPr/>
        </p:nvSpPr>
        <p:spPr>
          <a:xfrm>
            <a:off x="164592" y="1401831"/>
            <a:ext cx="32005" cy="43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2"/>
          <p:cNvSpPr txBox="1"/>
          <p:nvPr/>
        </p:nvSpPr>
        <p:spPr>
          <a:xfrm>
            <a:off x="210311" y="1512342"/>
            <a:ext cx="2040002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Playbook EUA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(piloto South Florida)</a:t>
            </a:r>
          </a:p>
        </p:txBody>
      </p:sp>
      <p:sp>
        <p:nvSpPr>
          <p:cNvPr id="197" name="Rectangle 23"/>
          <p:cNvSpPr/>
          <p:nvPr/>
        </p:nvSpPr>
        <p:spPr>
          <a:xfrm>
            <a:off x="2264592" y="1401831"/>
            <a:ext cx="3400000" cy="43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24"/>
          <p:cNvSpPr txBox="1"/>
          <p:nvPr/>
        </p:nvSpPr>
        <p:spPr>
          <a:xfrm>
            <a:off x="2319455" y="1511395"/>
            <a:ext cx="330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19 iniciativas (US1-US19): HoReCa premium (Faena, Four Seasons, Ritz-Carlton) + varejo (Whole Foods, Publix) via distribuidor KeHE. Piloto 18 meses, EBITDA negativo até mês 24.</a:t>
            </a:r>
          </a:p>
        </p:txBody>
      </p:sp>
      <p:sp>
        <p:nvSpPr>
          <p:cNvPr id="199" name="Rectangle 25"/>
          <p:cNvSpPr/>
          <p:nvPr/>
        </p:nvSpPr>
        <p:spPr>
          <a:xfrm>
            <a:off x="5664591" y="1401831"/>
            <a:ext cx="3300001" cy="43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26"/>
          <p:cNvSpPr txBox="1"/>
          <p:nvPr/>
        </p:nvSpPr>
        <p:spPr>
          <a:xfrm>
            <a:off x="5719455" y="1511395"/>
            <a:ext cx="320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GTM internacional · gestão de distribuidor/broker · compliance de importação · estruturação financeira de piloto</a:t>
            </a:r>
          </a:p>
        </p:txBody>
      </p:sp>
      <p:sp>
        <p:nvSpPr>
          <p:cNvPr id="201" name="Rectangle 27"/>
          <p:cNvSpPr/>
          <p:nvPr/>
        </p:nvSpPr>
        <p:spPr>
          <a:xfrm>
            <a:off x="164592" y="1831831"/>
            <a:ext cx="2100000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Rectangle 28"/>
          <p:cNvSpPr/>
          <p:nvPr/>
        </p:nvSpPr>
        <p:spPr>
          <a:xfrm>
            <a:off x="164592" y="1831831"/>
            <a:ext cx="32005" cy="43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29"/>
          <p:cNvSpPr txBox="1"/>
          <p:nvPr/>
        </p:nvSpPr>
        <p:spPr>
          <a:xfrm>
            <a:off x="210311" y="1942342"/>
            <a:ext cx="2040002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Trade Marketing 2.0 &amp;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Category Management</a:t>
            </a:r>
          </a:p>
        </p:txBody>
      </p:sp>
      <p:sp>
        <p:nvSpPr>
          <p:cNvPr id="204" name="Rectangle 30"/>
          <p:cNvSpPr/>
          <p:nvPr/>
        </p:nvSpPr>
        <p:spPr>
          <a:xfrm>
            <a:off x="2264592" y="1831831"/>
            <a:ext cx="3400000" cy="43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31"/>
          <p:cNvSpPr txBox="1"/>
          <p:nvPr/>
        </p:nvSpPr>
        <p:spPr>
          <a:xfrm>
            <a:off x="2319455" y="1983332"/>
            <a:ext cx="33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Primeiro JBP formal, execução de PDV, ativação de categoria — hoje absorvido por Vendas.</a:t>
            </a:r>
          </a:p>
        </p:txBody>
      </p:sp>
      <p:sp>
        <p:nvSpPr>
          <p:cNvPr id="206" name="Rectangle 32"/>
          <p:cNvSpPr/>
          <p:nvPr/>
        </p:nvSpPr>
        <p:spPr>
          <a:xfrm>
            <a:off x="5664591" y="1831831"/>
            <a:ext cx="3300001" cy="43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33"/>
          <p:cNvSpPr txBox="1"/>
          <p:nvPr/>
        </p:nvSpPr>
        <p:spPr>
          <a:xfrm>
            <a:off x="5719455" y="1983332"/>
            <a:ext cx="32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Shopper insights · category management · sell-out analytics (Scanntech/Nielsen)</a:t>
            </a:r>
          </a:p>
        </p:txBody>
      </p:sp>
      <p:sp>
        <p:nvSpPr>
          <p:cNvPr id="208" name="Rectangle 34"/>
          <p:cNvSpPr/>
          <p:nvPr/>
        </p:nvSpPr>
        <p:spPr>
          <a:xfrm>
            <a:off x="164592" y="2261832"/>
            <a:ext cx="2100000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Rectangle 35"/>
          <p:cNvSpPr/>
          <p:nvPr/>
        </p:nvSpPr>
        <p:spPr>
          <a:xfrm>
            <a:off x="164592" y="2261832"/>
            <a:ext cx="32005" cy="43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36"/>
          <p:cNvSpPr txBox="1"/>
          <p:nvPr/>
        </p:nvSpPr>
        <p:spPr>
          <a:xfrm>
            <a:off x="210311" y="2372342"/>
            <a:ext cx="2040002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Transformação Digital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&amp; IA (PixelPulseLab)</a:t>
            </a:r>
          </a:p>
        </p:txBody>
      </p:sp>
      <p:sp>
        <p:nvSpPr>
          <p:cNvPr id="211" name="Rectangle 37"/>
          <p:cNvSpPr/>
          <p:nvPr/>
        </p:nvSpPr>
        <p:spPr>
          <a:xfrm>
            <a:off x="2264592" y="2261832"/>
            <a:ext cx="3400000" cy="43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38"/>
          <p:cNvSpPr txBox="1"/>
          <p:nvPr/>
        </p:nvSpPr>
        <p:spPr>
          <a:xfrm>
            <a:off x="2319455" y="2371395"/>
            <a:ext cx="330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Automação de Order-to-Cash B2B, IA para leads/GEO — decisão de escopo em aberto (R$780k-1M).</a:t>
            </a:r>
          </a:p>
        </p:txBody>
      </p:sp>
      <p:sp>
        <p:nvSpPr>
          <p:cNvPr id="213" name="Rectangle 39"/>
          <p:cNvSpPr/>
          <p:nvPr/>
        </p:nvSpPr>
        <p:spPr>
          <a:xfrm>
            <a:off x="5664591" y="2261832"/>
            <a:ext cx="3300001" cy="43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40"/>
          <p:cNvSpPr txBox="1"/>
          <p:nvPr/>
        </p:nvSpPr>
        <p:spPr>
          <a:xfrm>
            <a:off x="5719455" y="2413331"/>
            <a:ext cx="32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BI/analytics · gestão de fornecedores de tecnologia · product/process ownership</a:t>
            </a:r>
          </a:p>
        </p:txBody>
      </p:sp>
      <p:sp>
        <p:nvSpPr>
          <p:cNvPr id="215" name="Rectangle 41"/>
          <p:cNvSpPr/>
          <p:nvPr/>
        </p:nvSpPr>
        <p:spPr>
          <a:xfrm>
            <a:off x="164592" y="2691832"/>
            <a:ext cx="2100000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ectangle 42"/>
          <p:cNvSpPr/>
          <p:nvPr/>
        </p:nvSpPr>
        <p:spPr>
          <a:xfrm>
            <a:off x="164592" y="2691832"/>
            <a:ext cx="32005" cy="43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TextBox 43"/>
          <p:cNvSpPr txBox="1"/>
          <p:nvPr/>
        </p:nvSpPr>
        <p:spPr>
          <a:xfrm>
            <a:off x="210311" y="2802342"/>
            <a:ext cx="2040002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Loja Conceito /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Flagship (meta ~2029)</a:t>
            </a:r>
          </a:p>
        </p:txBody>
      </p:sp>
      <p:sp>
        <p:nvSpPr>
          <p:cNvPr id="218" name="Rectangle 44"/>
          <p:cNvSpPr/>
          <p:nvPr/>
        </p:nvSpPr>
        <p:spPr>
          <a:xfrm>
            <a:off x="2264592" y="2691832"/>
            <a:ext cx="3400000" cy="43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45"/>
          <p:cNvSpPr txBox="1"/>
          <p:nvPr/>
        </p:nvSpPr>
        <p:spPr>
          <a:xfrm>
            <a:off x="2319455" y="2843332"/>
            <a:ext cx="33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Plano de 3 anos para abrir loja flagship em SP.</a:t>
            </a:r>
          </a:p>
        </p:txBody>
      </p:sp>
      <p:sp>
        <p:nvSpPr>
          <p:cNvPr id="220" name="Rectangle 46"/>
          <p:cNvSpPr/>
          <p:nvPr/>
        </p:nvSpPr>
        <p:spPr>
          <a:xfrm>
            <a:off x="5664591" y="2691832"/>
            <a:ext cx="3300001" cy="43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47"/>
          <p:cNvSpPr txBox="1"/>
          <p:nvPr/>
        </p:nvSpPr>
        <p:spPr>
          <a:xfrm>
            <a:off x="5719455" y="2843332"/>
            <a:ext cx="32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Retail operations · brand experience · P&amp;L de loja própria</a:t>
            </a:r>
          </a:p>
        </p:txBody>
      </p:sp>
      <p:sp>
        <p:nvSpPr>
          <p:cNvPr id="222" name="Rectangle 48"/>
          <p:cNvSpPr/>
          <p:nvPr/>
        </p:nvSpPr>
        <p:spPr>
          <a:xfrm>
            <a:off x="164592" y="3121831"/>
            <a:ext cx="2100000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Rectangle 49"/>
          <p:cNvSpPr/>
          <p:nvPr/>
        </p:nvSpPr>
        <p:spPr>
          <a:xfrm>
            <a:off x="164592" y="3121831"/>
            <a:ext cx="32005" cy="43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extBox 50"/>
          <p:cNvSpPr txBox="1"/>
          <p:nvPr/>
        </p:nvSpPr>
        <p:spPr>
          <a:xfrm>
            <a:off x="210311" y="3232342"/>
            <a:ext cx="2040002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Desenvolvimento de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Negócios &amp; Novos Mercados</a:t>
            </a:r>
          </a:p>
        </p:txBody>
      </p:sp>
      <p:sp>
        <p:nvSpPr>
          <p:cNvPr id="225" name="Rectangle 51"/>
          <p:cNvSpPr/>
          <p:nvPr/>
        </p:nvSpPr>
        <p:spPr>
          <a:xfrm>
            <a:off x="2264592" y="3121831"/>
            <a:ext cx="3400000" cy="43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52"/>
          <p:cNvSpPr txBox="1"/>
          <p:nvPr/>
        </p:nvSpPr>
        <p:spPr>
          <a:xfrm>
            <a:off x="2319455" y="3231395"/>
            <a:ext cx="330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Exportação + entrada nos EUA. Dono do projeto EUA ainda em aberto (Grazi ou GM, per WS).</a:t>
            </a:r>
          </a:p>
        </p:txBody>
      </p:sp>
      <p:sp>
        <p:nvSpPr>
          <p:cNvPr id="227" name="Rectangle 53"/>
          <p:cNvSpPr/>
          <p:nvPr/>
        </p:nvSpPr>
        <p:spPr>
          <a:xfrm>
            <a:off x="5664591" y="3121831"/>
            <a:ext cx="3300001" cy="43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54"/>
          <p:cNvSpPr txBox="1"/>
          <p:nvPr/>
        </p:nvSpPr>
        <p:spPr>
          <a:xfrm>
            <a:off x="5719455" y="3273331"/>
            <a:ext cx="32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Originação de parcerias · inteligência de mercado internacional · estruturação de deals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0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4"/>
          <p:cNvSpPr txBox="1"/>
          <p:nvPr/>
        </p:nvSpPr>
        <p:spPr>
          <a:xfrm>
            <a:off x="164591" y="9143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ESTRUTURA — DIRETORIA COMERCIAL</a:t>
            </a:r>
          </a:p>
        </p:txBody>
      </p:sp>
      <p:sp>
        <p:nvSpPr>
          <p:cNvPr id="234" name="TextBox 5"/>
          <p:cNvSpPr txBox="1"/>
          <p:nvPr/>
        </p:nvSpPr>
        <p:spPr>
          <a:xfrm>
            <a:off x="164591" y="274320"/>
            <a:ext cx="87782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A5C2E"/>
                </a:solidFill>
              </a:defRPr>
            </a:lvl1pPr>
          </a:lstStyle>
          <a:p>
            <a:pPr/>
            <a:r>
              <a:t>Augusto hoje concentra 7 frentes — a curva de receita já pede 2 Diretorias</a:t>
            </a:r>
          </a:p>
        </p:txBody>
      </p:sp>
      <p:sp>
        <p:nvSpPr>
          <p:cNvPr id="235" name="Rectangle 6"/>
          <p:cNvSpPr/>
          <p:nvPr/>
        </p:nvSpPr>
        <p:spPr>
          <a:xfrm>
            <a:off x="164591" y="594359"/>
            <a:ext cx="8814818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6" name="TextBox 7"/>
          <p:cNvSpPr txBox="1"/>
          <p:nvPr/>
        </p:nvSpPr>
        <p:spPr>
          <a:xfrm>
            <a:off x="164591" y="4924044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Liderança &amp; Organização — Parte 2 de 2</a:t>
            </a:r>
          </a:p>
        </p:txBody>
      </p:sp>
      <p:sp>
        <p:nvSpPr>
          <p:cNvPr id="237" name="Rectangle 8"/>
          <p:cNvSpPr/>
          <p:nvPr/>
        </p:nvSpPr>
        <p:spPr>
          <a:xfrm>
            <a:off x="164592" y="642647"/>
            <a:ext cx="4300000" cy="26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9"/>
          <p:cNvSpPr txBox="1"/>
          <p:nvPr/>
        </p:nvSpPr>
        <p:spPr>
          <a:xfrm>
            <a:off x="244591" y="704112"/>
            <a:ext cx="414000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HOJE (2026) — 1 Diretoria, 7 reports diretos</a:t>
            </a:r>
          </a:p>
        </p:txBody>
      </p:sp>
      <p:sp>
        <p:nvSpPr>
          <p:cNvPr id="239" name="Rectangle 10"/>
          <p:cNvSpPr/>
          <p:nvPr/>
        </p:nvSpPr>
        <p:spPr>
          <a:xfrm>
            <a:off x="164592" y="902648"/>
            <a:ext cx="4300000" cy="70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11"/>
          <p:cNvSpPr txBox="1"/>
          <p:nvPr/>
        </p:nvSpPr>
        <p:spPr>
          <a:xfrm>
            <a:off x="244591" y="922648"/>
            <a:ext cx="414000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2A5C2E"/>
                </a:solidFill>
              </a:defRPr>
            </a:lvl1pPr>
          </a:lstStyle>
          <a:p>
            <a:pPr/>
            <a:r>
              <a:t>Augusto — Diretor Comercial</a:t>
            </a:r>
          </a:p>
        </p:txBody>
      </p:sp>
      <p:sp>
        <p:nvSpPr>
          <p:cNvPr id="241" name="Rectangle 12"/>
          <p:cNvSpPr/>
          <p:nvPr/>
        </p:nvSpPr>
        <p:spPr>
          <a:xfrm>
            <a:off x="164592" y="1652647"/>
            <a:ext cx="4300000" cy="305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13"/>
          <p:cNvSpPr txBox="1"/>
          <p:nvPr/>
        </p:nvSpPr>
        <p:spPr>
          <a:xfrm>
            <a:off x="244591" y="1741647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Priscila — Gerente Varejo</a:t>
            </a:r>
          </a:p>
        </p:txBody>
      </p:sp>
      <p:sp>
        <p:nvSpPr>
          <p:cNvPr id="243" name="Rectangle 14"/>
          <p:cNvSpPr/>
          <p:nvPr/>
        </p:nvSpPr>
        <p:spPr>
          <a:xfrm>
            <a:off x="164592" y="1957647"/>
            <a:ext cx="4300000" cy="305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15"/>
          <p:cNvSpPr txBox="1"/>
          <p:nvPr/>
        </p:nvSpPr>
        <p:spPr>
          <a:xfrm>
            <a:off x="244591" y="2046647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Cristiane Pagano — Gerente B2B</a:t>
            </a:r>
          </a:p>
        </p:txBody>
      </p:sp>
      <p:sp>
        <p:nvSpPr>
          <p:cNvPr id="245" name="Rectangle 16"/>
          <p:cNvSpPr/>
          <p:nvPr/>
        </p:nvSpPr>
        <p:spPr>
          <a:xfrm>
            <a:off x="164592" y="2262647"/>
            <a:ext cx="4300000" cy="305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17"/>
          <p:cNvSpPr txBox="1"/>
          <p:nvPr/>
        </p:nvSpPr>
        <p:spPr>
          <a:xfrm>
            <a:off x="244591" y="2351647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Amanda Lopes — Inteligência / Amazon</a:t>
            </a:r>
          </a:p>
        </p:txBody>
      </p:sp>
      <p:sp>
        <p:nvSpPr>
          <p:cNvPr id="247" name="Rectangle 18"/>
          <p:cNvSpPr/>
          <p:nvPr/>
        </p:nvSpPr>
        <p:spPr>
          <a:xfrm>
            <a:off x="164592" y="2567647"/>
            <a:ext cx="4300000" cy="305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19"/>
          <p:cNvSpPr txBox="1"/>
          <p:nvPr/>
        </p:nvSpPr>
        <p:spPr>
          <a:xfrm>
            <a:off x="244591" y="2656647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Ana Cláudia — Consumidor</a:t>
            </a:r>
          </a:p>
        </p:txBody>
      </p:sp>
      <p:sp>
        <p:nvSpPr>
          <p:cNvPr id="249" name="Rectangle 20"/>
          <p:cNvSpPr/>
          <p:nvPr/>
        </p:nvSpPr>
        <p:spPr>
          <a:xfrm>
            <a:off x="164592" y="2872647"/>
            <a:ext cx="4300000" cy="305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21"/>
          <p:cNvSpPr txBox="1"/>
          <p:nvPr/>
        </p:nvSpPr>
        <p:spPr>
          <a:xfrm>
            <a:off x="244591" y="2961647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Renato — Mercado Livre</a:t>
            </a:r>
          </a:p>
        </p:txBody>
      </p:sp>
      <p:sp>
        <p:nvSpPr>
          <p:cNvPr id="251" name="Rectangle 22"/>
          <p:cNvSpPr/>
          <p:nvPr/>
        </p:nvSpPr>
        <p:spPr>
          <a:xfrm>
            <a:off x="164592" y="3177648"/>
            <a:ext cx="4300000" cy="305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23"/>
          <p:cNvSpPr txBox="1"/>
          <p:nvPr/>
        </p:nvSpPr>
        <p:spPr>
          <a:xfrm>
            <a:off x="244591" y="3266648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Grazielle — Exportação</a:t>
            </a:r>
          </a:p>
        </p:txBody>
      </p:sp>
      <p:sp>
        <p:nvSpPr>
          <p:cNvPr id="253" name="Rectangle 24"/>
          <p:cNvSpPr/>
          <p:nvPr/>
        </p:nvSpPr>
        <p:spPr>
          <a:xfrm>
            <a:off x="164592" y="3584247"/>
            <a:ext cx="4300000" cy="305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25"/>
          <p:cNvSpPr txBox="1"/>
          <p:nvPr/>
        </p:nvSpPr>
        <p:spPr>
          <a:xfrm>
            <a:off x="244591" y="3673247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Silvia Laliny — Trade Marketing (Já foi Augusto e hoje está no Fabio)</a:t>
            </a:r>
          </a:p>
        </p:txBody>
      </p:sp>
      <p:sp>
        <p:nvSpPr>
          <p:cNvPr id="255" name="Rectangle 26"/>
          <p:cNvSpPr/>
          <p:nvPr/>
        </p:nvSpPr>
        <p:spPr>
          <a:xfrm>
            <a:off x="4679408" y="642647"/>
            <a:ext cx="4300001" cy="26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27"/>
          <p:cNvSpPr txBox="1"/>
          <p:nvPr/>
        </p:nvSpPr>
        <p:spPr>
          <a:xfrm>
            <a:off x="4759407" y="704112"/>
            <a:ext cx="4140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2D2D2D"/>
                </a:solidFill>
              </a:defRPr>
            </a:lvl1pPr>
          </a:lstStyle>
          <a:p>
            <a:pPr/>
            <a:r>
              <a:t>PROPOSTA (2027+) — 2 Diretorias especializadas</a:t>
            </a:r>
          </a:p>
        </p:txBody>
      </p:sp>
      <p:sp>
        <p:nvSpPr>
          <p:cNvPr id="257" name="Rectangle 28"/>
          <p:cNvSpPr/>
          <p:nvPr/>
        </p:nvSpPr>
        <p:spPr>
          <a:xfrm>
            <a:off x="4679408" y="902648"/>
            <a:ext cx="4300001" cy="48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29"/>
          <p:cNvSpPr txBox="1"/>
          <p:nvPr/>
        </p:nvSpPr>
        <p:spPr>
          <a:xfrm>
            <a:off x="4759407" y="917647"/>
            <a:ext cx="4140001" cy="236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4999"/>
              </a:lnSpc>
              <a:defRPr b="1" sz="800">
                <a:solidFill>
                  <a:srgbClr val="2A5C2E"/>
                </a:solidFill>
              </a:defRPr>
            </a:pPr>
            <a:r>
              <a:t>Diretoria Comercial (Vendas) — Augusto</a:t>
            </a:r>
          </a:p>
          <a:p>
            <a:pPr>
              <a:lnSpc>
                <a:spcPct val="104999"/>
              </a:lnSpc>
              <a:defRPr b="1" sz="800">
                <a:solidFill>
                  <a:srgbClr val="2A5C2E"/>
                </a:solidFill>
              </a:defRPr>
            </a:pPr>
            <a:r>
              <a:t>Varejo + B2B · R$313 mi em 2030 (72% da receita)</a:t>
            </a:r>
          </a:p>
        </p:txBody>
      </p:sp>
      <p:sp>
        <p:nvSpPr>
          <p:cNvPr id="259" name="Rectangle 30"/>
          <p:cNvSpPr/>
          <p:nvPr/>
        </p:nvSpPr>
        <p:spPr>
          <a:xfrm>
            <a:off x="4679408" y="1382647"/>
            <a:ext cx="4300001" cy="305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TextBox 31"/>
          <p:cNvSpPr txBox="1"/>
          <p:nvPr/>
        </p:nvSpPr>
        <p:spPr>
          <a:xfrm>
            <a:off x="4759407" y="1471647"/>
            <a:ext cx="41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Priscila — Gerente Varejo</a:t>
            </a:r>
          </a:p>
        </p:txBody>
      </p:sp>
      <p:sp>
        <p:nvSpPr>
          <p:cNvPr id="261" name="Rectangle 32"/>
          <p:cNvSpPr/>
          <p:nvPr/>
        </p:nvSpPr>
        <p:spPr>
          <a:xfrm>
            <a:off x="4679408" y="1687647"/>
            <a:ext cx="4300001" cy="305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33"/>
          <p:cNvSpPr txBox="1"/>
          <p:nvPr/>
        </p:nvSpPr>
        <p:spPr>
          <a:xfrm>
            <a:off x="4759407" y="1776647"/>
            <a:ext cx="41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Cristiane Pagano — Gerente B2B</a:t>
            </a:r>
          </a:p>
        </p:txBody>
      </p:sp>
      <p:sp>
        <p:nvSpPr>
          <p:cNvPr id="263" name="Rectangle 34"/>
          <p:cNvSpPr/>
          <p:nvPr/>
        </p:nvSpPr>
        <p:spPr>
          <a:xfrm>
            <a:off x="4679408" y="2032648"/>
            <a:ext cx="4300001" cy="48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TextBox 35"/>
          <p:cNvSpPr txBox="1"/>
          <p:nvPr/>
        </p:nvSpPr>
        <p:spPr>
          <a:xfrm>
            <a:off x="4759407" y="2047648"/>
            <a:ext cx="4140001" cy="236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4999"/>
              </a:lnSpc>
              <a:defRPr b="1" sz="800">
                <a:solidFill>
                  <a:srgbClr val="2A5C2E"/>
                </a:solidFill>
              </a:defRPr>
            </a:pPr>
            <a:r>
              <a:t>NOVA: Dir. Trade Marketing e Desenv. de Negócios — a definir</a:t>
            </a:r>
          </a:p>
          <a:p>
            <a:pPr>
              <a:lnSpc>
                <a:spcPct val="104999"/>
              </a:lnSpc>
              <a:defRPr b="1" sz="800">
                <a:solidFill>
                  <a:srgbClr val="2A5C2E"/>
                </a:solidFill>
              </a:defRPr>
            </a:pPr>
            <a:r>
              <a:t>Online + Trade + Inteligência · R$119 mi+ direto em 2030 (28%)</a:t>
            </a:r>
          </a:p>
        </p:txBody>
      </p:sp>
      <p:sp>
        <p:nvSpPr>
          <p:cNvPr id="265" name="Rectangle 36"/>
          <p:cNvSpPr/>
          <p:nvPr/>
        </p:nvSpPr>
        <p:spPr>
          <a:xfrm>
            <a:off x="4679408" y="2527648"/>
            <a:ext cx="4300001" cy="26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37"/>
          <p:cNvSpPr txBox="1"/>
          <p:nvPr/>
        </p:nvSpPr>
        <p:spPr>
          <a:xfrm>
            <a:off x="4759407" y="2594148"/>
            <a:ext cx="41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Silvia Laliny e Edimara — Trade Marketing e eventos</a:t>
            </a:r>
          </a:p>
        </p:txBody>
      </p:sp>
      <p:sp>
        <p:nvSpPr>
          <p:cNvPr id="267" name="Rectangle 38"/>
          <p:cNvSpPr/>
          <p:nvPr/>
        </p:nvSpPr>
        <p:spPr>
          <a:xfrm>
            <a:off x="4679408" y="2787648"/>
            <a:ext cx="4300001" cy="26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39"/>
          <p:cNvSpPr txBox="1"/>
          <p:nvPr/>
        </p:nvSpPr>
        <p:spPr>
          <a:xfrm>
            <a:off x="4759407" y="2854148"/>
            <a:ext cx="41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Amanda Lopes — Online + Inteligência</a:t>
            </a:r>
          </a:p>
        </p:txBody>
      </p:sp>
      <p:sp>
        <p:nvSpPr>
          <p:cNvPr id="269" name="Rectangle 40"/>
          <p:cNvSpPr/>
          <p:nvPr/>
        </p:nvSpPr>
        <p:spPr>
          <a:xfrm>
            <a:off x="4679408" y="3047648"/>
            <a:ext cx="4300001" cy="26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41"/>
          <p:cNvSpPr txBox="1"/>
          <p:nvPr/>
        </p:nvSpPr>
        <p:spPr>
          <a:xfrm>
            <a:off x="4759407" y="3114148"/>
            <a:ext cx="41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Renato — Mercado Livre (Online)</a:t>
            </a:r>
          </a:p>
        </p:txBody>
      </p:sp>
      <p:sp>
        <p:nvSpPr>
          <p:cNvPr id="271" name="Rectangle 42"/>
          <p:cNvSpPr/>
          <p:nvPr/>
        </p:nvSpPr>
        <p:spPr>
          <a:xfrm>
            <a:off x="4679408" y="3307648"/>
            <a:ext cx="4300001" cy="26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43"/>
          <p:cNvSpPr txBox="1"/>
          <p:nvPr/>
        </p:nvSpPr>
        <p:spPr>
          <a:xfrm>
            <a:off x="4759407" y="3374147"/>
            <a:ext cx="41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Grazielle — Exportação + Novos Mercados</a:t>
            </a:r>
          </a:p>
        </p:txBody>
      </p:sp>
      <p:sp>
        <p:nvSpPr>
          <p:cNvPr id="273" name="Rectangle 44"/>
          <p:cNvSpPr/>
          <p:nvPr/>
        </p:nvSpPr>
        <p:spPr>
          <a:xfrm>
            <a:off x="4679408" y="3567648"/>
            <a:ext cx="4300001" cy="26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4" name="TextBox 45"/>
          <p:cNvSpPr txBox="1"/>
          <p:nvPr/>
        </p:nvSpPr>
        <p:spPr>
          <a:xfrm>
            <a:off x="4759407" y="3634147"/>
            <a:ext cx="414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Ana Cláudia — Consumidor + Inteligência</a:t>
            </a:r>
          </a:p>
        </p:txBody>
      </p:sp>
      <p:sp>
        <p:nvSpPr>
          <p:cNvPr id="275" name="TextBox 46"/>
          <p:cNvSpPr txBox="1"/>
          <p:nvPr/>
        </p:nvSpPr>
        <p:spPr>
          <a:xfrm>
            <a:off x="164591" y="469999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i="1" sz="700">
                <a:solidFill>
                  <a:srgbClr val="6A6A6A"/>
                </a:solidFill>
              </a:defRPr>
            </a:lvl1pPr>
          </a:lstStyle>
          <a:p>
            <a:pPr/>
            <a:r>
              <a:t>Consistente com a Parte 1: ‘Dir. Trade Marketing nasce no estágio de Profissionalização’. US18 já registra a pergunta em aberto ‘dono do projeto EUA — Grazi ou GM’, reforçando que Desenvolvimento de Negócios já está em discussão na Orfeu.</a:t>
            </a:r>
          </a:p>
        </p:txBody>
      </p:sp>
      <p:sp>
        <p:nvSpPr>
          <p:cNvPr id="276" name="Rectangle 22"/>
          <p:cNvSpPr/>
          <p:nvPr/>
        </p:nvSpPr>
        <p:spPr>
          <a:xfrm>
            <a:off x="151892" y="3863447"/>
            <a:ext cx="4300000" cy="305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23"/>
          <p:cNvSpPr txBox="1"/>
          <p:nvPr/>
        </p:nvSpPr>
        <p:spPr>
          <a:xfrm>
            <a:off x="231891" y="3952448"/>
            <a:ext cx="414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Edimara — Eventos (Já foi Merchandising e hoje está no Fabio)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9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4"/>
          <p:cNvSpPr txBox="1"/>
          <p:nvPr/>
        </p:nvSpPr>
        <p:spPr>
          <a:xfrm>
            <a:off x="164591" y="9143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ESTRUTURA — GERÊNCIA COMERCIAL (N2)</a:t>
            </a:r>
          </a:p>
        </p:txBody>
      </p:sp>
      <p:sp>
        <p:nvSpPr>
          <p:cNvPr id="283" name="TextBox 5"/>
          <p:cNvSpPr txBox="1"/>
          <p:nvPr/>
        </p:nvSpPr>
        <p:spPr>
          <a:xfrm>
            <a:off x="164591" y="274320"/>
            <a:ext cx="87782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A5C2E"/>
                </a:solidFill>
              </a:defRPr>
            </a:lvl1pPr>
          </a:lstStyle>
          <a:p>
            <a:pPr/>
            <a:r>
              <a:t>Squads de gerência crescem e se especializam junto com o headcount</a:t>
            </a:r>
          </a:p>
        </p:txBody>
      </p:sp>
      <p:sp>
        <p:nvSpPr>
          <p:cNvPr id="284" name="Rectangle 6"/>
          <p:cNvSpPr/>
          <p:nvPr/>
        </p:nvSpPr>
        <p:spPr>
          <a:xfrm>
            <a:off x="164591" y="594359"/>
            <a:ext cx="8814818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5" name="TextBox 7"/>
          <p:cNvSpPr txBox="1"/>
          <p:nvPr/>
        </p:nvSpPr>
        <p:spPr>
          <a:xfrm>
            <a:off x="164591" y="4924044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Liderança &amp; Organização — Parte 2 de 2</a:t>
            </a:r>
          </a:p>
        </p:txBody>
      </p:sp>
      <p:sp>
        <p:nvSpPr>
          <p:cNvPr id="286" name="Rectangle 8"/>
          <p:cNvSpPr/>
          <p:nvPr/>
        </p:nvSpPr>
        <p:spPr>
          <a:xfrm>
            <a:off x="164592" y="642647"/>
            <a:ext cx="1750000" cy="329185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9"/>
          <p:cNvSpPr/>
          <p:nvPr/>
        </p:nvSpPr>
        <p:spPr>
          <a:xfrm>
            <a:off x="1914592" y="642647"/>
            <a:ext cx="3450000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10"/>
          <p:cNvSpPr txBox="1"/>
          <p:nvPr/>
        </p:nvSpPr>
        <p:spPr>
          <a:xfrm>
            <a:off x="1960311" y="743739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HOJE (2026 real)</a:t>
            </a:r>
          </a:p>
        </p:txBody>
      </p:sp>
      <p:sp>
        <p:nvSpPr>
          <p:cNvPr id="289" name="Rectangle 11"/>
          <p:cNvSpPr/>
          <p:nvPr/>
        </p:nvSpPr>
        <p:spPr>
          <a:xfrm>
            <a:off x="5364591" y="642647"/>
            <a:ext cx="3600001" cy="329185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12"/>
          <p:cNvSpPr txBox="1"/>
          <p:nvPr/>
        </p:nvSpPr>
        <p:spPr>
          <a:xfrm>
            <a:off x="5410312" y="743739"/>
            <a:ext cx="3508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2D2D2D"/>
                </a:solidFill>
              </a:defRPr>
            </a:lvl1pPr>
          </a:lstStyle>
          <a:p>
            <a:pPr/>
            <a:r>
              <a:t>2030 (Simulador recalibrado)</a:t>
            </a:r>
          </a:p>
        </p:txBody>
      </p:sp>
      <p:sp>
        <p:nvSpPr>
          <p:cNvPr id="291" name="Rectangle 13"/>
          <p:cNvSpPr/>
          <p:nvPr/>
        </p:nvSpPr>
        <p:spPr>
          <a:xfrm>
            <a:off x="164592" y="971831"/>
            <a:ext cx="1750000" cy="42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Rectangle 14"/>
          <p:cNvSpPr/>
          <p:nvPr/>
        </p:nvSpPr>
        <p:spPr>
          <a:xfrm>
            <a:off x="164592" y="971831"/>
            <a:ext cx="32005" cy="42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3" name="TextBox 15"/>
          <p:cNvSpPr txBox="1"/>
          <p:nvPr/>
        </p:nvSpPr>
        <p:spPr>
          <a:xfrm>
            <a:off x="210312" y="1077342"/>
            <a:ext cx="1690000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Varejo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(Priscila)</a:t>
            </a:r>
          </a:p>
        </p:txBody>
      </p:sp>
      <p:sp>
        <p:nvSpPr>
          <p:cNvPr id="294" name="Rectangle 16"/>
          <p:cNvSpPr/>
          <p:nvPr/>
        </p:nvSpPr>
        <p:spPr>
          <a:xfrm>
            <a:off x="1914592" y="971831"/>
            <a:ext cx="3450000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TextBox 17"/>
          <p:cNvSpPr txBox="1"/>
          <p:nvPr/>
        </p:nvSpPr>
        <p:spPr>
          <a:xfrm>
            <a:off x="1969455" y="1076395"/>
            <a:ext cx="3358562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5 vendedor + 2 promotor próprio + 10 representantes terceiro (SP/RJ + cobertura nacional via terceiros)</a:t>
            </a:r>
          </a:p>
        </p:txBody>
      </p:sp>
      <p:sp>
        <p:nvSpPr>
          <p:cNvPr id="296" name="Rectangle 18"/>
          <p:cNvSpPr/>
          <p:nvPr/>
        </p:nvSpPr>
        <p:spPr>
          <a:xfrm>
            <a:off x="5364591" y="971831"/>
            <a:ext cx="3600001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7" name="TextBox 19"/>
          <p:cNvSpPr txBox="1"/>
          <p:nvPr/>
        </p:nvSpPr>
        <p:spPr>
          <a:xfrm>
            <a:off x="5419456" y="1076395"/>
            <a:ext cx="3508560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22 vendedor + 16 promotor próprio + 11 representantes promotores via agência — rede multi-regional</a:t>
            </a:r>
          </a:p>
        </p:txBody>
      </p:sp>
      <p:sp>
        <p:nvSpPr>
          <p:cNvPr id="298" name="Rectangle 20"/>
          <p:cNvSpPr/>
          <p:nvPr/>
        </p:nvSpPr>
        <p:spPr>
          <a:xfrm>
            <a:off x="164592" y="1391832"/>
            <a:ext cx="1750000" cy="420000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Rectangle 21"/>
          <p:cNvSpPr/>
          <p:nvPr/>
        </p:nvSpPr>
        <p:spPr>
          <a:xfrm>
            <a:off x="164592" y="1391832"/>
            <a:ext cx="32005" cy="420000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22"/>
          <p:cNvSpPr txBox="1"/>
          <p:nvPr/>
        </p:nvSpPr>
        <p:spPr>
          <a:xfrm>
            <a:off x="210312" y="1497342"/>
            <a:ext cx="1690000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B2B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(Cristiane Pagano)</a:t>
            </a:r>
          </a:p>
        </p:txBody>
      </p:sp>
      <p:sp>
        <p:nvSpPr>
          <p:cNvPr id="301" name="Rectangle 23"/>
          <p:cNvSpPr/>
          <p:nvPr/>
        </p:nvSpPr>
        <p:spPr>
          <a:xfrm>
            <a:off x="1914592" y="1391832"/>
            <a:ext cx="3450000" cy="420000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24"/>
          <p:cNvSpPr txBox="1"/>
          <p:nvPr/>
        </p:nvSpPr>
        <p:spPr>
          <a:xfrm>
            <a:off x="1969455" y="1538332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7 comercial + 6 baristas de suporte técnico HoReCa</a:t>
            </a:r>
          </a:p>
        </p:txBody>
      </p:sp>
      <p:sp>
        <p:nvSpPr>
          <p:cNvPr id="303" name="Rectangle 25"/>
          <p:cNvSpPr/>
          <p:nvPr/>
        </p:nvSpPr>
        <p:spPr>
          <a:xfrm>
            <a:off x="5364591" y="1391832"/>
            <a:ext cx="3600001" cy="420000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26"/>
          <p:cNvSpPr txBox="1"/>
          <p:nvPr/>
        </p:nvSpPr>
        <p:spPr>
          <a:xfrm>
            <a:off x="5419456" y="1538332"/>
            <a:ext cx="3508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20 comercial + 12 baristas — sinergia geográfica fora de SP/RJ</a:t>
            </a:r>
          </a:p>
        </p:txBody>
      </p:sp>
      <p:sp>
        <p:nvSpPr>
          <p:cNvPr id="305" name="Rectangle 27"/>
          <p:cNvSpPr/>
          <p:nvPr/>
        </p:nvSpPr>
        <p:spPr>
          <a:xfrm>
            <a:off x="164592" y="1811832"/>
            <a:ext cx="1750000" cy="42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28"/>
          <p:cNvSpPr/>
          <p:nvPr/>
        </p:nvSpPr>
        <p:spPr>
          <a:xfrm>
            <a:off x="164592" y="1811832"/>
            <a:ext cx="32005" cy="42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29"/>
          <p:cNvSpPr txBox="1"/>
          <p:nvPr/>
        </p:nvSpPr>
        <p:spPr>
          <a:xfrm>
            <a:off x="210312" y="1958332"/>
            <a:ext cx="1690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Ger. Trade Marketing</a:t>
            </a:r>
          </a:p>
        </p:txBody>
      </p:sp>
      <p:sp>
        <p:nvSpPr>
          <p:cNvPr id="308" name="Rectangle 30"/>
          <p:cNvSpPr/>
          <p:nvPr/>
        </p:nvSpPr>
        <p:spPr>
          <a:xfrm>
            <a:off x="1914592" y="1811832"/>
            <a:ext cx="3450000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TextBox 31"/>
          <p:cNvSpPr txBox="1"/>
          <p:nvPr/>
        </p:nvSpPr>
        <p:spPr>
          <a:xfrm>
            <a:off x="1969455" y="1958332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Função recente, em vendas depois marketing e ainda não engloba eventos</a:t>
            </a:r>
          </a:p>
        </p:txBody>
      </p:sp>
      <p:sp>
        <p:nvSpPr>
          <p:cNvPr id="310" name="Rectangle 32"/>
          <p:cNvSpPr/>
          <p:nvPr/>
        </p:nvSpPr>
        <p:spPr>
          <a:xfrm>
            <a:off x="5364591" y="1811832"/>
            <a:ext cx="3600001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33"/>
          <p:cNvSpPr txBox="1"/>
          <p:nvPr/>
        </p:nvSpPr>
        <p:spPr>
          <a:xfrm>
            <a:off x="5419456" y="1958332"/>
            <a:ext cx="3508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Nasce com o JBP formal, execução de PDV e ativação de categoria</a:t>
            </a:r>
          </a:p>
        </p:txBody>
      </p:sp>
      <p:sp>
        <p:nvSpPr>
          <p:cNvPr id="312" name="Rectangle 34"/>
          <p:cNvSpPr/>
          <p:nvPr/>
        </p:nvSpPr>
        <p:spPr>
          <a:xfrm>
            <a:off x="164592" y="2231831"/>
            <a:ext cx="1750000" cy="42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Rectangle 35"/>
          <p:cNvSpPr/>
          <p:nvPr/>
        </p:nvSpPr>
        <p:spPr>
          <a:xfrm>
            <a:off x="164592" y="2231831"/>
            <a:ext cx="32005" cy="42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36"/>
          <p:cNvSpPr txBox="1"/>
          <p:nvPr/>
        </p:nvSpPr>
        <p:spPr>
          <a:xfrm>
            <a:off x="210312" y="2337342"/>
            <a:ext cx="1690000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E-commerce /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Online (NOVO)</a:t>
            </a:r>
          </a:p>
        </p:txBody>
      </p:sp>
      <p:sp>
        <p:nvSpPr>
          <p:cNvPr id="315" name="Rectangle 37"/>
          <p:cNvSpPr/>
          <p:nvPr/>
        </p:nvSpPr>
        <p:spPr>
          <a:xfrm>
            <a:off x="1914592" y="2231831"/>
            <a:ext cx="3450000" cy="42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38"/>
          <p:cNvSpPr txBox="1"/>
          <p:nvPr/>
        </p:nvSpPr>
        <p:spPr>
          <a:xfrm>
            <a:off x="1969455" y="2378331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Amanda acumula com Inteligência — canal ainda não tem gestão dedicada</a:t>
            </a:r>
          </a:p>
        </p:txBody>
      </p:sp>
      <p:sp>
        <p:nvSpPr>
          <p:cNvPr id="317" name="Rectangle 39"/>
          <p:cNvSpPr/>
          <p:nvPr/>
        </p:nvSpPr>
        <p:spPr>
          <a:xfrm>
            <a:off x="5364591" y="2231831"/>
            <a:ext cx="3600001" cy="42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TextBox 40"/>
          <p:cNvSpPr txBox="1"/>
          <p:nvPr/>
        </p:nvSpPr>
        <p:spPr>
          <a:xfrm>
            <a:off x="5419456" y="2378331"/>
            <a:ext cx="3508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Canal Online cresce de R$48,8 mi para R$119,2 mi (2026→2030) — pede gestão dedicada</a:t>
            </a:r>
          </a:p>
        </p:txBody>
      </p:sp>
      <p:sp>
        <p:nvSpPr>
          <p:cNvPr id="319" name="Rectangle 41"/>
          <p:cNvSpPr/>
          <p:nvPr/>
        </p:nvSpPr>
        <p:spPr>
          <a:xfrm>
            <a:off x="164592" y="2651831"/>
            <a:ext cx="1750000" cy="42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Rectangle 42"/>
          <p:cNvSpPr/>
          <p:nvPr/>
        </p:nvSpPr>
        <p:spPr>
          <a:xfrm>
            <a:off x="164592" y="2651831"/>
            <a:ext cx="32005" cy="42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43"/>
          <p:cNvSpPr txBox="1"/>
          <p:nvPr/>
        </p:nvSpPr>
        <p:spPr>
          <a:xfrm>
            <a:off x="210312" y="2757342"/>
            <a:ext cx="1690000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Inteligência de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Mercado / BI (NOVO)</a:t>
            </a:r>
          </a:p>
        </p:txBody>
      </p:sp>
      <p:sp>
        <p:nvSpPr>
          <p:cNvPr id="322" name="Rectangle 44"/>
          <p:cNvSpPr/>
          <p:nvPr/>
        </p:nvSpPr>
        <p:spPr>
          <a:xfrm>
            <a:off x="1914592" y="2651831"/>
            <a:ext cx="3450000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45"/>
          <p:cNvSpPr txBox="1"/>
          <p:nvPr/>
        </p:nvSpPr>
        <p:spPr>
          <a:xfrm>
            <a:off x="1969455" y="2798331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Dados consolidados por Vendas, ainda pode ser mais estratégico e integrando marketing</a:t>
            </a:r>
          </a:p>
        </p:txBody>
      </p:sp>
      <p:sp>
        <p:nvSpPr>
          <p:cNvPr id="324" name="Rectangle 46"/>
          <p:cNvSpPr/>
          <p:nvPr/>
        </p:nvSpPr>
        <p:spPr>
          <a:xfrm>
            <a:off x="5364591" y="2651831"/>
            <a:ext cx="3600001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47"/>
          <p:cNvSpPr txBox="1"/>
          <p:nvPr/>
        </p:nvSpPr>
        <p:spPr>
          <a:xfrm>
            <a:off x="5419456" y="2798331"/>
            <a:ext cx="3508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Nasce para sustentar S&amp;OP, forecast e pricing em 27 estados + EUA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7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4"/>
          <p:cNvSpPr txBox="1"/>
          <p:nvPr/>
        </p:nvSpPr>
        <p:spPr>
          <a:xfrm>
            <a:off x="164591" y="9143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JOB GRADING — DIRETORIA</a:t>
            </a:r>
          </a:p>
        </p:txBody>
      </p:sp>
      <p:sp>
        <p:nvSpPr>
          <p:cNvPr id="331" name="TextBox 5"/>
          <p:cNvSpPr txBox="1"/>
          <p:nvPr/>
        </p:nvSpPr>
        <p:spPr>
          <a:xfrm>
            <a:off x="164591" y="274320"/>
            <a:ext cx="87782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A5C2E"/>
                </a:solidFill>
              </a:defRPr>
            </a:lvl1pPr>
          </a:lstStyle>
          <a:p>
            <a:pPr/>
            <a:r>
              <a:t>Complexidade e banda de mercado: hoje vs. estrutura de 2 Diretorias (2027+)</a:t>
            </a:r>
          </a:p>
        </p:txBody>
      </p:sp>
      <p:sp>
        <p:nvSpPr>
          <p:cNvPr id="332" name="Rectangle 6"/>
          <p:cNvSpPr/>
          <p:nvPr/>
        </p:nvSpPr>
        <p:spPr>
          <a:xfrm>
            <a:off x="164591" y="594359"/>
            <a:ext cx="8814818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7"/>
          <p:cNvSpPr txBox="1"/>
          <p:nvPr/>
        </p:nvSpPr>
        <p:spPr>
          <a:xfrm>
            <a:off x="164591" y="4924044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Liderança &amp; Organização — Parte 2 de 2</a:t>
            </a:r>
          </a:p>
        </p:txBody>
      </p:sp>
      <p:sp>
        <p:nvSpPr>
          <p:cNvPr id="334" name="Rectangle 8"/>
          <p:cNvSpPr/>
          <p:nvPr/>
        </p:nvSpPr>
        <p:spPr>
          <a:xfrm>
            <a:off x="164592" y="642647"/>
            <a:ext cx="1750000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Rectangle 9"/>
          <p:cNvSpPr/>
          <p:nvPr/>
        </p:nvSpPr>
        <p:spPr>
          <a:xfrm>
            <a:off x="1914592" y="642647"/>
            <a:ext cx="2350001" cy="430001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10"/>
          <p:cNvSpPr txBox="1"/>
          <p:nvPr/>
        </p:nvSpPr>
        <p:spPr>
          <a:xfrm>
            <a:off x="1960311" y="741859"/>
            <a:ext cx="225856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800">
                <a:solidFill>
                  <a:srgbClr val="FFFFFF"/>
                </a:solidFill>
              </a:defRPr>
            </a:pPr>
            <a:r>
              <a:t>DIRETORIA COMERCIAL</a:t>
            </a:r>
          </a:p>
          <a:p>
            <a:pPr>
              <a:defRPr b="1" sz="800">
                <a:solidFill>
                  <a:srgbClr val="FFFFFF"/>
                </a:solidFill>
              </a:defRPr>
            </a:pPr>
            <a:r>
              <a:t>HOJE (2026)</a:t>
            </a:r>
          </a:p>
        </p:txBody>
      </p:sp>
      <p:sp>
        <p:nvSpPr>
          <p:cNvPr id="337" name="Rectangle 11"/>
          <p:cNvSpPr/>
          <p:nvPr/>
        </p:nvSpPr>
        <p:spPr>
          <a:xfrm>
            <a:off x="4264592" y="642647"/>
            <a:ext cx="2350000" cy="43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TextBox 12"/>
          <p:cNvSpPr txBox="1"/>
          <p:nvPr/>
        </p:nvSpPr>
        <p:spPr>
          <a:xfrm>
            <a:off x="4310312" y="741859"/>
            <a:ext cx="225856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800">
                <a:solidFill>
                  <a:srgbClr val="2D2D2D"/>
                </a:solidFill>
              </a:defRPr>
            </a:pPr>
            <a:r>
              <a:t>DIRETORIA COMERCIAL</a:t>
            </a:r>
          </a:p>
          <a:p>
            <a:pPr>
              <a:defRPr b="1" sz="800">
                <a:solidFill>
                  <a:srgbClr val="2D2D2D"/>
                </a:solidFill>
              </a:defRPr>
            </a:pPr>
            <a:r>
              <a:t>(VENDAS) — 2030</a:t>
            </a:r>
          </a:p>
        </p:txBody>
      </p:sp>
      <p:sp>
        <p:nvSpPr>
          <p:cNvPr id="339" name="Rectangle 13"/>
          <p:cNvSpPr/>
          <p:nvPr/>
        </p:nvSpPr>
        <p:spPr>
          <a:xfrm>
            <a:off x="6614592" y="642647"/>
            <a:ext cx="2350001" cy="43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TextBox 14"/>
          <p:cNvSpPr txBox="1"/>
          <p:nvPr/>
        </p:nvSpPr>
        <p:spPr>
          <a:xfrm>
            <a:off x="6660312" y="741859"/>
            <a:ext cx="2258561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800">
                <a:solidFill>
                  <a:srgbClr val="FFFFFF"/>
                </a:solidFill>
              </a:defRPr>
            </a:pPr>
            <a:r>
              <a:t>NOVA DIRETORIA TRADE MKT</a:t>
            </a:r>
          </a:p>
          <a:p>
            <a:pPr>
              <a:defRPr b="1" sz="800">
                <a:solidFill>
                  <a:srgbClr val="FFFFFF"/>
                </a:solidFill>
              </a:defRPr>
            </a:pPr>
            <a:r>
              <a:t>&amp; DESENV. NEGÓCIOS — 2027+</a:t>
            </a:r>
          </a:p>
        </p:txBody>
      </p:sp>
      <p:sp>
        <p:nvSpPr>
          <p:cNvPr id="341" name="Rectangle 15"/>
          <p:cNvSpPr/>
          <p:nvPr/>
        </p:nvSpPr>
        <p:spPr>
          <a:xfrm>
            <a:off x="164592" y="1072647"/>
            <a:ext cx="1750000" cy="42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Rectangle 16"/>
          <p:cNvSpPr/>
          <p:nvPr/>
        </p:nvSpPr>
        <p:spPr>
          <a:xfrm>
            <a:off x="164592" y="1072647"/>
            <a:ext cx="32005" cy="42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17"/>
          <p:cNvSpPr txBox="1"/>
          <p:nvPr/>
        </p:nvSpPr>
        <p:spPr>
          <a:xfrm>
            <a:off x="210312" y="1219148"/>
            <a:ext cx="1690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Receita gerida</a:t>
            </a:r>
          </a:p>
        </p:txBody>
      </p:sp>
      <p:sp>
        <p:nvSpPr>
          <p:cNvPr id="344" name="Rectangle 18"/>
          <p:cNvSpPr/>
          <p:nvPr/>
        </p:nvSpPr>
        <p:spPr>
          <a:xfrm>
            <a:off x="1914592" y="1072647"/>
            <a:ext cx="2350001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5" name="TextBox 19"/>
          <p:cNvSpPr txBox="1"/>
          <p:nvPr/>
        </p:nvSpPr>
        <p:spPr>
          <a:xfrm>
            <a:off x="1969455" y="1177211"/>
            <a:ext cx="225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R$163 mi (100% da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receita comercial)</a:t>
            </a:r>
          </a:p>
        </p:txBody>
      </p:sp>
      <p:sp>
        <p:nvSpPr>
          <p:cNvPr id="346" name="Rectangle 20"/>
          <p:cNvSpPr/>
          <p:nvPr/>
        </p:nvSpPr>
        <p:spPr>
          <a:xfrm>
            <a:off x="4264592" y="1072647"/>
            <a:ext cx="2350000" cy="42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21"/>
          <p:cNvSpPr txBox="1"/>
          <p:nvPr/>
        </p:nvSpPr>
        <p:spPr>
          <a:xfrm>
            <a:off x="4319456" y="1177211"/>
            <a:ext cx="225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R$313 mi (Varejo+B2B,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72% da receita)</a:t>
            </a:r>
          </a:p>
        </p:txBody>
      </p:sp>
      <p:sp>
        <p:nvSpPr>
          <p:cNvPr id="348" name="Rectangle 22"/>
          <p:cNvSpPr/>
          <p:nvPr/>
        </p:nvSpPr>
        <p:spPr>
          <a:xfrm>
            <a:off x="6614592" y="1072647"/>
            <a:ext cx="2350001" cy="42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23"/>
          <p:cNvSpPr txBox="1"/>
          <p:nvPr/>
        </p:nvSpPr>
        <p:spPr>
          <a:xfrm>
            <a:off x="6669455" y="1119114"/>
            <a:ext cx="2258561" cy="327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R$119 mi+ direto (Online,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28%) + budget de trade sobre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100% da receita</a:t>
            </a:r>
          </a:p>
        </p:txBody>
      </p:sp>
      <p:sp>
        <p:nvSpPr>
          <p:cNvPr id="350" name="Rectangle 24"/>
          <p:cNvSpPr/>
          <p:nvPr/>
        </p:nvSpPr>
        <p:spPr>
          <a:xfrm>
            <a:off x="164592" y="1492648"/>
            <a:ext cx="1750000" cy="34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Rectangle 25"/>
          <p:cNvSpPr/>
          <p:nvPr/>
        </p:nvSpPr>
        <p:spPr>
          <a:xfrm>
            <a:off x="164592" y="1492648"/>
            <a:ext cx="32005" cy="34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26"/>
          <p:cNvSpPr txBox="1"/>
          <p:nvPr/>
        </p:nvSpPr>
        <p:spPr>
          <a:xfrm>
            <a:off x="210312" y="1558158"/>
            <a:ext cx="1690000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Span of control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(reports diretos)</a:t>
            </a:r>
          </a:p>
        </p:txBody>
      </p:sp>
      <p:sp>
        <p:nvSpPr>
          <p:cNvPr id="353" name="Rectangle 27"/>
          <p:cNvSpPr/>
          <p:nvPr/>
        </p:nvSpPr>
        <p:spPr>
          <a:xfrm>
            <a:off x="1914592" y="1492648"/>
            <a:ext cx="2350001" cy="34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28"/>
          <p:cNvSpPr txBox="1"/>
          <p:nvPr/>
        </p:nvSpPr>
        <p:spPr>
          <a:xfrm>
            <a:off x="1969455" y="1599147"/>
            <a:ext cx="225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6 (sendo 2 consultores)</a:t>
            </a:r>
          </a:p>
        </p:txBody>
      </p:sp>
      <p:sp>
        <p:nvSpPr>
          <p:cNvPr id="355" name="Rectangle 29"/>
          <p:cNvSpPr/>
          <p:nvPr/>
        </p:nvSpPr>
        <p:spPr>
          <a:xfrm>
            <a:off x="4264592" y="1492648"/>
            <a:ext cx="2350000" cy="34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30"/>
          <p:cNvSpPr txBox="1"/>
          <p:nvPr/>
        </p:nvSpPr>
        <p:spPr>
          <a:xfrm>
            <a:off x="4319456" y="1599147"/>
            <a:ext cx="225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2 (Priscila + Cristiane)</a:t>
            </a:r>
          </a:p>
        </p:txBody>
      </p:sp>
      <p:sp>
        <p:nvSpPr>
          <p:cNvPr id="357" name="Rectangle 31"/>
          <p:cNvSpPr/>
          <p:nvPr/>
        </p:nvSpPr>
        <p:spPr>
          <a:xfrm>
            <a:off x="6614592" y="1492648"/>
            <a:ext cx="2350001" cy="34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32"/>
          <p:cNvSpPr txBox="1"/>
          <p:nvPr/>
        </p:nvSpPr>
        <p:spPr>
          <a:xfrm>
            <a:off x="6669455" y="1557211"/>
            <a:ext cx="225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4–5 (Trade, Online, BI,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Desenv. Negócios)</a:t>
            </a:r>
          </a:p>
        </p:txBody>
      </p:sp>
      <p:sp>
        <p:nvSpPr>
          <p:cNvPr id="359" name="Rectangle 33"/>
          <p:cNvSpPr/>
          <p:nvPr/>
        </p:nvSpPr>
        <p:spPr>
          <a:xfrm>
            <a:off x="164592" y="1832648"/>
            <a:ext cx="1750000" cy="34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Rectangle 34"/>
          <p:cNvSpPr/>
          <p:nvPr/>
        </p:nvSpPr>
        <p:spPr>
          <a:xfrm>
            <a:off x="164592" y="1832648"/>
            <a:ext cx="32005" cy="34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TextBox 35"/>
          <p:cNvSpPr txBox="1"/>
          <p:nvPr/>
        </p:nvSpPr>
        <p:spPr>
          <a:xfrm>
            <a:off x="210312" y="1898158"/>
            <a:ext cx="1690000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Headcount indireto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liderado</a:t>
            </a:r>
          </a:p>
        </p:txBody>
      </p:sp>
      <p:sp>
        <p:nvSpPr>
          <p:cNvPr id="362" name="Rectangle 36"/>
          <p:cNvSpPr/>
          <p:nvPr/>
        </p:nvSpPr>
        <p:spPr>
          <a:xfrm>
            <a:off x="1914592" y="1832648"/>
            <a:ext cx="2350001" cy="34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TextBox 37"/>
          <p:cNvSpPr txBox="1"/>
          <p:nvPr/>
        </p:nvSpPr>
        <p:spPr>
          <a:xfrm>
            <a:off x="1969455" y="1939148"/>
            <a:ext cx="225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25</a:t>
            </a:r>
          </a:p>
        </p:txBody>
      </p:sp>
      <p:sp>
        <p:nvSpPr>
          <p:cNvPr id="364" name="Rectangle 38"/>
          <p:cNvSpPr/>
          <p:nvPr/>
        </p:nvSpPr>
        <p:spPr>
          <a:xfrm>
            <a:off x="4264592" y="1832648"/>
            <a:ext cx="2350000" cy="34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39"/>
          <p:cNvSpPr txBox="1"/>
          <p:nvPr/>
        </p:nvSpPr>
        <p:spPr>
          <a:xfrm>
            <a:off x="4319456" y="1897211"/>
            <a:ext cx="225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~70 (frente de vendas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Varejo + B2B)</a:t>
            </a:r>
          </a:p>
        </p:txBody>
      </p:sp>
      <p:sp>
        <p:nvSpPr>
          <p:cNvPr id="366" name="Rectangle 40"/>
          <p:cNvSpPr/>
          <p:nvPr/>
        </p:nvSpPr>
        <p:spPr>
          <a:xfrm>
            <a:off x="6614592" y="1832648"/>
            <a:ext cx="2350001" cy="34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41"/>
          <p:cNvSpPr txBox="1"/>
          <p:nvPr/>
        </p:nvSpPr>
        <p:spPr>
          <a:xfrm>
            <a:off x="6669455" y="1897211"/>
            <a:ext cx="225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~15–20 hoje, cresce com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o piloto EUA</a:t>
            </a:r>
          </a:p>
        </p:txBody>
      </p:sp>
      <p:sp>
        <p:nvSpPr>
          <p:cNvPr id="368" name="Rectangle 42"/>
          <p:cNvSpPr/>
          <p:nvPr/>
        </p:nvSpPr>
        <p:spPr>
          <a:xfrm>
            <a:off x="164592" y="2172648"/>
            <a:ext cx="1750000" cy="34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Rectangle 43"/>
          <p:cNvSpPr/>
          <p:nvPr/>
        </p:nvSpPr>
        <p:spPr>
          <a:xfrm>
            <a:off x="164592" y="2172648"/>
            <a:ext cx="32005" cy="34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44"/>
          <p:cNvSpPr txBox="1"/>
          <p:nvPr/>
        </p:nvSpPr>
        <p:spPr>
          <a:xfrm>
            <a:off x="210312" y="2238158"/>
            <a:ext cx="1690000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Abrangência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geográfica</a:t>
            </a:r>
          </a:p>
        </p:txBody>
      </p:sp>
      <p:sp>
        <p:nvSpPr>
          <p:cNvPr id="371" name="Rectangle 45"/>
          <p:cNvSpPr/>
          <p:nvPr/>
        </p:nvSpPr>
        <p:spPr>
          <a:xfrm>
            <a:off x="1914592" y="2172648"/>
            <a:ext cx="2350001" cy="34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46"/>
          <p:cNvSpPr txBox="1"/>
          <p:nvPr/>
        </p:nvSpPr>
        <p:spPr>
          <a:xfrm>
            <a:off x="1969455" y="2237211"/>
            <a:ext cx="225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BR — 13 estados com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B2B relevante</a:t>
            </a:r>
          </a:p>
        </p:txBody>
      </p:sp>
      <p:sp>
        <p:nvSpPr>
          <p:cNvPr id="373" name="Rectangle 47"/>
          <p:cNvSpPr/>
          <p:nvPr/>
        </p:nvSpPr>
        <p:spPr>
          <a:xfrm>
            <a:off x="4264592" y="2172648"/>
            <a:ext cx="2350000" cy="34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48"/>
          <p:cNvSpPr txBox="1"/>
          <p:nvPr/>
        </p:nvSpPr>
        <p:spPr>
          <a:xfrm>
            <a:off x="4319456" y="2279148"/>
            <a:ext cx="225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BR nacional (27 estados)</a:t>
            </a:r>
          </a:p>
        </p:txBody>
      </p:sp>
      <p:sp>
        <p:nvSpPr>
          <p:cNvPr id="375" name="Rectangle 49"/>
          <p:cNvSpPr/>
          <p:nvPr/>
        </p:nvSpPr>
        <p:spPr>
          <a:xfrm>
            <a:off x="6614592" y="2172648"/>
            <a:ext cx="2350001" cy="34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TextBox 50"/>
          <p:cNvSpPr txBox="1"/>
          <p:nvPr/>
        </p:nvSpPr>
        <p:spPr>
          <a:xfrm>
            <a:off x="6669455" y="2237211"/>
            <a:ext cx="225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BR + EUA (piloto South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Florida, 18 meses)</a:t>
            </a:r>
          </a:p>
        </p:txBody>
      </p:sp>
      <p:sp>
        <p:nvSpPr>
          <p:cNvPr id="377" name="TextBox 51"/>
          <p:cNvSpPr txBox="1"/>
          <p:nvPr/>
        </p:nvSpPr>
        <p:spPr>
          <a:xfrm>
            <a:off x="164591" y="2562648"/>
            <a:ext cx="8778242" cy="223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700">
                <a:solidFill>
                  <a:srgbClr val="6A6A6A"/>
                </a:solidFill>
              </a:defRPr>
            </a:lvl1pPr>
          </a:lstStyle>
          <a:p>
            <a:pPr/>
            <a:r>
              <a:t>Referência pública de mercado (não é grading formal): Diretor Comercial BR — mediana SP R$40 mil/mês, teto R$75,6 mil/mês (salario.com.br/CAGED) · Diretor de Trade Marketing — média R$27 mil/mês, faixa R$12,6–33,5 mil/mês (Glassdoor). Dispersão alta por porte/setor — recomenda-se avaliação formal (Mercer IPE ou Korn Ferry/Hay) antes de fechar faixa real.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9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2" name="TextBox 4"/>
          <p:cNvSpPr txBox="1"/>
          <p:nvPr/>
        </p:nvSpPr>
        <p:spPr>
          <a:xfrm>
            <a:off x="164591" y="9143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JOB GRADING — GERÊNCIA COMERCIAL</a:t>
            </a:r>
          </a:p>
        </p:txBody>
      </p:sp>
      <p:sp>
        <p:nvSpPr>
          <p:cNvPr id="383" name="TextBox 5"/>
          <p:cNvSpPr txBox="1"/>
          <p:nvPr/>
        </p:nvSpPr>
        <p:spPr>
          <a:xfrm>
            <a:off x="164591" y="274320"/>
            <a:ext cx="87782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A5C2E"/>
                </a:solidFill>
              </a:defRPr>
            </a:lvl1pPr>
          </a:lstStyle>
          <a:p>
            <a:pPr/>
            <a:r>
              <a:t>As 3 gerências que nascem entre 2027-2030 também têm banda de mercado</a:t>
            </a:r>
          </a:p>
        </p:txBody>
      </p:sp>
      <p:sp>
        <p:nvSpPr>
          <p:cNvPr id="384" name="Rectangle 6"/>
          <p:cNvSpPr/>
          <p:nvPr/>
        </p:nvSpPr>
        <p:spPr>
          <a:xfrm>
            <a:off x="164591" y="594359"/>
            <a:ext cx="8814818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7"/>
          <p:cNvSpPr txBox="1"/>
          <p:nvPr/>
        </p:nvSpPr>
        <p:spPr>
          <a:xfrm>
            <a:off x="164591" y="4924044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Liderança &amp; Organização — Parte 2 de 2</a:t>
            </a:r>
          </a:p>
        </p:txBody>
      </p:sp>
      <p:sp>
        <p:nvSpPr>
          <p:cNvPr id="386" name="Rectangle 8"/>
          <p:cNvSpPr/>
          <p:nvPr/>
        </p:nvSpPr>
        <p:spPr>
          <a:xfrm>
            <a:off x="164591" y="642647"/>
            <a:ext cx="2000002" cy="329185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Rectangle 9"/>
          <p:cNvSpPr/>
          <p:nvPr/>
        </p:nvSpPr>
        <p:spPr>
          <a:xfrm>
            <a:off x="2164591" y="642647"/>
            <a:ext cx="3400000" cy="329185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10"/>
          <p:cNvSpPr txBox="1"/>
          <p:nvPr/>
        </p:nvSpPr>
        <p:spPr>
          <a:xfrm>
            <a:off x="2210311" y="743739"/>
            <a:ext cx="330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HOJE — ESCOPO/CARGO</a:t>
            </a:r>
          </a:p>
        </p:txBody>
      </p:sp>
      <p:sp>
        <p:nvSpPr>
          <p:cNvPr id="389" name="Rectangle 11"/>
          <p:cNvSpPr/>
          <p:nvPr/>
        </p:nvSpPr>
        <p:spPr>
          <a:xfrm>
            <a:off x="5564592" y="642647"/>
            <a:ext cx="3400000" cy="329185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TextBox 12"/>
          <p:cNvSpPr txBox="1"/>
          <p:nvPr/>
        </p:nvSpPr>
        <p:spPr>
          <a:xfrm>
            <a:off x="5610311" y="743739"/>
            <a:ext cx="33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2D2D2D"/>
                </a:solidFill>
              </a:defRPr>
            </a:lvl1pPr>
          </a:lstStyle>
          <a:p>
            <a:pPr/>
            <a:r>
              <a:t>BANDA DE MERCADO (BR, referência pública)</a:t>
            </a:r>
          </a:p>
        </p:txBody>
      </p:sp>
      <p:sp>
        <p:nvSpPr>
          <p:cNvPr id="391" name="Rectangle 13"/>
          <p:cNvSpPr/>
          <p:nvPr/>
        </p:nvSpPr>
        <p:spPr>
          <a:xfrm>
            <a:off x="164591" y="971831"/>
            <a:ext cx="2000002" cy="48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Rectangle 14"/>
          <p:cNvSpPr/>
          <p:nvPr/>
        </p:nvSpPr>
        <p:spPr>
          <a:xfrm>
            <a:off x="164592" y="971831"/>
            <a:ext cx="32005" cy="48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3" name="TextBox 15"/>
          <p:cNvSpPr txBox="1"/>
          <p:nvPr/>
        </p:nvSpPr>
        <p:spPr>
          <a:xfrm>
            <a:off x="210311" y="1107342"/>
            <a:ext cx="1940001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Varejo /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Ger. B2B (existentes)</a:t>
            </a:r>
          </a:p>
        </p:txBody>
      </p:sp>
      <p:sp>
        <p:nvSpPr>
          <p:cNvPr id="394" name="Rectangle 16"/>
          <p:cNvSpPr/>
          <p:nvPr/>
        </p:nvSpPr>
        <p:spPr>
          <a:xfrm>
            <a:off x="2164591" y="971831"/>
            <a:ext cx="3400000" cy="48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5" name="TextBox 17"/>
          <p:cNvSpPr txBox="1"/>
          <p:nvPr/>
        </p:nvSpPr>
        <p:spPr>
          <a:xfrm>
            <a:off x="2219455" y="1106395"/>
            <a:ext cx="3308562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Squads crescem 2-3x até 2030 — escopo se aproxima de gerência</a:t>
            </a:r>
          </a:p>
          <a:p>
            <a:pPr>
              <a:lnSpc>
                <a:spcPct val="102000"/>
              </a:lnSpc>
              <a:defRPr sz="700">
                <a:solidFill>
                  <a:srgbClr val="2D2D2D"/>
                </a:solidFill>
              </a:defRPr>
            </a:pPr>
            <a:r>
              <a:t>sênior/regional</a:t>
            </a:r>
          </a:p>
        </p:txBody>
      </p:sp>
      <p:sp>
        <p:nvSpPr>
          <p:cNvPr id="396" name="Rectangle 18"/>
          <p:cNvSpPr/>
          <p:nvPr/>
        </p:nvSpPr>
        <p:spPr>
          <a:xfrm>
            <a:off x="5564592" y="971831"/>
            <a:ext cx="3400000" cy="48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19"/>
          <p:cNvSpPr txBox="1"/>
          <p:nvPr/>
        </p:nvSpPr>
        <p:spPr>
          <a:xfrm>
            <a:off x="5619455" y="1106395"/>
            <a:ext cx="3308561" cy="21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Gerente Comercial BR — mediana R$8,3-8,7 mil/mês teto (salario.com.br); em empresas de porte médio-grande, faixa sobe para R$12-20 mil/mês (Indeed/Robert Half)</a:t>
            </a:r>
          </a:p>
        </p:txBody>
      </p:sp>
      <p:sp>
        <p:nvSpPr>
          <p:cNvPr id="398" name="Rectangle 20"/>
          <p:cNvSpPr/>
          <p:nvPr/>
        </p:nvSpPr>
        <p:spPr>
          <a:xfrm>
            <a:off x="164591" y="1451832"/>
            <a:ext cx="2000002" cy="48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9" name="Rectangle 21"/>
          <p:cNvSpPr/>
          <p:nvPr/>
        </p:nvSpPr>
        <p:spPr>
          <a:xfrm>
            <a:off x="164592" y="1451832"/>
            <a:ext cx="32005" cy="48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TextBox 22"/>
          <p:cNvSpPr txBox="1"/>
          <p:nvPr/>
        </p:nvSpPr>
        <p:spPr>
          <a:xfrm>
            <a:off x="210311" y="1587342"/>
            <a:ext cx="1940001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Trade Marketing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(nasce 2027+)</a:t>
            </a:r>
          </a:p>
        </p:txBody>
      </p:sp>
      <p:sp>
        <p:nvSpPr>
          <p:cNvPr id="401" name="Rectangle 23"/>
          <p:cNvSpPr/>
          <p:nvPr/>
        </p:nvSpPr>
        <p:spPr>
          <a:xfrm>
            <a:off x="2164591" y="1451832"/>
            <a:ext cx="3400000" cy="48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2" name="Rectangle 25"/>
          <p:cNvSpPr/>
          <p:nvPr/>
        </p:nvSpPr>
        <p:spPr>
          <a:xfrm>
            <a:off x="5564592" y="1451832"/>
            <a:ext cx="3400000" cy="48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26"/>
          <p:cNvSpPr txBox="1"/>
          <p:nvPr/>
        </p:nvSpPr>
        <p:spPr>
          <a:xfrm>
            <a:off x="5619455" y="1628332"/>
            <a:ext cx="33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R$14,7-22 mil/mês (PM) a R$14,9-26,9 mil/mês (grande empresa) — Robert Half 2026</a:t>
            </a:r>
          </a:p>
        </p:txBody>
      </p:sp>
      <p:sp>
        <p:nvSpPr>
          <p:cNvPr id="404" name="Rectangle 27"/>
          <p:cNvSpPr/>
          <p:nvPr/>
        </p:nvSpPr>
        <p:spPr>
          <a:xfrm>
            <a:off x="164591" y="1931832"/>
            <a:ext cx="2000002" cy="48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Rectangle 28"/>
          <p:cNvSpPr/>
          <p:nvPr/>
        </p:nvSpPr>
        <p:spPr>
          <a:xfrm>
            <a:off x="164592" y="1931832"/>
            <a:ext cx="32005" cy="48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6" name="TextBox 29"/>
          <p:cNvSpPr txBox="1"/>
          <p:nvPr/>
        </p:nvSpPr>
        <p:spPr>
          <a:xfrm>
            <a:off x="210311" y="2067342"/>
            <a:ext cx="1940001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E-commerce /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Online (nasce 2027+)</a:t>
            </a:r>
          </a:p>
        </p:txBody>
      </p:sp>
      <p:sp>
        <p:nvSpPr>
          <p:cNvPr id="407" name="Rectangle 30"/>
          <p:cNvSpPr/>
          <p:nvPr/>
        </p:nvSpPr>
        <p:spPr>
          <a:xfrm>
            <a:off x="2164591" y="1931832"/>
            <a:ext cx="3400000" cy="48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Rectangle 32"/>
          <p:cNvSpPr/>
          <p:nvPr/>
        </p:nvSpPr>
        <p:spPr>
          <a:xfrm>
            <a:off x="5564592" y="1931832"/>
            <a:ext cx="3400000" cy="480001"/>
          </a:xfrm>
          <a:prstGeom prst="rect">
            <a:avLst/>
          </a:prstGeom>
          <a:solidFill>
            <a:srgbClr val="F7F4E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TextBox 33"/>
          <p:cNvSpPr txBox="1"/>
          <p:nvPr/>
        </p:nvSpPr>
        <p:spPr>
          <a:xfrm>
            <a:off x="5619455" y="2108331"/>
            <a:ext cx="33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R$11,75-21,1 mil/mês (P/M) — Robert Half 2026</a:t>
            </a:r>
          </a:p>
        </p:txBody>
      </p:sp>
      <p:sp>
        <p:nvSpPr>
          <p:cNvPr id="410" name="Rectangle 34"/>
          <p:cNvSpPr/>
          <p:nvPr/>
        </p:nvSpPr>
        <p:spPr>
          <a:xfrm>
            <a:off x="164591" y="2411832"/>
            <a:ext cx="2000002" cy="48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Rectangle 35"/>
          <p:cNvSpPr/>
          <p:nvPr/>
        </p:nvSpPr>
        <p:spPr>
          <a:xfrm>
            <a:off x="164592" y="2411832"/>
            <a:ext cx="32005" cy="48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36"/>
          <p:cNvSpPr txBox="1"/>
          <p:nvPr/>
        </p:nvSpPr>
        <p:spPr>
          <a:xfrm>
            <a:off x="210311" y="2547342"/>
            <a:ext cx="1940001" cy="20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700">
                <a:solidFill>
                  <a:srgbClr val="FFFFFF"/>
                </a:solidFill>
              </a:defRPr>
            </a:pPr>
            <a:r>
              <a:t>Ger. Inteligência de</a:t>
            </a:r>
          </a:p>
          <a:p>
            <a:pPr>
              <a:defRPr b="1" sz="700">
                <a:solidFill>
                  <a:srgbClr val="FFFFFF"/>
                </a:solidFill>
              </a:defRPr>
            </a:pPr>
            <a:r>
              <a:t>Mercado / BI (nasce 2027+)</a:t>
            </a:r>
          </a:p>
        </p:txBody>
      </p:sp>
      <p:sp>
        <p:nvSpPr>
          <p:cNvPr id="413" name="Rectangle 37"/>
          <p:cNvSpPr/>
          <p:nvPr/>
        </p:nvSpPr>
        <p:spPr>
          <a:xfrm>
            <a:off x="2164591" y="2411832"/>
            <a:ext cx="3400000" cy="48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Rectangle 39"/>
          <p:cNvSpPr/>
          <p:nvPr/>
        </p:nvSpPr>
        <p:spPr>
          <a:xfrm>
            <a:off x="5564592" y="2411832"/>
            <a:ext cx="3400000" cy="48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40"/>
          <p:cNvSpPr txBox="1"/>
          <p:nvPr/>
        </p:nvSpPr>
        <p:spPr>
          <a:xfrm>
            <a:off x="5619455" y="2588332"/>
            <a:ext cx="3308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R$18-27 mil/mês em grandes empresas — Glassdoor 2026</a:t>
            </a:r>
          </a:p>
        </p:txBody>
      </p:sp>
      <p:sp>
        <p:nvSpPr>
          <p:cNvPr id="416" name="TextBox 41"/>
          <p:cNvSpPr txBox="1"/>
          <p:nvPr/>
        </p:nvSpPr>
        <p:spPr>
          <a:xfrm>
            <a:off x="164591" y="2941832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i="1" sz="700">
                <a:solidFill>
                  <a:srgbClr val="6A6A6A"/>
                </a:solidFill>
              </a:defRPr>
            </a:lvl1pPr>
          </a:lstStyle>
          <a:p>
            <a:pPr/>
            <a:r>
              <a:t>Bandas públicas gerais, não segmentadas por porte/setor — usar apenas como direcional; título sozinho não define grade real, que vem de complexidade (receita gerida, span of control, orçamento, abrangência).</a:t>
            </a:r>
          </a:p>
        </p:txBody>
      </p:sp>
      <p:sp>
        <p:nvSpPr>
          <p:cNvPr id="417" name="TextBox 31"/>
          <p:cNvSpPr txBox="1"/>
          <p:nvPr/>
        </p:nvSpPr>
        <p:spPr>
          <a:xfrm>
            <a:off x="2236155" y="1640832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Função recente, em vendas depois marketing e ainda não engloba eventos</a:t>
            </a:r>
          </a:p>
        </p:txBody>
      </p:sp>
      <p:sp>
        <p:nvSpPr>
          <p:cNvPr id="418" name="TextBox 38"/>
          <p:cNvSpPr txBox="1"/>
          <p:nvPr/>
        </p:nvSpPr>
        <p:spPr>
          <a:xfrm>
            <a:off x="2236155" y="2137031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Amanda acumula com Inteligência — canal ainda não tem gestão dedicada</a:t>
            </a:r>
          </a:p>
        </p:txBody>
      </p:sp>
      <p:sp>
        <p:nvSpPr>
          <p:cNvPr id="419" name="TextBox 45"/>
          <p:cNvSpPr txBox="1"/>
          <p:nvPr/>
        </p:nvSpPr>
        <p:spPr>
          <a:xfrm>
            <a:off x="2236155" y="2582431"/>
            <a:ext cx="3358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2000"/>
              </a:lnSpc>
              <a:defRPr sz="700">
                <a:solidFill>
                  <a:srgbClr val="2D2D2D"/>
                </a:solidFill>
              </a:defRPr>
            </a:lvl1pPr>
          </a:lstStyle>
          <a:p>
            <a:pPr/>
            <a:r>
              <a:t>Dados consolidados por Vendas, ainda pode ser mais estratégico e integrando marketing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1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2" name="Rectangl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A5C2E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Rectangle 3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TextBox 4"/>
          <p:cNvSpPr txBox="1"/>
          <p:nvPr/>
        </p:nvSpPr>
        <p:spPr>
          <a:xfrm>
            <a:off x="164591" y="91439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C07028"/>
                </a:solidFill>
              </a:defRPr>
            </a:lvl1pPr>
          </a:lstStyle>
          <a:p>
            <a:pPr/>
            <a:r>
              <a:t>SÍNTESE — O QUE MUDA NA PRÁTICA</a:t>
            </a:r>
          </a:p>
        </p:txBody>
      </p:sp>
      <p:sp>
        <p:nvSpPr>
          <p:cNvPr id="425" name="TextBox 5"/>
          <p:cNvSpPr txBox="1"/>
          <p:nvPr/>
        </p:nvSpPr>
        <p:spPr>
          <a:xfrm>
            <a:off x="164591" y="274320"/>
            <a:ext cx="877824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>
                <a:solidFill>
                  <a:srgbClr val="2A5C2E"/>
                </a:solidFill>
              </a:defRPr>
            </a:lvl1pPr>
          </a:lstStyle>
          <a:p>
            <a:pPr/>
            <a:r>
              <a:t>3 decisões para fechar a iniciativa A13 ‘Visão de Gente 2030’</a:t>
            </a:r>
          </a:p>
        </p:txBody>
      </p:sp>
      <p:sp>
        <p:nvSpPr>
          <p:cNvPr id="426" name="Rectangle 6"/>
          <p:cNvSpPr/>
          <p:nvPr/>
        </p:nvSpPr>
        <p:spPr>
          <a:xfrm>
            <a:off x="164591" y="594359"/>
            <a:ext cx="8814818" cy="18289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TextBox 7"/>
          <p:cNvSpPr txBox="1"/>
          <p:nvPr/>
        </p:nvSpPr>
        <p:spPr>
          <a:xfrm>
            <a:off x="164591" y="4924044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600">
                <a:solidFill>
                  <a:srgbClr val="6A6A6A"/>
                </a:solidFill>
              </a:defRPr>
            </a:lvl1pPr>
          </a:lstStyle>
          <a:p>
            <a:pPr/>
            <a:r>
              <a:t>Orfeu · Material de uso interno · Liderança &amp; Organização — Parte 2 de 2</a:t>
            </a:r>
          </a:p>
        </p:txBody>
      </p:sp>
      <p:sp>
        <p:nvSpPr>
          <p:cNvPr id="428" name="Rectangle 8"/>
          <p:cNvSpPr/>
          <p:nvPr/>
        </p:nvSpPr>
        <p:spPr>
          <a:xfrm>
            <a:off x="164591" y="642647"/>
            <a:ext cx="8814818" cy="90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Rectangle 9"/>
          <p:cNvSpPr/>
          <p:nvPr/>
        </p:nvSpPr>
        <p:spPr>
          <a:xfrm>
            <a:off x="164592" y="642647"/>
            <a:ext cx="32005" cy="90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TextBox 10"/>
          <p:cNvSpPr txBox="1"/>
          <p:nvPr/>
        </p:nvSpPr>
        <p:spPr>
          <a:xfrm>
            <a:off x="264592" y="702648"/>
            <a:ext cx="86000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1. QUANDO formalizar o split de Diretoria</a:t>
            </a:r>
          </a:p>
        </p:txBody>
      </p:sp>
      <p:sp>
        <p:nvSpPr>
          <p:cNvPr id="431" name="TextBox 11"/>
          <p:cNvSpPr txBox="1"/>
          <p:nvPr/>
        </p:nvSpPr>
        <p:spPr>
          <a:xfrm>
            <a:off x="264592" y="982647"/>
            <a:ext cx="8600000" cy="247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Trigger sugerido já está próximo — é o ponto em que a própria matriz da Parte 1 prevê o nascimento formal de Trade Marketing como Diretoria. Desenho atual não entrega e limita crescimento futuro. Novo desenho também permite desenvolver Dir de Vendas e Marketing em suas funções atuais sem gerar limitantes na Orfeu.</a:t>
            </a:r>
          </a:p>
        </p:txBody>
      </p:sp>
      <p:sp>
        <p:nvSpPr>
          <p:cNvPr id="432" name="Rectangle 12"/>
          <p:cNvSpPr/>
          <p:nvPr/>
        </p:nvSpPr>
        <p:spPr>
          <a:xfrm>
            <a:off x="164591" y="1632648"/>
            <a:ext cx="8814818" cy="90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Rectangle 13"/>
          <p:cNvSpPr/>
          <p:nvPr/>
        </p:nvSpPr>
        <p:spPr>
          <a:xfrm>
            <a:off x="164592" y="1632648"/>
            <a:ext cx="32005" cy="90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TextBox 14"/>
          <p:cNvSpPr txBox="1"/>
          <p:nvPr/>
        </p:nvSpPr>
        <p:spPr>
          <a:xfrm>
            <a:off x="264592" y="1692648"/>
            <a:ext cx="86000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2. QUEM assume a nova Diretoria de Trade Marketing e Desenvolvimento de Negócios</a:t>
            </a:r>
          </a:p>
        </p:txBody>
      </p:sp>
      <p:sp>
        <p:nvSpPr>
          <p:cNvPr id="435" name="TextBox 15"/>
          <p:cNvSpPr txBox="1"/>
          <p:nvPr/>
        </p:nvSpPr>
        <p:spPr>
          <a:xfrm>
            <a:off x="264592" y="1972648"/>
            <a:ext cx="8600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Contratação externa — decisão em aberto, já ecoada no US18 (‘dono do projeto EUA: Grazi ou GM’).</a:t>
            </a:r>
          </a:p>
        </p:txBody>
      </p:sp>
      <p:sp>
        <p:nvSpPr>
          <p:cNvPr id="436" name="Rectangle 16"/>
          <p:cNvSpPr/>
          <p:nvPr/>
        </p:nvSpPr>
        <p:spPr>
          <a:xfrm>
            <a:off x="164591" y="2622648"/>
            <a:ext cx="8814818" cy="900001"/>
          </a:xfrm>
          <a:prstGeom prst="rect">
            <a:avLst/>
          </a:prstGeom>
          <a:solidFill>
            <a:srgbClr val="EBF4EB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7" name="Rectangle 17"/>
          <p:cNvSpPr/>
          <p:nvPr/>
        </p:nvSpPr>
        <p:spPr>
          <a:xfrm>
            <a:off x="164592" y="2622648"/>
            <a:ext cx="32005" cy="900001"/>
          </a:xfrm>
          <a:prstGeom prst="rect">
            <a:avLst/>
          </a:prstGeom>
          <a:solidFill>
            <a:srgbClr val="C0702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TextBox 18"/>
          <p:cNvSpPr txBox="1"/>
          <p:nvPr/>
        </p:nvSpPr>
        <p:spPr>
          <a:xfrm>
            <a:off x="264592" y="2682648"/>
            <a:ext cx="860000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2A5C2E"/>
                </a:solidFill>
              </a:defRPr>
            </a:lvl1pPr>
          </a:lstStyle>
          <a:p>
            <a:pPr/>
            <a:r>
              <a:t>3. VALIDAR as faixas com avaliação formal de cargos</a:t>
            </a:r>
          </a:p>
        </p:txBody>
      </p:sp>
      <p:sp>
        <p:nvSpPr>
          <p:cNvPr id="439" name="TextBox 19"/>
          <p:cNvSpPr txBox="1"/>
          <p:nvPr/>
        </p:nvSpPr>
        <p:spPr>
          <a:xfrm>
            <a:off x="264592" y="2962648"/>
            <a:ext cx="8600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rgbClr val="2D2D2D"/>
                </a:solidFill>
              </a:defRPr>
            </a:lvl1pPr>
          </a:lstStyle>
          <a:p>
            <a:pPr/>
            <a:r>
              <a:t>Os números deste material são direcionais (benchmarks públicos). Antes de qualquer oferta real, rodar avaliação formal (Mercer IPE ou Korn Ferry/Hay) para grade e faixa salarial definitivas.</a:t>
            </a:r>
          </a:p>
        </p:txBody>
      </p:sp>
      <p:sp>
        <p:nvSpPr>
          <p:cNvPr id="440" name="Rectangle 20"/>
          <p:cNvSpPr/>
          <p:nvPr/>
        </p:nvSpPr>
        <p:spPr>
          <a:xfrm>
            <a:off x="164591" y="3652647"/>
            <a:ext cx="8814818" cy="620001"/>
          </a:xfrm>
          <a:prstGeom prst="rect">
            <a:avLst/>
          </a:prstGeom>
          <a:solidFill>
            <a:srgbClr val="184218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TextBox 21"/>
          <p:cNvSpPr txBox="1"/>
          <p:nvPr/>
        </p:nvSpPr>
        <p:spPr>
          <a:xfrm>
            <a:off x="264592" y="3682648"/>
            <a:ext cx="8600000" cy="247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i="1" sz="800">
                <a:solidFill>
                  <a:srgbClr val="FFFFFF"/>
                </a:solidFill>
              </a:defRPr>
            </a:lvl1pPr>
          </a:lstStyle>
          <a:p>
            <a:pPr/>
            <a:r>
              <a:t>Este material fecha a Parte 2 da Matriz de Competências (2026-07-22) e responde diretamente à iniciativa A13 ‘Visão de Gente 2030’, usando o organograma real 2026-2030 e o Simulador Comercial recalibrado (ago/2026) como base de dados.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