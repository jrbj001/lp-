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1005">
              <a:alpha val="72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320040"/>
            <a:ext cx="1097280" cy="8615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645920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A148C"/>
                </a:solidFill>
              </a:rPr>
              <a:t>CASE DE MARCA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93392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Counter Culture Coffee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5292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DEEDD"/>
                </a:solidFill>
              </a:rPr>
              <a:t>Education as Entry Wedge · Durham, 1995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" y="3310128"/>
            <a:ext cx="8961120" cy="10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419856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88888"/>
                </a:solidFill>
              </a:rPr>
              <a:t>Utilizing Education and Training Programs as a B2B Entry Wedge — como um roaster independente usou conhecimento como produto para crescer para 1,000+ contas wholesale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Estrutura do Case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" y="1078992"/>
            <a:ext cx="4389120" cy="551688"/>
          </a:xfrm>
          <a:prstGeom prst="rect">
            <a:avLst/>
          </a:prstGeom>
          <a:solidFill>
            <a:srgbClr val="EFE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" y="1078992"/>
            <a:ext cx="329184" cy="551688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" y="1171955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" y="1170432"/>
            <a:ext cx="39136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A148C"/>
                </a:solidFill>
              </a:rPr>
              <a:t>Heritage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" y="1426464"/>
            <a:ext cx="3913631" cy="131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De Durham 1995 ao modelo nacional de education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59" y="1078992"/>
            <a:ext cx="4389120" cy="5516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59" y="1078992"/>
            <a:ext cx="329184" cy="551688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45736" y="1171955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11496" y="1170432"/>
            <a:ext cx="39136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A148C"/>
                </a:solidFill>
              </a:rPr>
              <a:t>Financeiros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11496" y="1426464"/>
            <a:ext cx="3913631" cy="131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~$50M receita, wholesale-first, privado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" y="1726691"/>
            <a:ext cx="4389120" cy="551688"/>
          </a:xfrm>
          <a:prstGeom prst="rect">
            <a:avLst/>
          </a:prstGeom>
          <a:solidFill>
            <a:srgbClr val="EFE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" y="1726691"/>
            <a:ext cx="329184" cy="551688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" y="1819656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" y="1818132"/>
            <a:ext cx="39136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A148C"/>
                </a:solidFill>
              </a:rPr>
              <a:t>Brand DNA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" y="2074163"/>
            <a:ext cx="3913631" cy="131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Radical transparency + education as mission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59" y="1726691"/>
            <a:ext cx="4389120" cy="5516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09159" y="1726691"/>
            <a:ext cx="329184" cy="551688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45736" y="1819656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11496" y="1818132"/>
            <a:ext cx="39136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A148C"/>
                </a:solidFill>
              </a:rPr>
              <a:t>Positioning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11496" y="2074163"/>
            <a:ext cx="3913631" cy="131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Framework completo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" y="2374392"/>
            <a:ext cx="4389120" cy="551688"/>
          </a:xfrm>
          <a:prstGeom prst="rect">
            <a:avLst/>
          </a:prstGeom>
          <a:solidFill>
            <a:srgbClr val="EFE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" y="2374392"/>
            <a:ext cx="329184" cy="551688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8016" y="2467356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" y="2465832"/>
            <a:ext cx="39136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A148C"/>
                </a:solidFill>
              </a:rPr>
              <a:t>Training Centers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" y="2721864"/>
            <a:ext cx="3913631" cy="131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12 centros regionais — B2B como escola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09159" y="2374392"/>
            <a:ext cx="4389120" cy="5516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09159" y="2374392"/>
            <a:ext cx="329184" cy="551688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45736" y="2467356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11496" y="2465832"/>
            <a:ext cx="39136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A148C"/>
                </a:solidFill>
              </a:rPr>
              <a:t>Portfólio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11496" y="2721864"/>
            <a:ext cx="3913631" cy="131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Hologram, Forty6, single-origins, subscriptions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" y="3022091"/>
            <a:ext cx="4389120" cy="551688"/>
          </a:xfrm>
          <a:prstGeom prst="rect">
            <a:avLst/>
          </a:prstGeom>
          <a:solidFill>
            <a:srgbClr val="EFE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440" y="3022091"/>
            <a:ext cx="329184" cy="551688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" y="3115055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3776" y="3113532"/>
            <a:ext cx="39136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A148C"/>
                </a:solidFill>
              </a:rPr>
              <a:t>Wholesale GTM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3776" y="3369563"/>
            <a:ext cx="3913631" cy="131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1,000+ contas: cafés, universidades, restaurantes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09159" y="3022091"/>
            <a:ext cx="4389120" cy="5516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709159" y="3022091"/>
            <a:ext cx="329184" cy="551688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45736" y="3115055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11496" y="3113532"/>
            <a:ext cx="39136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A148C"/>
                </a:solidFill>
              </a:rPr>
              <a:t>Ativações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11496" y="3369563"/>
            <a:ext cx="3913631" cy="131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Transparency Report + USBC + cuppings públicos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" y="3669792"/>
            <a:ext cx="4389120" cy="551688"/>
          </a:xfrm>
          <a:prstGeom prst="rect">
            <a:avLst/>
          </a:prstGeom>
          <a:solidFill>
            <a:srgbClr val="EFE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1440" y="3669792"/>
            <a:ext cx="329184" cy="551688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8016" y="3762756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3776" y="3761232"/>
            <a:ext cx="39136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A148C"/>
                </a:solidFill>
              </a:rPr>
              <a:t>Digital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3776" y="4017264"/>
            <a:ext cx="3913631" cy="131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Education content como aquisição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709159" y="3669792"/>
            <a:ext cx="4389120" cy="5516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709159" y="3669792"/>
            <a:ext cx="329184" cy="551688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45736" y="3762756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11496" y="3761232"/>
            <a:ext cx="39136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A148C"/>
                </a:solidFill>
              </a:rPr>
              <a:t>Sustentabilidade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111496" y="4017264"/>
            <a:ext cx="3913631" cy="131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B Corp + direct trade + gender equity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440" y="4317492"/>
            <a:ext cx="4389120" cy="551688"/>
          </a:xfrm>
          <a:prstGeom prst="rect">
            <a:avLst/>
          </a:prstGeom>
          <a:solidFill>
            <a:srgbClr val="EFE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1440" y="4317492"/>
            <a:ext cx="329184" cy="551688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8016" y="4410456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3776" y="4408932"/>
            <a:ext cx="39136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A148C"/>
                </a:solidFill>
              </a:rPr>
              <a:t>Scorecard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93776" y="4664964"/>
            <a:ext cx="3913631" cy="131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Métricas-chave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709159" y="4317492"/>
            <a:ext cx="4389120" cy="5516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709159" y="4317492"/>
            <a:ext cx="329184" cy="551688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745736" y="4410456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11496" y="4408932"/>
            <a:ext cx="39136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A148C"/>
                </a:solidFill>
              </a:rPr>
              <a:t>Lições para Orfeu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111496" y="4664964"/>
            <a:ext cx="3913631" cy="131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Insights aplicáveis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Trajetória Estratégica &amp; Marcos Fundamentais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" y="1024128"/>
            <a:ext cx="8961120" cy="36576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4944" y="1005840"/>
            <a:ext cx="73152" cy="201168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" y="1207008"/>
            <a:ext cx="1188720" cy="35661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" y="1243584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148C"/>
                </a:solidFill>
              </a:rPr>
              <a:t>1995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" y="1554480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Durham, NC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" y="1883664"/>
            <a:ext cx="113385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Brett Smith e Fred Houk fundam Counter Culture em Durham, NC. Foco desde o início em educação de baristas e transparência como diferenciadores.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75104" y="1005840"/>
            <a:ext cx="73152" cy="201168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17320" y="1207008"/>
            <a:ext cx="1188720" cy="3566160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4752" y="1243584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148C"/>
                </a:solidFill>
              </a:rPr>
              <a:t>2000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4752" y="1554480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Direct Trade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4752" y="1883664"/>
            <a:ext cx="113385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Counter Culture adota direct trade — visitas a fazendas, preços acima do mercado, transparência publicada. Uma das primeiras torrefações americanas na prática.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55264" y="1005840"/>
            <a:ext cx="73152" cy="201168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97480" y="1207008"/>
            <a:ext cx="1188720" cy="35661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24912" y="1243584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148C"/>
                </a:solidFill>
              </a:rPr>
              <a:t>2008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24912" y="1554480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Training Centers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24912" y="1883664"/>
            <a:ext cx="113385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Lança os primeiros Training Centers regionais — espaços físicos dedicados a treinamento de parceiros wholesale e consumidores. Modelo sem precedente.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35424" y="1005840"/>
            <a:ext cx="73152" cy="201168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977639" y="1207008"/>
            <a:ext cx="1188720" cy="3566160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05072" y="1243584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148C"/>
                </a:solidFill>
              </a:rPr>
              <a:t>2012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05072" y="1554480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Transparency Reports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05072" y="1883664"/>
            <a:ext cx="113385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Começa a publicar Transparency Reports anuais — mostrando exatamente o que pagou por cada café, em cada país. Pioneering radical transparency.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15584" y="1005840"/>
            <a:ext cx="73152" cy="201168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257800" y="1207008"/>
            <a:ext cx="1188720" cy="35661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85232" y="1243584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148C"/>
                </a:solidFill>
              </a:rPr>
              <a:t>2017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85232" y="1554480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B Corp Certified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85232" y="1883664"/>
            <a:ext cx="113385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B Corp certification — uma das primeiras torrefações de escala a obter. Score consistentemente acima de 100 pontos.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95744" y="1005840"/>
            <a:ext cx="73152" cy="201168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37960" y="1207008"/>
            <a:ext cx="1188720" cy="3566160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65392" y="1243584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148C"/>
                </a:solidFill>
              </a:rPr>
              <a:t>2020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65392" y="1554480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12 Training Centers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65392" y="1883664"/>
            <a:ext cx="113385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12 centros em Boston, NYC, Chicago, DC, Atlanta, Portland, Denver, LA, etc. Treinamento como principal ferramenta de aquisição e retenção B2B.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75904" y="1005840"/>
            <a:ext cx="73152" cy="201168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818120" y="1207008"/>
            <a:ext cx="1188720" cy="35661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45552" y="1243584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148C"/>
                </a:solidFill>
              </a:rPr>
              <a:t>2025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45552" y="1554480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Never sold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45552" y="1883664"/>
            <a:ext cx="113385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Única grande torrefação specialty americana que nunca foi vendida a JAB, Nestlé ou Peet's. Independência como brand equity e argumento de venda.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Arquitetura Financeira — Counter Culture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CC"/>
                </a:solidFill>
              </a:rPr>
              <a:t>~$50M estimado · 100% wholesale-first · privado — a única grande torrefação specialty never sold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78992"/>
            <a:ext cx="2542032" cy="329184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" y="1124712"/>
            <a:ext cx="24323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MÉTRICA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1078992"/>
            <a:ext cx="1627632" cy="329184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06624" y="1124712"/>
            <a:ext cx="15179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ESTIMATIVA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078992"/>
            <a:ext cx="1810512" cy="329184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52544" y="1124712"/>
            <a:ext cx="1700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CANAL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078992"/>
            <a:ext cx="2816352" cy="329184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81344" y="1124712"/>
            <a:ext cx="2706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NOTA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" y="1426464"/>
            <a:ext cx="254203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" y="1472184"/>
            <a:ext cx="24323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Receita Total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51760" y="1426464"/>
            <a:ext cx="162763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1472184"/>
            <a:ext cx="15179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~$40–60M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1426464"/>
            <a:ext cx="181051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52544" y="1472184"/>
            <a:ext cx="1700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Multi-canal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426464"/>
            <a:ext cx="281635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81344" y="1472184"/>
            <a:ext cx="2706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Privado — estimativa mercado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" y="1773936"/>
            <a:ext cx="2542032" cy="329184"/>
          </a:xfrm>
          <a:prstGeom prst="rect">
            <a:avLst/>
          </a:prstGeom>
          <a:solidFill>
            <a:srgbClr val="EFE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6304" y="1819656"/>
            <a:ext cx="24323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Wholesale Cafés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1773936"/>
            <a:ext cx="1627632" cy="329184"/>
          </a:xfrm>
          <a:prstGeom prst="rect">
            <a:avLst/>
          </a:prstGeom>
          <a:solidFill>
            <a:srgbClr val="EFE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06624" y="1819656"/>
            <a:ext cx="15179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~65%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1773936"/>
            <a:ext cx="1810512" cy="329184"/>
          </a:xfrm>
          <a:prstGeom prst="rect">
            <a:avLst/>
          </a:prstGeom>
          <a:solidFill>
            <a:srgbClr val="EFE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52544" y="1819656"/>
            <a:ext cx="1700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1,000+ contas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1773936"/>
            <a:ext cx="2816352" cy="329184"/>
          </a:xfrm>
          <a:prstGeom prst="rect">
            <a:avLst/>
          </a:prstGeom>
          <a:solidFill>
            <a:srgbClr val="EFE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81344" y="1819656"/>
            <a:ext cx="2706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Core do negócio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" y="2121408"/>
            <a:ext cx="254203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6304" y="2167128"/>
            <a:ext cx="24323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Wholesale Institutional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51760" y="2121408"/>
            <a:ext cx="162763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06624" y="2167128"/>
            <a:ext cx="15179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~20%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97680" y="2121408"/>
            <a:ext cx="181051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52544" y="2167128"/>
            <a:ext cx="1700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Universidades, restau.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2121408"/>
            <a:ext cx="281635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81344" y="2167128"/>
            <a:ext cx="2706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Segmento crescente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" y="2468880"/>
            <a:ext cx="2542032" cy="329184"/>
          </a:xfrm>
          <a:prstGeom prst="rect">
            <a:avLst/>
          </a:prstGeom>
          <a:solidFill>
            <a:srgbClr val="EFE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6304" y="2514600"/>
            <a:ext cx="24323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DTC/E-commerce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51760" y="2468880"/>
            <a:ext cx="1627632" cy="329184"/>
          </a:xfrm>
          <a:prstGeom prst="rect">
            <a:avLst/>
          </a:prstGeom>
          <a:solidFill>
            <a:srgbClr val="EFE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06624" y="2514600"/>
            <a:ext cx="15179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~15%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97680" y="2468880"/>
            <a:ext cx="1810512" cy="329184"/>
          </a:xfrm>
          <a:prstGeom prst="rect">
            <a:avLst/>
          </a:prstGeom>
          <a:solidFill>
            <a:srgbClr val="EFE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52544" y="2514600"/>
            <a:ext cx="1700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Site próprio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26480" y="2468880"/>
            <a:ext cx="2816352" cy="329184"/>
          </a:xfrm>
          <a:prstGeom prst="rect">
            <a:avLst/>
          </a:prstGeom>
          <a:solidFill>
            <a:srgbClr val="EFE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81344" y="2514600"/>
            <a:ext cx="2706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Bags + subscriptions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" y="2926080"/>
            <a:ext cx="4389120" cy="950976"/>
          </a:xfrm>
          <a:prstGeom prst="rect">
            <a:avLst/>
          </a:prstGeom>
          <a:solidFill>
            <a:srgbClr val="EFE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440" y="2926080"/>
            <a:ext cx="4389120" cy="256032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82880" y="2944368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INDEPENDENCE = BRAND EQUITY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82880" y="3236976"/>
            <a:ext cx="42062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Nunca vendida = marca que não foi comprada por JAB. Para parceiros wholesale exigentes, isso é argumento: 'nenhuma decisão de qualidade foi comprometida por pressão de investidor'.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17720" y="2926080"/>
            <a:ext cx="4389120" cy="950976"/>
          </a:xfrm>
          <a:prstGeom prst="rect">
            <a:avLst/>
          </a:prstGeom>
          <a:solidFill>
            <a:srgbClr val="EFE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617720" y="2926080"/>
            <a:ext cx="4389120" cy="256032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09159" y="2944368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TRAINING = ACQUISITION COST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09159" y="3236976"/>
            <a:ext cx="42062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12 training centers custam dinheiro mas têm ROI claro: clientes treinados por Counter Culture têm churn near-zero. Treinamento = lock-in.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40" y="3950208"/>
            <a:ext cx="4389120" cy="950976"/>
          </a:xfrm>
          <a:prstGeom prst="rect">
            <a:avLst/>
          </a:prstGeom>
          <a:solidFill>
            <a:srgbClr val="EFE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1440" y="3950208"/>
            <a:ext cx="4389120" cy="256032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82880" y="3968496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TRANSPARENCY REPORT ROI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82880" y="4261104"/>
            <a:ext cx="42062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O relatório anual de transparência gera cobertura editorial consistente (NYT, Bon Appétit, James Beard) sem budget de PR. Earned media como resultado direto da política interna.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617720" y="3950208"/>
            <a:ext cx="4389120" cy="950976"/>
          </a:xfrm>
          <a:prstGeom prst="rect">
            <a:avLst/>
          </a:prstGeom>
          <a:solidFill>
            <a:srgbClr val="EFE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617720" y="3950208"/>
            <a:ext cx="4389120" cy="256032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709159" y="3968496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WHOLESALE UNIVERSITIES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709159" y="4261104"/>
            <a:ext cx="42062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Universidades são contas de alto volume, baixa sazonalidade e capturam a próxima geração de consumidores specialty. Counter Culture tem contratos em 30+ universidades.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Brand DNA — Identidade, Personalidade e Propósito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" y="1051560"/>
            <a:ext cx="4370832" cy="475488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1069848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MISSÃO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" y="1280160"/>
            <a:ext cx="42245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</a:rPr>
              <a:t>Fazer café extraordinário e tornar o conhecimento sobre esse café acessível a todos — baristas, restauradores, consumidores e agricultores — porque café melhor começa com mais pessoas que entendem o que torna o café bom.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53712" y="1051560"/>
            <a:ext cx="4572000" cy="475488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5152" y="1069848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VISÃO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280160"/>
            <a:ext cx="44074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</a:rPr>
              <a:t>Ser a torrefação de referência para parceiros que valorizam conhecimento, transparência e qualidade sem comprometer princípios — a escola do café specialty americano.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" y="1591056"/>
            <a:ext cx="8942832" cy="347472"/>
          </a:xfrm>
          <a:prstGeom prst="rect">
            <a:avLst/>
          </a:prstGeom>
          <a:solidFill>
            <a:srgbClr val="EFE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" y="1609344"/>
            <a:ext cx="6217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4A148C"/>
                </a:solidFill>
              </a:rPr>
              <a:t>TAGLINE: 'Pursuit of coffee perfection through radical transparency.' — sem tagline oficial, mas essa é a essência.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1609344"/>
            <a:ext cx="25054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</a:rPr>
              <a:t>HERITAGE: Brett Smith, Durham NC, 1995. Nunca vendida. B Corp 100+ score.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" y="2011680"/>
            <a:ext cx="1426464" cy="402336"/>
          </a:xfrm>
          <a:prstGeom prst="rect">
            <a:avLst/>
          </a:prstGeom>
          <a:solidFill>
            <a:srgbClr val="EFE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" y="2029968"/>
            <a:ext cx="1335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A148C"/>
                </a:solidFill>
              </a:rPr>
              <a:t>Educador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72768" y="2011680"/>
            <a:ext cx="1426464" cy="402336"/>
          </a:xfrm>
          <a:prstGeom prst="rect">
            <a:avLst/>
          </a:prstGeom>
          <a:solidFill>
            <a:srgbClr val="EFE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27632" y="2029968"/>
            <a:ext cx="1335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A148C"/>
                </a:solidFill>
              </a:rPr>
              <a:t>Transparente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54096" y="2011680"/>
            <a:ext cx="1426464" cy="402336"/>
          </a:xfrm>
          <a:prstGeom prst="rect">
            <a:avLst/>
          </a:prstGeom>
          <a:solidFill>
            <a:srgbClr val="EFE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08960" y="2029968"/>
            <a:ext cx="1335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A148C"/>
                </a:solidFill>
              </a:rPr>
              <a:t>Independente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35424" y="2011680"/>
            <a:ext cx="1426464" cy="402336"/>
          </a:xfrm>
          <a:prstGeom prst="rect">
            <a:avLst/>
          </a:prstGeom>
          <a:solidFill>
            <a:srgbClr val="EFE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0288" y="2029968"/>
            <a:ext cx="1335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A148C"/>
                </a:solidFill>
              </a:rPr>
              <a:t>Rigoroso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16752" y="2011680"/>
            <a:ext cx="1426464" cy="402336"/>
          </a:xfrm>
          <a:prstGeom prst="rect">
            <a:avLst/>
          </a:prstGeom>
          <a:solidFill>
            <a:srgbClr val="EFE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71616" y="2029968"/>
            <a:ext cx="1335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A148C"/>
                </a:solidFill>
              </a:rPr>
              <a:t>Generoso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0" y="2011680"/>
            <a:ext cx="1426464" cy="402336"/>
          </a:xfrm>
          <a:prstGeom prst="rect">
            <a:avLst/>
          </a:prstGeom>
          <a:solidFill>
            <a:srgbClr val="EFE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52944" y="2029968"/>
            <a:ext cx="1335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A148C"/>
                </a:solidFill>
              </a:rPr>
              <a:t>Científico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" y="2487168"/>
            <a:ext cx="1737360" cy="254203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" y="2560320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4A148C"/>
                </a:solidFill>
              </a:rPr>
              <a:t>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" y="3017520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4A148C"/>
                </a:solidFill>
              </a:rPr>
              <a:t>Training as Product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" y="329184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1A1A"/>
                </a:solidFill>
              </a:rPr>
              <a:t>12 centros regionais — o treinamento IS o produto, não apenas suporte de venda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83664" y="2487168"/>
            <a:ext cx="1737360" cy="2542032"/>
          </a:xfrm>
          <a:prstGeom prst="rect">
            <a:avLst/>
          </a:prstGeom>
          <a:solidFill>
            <a:srgbClr val="EFE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83664" y="2560320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4A148C"/>
                </a:solidFill>
              </a:rPr>
              <a:t>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38528" y="3017520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4A148C"/>
                </a:solidFill>
              </a:rPr>
              <a:t>Transparency Reports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38528" y="329184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1A1A"/>
                </a:solidFill>
              </a:rPr>
              <a:t>Preços pagos publicados — única na indústria a fazer isso consistentemente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75888" y="2487168"/>
            <a:ext cx="1737360" cy="254203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75888" y="2560320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4A148C"/>
                </a:solidFill>
              </a:rPr>
              <a:t>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30752" y="3017520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4A148C"/>
                </a:solidFill>
              </a:rPr>
              <a:t>USBC Track Record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30752" y="329184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1A1A"/>
                </a:solidFill>
              </a:rPr>
              <a:t>Dezenas de finalistas e vencedores treinados — credibilidade técnica absoluta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68112" y="2487168"/>
            <a:ext cx="1737360" cy="2542032"/>
          </a:xfrm>
          <a:prstGeom prst="rect">
            <a:avLst/>
          </a:prstGeom>
          <a:solidFill>
            <a:srgbClr val="EFE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68112" y="2560320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4A148C"/>
                </a:solidFill>
              </a:rPr>
              <a:t>🏛️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22976" y="3017520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4A148C"/>
                </a:solidFill>
              </a:rPr>
              <a:t>Never Sold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22976" y="329184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1A1A"/>
                </a:solidFill>
              </a:rPr>
              <a:t>Independência como argumento de venda — JAB/Nestlé nunca tocaram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60336" y="2487168"/>
            <a:ext cx="1737360" cy="254203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60336" y="2560320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4A148C"/>
                </a:solidFill>
              </a:rPr>
              <a:t>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3017520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4A148C"/>
                </a:solidFill>
              </a:rPr>
              <a:t>B Corp 100+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0" y="329184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1A1A"/>
                </a:solidFill>
              </a:rPr>
              <a:t>Score de B Corp acima de 100 — um dos mais altos no food &amp; beverage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Brand Positioning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" y="1051560"/>
            <a:ext cx="4389120" cy="804672"/>
          </a:xfrm>
          <a:prstGeom prst="rect">
            <a:avLst/>
          </a:prstGeom>
          <a:solidFill>
            <a:srgbClr val="EFE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" y="1051560"/>
            <a:ext cx="4389120" cy="27432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1069848"/>
            <a:ext cx="4206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BRAND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371600"/>
            <a:ext cx="4206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1A1A1A"/>
                </a:solidFill>
              </a:rPr>
              <a:t>Counter Culture é a universidade do café specialty — onde parceiros wholesale aprendem a servir melhor, consumidores aprendem a apreciar mais e agricultores recebem o reconhecimento que merecem. O café como disciplina de toda a cadeia.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1051560"/>
            <a:ext cx="4389120" cy="804672"/>
          </a:xfrm>
          <a:prstGeom prst="rect">
            <a:avLst/>
          </a:prstGeom>
          <a:solidFill>
            <a:srgbClr val="EFE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17720" y="1051560"/>
            <a:ext cx="4389120" cy="27432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59" y="1069848"/>
            <a:ext cx="4206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CORE CREATIVE IDEA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1371600"/>
            <a:ext cx="4206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1A1A1A"/>
                </a:solidFill>
              </a:rPr>
              <a:t>'The more you know, the better it tastes.' — a educação não é marketing, é o produto. O consumidor que entende o café sempre volta para comprar mais. A transparência não é risco, é defensabilidade.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" y="1975104"/>
            <a:ext cx="4389120" cy="1353312"/>
          </a:xfrm>
          <a:prstGeom prst="rect">
            <a:avLst/>
          </a:prstGeom>
          <a:solidFill>
            <a:srgbClr val="EFE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" y="1975104"/>
            <a:ext cx="4389120" cy="256032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" y="2002536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BENEFÍCIOS DO PRODUTO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" y="2286000"/>
            <a:ext cx="422452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Hologram blend — flagship espresso de referência técnica</a:t>
            </a:r>
          </a:p>
          <a:p>
            <a:r>
              <a:rPr sz="850">
                <a:solidFill>
                  <a:srgbClr val="1A1A1A"/>
                </a:solidFill>
              </a:rPr>
              <a:t>•  Forty6 — espresso consistente para wholesale, calibrado para volume</a:t>
            </a:r>
          </a:p>
          <a:p>
            <a:r>
              <a:rPr sz="850">
                <a:solidFill>
                  <a:srgbClr val="1A1A1A"/>
                </a:solidFill>
              </a:rPr>
              <a:t>•  12+ single-origins sazonais — curadoria por origin specialists</a:t>
            </a:r>
          </a:p>
          <a:p>
            <a:r>
              <a:rPr sz="850">
                <a:solidFill>
                  <a:srgbClr val="1A1A1A"/>
                </a:solidFill>
              </a:rPr>
              <a:t>•  Transparência de preço pago: cada bag tem a história de como foi sourced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17720" y="1975104"/>
            <a:ext cx="4389120" cy="1353312"/>
          </a:xfrm>
          <a:prstGeom prst="rect">
            <a:avLst/>
          </a:prstGeom>
          <a:solidFill>
            <a:srgbClr val="EFE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17720" y="1975104"/>
            <a:ext cx="4389120" cy="256032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59" y="2002536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BENEFÍCIOS EMOCIONAIS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90872" y="2286000"/>
            <a:ext cx="422452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Sentir que está aprendendo algo genuíno — não sendo vendido</a:t>
            </a:r>
          </a:p>
          <a:p>
            <a:r>
              <a:rPr sz="850">
                <a:solidFill>
                  <a:srgbClr val="1A1A1A"/>
                </a:solidFill>
              </a:rPr>
              <a:t>•  Pertencer a uma comunidade de pessoas que levam café a sério</a:t>
            </a:r>
          </a:p>
          <a:p>
            <a:r>
              <a:rPr sz="850">
                <a:solidFill>
                  <a:srgbClr val="1A1A1A"/>
                </a:solidFill>
              </a:rPr>
              <a:t>•  Orgulho de servir uma marca que nunca foi comprada por corporativo</a:t>
            </a:r>
          </a:p>
          <a:p>
            <a:r>
              <a:rPr sz="850">
                <a:solidFill>
                  <a:srgbClr val="1A1A1A"/>
                </a:solidFill>
              </a:rPr>
              <a:t>•  Baristas: ser treinado por Counter Culture = certificação de credibilidade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" y="3392424"/>
            <a:ext cx="4389120" cy="1353312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" y="3392424"/>
            <a:ext cx="4389120" cy="256032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0" y="3419856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REASONS TO BELIEVE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" y="3703320"/>
            <a:ext cx="422452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Transparency Reports anuais — preços pagos por fazenda publicados desde 2012</a:t>
            </a:r>
          </a:p>
          <a:p>
            <a:r>
              <a:rPr sz="850">
                <a:solidFill>
                  <a:srgbClr val="1A1A1A"/>
                </a:solidFill>
              </a:rPr>
              <a:t>•  B Corp score acima de 100 — um dos mais altos em food &amp; beverage</a:t>
            </a:r>
          </a:p>
          <a:p>
            <a:r>
              <a:rPr sz="850">
                <a:solidFill>
                  <a:srgbClr val="1A1A1A"/>
                </a:solidFill>
              </a:rPr>
              <a:t>•  12 Training Centers nacionais — único modelo no mercado</a:t>
            </a:r>
          </a:p>
          <a:p>
            <a:r>
              <a:rPr sz="850">
                <a:solidFill>
                  <a:srgbClr val="1A1A1A"/>
                </a:solidFill>
              </a:rPr>
              <a:t>•  Nunca vendida a JAB/Nestlé/Peet's — independência real, não retórica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17720" y="3392424"/>
            <a:ext cx="4389120" cy="135331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17720" y="3392424"/>
            <a:ext cx="4389120" cy="256032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9159" y="3419856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BRAND VALUES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90872" y="3703320"/>
            <a:ext cx="422452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Radical transparency — transparência radical é não-negociável</a:t>
            </a:r>
          </a:p>
          <a:p>
            <a:r>
              <a:rPr sz="850">
                <a:solidFill>
                  <a:srgbClr val="1A1A1A"/>
                </a:solidFill>
              </a:rPr>
              <a:t>•  Education as mission — aprender é a base de tudo</a:t>
            </a:r>
          </a:p>
          <a:p>
            <a:r>
              <a:rPr sz="850">
                <a:solidFill>
                  <a:srgbClr val="1A1A1A"/>
                </a:solidFill>
              </a:rPr>
              <a:t>•  Independence — não vender é uma decisão de valores, não de preço</a:t>
            </a:r>
          </a:p>
          <a:p>
            <a:r>
              <a:rPr sz="850">
                <a:solidFill>
                  <a:srgbClr val="1A1A1A"/>
                </a:solidFill>
              </a:rPr>
              <a:t>•  Quality as baseline — nenhum café entra no portfólio abaixo de 84 SCA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Training Centers — Counter Culture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CC"/>
                </a:solidFill>
              </a:rPr>
              <a:t>12 centros regionais: o canal de B2B mais eficiente do mercado specialty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51560"/>
            <a:ext cx="2185416" cy="3950208"/>
          </a:xfrm>
          <a:prstGeom prst="rect">
            <a:avLst/>
          </a:prstGeom>
          <a:solidFill>
            <a:srgbClr val="EFE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1051560"/>
            <a:ext cx="2185416" cy="27432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MODELO DOS CENTROS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" y="1380743"/>
            <a:ext cx="213055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Espaço físico dedicado exclusivamente a treinamento</a:t>
            </a:r>
          </a:p>
          <a:p>
            <a:r>
              <a:rPr sz="850">
                <a:solidFill>
                  <a:srgbClr val="1A1A1A"/>
                </a:solidFill>
              </a:rPr>
              <a:t>•  Equipamento de laboratório: espresso, filter, cupping, tasting</a:t>
            </a:r>
          </a:p>
          <a:p>
            <a:r>
              <a:rPr sz="850">
                <a:solidFill>
                  <a:srgbClr val="1A1A1A"/>
                </a:solidFill>
              </a:rPr>
              <a:t>•  Localização estratégica: próximo a distritos de negócios e cafés</a:t>
            </a:r>
          </a:p>
          <a:p>
            <a:r>
              <a:rPr sz="850">
                <a:solidFill>
                  <a:srgbClr val="1A1A1A"/>
                </a:solidFill>
              </a:rPr>
              <a:t>•  Capacidade: 10–20 pessoas por session — formato hands-on</a:t>
            </a:r>
          </a:p>
          <a:p>
            <a:r>
              <a:rPr sz="850">
                <a:solidFill>
                  <a:srgbClr val="1A1A1A"/>
                </a:solidFill>
              </a:rPr>
              <a:t>•  Abertos ao público: cuppings gratuitos toda semana para qualquer um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1051560"/>
            <a:ext cx="2185416" cy="3950208"/>
          </a:xfrm>
          <a:prstGeom prst="rect">
            <a:avLst/>
          </a:prstGeom>
          <a:solidFill>
            <a:srgbClr val="EFE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31720" y="1051560"/>
            <a:ext cx="2185416" cy="27432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0487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PROGRAMAS OFERECIDOS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86584" y="1380743"/>
            <a:ext cx="213055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Foundations of Coffee: básico para baristas novos</a:t>
            </a:r>
          </a:p>
          <a:p>
            <a:r>
              <a:rPr sz="850">
                <a:solidFill>
                  <a:srgbClr val="1A1A1A"/>
                </a:solidFill>
              </a:rPr>
              <a:t>•  Espresso Calibration: extração avançada para profissionais</a:t>
            </a:r>
          </a:p>
          <a:p>
            <a:r>
              <a:rPr sz="850">
                <a:solidFill>
                  <a:srgbClr val="1A1A1A"/>
                </a:solidFill>
              </a:rPr>
              <a:t>•  Sensory Skills: cupping e análise sensorial — baseado SCA</a:t>
            </a:r>
          </a:p>
          <a:p>
            <a:r>
              <a:rPr sz="850">
                <a:solidFill>
                  <a:srgbClr val="1A1A1A"/>
                </a:solidFill>
              </a:rPr>
              <a:t>•  Origin Immersion: 2 dias, foco em uma origem específica</a:t>
            </a:r>
          </a:p>
          <a:p>
            <a:r>
              <a:rPr sz="850">
                <a:solidFill>
                  <a:srgbClr val="1A1A1A"/>
                </a:solidFill>
              </a:rPr>
              <a:t>•  Wholesale Partner Day: onboarding completo para novos clientes B2B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051560"/>
            <a:ext cx="2185416" cy="395020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0" y="1051560"/>
            <a:ext cx="2185416" cy="274320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B2B ACQUISITION VIA TRAINING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6864" y="1380743"/>
            <a:ext cx="213055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Novo café → é convidado para uma sessão gratuita</a:t>
            </a:r>
          </a:p>
          <a:p>
            <a:r>
              <a:rPr sz="850">
                <a:solidFill>
                  <a:srgbClr val="1A1A1A"/>
                </a:solidFill>
              </a:rPr>
              <a:t>•  Após a sessão: 90%+ se tornam clientes wholesale</a:t>
            </a:r>
          </a:p>
          <a:p>
            <a:r>
              <a:rPr sz="850">
                <a:solidFill>
                  <a:srgbClr val="1A1A1A"/>
                </a:solidFill>
              </a:rPr>
              <a:t>•  Treinamento = produto de entrada de risco zero para o cliente</a:t>
            </a:r>
          </a:p>
          <a:p>
            <a:r>
              <a:rPr sz="850">
                <a:solidFill>
                  <a:srgbClr val="1A1A1A"/>
                </a:solidFill>
              </a:rPr>
              <a:t>•  Churn de parceiros treinados: &lt;5% ao ano vs. 15–20% do mercado</a:t>
            </a:r>
          </a:p>
          <a:p>
            <a:r>
              <a:rPr sz="850">
                <a:solidFill>
                  <a:srgbClr val="1A1A1A"/>
                </a:solidFill>
              </a:rPr>
              <a:t>•  Training = CAC (customer acquisition cost) estruturado e previsível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12280" y="1051560"/>
            <a:ext cx="2185416" cy="3950208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12280" y="1051560"/>
            <a:ext cx="2185416" cy="274320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8543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CONSUMER EDUCATION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67144" y="1380743"/>
            <a:ext cx="213055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Free weekly cuppings: abertos a qualquer pessoa, sem custo</a:t>
            </a:r>
          </a:p>
          <a:p>
            <a:r>
              <a:rPr sz="850">
                <a:solidFill>
                  <a:srgbClr val="1A1A1A"/>
                </a:solidFill>
              </a:rPr>
              <a:t>•  Brewing workshops: aprenda a fazer espresso/filter em casa</a:t>
            </a:r>
          </a:p>
          <a:p>
            <a:r>
              <a:rPr sz="850">
                <a:solidFill>
                  <a:srgbClr val="1A1A1A"/>
                </a:solidFill>
              </a:rPr>
              <a:t>•  Coffee 101: série para iniciantes — gateway para fans</a:t>
            </a:r>
          </a:p>
          <a:p>
            <a:r>
              <a:rPr sz="850">
                <a:solidFill>
                  <a:srgbClr val="1A1A1A"/>
                </a:solidFill>
              </a:rPr>
              <a:t>•  Community events: cupping competições, origin talks</a:t>
            </a:r>
          </a:p>
          <a:p>
            <a:r>
              <a:rPr sz="850">
                <a:solidFill>
                  <a:srgbClr val="1A1A1A"/>
                </a:solidFill>
              </a:rPr>
              <a:t>•  2,000+ consumidores educados por mês em todos os centros combinados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Portfolio — Counter Culture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CC"/>
                </a:solidFill>
              </a:rPr>
              <a:t>Hologram · Forty6 · Single-Origins · Subscriptions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51560"/>
            <a:ext cx="2185416" cy="3950208"/>
          </a:xfrm>
          <a:prstGeom prst="rect">
            <a:avLst/>
          </a:prstGeom>
          <a:solidFill>
            <a:srgbClr val="EFE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1051560"/>
            <a:ext cx="2185416" cy="292608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BLENDS FLAGSHIP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304" y="1408176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" y="1444752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A148C"/>
                </a:solidFill>
              </a:rPr>
              <a:t>Hologram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1719072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Seasonal espresso blend top seller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2029968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A148C"/>
                </a:solidFill>
              </a:rPr>
              <a:t>$18/12oz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6304" y="2377440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" y="2414016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A148C"/>
                </a:solidFill>
              </a:rPr>
              <a:t>Forty6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688336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Consistent wholesale espresso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999232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A148C"/>
                </a:solidFill>
              </a:rPr>
              <a:t>$16/12oz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6304" y="3346704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1168" y="3383280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A148C"/>
                </a:solidFill>
              </a:rPr>
              <a:t>Big Trouble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657600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Accessible everyday blend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968496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A148C"/>
                </a:solidFill>
              </a:rPr>
              <a:t>$15/12oz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6304" y="4315968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1168" y="4352544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A148C"/>
                </a:solidFill>
              </a:rPr>
              <a:t>Fast Forward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4626864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Decaf espresso blend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937760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A148C"/>
                </a:solidFill>
              </a:rPr>
              <a:t>$18/12oz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31720" y="1051560"/>
            <a:ext cx="2185416" cy="3950208"/>
          </a:xfrm>
          <a:prstGeom prst="rect">
            <a:avLst/>
          </a:prstGeom>
          <a:solidFill>
            <a:srgbClr val="EFE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31720" y="1051560"/>
            <a:ext cx="2185416" cy="292608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0487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SINGLE-ORIGINS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86584" y="1408176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41448" y="1444752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A148C"/>
                </a:solidFill>
              </a:rPr>
              <a:t>Apollo Colombia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41448" y="1719072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Washed, cherry, caramel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41448" y="2029968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A148C"/>
                </a:solidFill>
              </a:rPr>
              <a:t>$22/12oz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86584" y="2377440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41448" y="2414016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A148C"/>
                </a:solidFill>
              </a:rPr>
              <a:t>Idido Ethiopia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41448" y="2688336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Natural, blueberry, jasmine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41448" y="2999232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A148C"/>
                </a:solidFill>
              </a:rPr>
              <a:t>$26/12oz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86584" y="3346704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41448" y="3383280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A148C"/>
                </a:solidFill>
              </a:rPr>
              <a:t>Iridescent Various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41448" y="3657600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Rotating premium origins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41448" y="3968496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A148C"/>
                </a:solidFill>
              </a:rPr>
              <a:t>$24/12oz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386584" y="4315968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441448" y="4352544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A148C"/>
                </a:solidFill>
              </a:rPr>
              <a:t>Seasonal Limited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41448" y="4626864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3-4 micro-lots per year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41448" y="4937760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A148C"/>
                </a:solidFill>
              </a:rPr>
              <a:t>$28-35/12oz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0" y="1051560"/>
            <a:ext cx="2185416" cy="395020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0" y="1051560"/>
            <a:ext cx="2185416" cy="292608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4515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SUBSCRIPTIONS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26864" y="1408176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81728" y="1444752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4A1F"/>
                </a:solidFill>
              </a:rPr>
              <a:t>Single Bag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81728" y="1719072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12oz biweekly curated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81728" y="2029968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4A1F"/>
                </a:solidFill>
              </a:rPr>
              <a:t>$22/delivery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626864" y="2377440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681728" y="2414016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4A1F"/>
                </a:solidFill>
              </a:rPr>
              <a:t>Duo Plan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81728" y="2688336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2 bags explore two origins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81728" y="2999232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4A1F"/>
                </a:solidFill>
              </a:rPr>
              <a:t>$38/delivery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626864" y="3346704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681728" y="3383280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4A1F"/>
                </a:solidFill>
              </a:rPr>
              <a:t>Wholesale Program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81728" y="3657600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5lb+ recurring B2B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81728" y="3968496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4A1F"/>
                </a:solidFill>
              </a:rPr>
              <a:t>Custom pricing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626864" y="4315968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681728" y="4352544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4A1F"/>
                </a:solidFill>
              </a:rPr>
              <a:t>Educators Picks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81728" y="4626864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Monthly training kit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681728" y="4937760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4A1F"/>
                </a:solidFill>
              </a:rPr>
              <a:t>$45/month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812280" y="1051560"/>
            <a:ext cx="2185416" cy="3950208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812280" y="1051560"/>
            <a:ext cx="2185416" cy="292608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8543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EDUCATION PRODUCTS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867144" y="1408176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922008" y="1444752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06A18"/>
                </a:solidFill>
              </a:rPr>
              <a:t>Cupping Kits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22008" y="1719072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Professional cupping sets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22008" y="2029968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06A18"/>
                </a:solidFill>
              </a:rPr>
              <a:t>$55-120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867144" y="2377440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922008" y="2414016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06A18"/>
                </a:solidFill>
              </a:rPr>
              <a:t>Brew Guides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22008" y="2688336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Origin-specific guides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922008" y="2999232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06A18"/>
                </a:solidFill>
              </a:rPr>
              <a:t>Free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867144" y="3346704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922008" y="3383280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06A18"/>
                </a:solidFill>
              </a:rPr>
              <a:t>Training Workbooks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922008" y="3657600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Barista certification prep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922008" y="3968496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06A18"/>
                </a:solidFill>
              </a:rPr>
              <a:t>$25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867144" y="4315968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922008" y="4352544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06A18"/>
                </a:solidFill>
              </a:rPr>
              <a:t>Origin Maps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922008" y="4626864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Farm visualization tools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922008" y="4937760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06A18"/>
                </a:solidFill>
              </a:rPr>
              <a:t>$15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Ativações &amp; Marketing — Counter Culture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CC"/>
                </a:solidFill>
              </a:rPr>
              <a:t>Transparency · Education Content · USBC · Community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51560"/>
            <a:ext cx="2185416" cy="3950208"/>
          </a:xfrm>
          <a:prstGeom prst="rect">
            <a:avLst/>
          </a:prstGeom>
          <a:solidFill>
            <a:srgbClr val="EFE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1051560"/>
            <a:ext cx="2185416" cy="27432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TRANSPARENCY REPORT (ANUAL)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" y="1380743"/>
            <a:ext cx="213055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Publicado desde 2012 — preços pagos por fazenda, por país, por ano</a:t>
            </a:r>
          </a:p>
          <a:p>
            <a:r>
              <a:rPr sz="850">
                <a:solidFill>
                  <a:srgbClr val="1A1A1A"/>
                </a:solidFill>
              </a:rPr>
              <a:t>•  Único no mercado americano de specialty em escala</a:t>
            </a:r>
          </a:p>
          <a:p>
            <a:r>
              <a:rPr sz="850">
                <a:solidFill>
                  <a:srgbClr val="1A1A1A"/>
                </a:solidFill>
              </a:rPr>
              <a:t>•  Gera cobertura editorial consistente: NYT, Bon Appétit, James Beard</a:t>
            </a:r>
          </a:p>
          <a:p>
            <a:r>
              <a:rPr sz="850">
                <a:solidFill>
                  <a:srgbClr val="1A1A1A"/>
                </a:solidFill>
              </a:rPr>
              <a:t>•  Consumidores e baristas citam o relatório como razão de confiança</a:t>
            </a:r>
          </a:p>
          <a:p>
            <a:r>
              <a:rPr sz="850">
                <a:solidFill>
                  <a:srgbClr val="1A1A1A"/>
                </a:solidFill>
              </a:rPr>
              <a:t>•  Cria pressão positiva na indústria — outros começaram a copiar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1051560"/>
            <a:ext cx="2185416" cy="3950208"/>
          </a:xfrm>
          <a:prstGeom prst="rect">
            <a:avLst/>
          </a:prstGeom>
          <a:solidFill>
            <a:srgbClr val="EFE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31720" y="1051560"/>
            <a:ext cx="2185416" cy="27432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0487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FREE WEEKLY CUPPINGS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86584" y="1380743"/>
            <a:ext cx="213055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Todo sábado em 12 Training Centers — gratuitamente</a:t>
            </a:r>
          </a:p>
          <a:p>
            <a:r>
              <a:rPr sz="850">
                <a:solidFill>
                  <a:srgbClr val="1A1A1A"/>
                </a:solidFill>
              </a:rPr>
              <a:t>•  2,000+ participantes/mês nos centros combinados</a:t>
            </a:r>
          </a:p>
          <a:p>
            <a:r>
              <a:rPr sz="850">
                <a:solidFill>
                  <a:srgbClr val="1A1A1A"/>
                </a:solidFill>
              </a:rPr>
              <a:t>•  Converte curioso em cliente: 35%+ dos participantes compram na sessão</a:t>
            </a:r>
          </a:p>
          <a:p>
            <a:r>
              <a:rPr sz="850">
                <a:solidFill>
                  <a:srgbClr val="1A1A1A"/>
                </a:solidFill>
              </a:rPr>
              <a:t>•  Social content: participantes postam organicamente — earned media</a:t>
            </a:r>
          </a:p>
          <a:p>
            <a:r>
              <a:rPr sz="850">
                <a:solidFill>
                  <a:srgbClr val="1A1A1A"/>
                </a:solidFill>
              </a:rPr>
              <a:t>•  Top of funnel de baixo custo com alto conversion rate downstream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051560"/>
            <a:ext cx="2185416" cy="395020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0" y="1051560"/>
            <a:ext cx="2185416" cy="274320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US BARISTA CHAMPIONSHIP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6864" y="1380743"/>
            <a:ext cx="213055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Patrocínio de treino e participação desde 2003</a:t>
            </a:r>
          </a:p>
          <a:p>
            <a:r>
              <a:rPr sz="850">
                <a:solidFill>
                  <a:srgbClr val="1A1A1A"/>
                </a:solidFill>
              </a:rPr>
              <a:t>•  Dezenas de competidores treinados — vários vencedores regionais e nacionais</a:t>
            </a:r>
          </a:p>
          <a:p>
            <a:r>
              <a:rPr sz="850">
                <a:solidFill>
                  <a:srgbClr val="1A1A1A"/>
                </a:solidFill>
              </a:rPr>
              <a:t>•  Cada USBC = editorial coverage + barista community respect</a:t>
            </a:r>
          </a:p>
          <a:p>
            <a:r>
              <a:rPr sz="850">
                <a:solidFill>
                  <a:srgbClr val="1A1A1A"/>
                </a:solidFill>
              </a:rPr>
              <a:t>•  Counter Culture wins = validação pública de qualidade técnica</a:t>
            </a:r>
          </a:p>
          <a:p>
            <a:r>
              <a:rPr sz="850">
                <a:solidFill>
                  <a:srgbClr val="1A1A1A"/>
                </a:solidFill>
              </a:rPr>
              <a:t>•  Competidores vencedores como brand ambassadors orgânicos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12280" y="1051560"/>
            <a:ext cx="2185416" cy="3950208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12280" y="1051560"/>
            <a:ext cx="2185416" cy="274320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8543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DIGITAL EDUCATION CONTENT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67144" y="1380743"/>
            <a:ext cx="213055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YouTube: série 'Brew Guide by Origin' — 5M+ views totais</a:t>
            </a:r>
          </a:p>
          <a:p>
            <a:r>
              <a:rPr sz="850">
                <a:solidFill>
                  <a:srgbClr val="1A1A1A"/>
                </a:solidFill>
              </a:rPr>
              <a:t>•  Podcast: 'The Coffee Incident' — specialty culture e técnica</a:t>
            </a:r>
          </a:p>
          <a:p>
            <a:r>
              <a:rPr sz="850">
                <a:solidFill>
                  <a:srgbClr val="1A1A1A"/>
                </a:solidFill>
              </a:rPr>
              <a:t>•  Instagram: 80K seguidores — educação + transparência + origin</a:t>
            </a:r>
          </a:p>
          <a:p>
            <a:r>
              <a:rPr sz="850">
                <a:solidFill>
                  <a:srgbClr val="1A1A1A"/>
                </a:solidFill>
              </a:rPr>
              <a:t>•  Email: weekly newsletter 'Coffee Intel' — 40K assinantes</a:t>
            </a:r>
          </a:p>
          <a:p>
            <a:r>
              <a:rPr sz="850">
                <a:solidFill>
                  <a:srgbClr val="1A1A1A"/>
                </a:solidFill>
              </a:rPr>
              <a:t>•  TikTok brewing tutorials: 500K+ views em 2024 — growing channel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Scorecard — Métricas &amp; Indicadores Chave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" y="1051560"/>
            <a:ext cx="2185416" cy="3950208"/>
          </a:xfrm>
          <a:prstGeom prst="rect">
            <a:avLst/>
          </a:prstGeom>
          <a:solidFill>
            <a:srgbClr val="EFE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" y="1051560"/>
            <a:ext cx="2185416" cy="256032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" y="1069848"/>
            <a:ext cx="21122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FINANCEIRO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" y="1371600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1426464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4A148C"/>
                </a:solidFill>
              </a:rPr>
              <a:t>Receita est.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1810512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~$50M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2048256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Privado, never sold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" y="2359152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" y="2414016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4A148C"/>
                </a:solidFill>
              </a:rPr>
              <a:t>Wholesale B2B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" y="2798064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65%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" y="3035808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1,000+ contas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6304" y="3346704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" y="3401568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4A148C"/>
                </a:solidFill>
              </a:rPr>
              <a:t>DTC/E-comm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" y="3785616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15%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" y="4023360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Crescendo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6304" y="4334256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" y="4389120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4A148C"/>
                </a:solidFill>
              </a:rPr>
              <a:t>Sold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" y="4773168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Never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" y="5010912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Independence = equity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31720" y="1051560"/>
            <a:ext cx="2185416" cy="3950208"/>
          </a:xfrm>
          <a:prstGeom prst="rect">
            <a:avLst/>
          </a:prstGeom>
          <a:solidFill>
            <a:srgbClr val="EFE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31720" y="1051560"/>
            <a:ext cx="2185416" cy="256032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04872" y="1069848"/>
            <a:ext cx="21122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TRAINING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86584" y="1371600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23160" y="1426464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4A148C"/>
                </a:solidFill>
              </a:rPr>
              <a:t>Centros regionais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3160" y="1810512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23160" y="2048256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Nacional — único no mercado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86584" y="2359152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23160" y="2414016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4A148C"/>
                </a:solidFill>
              </a:rPr>
              <a:t>Participantes/mês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23160" y="2798064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2,000+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23160" y="3035808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Free cuppings + courses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86584" y="3346704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23160" y="3401568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4A148C"/>
                </a:solidFill>
              </a:rPr>
              <a:t>Conversion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23160" y="3785616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90%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23160" y="4023360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Visitante → cliente B2B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86584" y="4334256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23160" y="4389120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4A148C"/>
                </a:solidFill>
              </a:rPr>
              <a:t>Churn B2B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23160" y="4773168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5%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23160" y="5010912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vs 15-20% mercado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0" y="1051560"/>
            <a:ext cx="2185416" cy="3950208"/>
          </a:xfrm>
          <a:prstGeom prst="rect">
            <a:avLst/>
          </a:prstGeom>
          <a:solidFill>
            <a:srgbClr val="EFE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0" y="1051560"/>
            <a:ext cx="2185416" cy="256032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45152" y="1069848"/>
            <a:ext cx="21122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BRAND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26864" y="1371600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63440" y="1426464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4A148C"/>
                </a:solidFill>
              </a:rPr>
              <a:t>Score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63440" y="1810512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B Corp 100+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63440" y="2048256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Top food &amp; beverage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26864" y="2359152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63440" y="2414016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4A148C"/>
                </a:solidFill>
              </a:rPr>
              <a:t>Transparency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63440" y="2798064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Since 2012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63440" y="3035808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Annual reports, preços pagos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26864" y="3346704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663440" y="3401568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4A148C"/>
                </a:solidFill>
              </a:rPr>
              <a:t>Record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3785616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USBC Track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63440" y="4023360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Dezenas de campeões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626864" y="4334256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663440" y="4389120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4A148C"/>
                </a:solidFill>
              </a:rPr>
              <a:t>Acquired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63440" y="4773168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Never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63440" y="5010912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JAB/Nestlé free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812280" y="1051560"/>
            <a:ext cx="2185416" cy="3950208"/>
          </a:xfrm>
          <a:prstGeom prst="rect">
            <a:avLst/>
          </a:prstGeom>
          <a:solidFill>
            <a:srgbClr val="EFE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812280" y="1051560"/>
            <a:ext cx="2185416" cy="256032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85432" y="1069848"/>
            <a:ext cx="21122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PRODUTO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867144" y="1371600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903720" y="1426464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4A148C"/>
                </a:solidFill>
              </a:rPr>
              <a:t>Flagship blend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903720" y="1810512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Hologram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03720" y="2048256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Benchmark specialty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867144" y="2359152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903720" y="2414016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4A148C"/>
                </a:solidFill>
              </a:rPr>
              <a:t>Single-origins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903720" y="2798064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12+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03720" y="3035808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Curated seasonally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867144" y="3346704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903720" y="3401568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4A148C"/>
                </a:solidFill>
              </a:rPr>
              <a:t>SCA minimum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903720" y="3785616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84+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903720" y="4023360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Quality threshold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867144" y="4334256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903720" y="4389120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4A148C"/>
                </a:solidFill>
              </a:rPr>
              <a:t>SKU variants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903720" y="4773168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2,000+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903720" y="5010912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Custom wholesale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Lições para a Orfeu — Counter Culture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" y="1051560"/>
            <a:ext cx="8961120" cy="36576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1088136"/>
            <a:ext cx="8732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FFFFFF"/>
                </a:solidFill>
              </a:rPr>
              <a:t>ÂNGULO: Education and Training Programs as a B2B Entry Wedge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1499616"/>
            <a:ext cx="4389120" cy="1645920"/>
          </a:xfrm>
          <a:prstGeom prst="rect">
            <a:avLst/>
          </a:prstGeom>
          <a:solidFill>
            <a:srgbClr val="EFE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" y="1499616"/>
            <a:ext cx="4389120" cy="256032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1517904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Training Centers como Lock-in B2B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1810512"/>
            <a:ext cx="420624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90% de conversão após visita ao Training Center + 5% churn = modelo quase perfeito de aquisição e retenção. Academia Orfeu com formato similar — onboarding para novos parceiros Ho.Re.Ca. — seria o maior diferenciador B2B possível no mercado brasileiro.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20" y="1499616"/>
            <a:ext cx="4389120" cy="1645920"/>
          </a:xfrm>
          <a:prstGeom prst="rect">
            <a:avLst/>
          </a:prstGeom>
          <a:solidFill>
            <a:srgbClr val="EFE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17720" y="1499616"/>
            <a:ext cx="4389120" cy="256032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59" y="1517904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Transparency Report como Earned Media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1810512"/>
            <a:ext cx="420624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Publicar o que você paga aos agricultores = cobertura jornalística consistente sem orçamento de PR. Orfeu pode publicar 'Relatório de Cadeia Justa Orfeu' — primeiro do Brasil specialty. Impacto de PR muito superior ao investimento.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" y="3255263"/>
            <a:ext cx="4389120" cy="1645920"/>
          </a:xfrm>
          <a:prstGeom prst="rect">
            <a:avLst/>
          </a:prstGeom>
          <a:solidFill>
            <a:srgbClr val="EFE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" y="3255263"/>
            <a:ext cx="4389120" cy="256032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" y="3273551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Cuppings Gratuitos como Top of Funnel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" y="3566159"/>
            <a:ext cx="420624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2,000 consumidores educados por mês sem custo = pipeline de clientes fidelizados. Orfeu pode replicar em seus cafés e em parceiros — cuppings abertos semanais transformam curiosos em fãs comprometidos.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17720" y="3255263"/>
            <a:ext cx="4389120" cy="1645920"/>
          </a:xfrm>
          <a:prstGeom prst="rect">
            <a:avLst/>
          </a:prstGeom>
          <a:solidFill>
            <a:srgbClr val="EFE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17720" y="3255263"/>
            <a:ext cx="4389120" cy="256032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9159" y="3273551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Independência como Argumento de Venda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59" y="3566159"/>
            <a:ext cx="420624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Counter Culture usa 'nunca fomos vendidos' como argumento premium. Orfeu deve comunicar sua independência familiar e suas decisões de qualidade não-corporativas como diferenciador ativo, não apenas valor intrínseco.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Fontes &amp; Referências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1078992"/>
            <a:ext cx="88696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555555"/>
                </a:solidFill>
              </a:rPr>
              <a:t>1.  Counter Culture Coffee — counterculturecoffee.com</a:t>
            </a:r>
          </a:p>
          <a:p>
            <a:r>
              <a:rPr sz="850">
                <a:solidFill>
                  <a:srgbClr val="555555"/>
                </a:solidFill>
              </a:rPr>
              <a:t>2.  Counter Culture Transparency Report 2024 — counterculturecoffee.com/transparency</a:t>
            </a:r>
          </a:p>
          <a:p>
            <a:r>
              <a:rPr sz="850">
                <a:solidFill>
                  <a:srgbClr val="555555"/>
                </a:solidFill>
              </a:rPr>
              <a:t>3.  Training Centers — counterculturecoffee.com/training</a:t>
            </a:r>
          </a:p>
          <a:p>
            <a:r>
              <a:rPr sz="850">
                <a:solidFill>
                  <a:srgbClr val="555555"/>
                </a:solidFill>
              </a:rPr>
              <a:t>4.  Brett Smith interview — Sprudge, 2019</a:t>
            </a:r>
          </a:p>
          <a:p>
            <a:r>
              <a:rPr sz="850">
                <a:solidFill>
                  <a:srgbClr val="555555"/>
                </a:solidFill>
              </a:rPr>
              <a:t>5.  B Corp certification — bcorporation.net/counter-culture-coffee</a:t>
            </a:r>
          </a:p>
          <a:p>
            <a:r>
              <a:rPr sz="850">
                <a:solidFill>
                  <a:srgbClr val="555555"/>
                </a:solidFill>
              </a:rPr>
              <a:t>6.  US Barista Championship — scaexpo.com</a:t>
            </a:r>
          </a:p>
          <a:p>
            <a:r>
              <a:rPr sz="850">
                <a:solidFill>
                  <a:srgbClr val="555555"/>
                </a:solidFill>
              </a:rPr>
              <a:t>7.  Direct Trade program — counterculturecoffee.com/direct-trade</a:t>
            </a:r>
          </a:p>
          <a:p>
            <a:r>
              <a:rPr sz="850">
                <a:solidFill>
                  <a:srgbClr val="555555"/>
                </a:solidFill>
              </a:rPr>
              <a:t>8.  'The Coffee Incident' podcast — spotify/apple podcasts</a:t>
            </a:r>
          </a:p>
          <a:p>
            <a:r>
              <a:rPr sz="850">
                <a:solidFill>
                  <a:srgbClr val="555555"/>
                </a:solidFill>
              </a:rPr>
              <a:t>9.  James Beard Award nominees — jamesbeard.org</a:t>
            </a:r>
          </a:p>
          <a:p>
            <a:r>
              <a:rPr sz="850">
                <a:solidFill>
                  <a:srgbClr val="555555"/>
                </a:solidFill>
              </a:rPr>
              <a:t>10.  Specialty Coffee Association accreditation — sca.coffee</a:t>
            </a:r>
          </a:p>
          <a:p>
            <a:r>
              <a:rPr sz="850">
                <a:solidFill>
                  <a:srgbClr val="555555"/>
                </a:solidFill>
              </a:rPr>
              <a:t>11.  Never acquired analysis — daily coffee news, roast magazine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