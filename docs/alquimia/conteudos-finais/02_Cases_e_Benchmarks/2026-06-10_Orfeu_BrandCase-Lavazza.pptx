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1805">
              <a:alpha val="7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320040"/>
            <a:ext cx="1097280" cy="8615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645920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B1F1F"/>
                </a:solidFill>
              </a:rPr>
              <a:t>CASE DE MARCA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93392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Lavazza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5292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DEEDD"/>
                </a:solidFill>
              </a:rPr>
              <a:t>Caffè Italiano · Founded 1895, Turin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3310128"/>
            <a:ext cx="8961120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419856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8888"/>
                </a:solidFill>
              </a:rPr>
              <a:t>Origin Recognition When Competing on Culture — how nationality becomes brand equity at scale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Estrutura do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CC"/>
                </a:solidFill>
              </a:rPr>
              <a:t>Navegação pelo conteúdo estratégico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78992"/>
            <a:ext cx="4389120" cy="551688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1078992"/>
            <a:ext cx="329184" cy="551688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" y="1171955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" y="1170432"/>
            <a:ext cx="39136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B1F1F"/>
                </a:solidFill>
              </a:rPr>
              <a:t>Heritage &amp; Trajetória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1444752"/>
            <a:ext cx="3913631" cy="112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De 1895 a um grupo global de €3B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59" y="1078992"/>
            <a:ext cx="4389120" cy="5516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09159" y="1078992"/>
            <a:ext cx="329184" cy="551688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45736" y="1171955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11496" y="1170432"/>
            <a:ext cx="39136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B1F1F"/>
                </a:solidFill>
              </a:rPr>
              <a:t>Financials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11496" y="1444752"/>
            <a:ext cx="3913631" cy="112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Revenue, canais e geografias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" y="1726691"/>
            <a:ext cx="4389120" cy="551688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" y="1726691"/>
            <a:ext cx="329184" cy="551688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" y="181965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" y="1818132"/>
            <a:ext cx="39136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B1F1F"/>
                </a:solidFill>
              </a:rPr>
              <a:t>Brand DNA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" y="2092451"/>
            <a:ext cx="3913631" cy="112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Missão, personalidade e identidade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9159" y="1726691"/>
            <a:ext cx="4389120" cy="5516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09159" y="1726691"/>
            <a:ext cx="329184" cy="551688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45736" y="181965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11496" y="1818132"/>
            <a:ext cx="39136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B1F1F"/>
                </a:solidFill>
              </a:rPr>
              <a:t>Positioning Framework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11496" y="2092451"/>
            <a:ext cx="3913631" cy="112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Statement, idea, benefícios e valores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" y="2374392"/>
            <a:ext cx="4389120" cy="551688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" y="2374392"/>
            <a:ext cx="329184" cy="551688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8016" y="246735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" y="2465832"/>
            <a:ext cx="39136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B1F1F"/>
                </a:solidFill>
              </a:rPr>
              <a:t>Ho.Re.Ca.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" y="2740152"/>
            <a:ext cx="3913631" cy="112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Estratégia Out-of-Home e cafés próprios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09159" y="2374392"/>
            <a:ext cx="4389120" cy="5516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709159" y="2374392"/>
            <a:ext cx="329184" cy="551688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45736" y="246735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11496" y="2465832"/>
            <a:ext cx="39136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B1F1F"/>
                </a:solidFill>
              </a:rPr>
              <a:t>Portfólio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11496" y="2740152"/>
            <a:ext cx="3913631" cy="112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Produtos, formatos e marcas do grupo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" y="3022091"/>
            <a:ext cx="4389120" cy="551688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440" y="3022091"/>
            <a:ext cx="329184" cy="551688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" y="3115055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6" y="3113532"/>
            <a:ext cx="39136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B1F1F"/>
                </a:solidFill>
              </a:rPr>
              <a:t>Expansão &amp; GTM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3776" y="3387851"/>
            <a:ext cx="3913631" cy="112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EUA, Ásia e mercados prioritários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09159" y="3022091"/>
            <a:ext cx="4389120" cy="5516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709159" y="3022091"/>
            <a:ext cx="329184" cy="551688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45736" y="3115055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11496" y="3113532"/>
            <a:ext cx="39136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B1F1F"/>
                </a:solidFill>
              </a:rPr>
              <a:t>Ativações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11496" y="3387851"/>
            <a:ext cx="3913631" cy="112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Patrocínios, campanhas e cultural engagement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" y="3669792"/>
            <a:ext cx="4389120" cy="551688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" y="3669792"/>
            <a:ext cx="329184" cy="551688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8016" y="376275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3776" y="3761232"/>
            <a:ext cx="39136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B1F1F"/>
                </a:solidFill>
              </a:rPr>
              <a:t>Digital &amp; Social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3776" y="4035552"/>
            <a:ext cx="3913631" cy="112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Conteúdo, plataformas e performance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09159" y="3669792"/>
            <a:ext cx="4389120" cy="5516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709159" y="3669792"/>
            <a:ext cx="329184" cy="551688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45736" y="376275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11496" y="3761232"/>
            <a:ext cx="39136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B1F1F"/>
                </a:solidFill>
              </a:rPr>
              <a:t>Sustentabilidade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11496" y="4035552"/>
            <a:ext cx="3913631" cy="112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Tierra! e credenciais ESG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440" y="4317492"/>
            <a:ext cx="4389120" cy="551688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1440" y="4317492"/>
            <a:ext cx="329184" cy="551688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28016" y="441045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3776" y="4408932"/>
            <a:ext cx="39136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B1F1F"/>
                </a:solidFill>
              </a:rPr>
              <a:t>Scorecard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3776" y="4683252"/>
            <a:ext cx="3913631" cy="112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Métricas e indicadores-chave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709159" y="4317492"/>
            <a:ext cx="4389120" cy="5516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709159" y="4317492"/>
            <a:ext cx="329184" cy="551688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45736" y="441045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11496" y="4408932"/>
            <a:ext cx="39136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B1F1F"/>
                </a:solidFill>
              </a:rPr>
              <a:t>Lições para Orfeu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11496" y="4683252"/>
            <a:ext cx="3913631" cy="112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Insights aplicáveis à estratégia Orfeu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Trajetória Estratégica &amp; Marcos Fundamentais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CC"/>
                </a:solidFill>
              </a:rPr>
              <a:t>Heritage que constrói valor de marca e defensibilidade competitiva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24128"/>
            <a:ext cx="8961120" cy="36576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4944" y="1005840"/>
            <a:ext cx="73152" cy="201168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" y="1207008"/>
            <a:ext cx="1188720" cy="35661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" y="1243584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1F1F"/>
                </a:solidFill>
              </a:rPr>
              <a:t>1895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" y="1572768"/>
            <a:ext cx="11338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</a:rPr>
              <a:t>Fundação Turin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" y="1920240"/>
            <a:ext cx="113385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Luigi Lavazza abre uma mercearia em Turin. Começa a criar blends exclusivos misturando cafés de diferentes origens — inovação que definirá a marca.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75104" y="1005840"/>
            <a:ext cx="73152" cy="201168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17320" y="1207008"/>
            <a:ext cx="1188720" cy="3566160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44752" y="1243584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1F1F"/>
                </a:solidFill>
              </a:rPr>
              <a:t>1927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4752" y="1572768"/>
            <a:ext cx="11338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</a:rPr>
              <a:t>Primo embalaggio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1920240"/>
            <a:ext cx="113385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Primeiro café embalado do mercado italiano — 'Lavazza Qualità Oro'. Inventa o conceito de blend padronizado de consumo doméstico.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55264" y="1005840"/>
            <a:ext cx="73152" cy="201168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97480" y="1207008"/>
            <a:ext cx="1188720" cy="35661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24912" y="1243584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1F1F"/>
                </a:solidFill>
              </a:rPr>
              <a:t>1952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24912" y="1572768"/>
            <a:ext cx="11338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</a:rPr>
              <a:t>TV &amp; Publicidade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24912" y="1920240"/>
            <a:ext cx="113385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Primeiros anúncios em TV italiana. Constrói 'caffè italiano' como conceito cultural, não apenas produto.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35424" y="1005840"/>
            <a:ext cx="73152" cy="201168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977639" y="1207008"/>
            <a:ext cx="1188720" cy="3566160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05072" y="1243584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1F1F"/>
                </a:solidFill>
              </a:rPr>
              <a:t>1986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05072" y="1572768"/>
            <a:ext cx="11338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</a:rPr>
              <a:t>Internacionalização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05072" y="1920240"/>
            <a:ext cx="113385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Início da expansão para além da Itália. Entra em mercados europeus com posicionamento de 'autenticidade italiana'.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15584" y="1005840"/>
            <a:ext cx="73152" cy="201168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57800" y="1207008"/>
            <a:ext cx="1188720" cy="35661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85232" y="1243584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1F1F"/>
                </a:solidFill>
              </a:rPr>
              <a:t>2000s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85232" y="1572768"/>
            <a:ext cx="11338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</a:rPr>
              <a:t>Espresso Point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85232" y="1920240"/>
            <a:ext cx="113385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Lança sistemas proprietários de cápsula (Espresso Point, A Modo Mio) — ecossistema de máquina + consumível.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95744" y="1005840"/>
            <a:ext cx="73152" cy="201168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37960" y="1207008"/>
            <a:ext cx="1188720" cy="3566160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65392" y="1243584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1F1F"/>
                </a:solidFill>
              </a:rPr>
              <a:t>2015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65392" y="1572768"/>
            <a:ext cx="11338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</a:rPr>
              <a:t>M&amp;A Global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65392" y="1920240"/>
            <a:ext cx="113385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Adquire Kicking Horse (Canadá), Carte Noire (França, €700M), Merrild (Nórdicos) — torna-se grupo global multi-marca.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75904" y="1005840"/>
            <a:ext cx="73152" cy="201168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818120" y="1207008"/>
            <a:ext cx="1188720" cy="35661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45552" y="1243584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1F1F"/>
                </a:solidFill>
              </a:rPr>
              <a:t>2025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45552" y="1572768"/>
            <a:ext cx="11338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</a:rPr>
              <a:t>€3.1B Revenue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45552" y="1920240"/>
            <a:ext cx="113385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4ª maior empresa de café do mundo. Parceira oficial: Wimbledon, Roland Garros, US Open, F1 — cultura como plataforma de marca.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Arquitetura Financeira &amp; Métricas Globais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CC"/>
                </a:solidFill>
              </a:rPr>
              <a:t>Performance econômica, canais de distribuição e mercados prioritários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78992"/>
            <a:ext cx="2542032" cy="310896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" y="1124712"/>
            <a:ext cx="2432303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MÉTRICA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078992"/>
            <a:ext cx="1536192" cy="310896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06624" y="1124712"/>
            <a:ext cx="1426464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FY 2022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078992"/>
            <a:ext cx="1536192" cy="310896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61103" y="1124712"/>
            <a:ext cx="1426464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FY 2023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1078992"/>
            <a:ext cx="1536192" cy="310896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15583" y="1124712"/>
            <a:ext cx="1426464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FY 2024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1078992"/>
            <a:ext cx="1536192" cy="310896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70064" y="1124712"/>
            <a:ext cx="1426464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VARIAÇÃO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" y="1408176"/>
            <a:ext cx="254203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" y="1453896"/>
            <a:ext cx="2432303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Receita Total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0" y="1408176"/>
            <a:ext cx="153619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06624" y="1453896"/>
            <a:ext cx="1426464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€2.5B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1408176"/>
            <a:ext cx="153619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61103" y="1453896"/>
            <a:ext cx="1426464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€2.8B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720" y="1408176"/>
            <a:ext cx="153619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15583" y="1453896"/>
            <a:ext cx="1426464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€3.1B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1408176"/>
            <a:ext cx="153619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70064" y="1453896"/>
            <a:ext cx="1426464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+10.7%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" y="1737360"/>
            <a:ext cx="2542032" cy="310896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6304" y="1783080"/>
            <a:ext cx="2432303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EBITDA Estimado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51760" y="1737360"/>
            <a:ext cx="1536192" cy="310896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1783080"/>
            <a:ext cx="1426464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~€280M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1737360"/>
            <a:ext cx="1536192" cy="310896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61103" y="1783080"/>
            <a:ext cx="1426464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~€310M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60720" y="1737360"/>
            <a:ext cx="1536192" cy="310896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15583" y="1783080"/>
            <a:ext cx="1426464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~€340M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0" y="1737360"/>
            <a:ext cx="1536192" cy="310896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70064" y="1783080"/>
            <a:ext cx="1426464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+9.7%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" y="2066543"/>
            <a:ext cx="254203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6304" y="2112263"/>
            <a:ext cx="2432303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Países de Operação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51760" y="2066543"/>
            <a:ext cx="153619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06624" y="2112263"/>
            <a:ext cx="1426464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90+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2066543"/>
            <a:ext cx="153619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61103" y="2112263"/>
            <a:ext cx="1426464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90+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60720" y="2066543"/>
            <a:ext cx="153619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15583" y="2112263"/>
            <a:ext cx="1426464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90+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0" y="2066543"/>
            <a:ext cx="153619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70064" y="2112263"/>
            <a:ext cx="1426464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Global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" y="2395728"/>
            <a:ext cx="2542032" cy="310896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6304" y="2441448"/>
            <a:ext cx="2432303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Funcionários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51760" y="2395728"/>
            <a:ext cx="1536192" cy="310896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06624" y="2441448"/>
            <a:ext cx="1426464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3,200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06240" y="2395728"/>
            <a:ext cx="1536192" cy="310896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61103" y="2441448"/>
            <a:ext cx="1426464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3,400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760720" y="2395728"/>
            <a:ext cx="1536192" cy="310896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15583" y="2441448"/>
            <a:ext cx="1426464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3,400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15200" y="2395728"/>
            <a:ext cx="1536192" cy="310896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70064" y="2441448"/>
            <a:ext cx="1426464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Estável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440" y="2724911"/>
            <a:ext cx="254203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46304" y="2770631"/>
            <a:ext cx="2432303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Share Café Italiano (IT)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651760" y="2724911"/>
            <a:ext cx="153619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06624" y="2770631"/>
            <a:ext cx="1426464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~33%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06240" y="2724911"/>
            <a:ext cx="153619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61103" y="2770631"/>
            <a:ext cx="1426464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~34%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760720" y="2724911"/>
            <a:ext cx="153619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815583" y="2770631"/>
            <a:ext cx="1426464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~35%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315200" y="2724911"/>
            <a:ext cx="153619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70064" y="2770631"/>
            <a:ext cx="1426464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Líder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440" y="3145536"/>
            <a:ext cx="4389120" cy="100584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1440" y="3145536"/>
            <a:ext cx="4389120" cy="256032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82880" y="3163824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CANAIS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3456432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OOH ~45% | Retail ~40% | DTC/E-comm ~10% | Private Label ~5%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17720" y="3145536"/>
            <a:ext cx="4389120" cy="100584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617720" y="3145536"/>
            <a:ext cx="4389120" cy="256032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709159" y="3163824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GEOGRAFIAS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09159" y="3456432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Itália 30% | Europa ex-IT 35% | Américas 22% | Ásia/RoW 13%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1440" y="4224528"/>
            <a:ext cx="4389120" cy="100584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1440" y="4224528"/>
            <a:ext cx="4389120" cy="256032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82880" y="4242816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PORTFÓLIO M&amp;A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82880" y="4535424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Kicking Horse · Carte Noire · Merrild · FLAVIA (Mars Drinks) · Lavazza Blue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17720" y="4224528"/>
            <a:ext cx="4389120" cy="100584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617720" y="4224528"/>
            <a:ext cx="4389120" cy="256032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709159" y="4242816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CAPSULAS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709159" y="4535424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A Modo Mio (proprietário) + Nespresso-compat + Dolce Gusto-compat — 3 sistemas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Brand DNA — Identidade, Personalidade e Propósito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CC"/>
                </a:solidFill>
              </a:rPr>
              <a:t>Os pilares que constroem consistência e diferenciação percebida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4370832" cy="475488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069848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MISSÃO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1280160"/>
            <a:ext cx="42245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</a:rPr>
              <a:t>Transformar o café em uma experiência de prazer autêntico — levando a qualidade e o estilo de vida italiano para cada xícara, em qualquer lugar do mundo.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53712" y="1051560"/>
            <a:ext cx="4572000" cy="475488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1069848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VISÃO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280160"/>
            <a:ext cx="44074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</a:rPr>
              <a:t>Ser o grupo de café italiano de referência global, crescendo com autenticidade, inovação e responsabilidade para as próximas gerações.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" y="1591056"/>
            <a:ext cx="8942832" cy="347472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609344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7B1F1F"/>
                </a:solidFill>
              </a:rPr>
              <a:t>TAGLINE: Più gusto alla vita — More taste to life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1609344"/>
            <a:ext cx="2505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</a:rPr>
              <a:t>HERITAGE: 130 anos de blending italiano, empresa familiar (família Lavazza, 100%)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" y="2011680"/>
            <a:ext cx="2194560" cy="256032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" y="2029968"/>
            <a:ext cx="20848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PERSONALIDADE DA MARCA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" y="2322576"/>
            <a:ext cx="1060704" cy="438912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" y="2340864"/>
            <a:ext cx="9692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7B1F1F"/>
                </a:solidFill>
              </a:rPr>
              <a:t>Autêntico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7008" y="2322576"/>
            <a:ext cx="1060704" cy="438912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61872" y="2340864"/>
            <a:ext cx="9692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7B1F1F"/>
                </a:solidFill>
              </a:rPr>
              <a:t>Apaixonado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22576" y="2322576"/>
            <a:ext cx="1060704" cy="438912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77440" y="2340864"/>
            <a:ext cx="9692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7B1F1F"/>
                </a:solidFill>
              </a:rPr>
              <a:t>Elegante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38144" y="2322576"/>
            <a:ext cx="1060704" cy="438912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93008" y="2340864"/>
            <a:ext cx="9692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7B1F1F"/>
                </a:solidFill>
              </a:rPr>
              <a:t>Acessível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53712" y="2322576"/>
            <a:ext cx="1060704" cy="438912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08575" y="2340864"/>
            <a:ext cx="9692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7B1F1F"/>
                </a:solidFill>
              </a:rPr>
              <a:t>Familiar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79" y="2322576"/>
            <a:ext cx="1060704" cy="438912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24143" y="2340864"/>
            <a:ext cx="9692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7B1F1F"/>
                </a:solidFill>
              </a:rPr>
              <a:t>Cultural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" y="2834640"/>
            <a:ext cx="1737360" cy="221284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" y="2907792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7B1F1F"/>
                </a:solidFill>
              </a:rPr>
              <a:t>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" y="341985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7B1F1F"/>
                </a:solidFill>
              </a:rPr>
              <a:t>Blending Expertise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" y="3712464"/>
            <a:ext cx="164592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1A"/>
                </a:solidFill>
              </a:rPr>
              <a:t>Art of blending coffees from 30+ origins — core technical IP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83664" y="2834640"/>
            <a:ext cx="1737360" cy="2212848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83664" y="2907792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7B1F1F"/>
                </a:solidFill>
              </a:rPr>
              <a:t>🇮🇹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38528" y="341985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7B1F1F"/>
                </a:solidFill>
              </a:rPr>
              <a:t>Italian Heritage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38528" y="3712464"/>
            <a:ext cx="164592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1A"/>
                </a:solidFill>
              </a:rPr>
              <a:t>Nationality as premium signal — 'Italian coffee' = quality cue globally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75888" y="2834640"/>
            <a:ext cx="1737360" cy="221284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75888" y="2907792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7B1F1F"/>
                </a:solidFill>
              </a:rPr>
              <a:t>🎭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30752" y="341985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7B1F1F"/>
                </a:solidFill>
              </a:rPr>
              <a:t>Cultural Sponsorships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30752" y="3712464"/>
            <a:ext cx="164592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1A"/>
                </a:solidFill>
              </a:rPr>
              <a:t>Wimbledon · F1 · Roland Garros = aspiration platform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68112" y="2834640"/>
            <a:ext cx="1737360" cy="2212848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68112" y="2907792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7B1F1F"/>
                </a:solidFill>
              </a:rPr>
              <a:t>🌍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22976" y="341985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7B1F1F"/>
                </a:solidFill>
              </a:rPr>
              <a:t>Global Accessibility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22976" y="3712464"/>
            <a:ext cx="164592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1A"/>
                </a:solidFill>
              </a:rPr>
              <a:t>Premium but not exclusive — accessible across 90+ markets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60336" y="2834640"/>
            <a:ext cx="1737360" cy="221284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60336" y="2907792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7B1F1F"/>
                </a:solidFill>
              </a:rPr>
              <a:t>♻️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341985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7B1F1F"/>
                </a:solidFill>
              </a:rPr>
              <a:t>Sustainability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0" y="3712464"/>
            <a:ext cx="164592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1A"/>
                </a:solidFill>
              </a:rPr>
              <a:t>¡Tierra! direct trade program since 2002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Brand Positioning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CC"/>
                </a:solidFill>
              </a:rPr>
              <a:t>Arquitetura de posicionamento: da promessa ao valor percebido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4389120" cy="82296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1051560"/>
            <a:ext cx="4389120" cy="274320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1069848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BRAND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13716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A1A1A"/>
                </a:solidFill>
              </a:rPr>
              <a:t>Lavazza é o guardião do caffè italiano autêntico — o blend perfeito de tradição e inovação que transforma cada xícara em um momento de prazer genuíno, acessível ao mundo.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051560"/>
            <a:ext cx="4389120" cy="82296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17720" y="1051560"/>
            <a:ext cx="4389120" cy="274320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59" y="1069848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CORE CREATIVE IDEA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13716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A1A1A"/>
                </a:solidFill>
              </a:rPr>
              <a:t>'Più gusto alla vita' — o café como expressão máxima do prazer de viver no estilo italiano. Não apenas uma bebida, mas um ritual cultural partilhado.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" y="1993392"/>
            <a:ext cx="4389120" cy="137160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" y="1993392"/>
            <a:ext cx="4389120" cy="256032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" y="2020824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BENEFÍCIOS DO PRODUTO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" y="2304288"/>
            <a:ext cx="422452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Blends exclusivos de 30+ origens para sabor equilibrado e consistente</a:t>
            </a:r>
          </a:p>
          <a:p>
            <a:r>
              <a:rPr sz="850">
                <a:solidFill>
                  <a:srgbClr val="1A1A1A"/>
                </a:solidFill>
              </a:rPr>
              <a:t>•  Sistemas de cápsula proprietários A Modo Mio + compatíveis com Nespresso</a:t>
            </a:r>
          </a:p>
          <a:p>
            <a:r>
              <a:rPr sz="850">
                <a:solidFill>
                  <a:srgbClr val="1A1A1A"/>
                </a:solidFill>
              </a:rPr>
              <a:t>•  Portfólio completo: grão, moído, cápsula, solúvel e RTD</a:t>
            </a:r>
          </a:p>
          <a:p>
            <a:r>
              <a:rPr sz="850">
                <a:solidFill>
                  <a:srgbClr val="1A1A1A"/>
                </a:solidFill>
              </a:rPr>
              <a:t>•  Torrefação italiana garantindo perfil sensorial único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7720" y="1993392"/>
            <a:ext cx="4389120" cy="137160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17720" y="1993392"/>
            <a:ext cx="4389120" cy="256032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59" y="2020824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BENEFÍCIOS EMOCIONAIS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90872" y="2304288"/>
            <a:ext cx="422452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Pertencimento à cultura italiana de café — aspirational lifestyle</a:t>
            </a:r>
          </a:p>
          <a:p>
            <a:r>
              <a:rPr sz="850">
                <a:solidFill>
                  <a:srgbClr val="1A1A1A"/>
                </a:solidFill>
              </a:rPr>
              <a:t>•  Confiança de 130 anos de herança familiar — marca que nunca decepcionou</a:t>
            </a:r>
          </a:p>
          <a:p>
            <a:r>
              <a:rPr sz="850">
                <a:solidFill>
                  <a:srgbClr val="1A1A1A"/>
                </a:solidFill>
              </a:rPr>
              <a:t>•  Prazer quotidiano acessível — o pequeno luxo democrático</a:t>
            </a:r>
          </a:p>
          <a:p>
            <a:r>
              <a:rPr sz="850">
                <a:solidFill>
                  <a:srgbClr val="1A1A1A"/>
                </a:solidFill>
              </a:rPr>
              <a:t>•  Participação em momentos culturais premium (F1, Grand Slams)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" y="3438144"/>
            <a:ext cx="4389120" cy="1371600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" y="3438144"/>
            <a:ext cx="4389120" cy="256032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2880" y="3465576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REASONS TO BELIEVE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" y="3749040"/>
            <a:ext cx="422452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130 anos de expertise em blending — empresa familiar original</a:t>
            </a:r>
          </a:p>
          <a:p>
            <a:r>
              <a:rPr sz="850">
                <a:solidFill>
                  <a:srgbClr val="1A1A1A"/>
                </a:solidFill>
              </a:rPr>
              <a:t>•  Empresa familiar (família Lavazza) — autenticidade não vendida a corporativo</a:t>
            </a:r>
          </a:p>
          <a:p>
            <a:r>
              <a:rPr sz="850">
                <a:solidFill>
                  <a:srgbClr val="1A1A1A"/>
                </a:solidFill>
              </a:rPr>
              <a:t>•  Fornecedora oficial de Wimbledon, US Open, Roland Garros, F1</a:t>
            </a:r>
          </a:p>
          <a:p>
            <a:r>
              <a:rPr sz="850">
                <a:solidFill>
                  <a:srgbClr val="1A1A1A"/>
                </a:solidFill>
              </a:rPr>
              <a:t>•  B Corp certification · ¡Tierra! program com 24,000+ agricultores diretos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17720" y="3438144"/>
            <a:ext cx="4389120" cy="1371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17720" y="3438144"/>
            <a:ext cx="4389120" cy="256032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59" y="3465576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BRAND VALUES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90872" y="3749040"/>
            <a:ext cx="422452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Paixão pela excelência no café</a:t>
            </a:r>
          </a:p>
          <a:p>
            <a:r>
              <a:rPr sz="850">
                <a:solidFill>
                  <a:srgbClr val="1A1A1A"/>
                </a:solidFill>
              </a:rPr>
              <a:t>•  Autenticidade e herança cultural italiana</a:t>
            </a:r>
          </a:p>
          <a:p>
            <a:r>
              <a:rPr sz="850">
                <a:solidFill>
                  <a:srgbClr val="1A1A1A"/>
                </a:solidFill>
              </a:rPr>
              <a:t>•  Responsabilidade social e ambiental (¡Tierra!)</a:t>
            </a:r>
          </a:p>
          <a:p>
            <a:r>
              <a:rPr sz="850">
                <a:solidFill>
                  <a:srgbClr val="1A1A1A"/>
                </a:solidFill>
              </a:rPr>
              <a:t>•  Inovação a serviço do prazer — não da ruptura pela ruptura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Estratégia Ho.Re.Ca — Hotel · Restaurant · Café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CC"/>
                </a:solidFill>
              </a:rPr>
              <a:t>Canal Out-of-Home como veículo de brand equity e receita recorrente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8961120" cy="347472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" y="1088136"/>
            <a:ext cx="8732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Ho.Re.Ca. representa ~45% da receita Lavazza. A estratégia é tornar Lavazza sinônimo de 'caffè italiano autêntico' em bares, restaurantes e hotéis premium globalmente — reforçando brand equity no ponto de consumo de maior prestígio.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1463040"/>
            <a:ext cx="2185416" cy="192024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" y="1463040"/>
            <a:ext cx="2185416" cy="274320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" y="1481328"/>
            <a:ext cx="20939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HOTÉIS &amp; RESORTS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" y="1792224"/>
            <a:ext cx="2130552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Presente em cadeias 5★ globais: Four Seasons, Marriott, IHG</a:t>
            </a:r>
          </a:p>
          <a:p>
            <a:r>
              <a:rPr sz="850">
                <a:solidFill>
                  <a:srgbClr val="1A1A1A"/>
                </a:solidFill>
              </a:rPr>
              <a:t>•  Programa Lavazza Blue Professional — máquinas full-service</a:t>
            </a:r>
          </a:p>
          <a:p>
            <a:r>
              <a:rPr sz="850">
                <a:solidFill>
                  <a:srgbClr val="1A1A1A"/>
                </a:solidFill>
              </a:rPr>
              <a:t>•  Training para baristas de hotel incluído no contrato</a:t>
            </a:r>
          </a:p>
          <a:p>
            <a:r>
              <a:rPr sz="850">
                <a:solidFill>
                  <a:srgbClr val="1A1A1A"/>
                </a:solidFill>
              </a:rPr>
              <a:t>•  Personalização de blend por propriedade (white-label premium)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20" y="1463040"/>
            <a:ext cx="2185416" cy="192024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31720" y="1463040"/>
            <a:ext cx="2185416" cy="274320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04872" y="1481328"/>
            <a:ext cx="20939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RESTAURANTES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86584" y="1792224"/>
            <a:ext cx="2130552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Parceria com restaurantes Michelin em 40+ países</a:t>
            </a:r>
          </a:p>
          <a:p>
            <a:r>
              <a:rPr sz="850">
                <a:solidFill>
                  <a:srgbClr val="1A1A1A"/>
                </a:solidFill>
              </a:rPr>
              <a:t>•  Lavazza Espresso como 'digestivo' de prestígio</a:t>
            </a:r>
          </a:p>
          <a:p>
            <a:r>
              <a:rPr sz="850">
                <a:solidFill>
                  <a:srgbClr val="1A1A1A"/>
                </a:solidFill>
              </a:rPr>
              <a:t>•  Menu de café curado — treinamento incluído</a:t>
            </a:r>
          </a:p>
          <a:p>
            <a:r>
              <a:rPr sz="850">
                <a:solidFill>
                  <a:srgbClr val="1A1A1A"/>
                </a:solidFill>
              </a:rPr>
              <a:t>•  Presença em 200K+ restaurantes premium globalmente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1463040"/>
            <a:ext cx="2185416" cy="192024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0" y="1463040"/>
            <a:ext cx="2185416" cy="274320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5152" y="1481328"/>
            <a:ext cx="20939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CAFÉS &amp; BARES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6864" y="1792224"/>
            <a:ext cx="2130552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200,000+ pontos de venda Ho.Re.Ca. globalmente</a:t>
            </a:r>
          </a:p>
          <a:p>
            <a:r>
              <a:rPr sz="850">
                <a:solidFill>
                  <a:srgbClr val="1A1A1A"/>
                </a:solidFill>
              </a:rPr>
              <a:t>•  Bar Italia concept — replicando a experiência de bar italiano autêntico</a:t>
            </a:r>
          </a:p>
          <a:p>
            <a:r>
              <a:rPr sz="850">
                <a:solidFill>
                  <a:srgbClr val="1A1A1A"/>
                </a:solidFill>
              </a:rPr>
              <a:t>•  Programas de fidelidade e materiais de PDV de alto padrão</a:t>
            </a:r>
          </a:p>
          <a:p>
            <a:r>
              <a:rPr sz="850">
                <a:solidFill>
                  <a:srgbClr val="1A1A1A"/>
                </a:solidFill>
              </a:rPr>
              <a:t>•  Lavazza Training Academy — cursos em 25 países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12280" y="1463040"/>
            <a:ext cx="2185416" cy="192024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12280" y="1463040"/>
            <a:ext cx="2185416" cy="274320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85432" y="1481328"/>
            <a:ext cx="20939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ESCRITÓRIOS B2B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67144" y="1792224"/>
            <a:ext cx="2130552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FLAVIA (Mars Drinks, adquirida 2018) — líder em office coffee</a:t>
            </a:r>
          </a:p>
          <a:p>
            <a:r>
              <a:rPr sz="850">
                <a:solidFill>
                  <a:srgbClr val="1A1A1A"/>
                </a:solidFill>
              </a:rPr>
              <a:t>•  Sistemas automáticos para corporativo: Lavazza Blue Compact</a:t>
            </a:r>
          </a:p>
          <a:p>
            <a:r>
              <a:rPr sz="850">
                <a:solidFill>
                  <a:srgbClr val="1A1A1A"/>
                </a:solidFill>
              </a:rPr>
              <a:t>•  Serviço gerenciado: máquina + café + manutenção</a:t>
            </a:r>
          </a:p>
          <a:p>
            <a:r>
              <a:rPr sz="850">
                <a:solidFill>
                  <a:srgbClr val="1A1A1A"/>
                </a:solidFill>
              </a:rPr>
              <a:t>•  Contratos corporativos com Google, Microsoft, Accenture globalmente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" y="3456432"/>
            <a:ext cx="8961120" cy="34747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" y="3456432"/>
            <a:ext cx="1280160" cy="347472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4592" y="3474720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CAFÉS PRÓPRIOS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44752" y="3474720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Lavazza opera flagship stores e cafés conceito em Turim (Flagship Store Lavazza), Milão, Nova York e Tokyo — lojas que são museus de marca + experiência de produto.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" y="3858768"/>
            <a:ext cx="879652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200,000+ pontos Ho.Re.Ca. globalmente</a:t>
            </a:r>
          </a:p>
          <a:p>
            <a:r>
              <a:rPr sz="850">
                <a:solidFill>
                  <a:srgbClr val="1A1A1A"/>
                </a:solidFill>
              </a:rPr>
              <a:t>•  FLAVIA/Mars Drinks = líder em office coffee nos EUA e Europa</a:t>
            </a:r>
          </a:p>
          <a:p>
            <a:r>
              <a:rPr sz="850">
                <a:solidFill>
                  <a:srgbClr val="1A1A1A"/>
                </a:solidFill>
              </a:rPr>
              <a:t>•  Training Academy presente em 25 países com cursos certificados</a:t>
            </a:r>
          </a:p>
          <a:p>
            <a:r>
              <a:rPr sz="850">
                <a:solidFill>
                  <a:srgbClr val="1A1A1A"/>
                </a:solidFill>
              </a:rPr>
              <a:t>•  Máquinas comodato incluído em contratos de fornecimento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Portfólio de Produtos — Formatos &amp; Linhas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CC"/>
                </a:solidFill>
              </a:rPr>
              <a:t>Formatos, canais e faixas de preço por linha de produto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2932176" cy="3950208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1051560"/>
            <a:ext cx="2932176" cy="292608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" y="1069848"/>
            <a:ext cx="28590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ESPRESSO &amp; GRÃO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" y="1408176"/>
            <a:ext cx="282244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" y="1444752"/>
            <a:ext cx="2731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1F1F"/>
                </a:solidFill>
              </a:rPr>
              <a:t>Qualità Oro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1719072"/>
            <a:ext cx="2731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Blend arabica premium — mais vendido Lavazza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2048256"/>
            <a:ext cx="27310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B1F1F"/>
                </a:solidFill>
              </a:rPr>
              <a:t>€8–12/250g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6304" y="2395728"/>
            <a:ext cx="282244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" y="2432304"/>
            <a:ext cx="2731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1F1F"/>
                </a:solidFill>
              </a:rPr>
              <a:t>Gran Selezione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706624"/>
            <a:ext cx="2731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Single-origin specialty tier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3035808"/>
            <a:ext cx="27310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B1F1F"/>
                </a:solidFill>
              </a:rPr>
              <a:t>€12–18/250g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6304" y="3383280"/>
            <a:ext cx="282244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" y="3419856"/>
            <a:ext cx="2731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1F1F"/>
                </a:solidFill>
              </a:rPr>
              <a:t>Crema e Gusto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694176"/>
            <a:ext cx="2731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Blend arabica+robusta — body e crema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4023360"/>
            <a:ext cx="27310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B1F1F"/>
                </a:solidFill>
              </a:rPr>
              <a:t>€6–9/250g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78480" y="1051560"/>
            <a:ext cx="2932176" cy="39502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78480" y="1051560"/>
            <a:ext cx="2932176" cy="292608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51632" y="1069848"/>
            <a:ext cx="28590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CÁPSULAS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33344" y="1408176"/>
            <a:ext cx="282244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88208" y="1444752"/>
            <a:ext cx="2731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A1F"/>
                </a:solidFill>
              </a:rPr>
              <a:t>A Modo Mio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88208" y="1719072"/>
            <a:ext cx="2731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Sistema proprietário — 30+ SKUs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88208" y="2048256"/>
            <a:ext cx="27310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4A1F"/>
                </a:solidFill>
              </a:rPr>
              <a:t>€0.20–0.45/cáps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33344" y="2395728"/>
            <a:ext cx="282244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88208" y="2432304"/>
            <a:ext cx="2731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A1F"/>
                </a:solidFill>
              </a:rPr>
              <a:t>Nespresso-compat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88208" y="2706624"/>
            <a:ext cx="2731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Gold, Qualità Oro, Gran Espresso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88208" y="3035808"/>
            <a:ext cx="27310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4A1F"/>
                </a:solidFill>
              </a:rPr>
              <a:t>€0.28–0.45/cáps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33344" y="3383280"/>
            <a:ext cx="282244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88208" y="3419856"/>
            <a:ext cx="2731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A1F"/>
                </a:solidFill>
              </a:rPr>
              <a:t>Lavazza Blue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88208" y="3694176"/>
            <a:ext cx="2731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Sistema profissional Ho.Re.Ca.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88208" y="4023360"/>
            <a:ext cx="27310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4A1F"/>
                </a:solidFill>
              </a:rPr>
              <a:t>€0.35–0.55/cáps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65520" y="1051560"/>
            <a:ext cx="2932176" cy="3950208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65520" y="1051560"/>
            <a:ext cx="2932176" cy="292608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38672" y="1069848"/>
            <a:ext cx="28590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PORTFÓLIO GRUPO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0384" y="1408176"/>
            <a:ext cx="282244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75248" y="1444752"/>
            <a:ext cx="2731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06A18"/>
                </a:solidFill>
              </a:rPr>
              <a:t>Carte Noire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5248" y="1719072"/>
            <a:ext cx="2731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Marca premium francesa — pós-aquisição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5248" y="2048256"/>
            <a:ext cx="27310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06A18"/>
                </a:solidFill>
              </a:rPr>
              <a:t>€7–14/250g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0384" y="2395728"/>
            <a:ext cx="282244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75248" y="2432304"/>
            <a:ext cx="2731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06A18"/>
                </a:solidFill>
              </a:rPr>
              <a:t>Kicking Horse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75248" y="2706624"/>
            <a:ext cx="2731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Specialty canadense — organic/fair trade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75248" y="3035808"/>
            <a:ext cx="27310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06A18"/>
                </a:solidFill>
              </a:rPr>
              <a:t>CAD 12–18/340g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20384" y="3383280"/>
            <a:ext cx="282244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75248" y="3419856"/>
            <a:ext cx="2731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06A18"/>
                </a:solidFill>
              </a:rPr>
              <a:t>FLAVIA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75248" y="3694176"/>
            <a:ext cx="2731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Office coffee systems — B2B líder EUA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75248" y="4023360"/>
            <a:ext cx="27310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06A18"/>
                </a:solidFill>
              </a:rPr>
              <a:t>Subscription B2B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Expansão Global — Mercados Prioritários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CC"/>
                </a:solidFill>
              </a:rPr>
              <a:t>Estratégia de crescimento por região: da liderança europeia ao salto americano e asiático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2185416" cy="201168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1051560"/>
            <a:ext cx="2185416" cy="274320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ITÁLIA —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1389888"/>
            <a:ext cx="2130552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A1A1A"/>
                </a:solidFill>
              </a:rPr>
              <a:t>•  35% share de mercado doméstico</a:t>
            </a:r>
          </a:p>
          <a:p>
            <a:r>
              <a:rPr sz="800">
                <a:solidFill>
                  <a:srgbClr val="1A1A1A"/>
                </a:solidFill>
              </a:rPr>
              <a:t>•  Liderança histórica no varejo</a:t>
            </a:r>
          </a:p>
          <a:p>
            <a:r>
              <a:rPr sz="800">
                <a:solidFill>
                  <a:srgbClr val="1A1A1A"/>
                </a:solidFill>
              </a:rPr>
              <a:t>•  HQ e centro de inovação em Turin</a:t>
            </a:r>
          </a:p>
          <a:p>
            <a:r>
              <a:rPr sz="800">
                <a:solidFill>
                  <a:srgbClr val="1A1A1A"/>
                </a:solidFill>
              </a:rPr>
              <a:t>•  Lavazza Museum — brand heritage physical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1051560"/>
            <a:ext cx="2185416" cy="2011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31720" y="1051560"/>
            <a:ext cx="2185416" cy="274320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0487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EUROPA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6584" y="1389888"/>
            <a:ext cx="2130552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A1A1A"/>
                </a:solidFill>
              </a:rPr>
              <a:t>•  Carte Noire em França — líder premium</a:t>
            </a:r>
          </a:p>
          <a:p>
            <a:r>
              <a:rPr sz="800">
                <a:solidFill>
                  <a:srgbClr val="1A1A1A"/>
                </a:solidFill>
              </a:rPr>
              <a:t>•  Merrild em países nórdicos</a:t>
            </a:r>
          </a:p>
          <a:p>
            <a:r>
              <a:rPr sz="800">
                <a:solidFill>
                  <a:srgbClr val="1A1A1A"/>
                </a:solidFill>
              </a:rPr>
              <a:t>•  Germany, UK — forte distribuição</a:t>
            </a:r>
          </a:p>
          <a:p>
            <a:r>
              <a:rPr sz="800">
                <a:solidFill>
                  <a:srgbClr val="1A1A1A"/>
                </a:solidFill>
              </a:rPr>
              <a:t>•  Coffeeshop-culture driving capsule growth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051560"/>
            <a:ext cx="2185416" cy="2011680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1051560"/>
            <a:ext cx="2185416" cy="274320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EUA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6864" y="1389888"/>
            <a:ext cx="2130552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A1A1A"/>
                </a:solidFill>
              </a:rPr>
              <a:t>•  FLAVIA B2B — forte em corporate</a:t>
            </a:r>
          </a:p>
          <a:p>
            <a:r>
              <a:rPr sz="800">
                <a:solidFill>
                  <a:srgbClr val="1A1A1A"/>
                </a:solidFill>
              </a:rPr>
              <a:t>•  Amazon top-seller Italian coffee</a:t>
            </a:r>
          </a:p>
          <a:p>
            <a:r>
              <a:rPr sz="800">
                <a:solidFill>
                  <a:srgbClr val="1A1A1A"/>
                </a:solidFill>
              </a:rPr>
              <a:t>•  Retail: Target, Whole Foods, Kroger</a:t>
            </a:r>
          </a:p>
          <a:p>
            <a:r>
              <a:rPr sz="800">
                <a:solidFill>
                  <a:srgbClr val="1A1A1A"/>
                </a:solidFill>
              </a:rPr>
              <a:t>•  Parceria Keurig para K-Cups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12280" y="1051560"/>
            <a:ext cx="2185416" cy="2011680"/>
          </a:xfrm>
          <a:prstGeom prst="rect">
            <a:avLst/>
          </a:prstGeom>
          <a:solidFill>
            <a:srgbClr val="E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12280" y="1051560"/>
            <a:ext cx="2185416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8543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ÁSIA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67144" y="1389888"/>
            <a:ext cx="2130552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A1A1A"/>
                </a:solidFill>
              </a:rPr>
              <a:t>•  Japão — gifting premium + HoReCa</a:t>
            </a:r>
          </a:p>
          <a:p>
            <a:r>
              <a:rPr sz="800">
                <a:solidFill>
                  <a:srgbClr val="1A1A1A"/>
                </a:solidFill>
              </a:rPr>
              <a:t>•  China — premiumização acelerada</a:t>
            </a:r>
          </a:p>
          <a:p>
            <a:r>
              <a:rPr sz="800">
                <a:solidFill>
                  <a:srgbClr val="1A1A1A"/>
                </a:solidFill>
              </a:rPr>
              <a:t>•  Austrália — café culture specialty</a:t>
            </a:r>
          </a:p>
          <a:p>
            <a:r>
              <a:rPr sz="800">
                <a:solidFill>
                  <a:srgbClr val="1A1A1A"/>
                </a:solidFill>
              </a:rPr>
              <a:t>•  Expansão via joint ventures locais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" y="3145536"/>
            <a:ext cx="8961120" cy="1097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" y="3200400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6A18"/>
                </a:solidFill>
              </a:rPr>
              <a:t>TÁTICAS DE ATIVAÇÃO &amp; CRESCIMENTO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" y="3474720"/>
            <a:ext cx="2185416" cy="1572768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" y="3474720"/>
            <a:ext cx="2185416" cy="256032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4592" y="3493008"/>
            <a:ext cx="2112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Patrocínios Culturais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" y="3785615"/>
            <a:ext cx="2112264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</a:rPr>
              <a:t>Wimbledon + Roland Garros + US Open + F1 — cultura esportiva de elite como plataforma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31720" y="3474720"/>
            <a:ext cx="2185416" cy="1572768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31720" y="3474720"/>
            <a:ext cx="2185416" cy="256032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04872" y="3493008"/>
            <a:ext cx="2112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Ambassador Strategy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04872" y="3785615"/>
            <a:ext cx="2112264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</a:rPr>
              <a:t>George Clooney rival: Lavazza usa atores/chefs italianos — credibilidade de origem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3474720"/>
            <a:ext cx="2185416" cy="1572768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0" y="3474720"/>
            <a:ext cx="2185416" cy="256032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45152" y="3493008"/>
            <a:ext cx="2112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E-commerce DTC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45152" y="3785615"/>
            <a:ext cx="2112264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</a:rPr>
              <a:t>Amazon Ads + próprio site — subscrição e edições especiais online-first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12280" y="3474720"/>
            <a:ext cx="2185416" cy="1572768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812280" y="3474720"/>
            <a:ext cx="2185416" cy="256032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85432" y="3493008"/>
            <a:ext cx="2112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Training Academy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85432" y="3785615"/>
            <a:ext cx="2112264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</a:rPr>
              <a:t>25 países — programa de treinamento como ferramenta de retenção B2B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Marketing &amp; Ativações de Marca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CC"/>
                </a:solidFill>
              </a:rPr>
              <a:t>Campanhas, parcerias e experiências que definem o posicionamento premium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2185416" cy="3950208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1051560"/>
            <a:ext cx="2185416" cy="274320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Wimbledon Official Coffee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" y="1371600"/>
            <a:ext cx="2112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B1F1F"/>
                </a:solidFill>
              </a:rPr>
              <a:t>2018–2025+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" y="1609344"/>
            <a:ext cx="2130552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Naming rights 'The Lavazza Terrace'</a:t>
            </a:r>
          </a:p>
          <a:p>
            <a:r>
              <a:rPr sz="850">
                <a:solidFill>
                  <a:srgbClr val="1A1A1A"/>
                </a:solidFill>
              </a:rPr>
              <a:t>•  Coffee served in all VIP hospitality areas</a:t>
            </a:r>
          </a:p>
          <a:p>
            <a:r>
              <a:rPr sz="850">
                <a:solidFill>
                  <a:srgbClr val="1A1A1A"/>
                </a:solidFill>
              </a:rPr>
              <a:t>•  Co-branded cups, packaging and on-site signage</a:t>
            </a:r>
          </a:p>
          <a:p>
            <a:r>
              <a:rPr sz="850">
                <a:solidFill>
                  <a:srgbClr val="1A1A1A"/>
                </a:solidFill>
              </a:rPr>
              <a:t>•  Live activation with barista theater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" y="3877056"/>
            <a:ext cx="8961120" cy="10972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" y="3913632"/>
            <a:ext cx="21305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B1F1F"/>
                </a:solidFill>
              </a:rPr>
              <a:t>▶ Reaches 500,000+ spectators/year + 500M TV viewers — máxima exposição premium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1720" y="1051560"/>
            <a:ext cx="2185416" cy="39502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31720" y="1051560"/>
            <a:ext cx="2185416" cy="274320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0487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Formula 1 Partnership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4872" y="1371600"/>
            <a:ext cx="2112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F4A1F"/>
                </a:solidFill>
              </a:rPr>
              <a:t>2021–2025+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86584" y="1609344"/>
            <a:ext cx="2130552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Official Coffee Partner F1 — global rights</a:t>
            </a:r>
          </a:p>
          <a:p>
            <a:r>
              <a:rPr sz="850">
                <a:solidFill>
                  <a:srgbClr val="1A1A1A"/>
                </a:solidFill>
              </a:rPr>
              <a:t>•  Branded activation at 20+ Grand Prix paddock clubs</a:t>
            </a:r>
          </a:p>
          <a:p>
            <a:r>
              <a:rPr sz="850">
                <a:solidFill>
                  <a:srgbClr val="1A1A1A"/>
                </a:solidFill>
              </a:rPr>
              <a:t>•  Broadcast placement in premium environments</a:t>
            </a:r>
          </a:p>
          <a:p>
            <a:r>
              <a:rPr sz="850">
                <a:solidFill>
                  <a:srgbClr val="1A1A1A"/>
                </a:solidFill>
              </a:rPr>
              <a:t>•  Limited Edition tins by destination (Monaco, Monza, Silverstone)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" y="3877056"/>
            <a:ext cx="8961120" cy="10972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86584" y="3913632"/>
            <a:ext cx="21305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4A1F"/>
                </a:solidFill>
              </a:rPr>
              <a:t>▶ 200+ countries broadcast reach — posiciona Lavazza em velocidade, precisão e estilo italiano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1051560"/>
            <a:ext cx="2185416" cy="3950208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0" y="1051560"/>
            <a:ext cx="2185416" cy="274320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4515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'More than Coffee' Campaign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5152" y="1371600"/>
            <a:ext cx="2112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6A18"/>
                </a:solidFill>
              </a:rPr>
              <a:t>2020–2024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6864" y="1609344"/>
            <a:ext cx="2130552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Cinematic brand film: Italian coffee rituals through time</a:t>
            </a:r>
          </a:p>
          <a:p>
            <a:r>
              <a:rPr sz="850">
                <a:solidFill>
                  <a:srgbClr val="1A1A1A"/>
                </a:solidFill>
              </a:rPr>
              <a:t>•  Shot in Turin, with real family members of baristas</a:t>
            </a:r>
          </a:p>
          <a:p>
            <a:r>
              <a:rPr sz="850">
                <a:solidFill>
                  <a:srgbClr val="1A1A1A"/>
                </a:solidFill>
              </a:rPr>
              <a:t>•  Distribution: TV + Instagram Reels + YouTube</a:t>
            </a:r>
          </a:p>
          <a:p>
            <a:r>
              <a:rPr sz="850">
                <a:solidFill>
                  <a:srgbClr val="1A1A1A"/>
                </a:solidFill>
              </a:rPr>
              <a:t>•  Artist collaboration series: Lavazza Calendário (fotografia de arte desde 1993)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" y="3877056"/>
            <a:ext cx="8961120" cy="10972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26864" y="3913632"/>
            <a:ext cx="21305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06A18"/>
                </a:solidFill>
              </a:rPr>
              <a:t>▶ Lavazza Calendario = colecionável anual desde 1993 — brand equity de arte e cultura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12280" y="1051560"/>
            <a:ext cx="2185416" cy="3950208"/>
          </a:xfrm>
          <a:prstGeom prst="rect">
            <a:avLst/>
          </a:prstGeom>
          <a:solidFill>
            <a:srgbClr val="E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12280" y="1051560"/>
            <a:ext cx="2185416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8543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¡Tierra! Origin Stories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85432" y="1371600"/>
            <a:ext cx="2112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3A5C"/>
                </a:solidFill>
              </a:rPr>
              <a:t>Ongoing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67144" y="1609344"/>
            <a:ext cx="2130552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Documentary-style content from 24,000+ farms</a:t>
            </a:r>
          </a:p>
          <a:p>
            <a:r>
              <a:rPr sz="850">
                <a:solidFill>
                  <a:srgbClr val="1A1A1A"/>
                </a:solidFill>
              </a:rPr>
              <a:t>•  Honduras, Colombia, Indonesia, Ethiopia origin films</a:t>
            </a:r>
          </a:p>
          <a:p>
            <a:r>
              <a:rPr sz="850">
                <a:solidFill>
                  <a:srgbClr val="1A1A1A"/>
                </a:solidFill>
              </a:rPr>
              <a:t>•  B Corp certification amplified via earned media</a:t>
            </a:r>
          </a:p>
          <a:p>
            <a:r>
              <a:rPr sz="850">
                <a:solidFill>
                  <a:srgbClr val="1A1A1A"/>
                </a:solidFill>
              </a:rPr>
              <a:t>•  COP-linked campaigns: Regenerative Agriculture pledge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" y="3877056"/>
            <a:ext cx="8961120" cy="109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67144" y="3913632"/>
            <a:ext cx="21305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3A5C"/>
                </a:solidFill>
              </a:rPr>
              <a:t>▶ B Corp certification + ¡Tierra! = justificativa de pricing premium com propósito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Estratégia Digital &amp; Social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CC"/>
                </a:solidFill>
              </a:rPr>
              <a:t>Conteúdo, comunidade e conversão — como a marca opera no digital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2185416" cy="1847088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1051560"/>
            <a:ext cx="2185416" cy="256032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" y="1069848"/>
            <a:ext cx="2112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Instagram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" y="1353312"/>
            <a:ext cx="21122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B1F1F"/>
                </a:solidFill>
              </a:rPr>
              <a:t>1.2M+ seguidores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" y="1719072"/>
            <a:ext cx="2112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Lifestyle italiano: café, food, arquitetura — aspirational feed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1051560"/>
            <a:ext cx="2185416" cy="18470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31720" y="1051560"/>
            <a:ext cx="2185416" cy="256032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04872" y="1069848"/>
            <a:ext cx="2112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YouTube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04872" y="1353312"/>
            <a:ext cx="21122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4A1F"/>
                </a:solidFill>
              </a:rPr>
              <a:t>85M+ views totais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04872" y="1719072"/>
            <a:ext cx="2112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Brand films + origin stories + barista tutorials — long-form storytelling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1051560"/>
            <a:ext cx="2185416" cy="1847088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0" y="1051560"/>
            <a:ext cx="2185416" cy="256032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5152" y="1069848"/>
            <a:ext cx="2112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TikTok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1353312"/>
            <a:ext cx="21122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06A18"/>
                </a:solidFill>
              </a:rPr>
              <a:t>250K+ seguidores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2" y="1719072"/>
            <a:ext cx="2112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Barista tricks, recipe hacks, Italian café culture moments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12280" y="1051560"/>
            <a:ext cx="2185416" cy="1847088"/>
          </a:xfrm>
          <a:prstGeom prst="rect">
            <a:avLst/>
          </a:prstGeom>
          <a:solidFill>
            <a:srgbClr val="E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12280" y="1051560"/>
            <a:ext cx="2185416" cy="2560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85432" y="1069848"/>
            <a:ext cx="2112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Amazon/DTC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85432" y="1353312"/>
            <a:ext cx="21122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A5C"/>
                </a:solidFill>
              </a:rPr>
              <a:t>Top 3 coffee brand on Amazon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85432" y="1719072"/>
            <a:ext cx="2112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Seasonal campaigns + Subscribe &amp; Save driving LTV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" y="2980944"/>
            <a:ext cx="8961120" cy="1097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" y="3035808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6A18"/>
                </a:solidFill>
              </a:rPr>
              <a:t>CAMPANHAS &amp; ATIVAÇÕES DIGITAIS NOTÁVEIS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" y="3310128"/>
            <a:ext cx="4389120" cy="749808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440" y="3310128"/>
            <a:ext cx="292608" cy="749808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" y="3364992"/>
            <a:ext cx="3913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1F1F"/>
                </a:solidFill>
              </a:rPr>
              <a:t>Lavazza Calendario (desde 1993)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3639312"/>
            <a:ext cx="3913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</a:rPr>
              <a:t>Calendário de arte fotográfica — colaboração com fotógrafos como Helmut Newton, David LaChapelle. Colecionável que une café, moda e arte contemporânea anualmente.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17720" y="3310128"/>
            <a:ext cx="4389120" cy="749808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17720" y="3310128"/>
            <a:ext cx="292608" cy="749808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1768" y="3364992"/>
            <a:ext cx="3913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1F1F"/>
                </a:solidFill>
              </a:rPr>
              <a:t>'More than Coffee' Documentary Series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01768" y="3639312"/>
            <a:ext cx="3913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</a:rPr>
              <a:t>Série documental sobre origens, agricultores e baristas — distribuída no YouTube e Amazon Prime em países selecionados.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" y="4151376"/>
            <a:ext cx="4389120" cy="749808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440" y="4151376"/>
            <a:ext cx="292608" cy="749808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" y="4206240"/>
            <a:ext cx="3913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1F1F"/>
                </a:solidFill>
              </a:rPr>
              <a:t>Amazon Sponsored Brands + DSP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" y="4480560"/>
            <a:ext cx="3913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</a:rPr>
              <a:t>Utiliza Amazon DSP para targeting de consumidores premium — remarketing com creative de heritage italiano + seasonal promotions.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17720" y="4151376"/>
            <a:ext cx="4389120" cy="749808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617720" y="4151376"/>
            <a:ext cx="292608" cy="749808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01768" y="4206240"/>
            <a:ext cx="3913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1F1F"/>
                </a:solidFill>
              </a:rPr>
              <a:t>Influencer Program — Italian Chefs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01768" y="4480560"/>
            <a:ext cx="3913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</a:rPr>
              <a:t>Parcerias com chefs Michelin e food bloggers italianos — autenticidade de origem via comunidade culinária.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Sustentabilidade &amp; ESG — Cadeia de Valor Ética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CC"/>
                </a:solidFill>
              </a:rPr>
              <a:t>Credenciais ambientais e sociais como diferenciador comercial no segmento premium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2185416" cy="3950208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1051560"/>
            <a:ext cx="2185416" cy="292608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¡TIERRA! — DIRECT TRADE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" y="1389888"/>
            <a:ext cx="21122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7B1F1F"/>
                </a:solidFill>
              </a:rPr>
              <a:t>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" y="1920240"/>
            <a:ext cx="2130552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24,000+ agricultores diretos em 12 países</a:t>
            </a:r>
          </a:p>
          <a:p>
            <a:r>
              <a:rPr sz="850">
                <a:solidFill>
                  <a:srgbClr val="1A1A1A"/>
                </a:solidFill>
              </a:rPr>
              <a:t>•  Pagamento acima do preço de mercado — prêmio por qualidade</a:t>
            </a:r>
          </a:p>
          <a:p>
            <a:r>
              <a:rPr sz="850">
                <a:solidFill>
                  <a:srgbClr val="1A1A1A"/>
                </a:solidFill>
              </a:rPr>
              <a:t>•  Treinamento agrícola e suporte técnico</a:t>
            </a:r>
          </a:p>
          <a:p>
            <a:r>
              <a:rPr sz="850">
                <a:solidFill>
                  <a:srgbClr val="1A1A1A"/>
                </a:solidFill>
              </a:rPr>
              <a:t>•  Foco em regenerative agriculture — sequestro de carbono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1051560"/>
            <a:ext cx="2185416" cy="39502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31720" y="1051560"/>
            <a:ext cx="2185416" cy="292608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0487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B CORP CERTIFICATION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04872" y="1389888"/>
            <a:ext cx="21122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F4A1F"/>
                </a:solidFill>
              </a:rPr>
              <a:t>♻️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86584" y="1920240"/>
            <a:ext cx="2130552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Certificação B Corp — accountability ESG</a:t>
            </a:r>
          </a:p>
          <a:p>
            <a:r>
              <a:rPr sz="850">
                <a:solidFill>
                  <a:srgbClr val="1A1A1A"/>
                </a:solidFill>
              </a:rPr>
              <a:t>•  Meta Net Zero 2030 (Scope 1 e 2)</a:t>
            </a:r>
          </a:p>
          <a:p>
            <a:r>
              <a:rPr sz="850">
                <a:solidFill>
                  <a:srgbClr val="1A1A1A"/>
                </a:solidFill>
              </a:rPr>
              <a:t>•  100% energia renovável nas fábricas europeias desde 2021</a:t>
            </a:r>
          </a:p>
          <a:p>
            <a:r>
              <a:rPr sz="850">
                <a:solidFill>
                  <a:srgbClr val="1A1A1A"/>
                </a:solidFill>
              </a:rPr>
              <a:t>•  Embalagens 100% recicláveis/compostáveis meta 2025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1051560"/>
            <a:ext cx="2185416" cy="3950208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0" y="1051560"/>
            <a:ext cx="2185416" cy="292608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515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GENDER EQUITY SOURCING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1389888"/>
            <a:ext cx="21122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C06A18"/>
                </a:solidFill>
              </a:rPr>
              <a:t>👩‍🌾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1920240"/>
            <a:ext cx="2130552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30%+ das fazendas parceiras com liderança feminina</a:t>
            </a:r>
          </a:p>
          <a:p>
            <a:r>
              <a:rPr sz="850">
                <a:solidFill>
                  <a:srgbClr val="1A1A1A"/>
                </a:solidFill>
              </a:rPr>
              <a:t>•  Programa específico de financiamento para cooperativas femininas</a:t>
            </a:r>
          </a:p>
          <a:p>
            <a:r>
              <a:rPr sz="850">
                <a:solidFill>
                  <a:srgbClr val="1A1A1A"/>
                </a:solidFill>
              </a:rPr>
              <a:t>•  Honduras + Guatemala: programa Mujeres Extraordinarias</a:t>
            </a:r>
          </a:p>
          <a:p>
            <a:r>
              <a:rPr sz="850">
                <a:solidFill>
                  <a:srgbClr val="1A1A1A"/>
                </a:solidFill>
              </a:rPr>
              <a:t>•  Impacto mensurável reportado anualmente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12280" y="1051560"/>
            <a:ext cx="2185416" cy="3950208"/>
          </a:xfrm>
          <a:prstGeom prst="rect">
            <a:avLst/>
          </a:prstGeom>
          <a:solidFill>
            <a:srgbClr val="E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12280" y="1051560"/>
            <a:ext cx="2185416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8543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BIODIVERSIDADE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85432" y="1389888"/>
            <a:ext cx="21122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3A5C"/>
                </a:solidFill>
              </a:rPr>
              <a:t>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7144" y="1920240"/>
            <a:ext cx="2130552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Proteção de corredores florestais em áreas de produção</a:t>
            </a:r>
          </a:p>
          <a:p>
            <a:r>
              <a:rPr sz="850">
                <a:solidFill>
                  <a:srgbClr val="1A1A1A"/>
                </a:solidFill>
              </a:rPr>
              <a:t>•  Arabica Heritage Project — conservação de varietais raros</a:t>
            </a:r>
          </a:p>
          <a:p>
            <a:r>
              <a:rPr sz="850">
                <a:solidFill>
                  <a:srgbClr val="1A1A1A"/>
                </a:solidFill>
              </a:rPr>
              <a:t>•  Parceria com Rainforest Alliance em novos fornecedores</a:t>
            </a:r>
          </a:p>
          <a:p>
            <a:r>
              <a:rPr sz="850">
                <a:solidFill>
                  <a:srgbClr val="1A1A1A"/>
                </a:solidFill>
              </a:rPr>
              <a:t>•  Meta 2030: 50% de cafés com certificação ambiental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Scorecard — Métricas &amp; Indicadores Chave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CC"/>
                </a:solidFill>
              </a:rPr>
              <a:t>Performance quantitativa: financeiro, canal, digital e sustentabilidade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2185416" cy="3950208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1051560"/>
            <a:ext cx="2185416" cy="274320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" y="1069848"/>
            <a:ext cx="2112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FINANCEIRO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" y="1389888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1444752"/>
            <a:ext cx="20208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B1F1F"/>
                </a:solidFill>
              </a:rPr>
              <a:t>Receita FY24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1847088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€3.1B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2066543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4ª maior empresa café mundo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6304" y="2395728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2450592"/>
            <a:ext cx="20208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B1F1F"/>
                </a:solidFill>
              </a:rPr>
              <a:t>Crescimento a.a.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" y="2852928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~11%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" y="3072384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CAGR 2019-2024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6304" y="3401568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" y="3456432"/>
            <a:ext cx="20208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B1F1F"/>
                </a:solidFill>
              </a:rPr>
              <a:t>EBITDA est.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" y="3858768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€340M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" y="4078224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Margem ~11%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31720" y="1051560"/>
            <a:ext cx="2185416" cy="3950208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31720" y="1051560"/>
            <a:ext cx="2185416" cy="274320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04872" y="1069848"/>
            <a:ext cx="2112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CANAL &amp; PRODUTO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86584" y="1389888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23160" y="1444752"/>
            <a:ext cx="20208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B1F1F"/>
                </a:solidFill>
              </a:rPr>
              <a:t>Pontos Ho.Re.Ca.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3160" y="1847088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200K+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2066543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Global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86584" y="2395728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23160" y="2450592"/>
            <a:ext cx="20208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B1F1F"/>
                </a:solidFill>
              </a:rPr>
              <a:t>Origens no blend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23160" y="2852928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30+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23160" y="3072384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Arabica + Robusta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86584" y="3401568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23160" y="3456432"/>
            <a:ext cx="20208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B1F1F"/>
                </a:solidFill>
              </a:rPr>
              <a:t>Sistemas cápsula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23160" y="3858768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23160" y="4078224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A Modo Mio · Blue · Compat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1051560"/>
            <a:ext cx="2185416" cy="3950208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0" y="1051560"/>
            <a:ext cx="2185416" cy="274320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45152" y="1069848"/>
            <a:ext cx="2112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MARKETING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26864" y="1389888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63440" y="1444752"/>
            <a:ext cx="20208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B1F1F"/>
                </a:solidFill>
              </a:rPr>
              <a:t>Calendário arte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3440" y="1847088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1993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63440" y="2066543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Primeiro Lavazza Calendario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26864" y="2395728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63440" y="2450592"/>
            <a:ext cx="20208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B1F1F"/>
                </a:solidFill>
              </a:rPr>
              <a:t>F1 Partner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2852928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2021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3072384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Official global partnership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26864" y="3401568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63440" y="3456432"/>
            <a:ext cx="20208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B1F1F"/>
                </a:solidFill>
              </a:rPr>
              <a:t>Wimbledon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63440" y="3858768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2018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63440" y="4078224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Official coffee partner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12280" y="1051560"/>
            <a:ext cx="2185416" cy="3950208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12280" y="1051560"/>
            <a:ext cx="2185416" cy="274320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85432" y="1069848"/>
            <a:ext cx="2112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SUSTENTABILIDADE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867144" y="1389888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03720" y="1444752"/>
            <a:ext cx="20208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B1F1F"/>
                </a:solidFill>
              </a:rPr>
              <a:t>Agricultores ¡Tierra!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03720" y="1847088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24K+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03720" y="2066543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12 países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67144" y="2395728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903720" y="2450592"/>
            <a:ext cx="20208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B1F1F"/>
                </a:solidFill>
              </a:rPr>
              <a:t>Certificação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03720" y="2852928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B Corp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03720" y="3072384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Reconfirmada 2023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67144" y="3401568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903720" y="3456432"/>
            <a:ext cx="20208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B1F1F"/>
                </a:solidFill>
              </a:rPr>
              <a:t>Net Zero meta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03720" y="3858768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2030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03720" y="4078224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Scope 1 &amp; 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Lições para a Orfeu — Lavazza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CC"/>
                </a:solidFill>
              </a:rPr>
              <a:t>Da análise ao insight estratégico aplicável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8961120" cy="384048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" y="1088136"/>
            <a:ext cx="8732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1">
                <a:solidFill>
                  <a:srgbClr val="FFFFFF"/>
                </a:solidFill>
              </a:rPr>
              <a:t>ÂNGULO ESTRATÉGICO:  Origin Recognition When Competing on Culture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1517904"/>
            <a:ext cx="4389120" cy="1627632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" y="1517904"/>
            <a:ext cx="4389120" cy="274320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1545336"/>
            <a:ext cx="42245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Nacionalidade como Premium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1847088"/>
            <a:ext cx="422452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'Italian Coffee' é uma categoria mental premium. Orfeu deve construir 'Brazilian Specialty Coffee' como equivalente — não 'café brasileiro genérico', mas a Orfeu como a representante máxima do Brasil no café especial.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517904"/>
            <a:ext cx="4389120" cy="1627632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1517904"/>
            <a:ext cx="4389120" cy="274320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79" y="1545336"/>
            <a:ext cx="42245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Portfólio para Diferentes Ocasiões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1847088"/>
            <a:ext cx="422452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Lavazza tem Qualità Oro (cotidiano), Gran Selezione (premium) e Kicking Horse (specialty). Orfeu pode estruturar Claro/Clássico/Intenso + edições especiais + linha exportação como portfolio hierárquico.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" y="3255263"/>
            <a:ext cx="4389120" cy="1627632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" y="3255263"/>
            <a:ext cx="4389120" cy="274320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" y="3282695"/>
            <a:ext cx="42245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Patrocínios Culturais como Plataforma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" y="3584447"/>
            <a:ext cx="422452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Wimbledon + F1 + Roland Garros = cultura de excelência. Orfeu pode explorar patrocínios em eventos premium brasileiros (São Paulo Art Week, Lollapalooza VIP, SPFW) como plataforma de brand equity.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3255263"/>
            <a:ext cx="4389120" cy="1627632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63440" y="3255263"/>
            <a:ext cx="4389120" cy="274320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79" y="3282695"/>
            <a:ext cx="42245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M&amp;A como Alavanca de Crescimento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79" y="3584447"/>
            <a:ext cx="422452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Lavazza cresceu de €1B para €3B em 10 anos via aquisições estratégicas. Orfeu 2030 pode considerar aquisição de marca de nicho (regional specialty, cold brew startup) como acelerador.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Fontes &amp; Referências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CC"/>
                </a:solidFill>
              </a:rPr>
              <a:t>Base factual do case — dados públicos, relatórios e press releases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" y="1078992"/>
            <a:ext cx="88696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55555"/>
                </a:solidFill>
              </a:rPr>
              <a:t>1.  Lavazza Group Annual Report 2024 — lavazza.com/sustainability</a:t>
            </a:r>
          </a:p>
          <a:p>
            <a:r>
              <a:rPr sz="850">
                <a:solidFill>
                  <a:srgbClr val="555555"/>
                </a:solidFill>
              </a:rPr>
              <a:t>2.  Lavazza acquires Carte Noire from JAB — Reuters, 2015</a:t>
            </a:r>
          </a:p>
          <a:p>
            <a:r>
              <a:rPr sz="850">
                <a:solidFill>
                  <a:srgbClr val="555555"/>
                </a:solidFill>
              </a:rPr>
              <a:t>3.  Lavazza acquires FLAVIA (Mars Drinks) — Financial Times, 2018</a:t>
            </a:r>
          </a:p>
          <a:p>
            <a:r>
              <a:rPr sz="850">
                <a:solidFill>
                  <a:srgbClr val="555555"/>
                </a:solidFill>
              </a:rPr>
              <a:t>4.  Lavazza Official Coffee Partner Formula 1 — F1.com press release, 2021</a:t>
            </a:r>
          </a:p>
          <a:p>
            <a:r>
              <a:rPr sz="850">
                <a:solidFill>
                  <a:srgbClr val="555555"/>
                </a:solidFill>
              </a:rPr>
              <a:t>5.  Lavazza Wimbledon Partnership — AELTC official announcement, 2018</a:t>
            </a:r>
          </a:p>
          <a:p>
            <a:r>
              <a:rPr sz="850">
                <a:solidFill>
                  <a:srgbClr val="555555"/>
                </a:solidFill>
              </a:rPr>
              <a:t>6.  ¡Tierra! Sustainability Program Report 2024 — lavazza.com/tierra</a:t>
            </a:r>
          </a:p>
          <a:p>
            <a:r>
              <a:rPr sz="850">
                <a:solidFill>
                  <a:srgbClr val="555555"/>
                </a:solidFill>
              </a:rPr>
              <a:t>7.  B Corp recertification — bcorporation.net/directory/lavazza</a:t>
            </a:r>
          </a:p>
          <a:p>
            <a:r>
              <a:rPr sz="850">
                <a:solidFill>
                  <a:srgbClr val="555555"/>
                </a:solidFill>
              </a:rPr>
              <a:t>8.  Lavazza Calendario history — culturalcoffee.com, 2023</a:t>
            </a:r>
          </a:p>
          <a:p>
            <a:r>
              <a:rPr sz="850">
                <a:solidFill>
                  <a:srgbClr val="555555"/>
                </a:solidFill>
              </a:rPr>
              <a:t>9.  JDE Peet's, Nestlé, Lavazza competitive landscape — Euromonitor International, 2024</a:t>
            </a:r>
          </a:p>
          <a:p>
            <a:r>
              <a:rPr sz="850">
                <a:solidFill>
                  <a:srgbClr val="555555"/>
                </a:solidFill>
              </a:rPr>
              <a:t>10.  Italy coffee market share — Statista, 2024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Lições para a Orfeu — Lavazza — Síntese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CC"/>
                </a:solidFill>
              </a:rPr>
              <a:t>Da análise ao insight estratégico aplicável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8961120" cy="384048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" y="1088136"/>
            <a:ext cx="8732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1">
                <a:solidFill>
                  <a:srgbClr val="FFFFFF"/>
                </a:solidFill>
              </a:rPr>
              <a:t>ÂNGULO ESTRATÉGICO:  O que a Orfeu deve adaptar vs. evitar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1517904"/>
            <a:ext cx="4389120" cy="1627632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" y="1517904"/>
            <a:ext cx="4389120" cy="274320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1545336"/>
            <a:ext cx="42245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ADAPTAR: Origem como Narrativa Premium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1847088"/>
            <a:ext cx="422452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Use 'Orfeu — Café Especial Brasileiro' como Lavazza usa 'Italian Coffee'. A origem é o argumento mais poderoso — mas precisa ser específico e curado, nunca genérico.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517904"/>
            <a:ext cx="4389120" cy="1627632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1517904"/>
            <a:ext cx="4389120" cy="274320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79" y="1545336"/>
            <a:ext cx="42245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ADAPTAR: Treinamento como Ferramenta Comercial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1847088"/>
            <a:ext cx="422452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Academia Orfeu formal (como Lavazza Training Academy) = diferenciação B2B, redução de churn, justificativa de preço premium nos parceiros Ho.Re.Ca.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" y="3255263"/>
            <a:ext cx="4389120" cy="1627632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" y="3255263"/>
            <a:ext cx="4389120" cy="274320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" y="3282695"/>
            <a:ext cx="42245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EVITAR: Ser tudo para todos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" y="3584447"/>
            <a:ext cx="422452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Lavazza dilui premium ao também competir em commodity blends. Orfeu deve manter foco em specialty — não tentar competir com Pilão/3 Corações em volume.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3255263"/>
            <a:ext cx="4389120" cy="1627632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63440" y="3255263"/>
            <a:ext cx="4389120" cy="274320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79" y="3282695"/>
            <a:ext cx="42245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AVALIAR: Cápsula Proprietária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79" y="3584447"/>
            <a:ext cx="422452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A Modo Mio = lock-in de ecossistema. Projeto Máquina pode avaliar cápsula Orfeu com OEM China — mas só se a Orfeu puder sustentar o ecossistema de máquina + suporte + distribution.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