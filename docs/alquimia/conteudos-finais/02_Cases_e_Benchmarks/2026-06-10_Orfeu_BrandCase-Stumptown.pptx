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1005">
              <a:alpha val="72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320040"/>
            <a:ext cx="1097280" cy="8615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645920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552E"/>
                </a:solidFill>
              </a:rPr>
              <a:t>CASE DE MARCA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93392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Stumptown Coffee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52928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DEEDD"/>
                </a:solidFill>
              </a:rPr>
              <a:t>Hair Bender · Portland, 1999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" y="3310128"/>
            <a:ext cx="8961120" cy="10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419856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888888"/>
                </a:solidFill>
              </a:rPr>
              <a:t>Transitioning Wholesale/Café Credibility to Retail Grocery Shelves — como um indie Portland virou CPG nacional sem perder a alma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Estrutura do Case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" y="1078992"/>
            <a:ext cx="4389120" cy="551688"/>
          </a:xfrm>
          <a:prstGeom prst="rect">
            <a:avLst/>
          </a:prstGeom>
          <a:solidFill>
            <a:srgbClr val="D4E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" y="1078992"/>
            <a:ext cx="329184" cy="551688"/>
          </a:xfrm>
          <a:prstGeom prst="rect">
            <a:avLst/>
          </a:prstGeom>
          <a:solidFill>
            <a:srgbClr val="2E5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" y="1171955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" y="1170432"/>
            <a:ext cx="39136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E552E"/>
                </a:solidFill>
              </a:rPr>
              <a:t>Heritage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" y="1426464"/>
            <a:ext cx="3913631" cy="131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De Portland 1999 ao deal Peet's/JAB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59" y="1078992"/>
            <a:ext cx="4389120" cy="55168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09159" y="1078992"/>
            <a:ext cx="329184" cy="551688"/>
          </a:xfrm>
          <a:prstGeom prst="rect">
            <a:avLst/>
          </a:prstGeom>
          <a:solidFill>
            <a:srgbClr val="2E5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45736" y="1171955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11496" y="1170432"/>
            <a:ext cx="39136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E552E"/>
                </a:solidFill>
              </a:rPr>
              <a:t>Financeiros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11496" y="1426464"/>
            <a:ext cx="3913631" cy="131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~$65M, Cold Brew como CPG driver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" y="1726691"/>
            <a:ext cx="4389120" cy="551688"/>
          </a:xfrm>
          <a:prstGeom prst="rect">
            <a:avLst/>
          </a:prstGeom>
          <a:solidFill>
            <a:srgbClr val="D4E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" y="1726691"/>
            <a:ext cx="329184" cy="551688"/>
          </a:xfrm>
          <a:prstGeom prst="rect">
            <a:avLst/>
          </a:prstGeom>
          <a:solidFill>
            <a:srgbClr val="2E5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" y="1819656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" y="1818132"/>
            <a:ext cx="39136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E552E"/>
                </a:solidFill>
              </a:rPr>
              <a:t>Brand DNA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" y="2074163"/>
            <a:ext cx="3913631" cy="131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Indie credibility + design iconográfico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09159" y="1726691"/>
            <a:ext cx="4389120" cy="55168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09159" y="1726691"/>
            <a:ext cx="329184" cy="551688"/>
          </a:xfrm>
          <a:prstGeom prst="rect">
            <a:avLst/>
          </a:prstGeom>
          <a:solidFill>
            <a:srgbClr val="2E5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45736" y="1819656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11496" y="1818132"/>
            <a:ext cx="39136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E552E"/>
                </a:solidFill>
              </a:rPr>
              <a:t>Positioning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11496" y="2074163"/>
            <a:ext cx="3913631" cy="131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Framework completo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" y="2374392"/>
            <a:ext cx="4389120" cy="551688"/>
          </a:xfrm>
          <a:prstGeom prst="rect">
            <a:avLst/>
          </a:prstGeom>
          <a:solidFill>
            <a:srgbClr val="D4E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440" y="2374392"/>
            <a:ext cx="329184" cy="551688"/>
          </a:xfrm>
          <a:prstGeom prst="rect">
            <a:avLst/>
          </a:prstGeom>
          <a:solidFill>
            <a:srgbClr val="2E5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8016" y="2467356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" y="2465832"/>
            <a:ext cx="39136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E552E"/>
                </a:solidFill>
              </a:rPr>
              <a:t>Ho.Re.Ca.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" y="2721864"/>
            <a:ext cx="3913631" cy="131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Wholesale B2B + cafés próprios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09159" y="2374392"/>
            <a:ext cx="4389120" cy="55168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709159" y="2374392"/>
            <a:ext cx="329184" cy="551688"/>
          </a:xfrm>
          <a:prstGeom prst="rect">
            <a:avLst/>
          </a:prstGeom>
          <a:solidFill>
            <a:srgbClr val="2E5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45736" y="2467356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11496" y="2465832"/>
            <a:ext cx="39136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E552E"/>
                </a:solidFill>
              </a:rPr>
              <a:t>Portfólio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11496" y="2721864"/>
            <a:ext cx="3913631" cy="131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Hair Bender, Cold Brew Stubby, RTD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" y="3022091"/>
            <a:ext cx="4389120" cy="551688"/>
          </a:xfrm>
          <a:prstGeom prst="rect">
            <a:avLst/>
          </a:prstGeom>
          <a:solidFill>
            <a:srgbClr val="D4E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1440" y="3022091"/>
            <a:ext cx="329184" cy="551688"/>
          </a:xfrm>
          <a:prstGeom prst="rect">
            <a:avLst/>
          </a:prstGeom>
          <a:solidFill>
            <a:srgbClr val="2E5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" y="3115055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3776" y="3113532"/>
            <a:ext cx="39136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E552E"/>
                </a:solidFill>
              </a:rPr>
              <a:t>Retail GTM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3776" y="3369563"/>
            <a:ext cx="3913631" cy="131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De Whole Foods para Target/Kroger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709159" y="3022091"/>
            <a:ext cx="4389120" cy="55168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709159" y="3022091"/>
            <a:ext cx="329184" cy="551688"/>
          </a:xfrm>
          <a:prstGeom prst="rect">
            <a:avLst/>
          </a:prstGeom>
          <a:solidFill>
            <a:srgbClr val="2E5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45736" y="3115055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11496" y="3113532"/>
            <a:ext cx="39136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E552E"/>
                </a:solidFill>
              </a:rPr>
              <a:t>Ativações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11496" y="3369563"/>
            <a:ext cx="3913631" cy="131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Cold Brew pioneirismo + packaging design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440" y="3669792"/>
            <a:ext cx="4389120" cy="551688"/>
          </a:xfrm>
          <a:prstGeom prst="rect">
            <a:avLst/>
          </a:prstGeom>
          <a:solidFill>
            <a:srgbClr val="D4E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1440" y="3669792"/>
            <a:ext cx="329184" cy="551688"/>
          </a:xfrm>
          <a:prstGeom prst="rect">
            <a:avLst/>
          </a:prstGeom>
          <a:solidFill>
            <a:srgbClr val="2E5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28016" y="3762756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93776" y="3761232"/>
            <a:ext cx="39136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E552E"/>
                </a:solidFill>
              </a:rPr>
              <a:t>Digital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3776" y="4017264"/>
            <a:ext cx="3913631" cy="131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Content indie + social community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709159" y="3669792"/>
            <a:ext cx="4389120" cy="55168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709159" y="3669792"/>
            <a:ext cx="329184" cy="551688"/>
          </a:xfrm>
          <a:prstGeom prst="rect">
            <a:avLst/>
          </a:prstGeom>
          <a:solidFill>
            <a:srgbClr val="2E5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45736" y="3762756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11496" y="3761232"/>
            <a:ext cx="39136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E552E"/>
                </a:solidFill>
              </a:rPr>
              <a:t>Sustentabilidade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111496" y="4017264"/>
            <a:ext cx="3913631" cy="131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Direct trade + B Corp pursuit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1440" y="4317492"/>
            <a:ext cx="4389120" cy="551688"/>
          </a:xfrm>
          <a:prstGeom prst="rect">
            <a:avLst/>
          </a:prstGeom>
          <a:solidFill>
            <a:srgbClr val="D4E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1440" y="4317492"/>
            <a:ext cx="329184" cy="551688"/>
          </a:xfrm>
          <a:prstGeom prst="rect">
            <a:avLst/>
          </a:prstGeom>
          <a:solidFill>
            <a:srgbClr val="2E5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28016" y="4410456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93776" y="4408932"/>
            <a:ext cx="39136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E552E"/>
                </a:solidFill>
              </a:rPr>
              <a:t>Scorecard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93776" y="4664964"/>
            <a:ext cx="3913631" cy="131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Métricas-chave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709159" y="4317492"/>
            <a:ext cx="4389120" cy="55168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709159" y="4317492"/>
            <a:ext cx="329184" cy="551688"/>
          </a:xfrm>
          <a:prstGeom prst="rect">
            <a:avLst/>
          </a:prstGeom>
          <a:solidFill>
            <a:srgbClr val="2E5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745736" y="4410456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111496" y="4408932"/>
            <a:ext cx="39136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E552E"/>
                </a:solidFill>
              </a:rPr>
              <a:t>Lições para Orfeu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111496" y="4664964"/>
            <a:ext cx="3913631" cy="131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Insights aplicáveis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Trajetória Estratégica &amp; Marcos Fundamentais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" y="1024128"/>
            <a:ext cx="8961120" cy="36576"/>
          </a:xfrm>
          <a:prstGeom prst="rect">
            <a:avLst/>
          </a:prstGeom>
          <a:solidFill>
            <a:srgbClr val="2E5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4944" y="1005840"/>
            <a:ext cx="73152" cy="201168"/>
          </a:xfrm>
          <a:prstGeom prst="rect">
            <a:avLst/>
          </a:prstGeom>
          <a:solidFill>
            <a:srgbClr val="2E5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" y="1207008"/>
            <a:ext cx="1188720" cy="35661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" y="1243584"/>
            <a:ext cx="1133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552E"/>
                </a:solidFill>
              </a:rPr>
              <a:t>1999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" y="1554480"/>
            <a:ext cx="1133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Portland Origin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" y="1883664"/>
            <a:ext cx="1133856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Duane Sorenson abre o primeiro Stumptown em Portland. Visão: café tão bom quanto o melhor vinho. Direct trade desde o primeiro dia.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75104" y="1005840"/>
            <a:ext cx="73152" cy="201168"/>
          </a:xfrm>
          <a:prstGeom prst="rect">
            <a:avLst/>
          </a:prstGeom>
          <a:solidFill>
            <a:srgbClr val="2E5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417320" y="1207008"/>
            <a:ext cx="1188720" cy="3566160"/>
          </a:xfrm>
          <a:prstGeom prst="rect">
            <a:avLst/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4752" y="1243584"/>
            <a:ext cx="1133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552E"/>
                </a:solidFill>
              </a:rPr>
              <a:t>2002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4752" y="1554480"/>
            <a:ext cx="1133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Direct Trade Pioneer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44752" y="1883664"/>
            <a:ext cx="1133856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Stumptown viaja à Etiópia e paga 3× o preço de mercado. Publica os preços. Pioneiro absoluto em transparência de sourcing na terceira onda.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55264" y="1005840"/>
            <a:ext cx="73152" cy="201168"/>
          </a:xfrm>
          <a:prstGeom prst="rect">
            <a:avLst/>
          </a:prstGeom>
          <a:solidFill>
            <a:srgbClr val="2E5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697480" y="1207008"/>
            <a:ext cx="1188720" cy="35661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24912" y="1243584"/>
            <a:ext cx="1133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552E"/>
                </a:solidFill>
              </a:rPr>
              <a:t>2010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24912" y="1554480"/>
            <a:ext cx="1133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NYC &amp; Seattle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24912" y="1883664"/>
            <a:ext cx="1133856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Expansão para novos mercados — Ace Hotel residencies. Cafés dentro de hotéis boutique como estratégia de credibilidade premium.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35424" y="1005840"/>
            <a:ext cx="73152" cy="201168"/>
          </a:xfrm>
          <a:prstGeom prst="rect">
            <a:avLst/>
          </a:prstGeom>
          <a:solidFill>
            <a:srgbClr val="2E5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977639" y="1207008"/>
            <a:ext cx="1188720" cy="3566160"/>
          </a:xfrm>
          <a:prstGeom prst="rect">
            <a:avLst/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05072" y="1243584"/>
            <a:ext cx="1133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552E"/>
                </a:solidFill>
              </a:rPr>
              <a:t>2011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05072" y="1554480"/>
            <a:ext cx="1133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Cold Brew RTD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05072" y="1883664"/>
            <a:ext cx="1133856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Stumptown lança Cold Brew em garrafa de vidro 'Stubby' — um dos primeiros cold brews premium em retail nacional. Whole Foods e depois Target.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15584" y="1005840"/>
            <a:ext cx="73152" cy="201168"/>
          </a:xfrm>
          <a:prstGeom prst="rect">
            <a:avLst/>
          </a:prstGeom>
          <a:solidFill>
            <a:srgbClr val="2E5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257800" y="1207008"/>
            <a:ext cx="1188720" cy="35661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85232" y="1243584"/>
            <a:ext cx="1133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552E"/>
                </a:solidFill>
              </a:rPr>
              <a:t>2015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85232" y="1554480"/>
            <a:ext cx="1133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Peet's/JAB Acquisition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85232" y="1883664"/>
            <a:ext cx="1133856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Adquirida por Peet's Coffee (JAB Holding) por ~$100M. Mantém brand independence e Portland HQ.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095744" y="1005840"/>
            <a:ext cx="73152" cy="201168"/>
          </a:xfrm>
          <a:prstGeom prst="rect">
            <a:avLst/>
          </a:prstGeom>
          <a:solidFill>
            <a:srgbClr val="2E5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37960" y="1207008"/>
            <a:ext cx="1188720" cy="3566160"/>
          </a:xfrm>
          <a:prstGeom prst="rect">
            <a:avLst/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65392" y="1243584"/>
            <a:ext cx="1133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552E"/>
                </a:solidFill>
              </a:rPr>
              <a:t>2017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65392" y="1554480"/>
            <a:ext cx="1133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National Retail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65392" y="1883664"/>
            <a:ext cx="1133856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Cold Brew Stubby disponível em Target, Kroger, Safeway — mais de 10,000 pontos. CPG nacional sem perder specialty credibility.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75904" y="1005840"/>
            <a:ext cx="73152" cy="201168"/>
          </a:xfrm>
          <a:prstGeom prst="rect">
            <a:avLst/>
          </a:prstGeom>
          <a:solidFill>
            <a:srgbClr val="2E5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818120" y="1207008"/>
            <a:ext cx="1188720" cy="35661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45552" y="1243584"/>
            <a:ext cx="1133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552E"/>
                </a:solidFill>
              </a:rPr>
              <a:t>2025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45552" y="1554480"/>
            <a:ext cx="1133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~$65M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45552" y="1883664"/>
            <a:ext cx="1133856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10 cafés em Portland, NYC, Seattle, LA, Chicago. Cold Brew = motor de crescimento. Wholesale B2B em 500+ cafés independentes.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Arquitetura Financeira — Stumptown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9494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DDCC"/>
                </a:solidFill>
              </a:rPr>
              <a:t>~$65M estimado · Cold Brew RTD como principal driver de crescimento · parte Peet's/JAB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1078992"/>
            <a:ext cx="2542032" cy="329184"/>
          </a:xfrm>
          <a:prstGeom prst="rect">
            <a:avLst/>
          </a:prstGeom>
          <a:solidFill>
            <a:srgbClr val="2E5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" y="1124712"/>
            <a:ext cx="24323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MÉTRICA</a:t>
            </a:r>
          </a:p>
        </p:txBody>
      </p:sp>
      <p:sp>
        <p:nvSpPr>
          <p:cNvPr id="8" name="Rectangle 7"/>
          <p:cNvSpPr/>
          <p:nvPr/>
        </p:nvSpPr>
        <p:spPr>
          <a:xfrm>
            <a:off x="2651760" y="1078992"/>
            <a:ext cx="1627632" cy="329184"/>
          </a:xfrm>
          <a:prstGeom prst="rect">
            <a:avLst/>
          </a:prstGeom>
          <a:solidFill>
            <a:srgbClr val="2E5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06624" y="1124712"/>
            <a:ext cx="15179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ESTIMATIVA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078992"/>
            <a:ext cx="1810512" cy="329184"/>
          </a:xfrm>
          <a:prstGeom prst="rect">
            <a:avLst/>
          </a:prstGeom>
          <a:solidFill>
            <a:srgbClr val="2E5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52544" y="1124712"/>
            <a:ext cx="17007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CANAL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078992"/>
            <a:ext cx="2816352" cy="329184"/>
          </a:xfrm>
          <a:prstGeom prst="rect">
            <a:avLst/>
          </a:prstGeom>
          <a:solidFill>
            <a:srgbClr val="2E5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81344" y="1124712"/>
            <a:ext cx="27066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NOTA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" y="1426464"/>
            <a:ext cx="254203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" y="1472184"/>
            <a:ext cx="24323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Receita Total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51760" y="1426464"/>
            <a:ext cx="162763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1472184"/>
            <a:ext cx="15179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~$55–75M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1426464"/>
            <a:ext cx="181051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52544" y="1472184"/>
            <a:ext cx="17007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Multi-canal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1426464"/>
            <a:ext cx="281635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81344" y="1472184"/>
            <a:ext cx="27066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Privado, parte Peet's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" y="1773936"/>
            <a:ext cx="2542032" cy="329184"/>
          </a:xfrm>
          <a:prstGeom prst="rect">
            <a:avLst/>
          </a:prstGeom>
          <a:solidFill>
            <a:srgbClr val="D4E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6304" y="1819656"/>
            <a:ext cx="24323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Cold Brew RTD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51760" y="1773936"/>
            <a:ext cx="1627632" cy="329184"/>
          </a:xfrm>
          <a:prstGeom prst="rect">
            <a:avLst/>
          </a:prstGeom>
          <a:solidFill>
            <a:srgbClr val="D4E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06624" y="1819656"/>
            <a:ext cx="15179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~40%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80" y="1773936"/>
            <a:ext cx="1810512" cy="329184"/>
          </a:xfrm>
          <a:prstGeom prst="rect">
            <a:avLst/>
          </a:prstGeom>
          <a:solidFill>
            <a:srgbClr val="D4E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52544" y="1819656"/>
            <a:ext cx="17007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Varejo nacional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1773936"/>
            <a:ext cx="2816352" cy="329184"/>
          </a:xfrm>
          <a:prstGeom prst="rect">
            <a:avLst/>
          </a:prstGeom>
          <a:solidFill>
            <a:srgbClr val="D4E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81344" y="1819656"/>
            <a:ext cx="27066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Maior driver de crescimento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" y="2121408"/>
            <a:ext cx="254203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6304" y="2167128"/>
            <a:ext cx="24323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Wholesale B2B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51760" y="2121408"/>
            <a:ext cx="162763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06624" y="2167128"/>
            <a:ext cx="15179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~35%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97680" y="2121408"/>
            <a:ext cx="181051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52544" y="2167128"/>
            <a:ext cx="17007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Cafés independentes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26480" y="2121408"/>
            <a:ext cx="281635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81344" y="2167128"/>
            <a:ext cx="27066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500+ contas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" y="2468880"/>
            <a:ext cx="2542032" cy="329184"/>
          </a:xfrm>
          <a:prstGeom prst="rect">
            <a:avLst/>
          </a:prstGeom>
          <a:solidFill>
            <a:srgbClr val="D4E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6304" y="2514600"/>
            <a:ext cx="24323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Cafés Próprios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651760" y="2468880"/>
            <a:ext cx="1627632" cy="329184"/>
          </a:xfrm>
          <a:prstGeom prst="rect">
            <a:avLst/>
          </a:prstGeom>
          <a:solidFill>
            <a:srgbClr val="D4E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06624" y="2514600"/>
            <a:ext cx="15179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~15%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97680" y="2468880"/>
            <a:ext cx="1810512" cy="329184"/>
          </a:xfrm>
          <a:prstGeom prst="rect">
            <a:avLst/>
          </a:prstGeom>
          <a:solidFill>
            <a:srgbClr val="D4E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52544" y="2514600"/>
            <a:ext cx="17007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10 locais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26480" y="2468880"/>
            <a:ext cx="2816352" cy="329184"/>
          </a:xfrm>
          <a:prstGeom prst="rect">
            <a:avLst/>
          </a:prstGeom>
          <a:solidFill>
            <a:srgbClr val="D4E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81344" y="2514600"/>
            <a:ext cx="27066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Brand temples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440" y="2816352"/>
            <a:ext cx="254203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46304" y="2862072"/>
            <a:ext cx="24323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Varejo DTC/Amazon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651760" y="2816352"/>
            <a:ext cx="162763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06624" y="2862072"/>
            <a:ext cx="15179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~10%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97680" y="2816352"/>
            <a:ext cx="181051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352544" y="2862072"/>
            <a:ext cx="17007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E-commerce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26480" y="2816352"/>
            <a:ext cx="281635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81344" y="2862072"/>
            <a:ext cx="27066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Beans + subscriptions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440" y="3273552"/>
            <a:ext cx="4389120" cy="950976"/>
          </a:xfrm>
          <a:prstGeom prst="rect">
            <a:avLst/>
          </a:prstGeom>
          <a:solidFill>
            <a:srgbClr val="D4E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1440" y="3273552"/>
            <a:ext cx="4389120" cy="256032"/>
          </a:xfrm>
          <a:prstGeom prst="rect">
            <a:avLst/>
          </a:prstGeom>
          <a:solidFill>
            <a:srgbClr val="2E5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82880" y="3291840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COLD BREW CPG MODEL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82880" y="3584448"/>
            <a:ext cx="42062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Cold Brew Stubby foi o veículo de transição de specialty indie para CPG nacional. Garrafa de vidro diferenciada + premium pricing ($4–6) + Whole Foods first = halo de credibilidade.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617720" y="3273552"/>
            <a:ext cx="4389120" cy="950976"/>
          </a:xfrm>
          <a:prstGeom prst="rect">
            <a:avLst/>
          </a:prstGeom>
          <a:solidFill>
            <a:srgbClr val="D4E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617720" y="3273552"/>
            <a:ext cx="4389120" cy="256032"/>
          </a:xfrm>
          <a:prstGeom prst="rect">
            <a:avLst/>
          </a:prstGeom>
          <a:solidFill>
            <a:srgbClr val="2E5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709159" y="3291840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PEET'S DISTRIBUIÇÃO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709159" y="3584448"/>
            <a:ext cx="42062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Peet's/JAB forneceu infraestrutura de distribuição nacional — acesso a Target, Kroger, Amazon em escala. Brand mantida 100% independente em design e sourcing.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1440" y="4297680"/>
            <a:ext cx="4389120" cy="950976"/>
          </a:xfrm>
          <a:prstGeom prst="rect">
            <a:avLst/>
          </a:prstGeom>
          <a:solidFill>
            <a:srgbClr val="D4E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1440" y="4297680"/>
            <a:ext cx="4389120" cy="256032"/>
          </a:xfrm>
          <a:prstGeom prst="rect">
            <a:avLst/>
          </a:prstGeom>
          <a:solidFill>
            <a:srgbClr val="2E5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82880" y="4315968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INDIE CREDIBILITY PREMIUM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82880" y="4608576"/>
            <a:ext cx="42062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Preços 2–3× acima de cold brew commodity. Justificado por Portland provenance + direct trade storytelling + Stubby bottle design.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17720" y="4297680"/>
            <a:ext cx="4389120" cy="950976"/>
          </a:xfrm>
          <a:prstGeom prst="rect">
            <a:avLst/>
          </a:prstGeom>
          <a:solidFill>
            <a:srgbClr val="D4E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617720" y="4297680"/>
            <a:ext cx="4389120" cy="256032"/>
          </a:xfrm>
          <a:prstGeom prst="rect">
            <a:avLst/>
          </a:prstGeom>
          <a:solidFill>
            <a:srgbClr val="2E5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709159" y="4315968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HAIR BENDER HALO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709159" y="4608576"/>
            <a:ext cx="42062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Hair Bender espresso blend = ícone que 'prova' a credibilidade specialty. Wholesale cafés servindo Hair Bender = endorsement de qualidade para consumidor de retail.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Brand DNA — Identidade, Personalidade e Propósito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" y="1051560"/>
            <a:ext cx="4370832" cy="475488"/>
          </a:xfrm>
          <a:prstGeom prst="rect">
            <a:avLst/>
          </a:prstGeom>
          <a:solidFill>
            <a:srgbClr val="2E5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1069848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MISSÃO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" y="1280160"/>
            <a:ext cx="42245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FFFFFF"/>
                </a:solidFill>
              </a:rPr>
              <a:t>Torrar o café mais extraordinário do mundo — e entregá-lo às pessoas com honestidade, design e uma obsessão coletiva por qualidade que começa nas fazendas e termina na xícara.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53712" y="1051560"/>
            <a:ext cx="4572000" cy="475488"/>
          </a:xfrm>
          <a:prstGeom prst="rect">
            <a:avLst/>
          </a:prstGeom>
          <a:solidFill>
            <a:srgbClr val="1F4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45152" y="1069848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VISÃO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1280160"/>
            <a:ext cx="44074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FFFFFF"/>
                </a:solidFill>
              </a:rPr>
              <a:t>Ser a marca de café que prova que indie credibility e escala nacional não são mutuamente exclusivos — crescer sem trair a origem.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" y="1591056"/>
            <a:ext cx="8942832" cy="347472"/>
          </a:xfrm>
          <a:prstGeom prst="rect">
            <a:avLst/>
          </a:prstGeom>
          <a:solidFill>
            <a:srgbClr val="D4E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" y="1609344"/>
            <a:ext cx="6217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1">
                <a:solidFill>
                  <a:srgbClr val="2E552E"/>
                </a:solidFill>
              </a:rPr>
              <a:t>TAGLINE: 'Coffee worth caring about.' — a qualidade como obrigação moral.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1609344"/>
            <a:ext cx="25054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55555"/>
                </a:solidFill>
              </a:rPr>
              <a:t>HERITAGE: Duane Sorenson, Portland 1999. Direct trade pioneiro. JAB 2015.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" y="2011680"/>
            <a:ext cx="1426464" cy="402336"/>
          </a:xfrm>
          <a:prstGeom prst="rect">
            <a:avLst/>
          </a:prstGeom>
          <a:solidFill>
            <a:srgbClr val="D4E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" y="2029968"/>
            <a:ext cx="13350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E552E"/>
                </a:solidFill>
              </a:rPr>
              <a:t>Autêntico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72768" y="2011680"/>
            <a:ext cx="1426464" cy="402336"/>
          </a:xfrm>
          <a:prstGeom prst="rect">
            <a:avLst/>
          </a:prstGeom>
          <a:solidFill>
            <a:srgbClr val="D4E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27632" y="2029968"/>
            <a:ext cx="13350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E552E"/>
                </a:solidFill>
              </a:rPr>
              <a:t>Portland Proud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54096" y="2011680"/>
            <a:ext cx="1426464" cy="402336"/>
          </a:xfrm>
          <a:prstGeom prst="rect">
            <a:avLst/>
          </a:prstGeom>
          <a:solidFill>
            <a:srgbClr val="D4E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08960" y="2029968"/>
            <a:ext cx="13350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E552E"/>
                </a:solidFill>
              </a:rPr>
              <a:t>Direto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35424" y="2011680"/>
            <a:ext cx="1426464" cy="402336"/>
          </a:xfrm>
          <a:prstGeom prst="rect">
            <a:avLst/>
          </a:prstGeom>
          <a:solidFill>
            <a:srgbClr val="D4E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0288" y="2029968"/>
            <a:ext cx="13350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E552E"/>
                </a:solidFill>
              </a:rPr>
              <a:t>Obsessivo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16752" y="2011680"/>
            <a:ext cx="1426464" cy="402336"/>
          </a:xfrm>
          <a:prstGeom prst="rect">
            <a:avLst/>
          </a:prstGeom>
          <a:solidFill>
            <a:srgbClr val="D4E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71616" y="2029968"/>
            <a:ext cx="13350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E552E"/>
                </a:solidFill>
              </a:rPr>
              <a:t>Iconográfico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0" y="2011680"/>
            <a:ext cx="1426464" cy="402336"/>
          </a:xfrm>
          <a:prstGeom prst="rect">
            <a:avLst/>
          </a:prstGeom>
          <a:solidFill>
            <a:srgbClr val="D4E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52944" y="2029968"/>
            <a:ext cx="13350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E552E"/>
                </a:solidFill>
              </a:rPr>
              <a:t>Indie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" y="2487168"/>
            <a:ext cx="1737360" cy="254203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" y="2560320"/>
            <a:ext cx="1737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2E552E"/>
                </a:solidFill>
              </a:rPr>
              <a:t>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" y="3017520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2E552E"/>
                </a:solidFill>
              </a:rPr>
              <a:t>Hair Bender Legend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" y="329184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A1A1A"/>
                </a:solidFill>
              </a:rPr>
              <a:t>Espresso blend ícone — tão reconhecido quanto produtos de vinícolas de prestígio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83664" y="2487168"/>
            <a:ext cx="1737360" cy="2542032"/>
          </a:xfrm>
          <a:prstGeom prst="rect">
            <a:avLst/>
          </a:prstGeom>
          <a:solidFill>
            <a:srgbClr val="D4E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83664" y="2560320"/>
            <a:ext cx="1737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2E552E"/>
                </a:solidFill>
              </a:rPr>
              <a:t>🧊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38528" y="3017520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2E552E"/>
                </a:solidFill>
              </a:rPr>
              <a:t>Cold Brew Pioneer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38528" y="329184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A1A1A"/>
                </a:solidFill>
              </a:rPr>
              <a:t>Um dos primeiros cold brews em varejo nacional — 2011, antes de todos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75888" y="2487168"/>
            <a:ext cx="1737360" cy="254203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75888" y="2560320"/>
            <a:ext cx="1737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2E552E"/>
                </a:solidFill>
              </a:rPr>
              <a:t>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30752" y="3017520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2E552E"/>
                </a:solidFill>
              </a:rPr>
              <a:t>Stubby Bottle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30752" y="329184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A1A1A"/>
                </a:solidFill>
              </a:rPr>
              <a:t>Garrafa de vidro icônica = packaging como brand statement e defensabilidade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68112" y="2487168"/>
            <a:ext cx="1737360" cy="2542032"/>
          </a:xfrm>
          <a:prstGeom prst="rect">
            <a:avLst/>
          </a:prstGeom>
          <a:solidFill>
            <a:srgbClr val="D4E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68112" y="2560320"/>
            <a:ext cx="1737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2E552E"/>
                </a:solidFill>
              </a:rPr>
              <a:t>🌿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22976" y="3017520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2E552E"/>
                </a:solidFill>
              </a:rPr>
              <a:t>Direct Trade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22976" y="329184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A1A1A"/>
                </a:solidFill>
              </a:rPr>
              <a:t>Transparência de preços desde 2002 — predatou o Fair Trade em exigência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260336" y="2487168"/>
            <a:ext cx="1737360" cy="254203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260336" y="2560320"/>
            <a:ext cx="1737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2E552E"/>
                </a:solidFill>
              </a:rPr>
              <a:t>🏙️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0" y="3017520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2E552E"/>
                </a:solidFill>
              </a:rPr>
              <a:t>Portland Provenance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0" y="329184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A1A1A"/>
                </a:solidFill>
              </a:rPr>
              <a:t>Portland como fonte de credibilidade indie — mercado de origem como argumento premium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Brand Positioning Framework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" y="1051560"/>
            <a:ext cx="4389120" cy="804672"/>
          </a:xfrm>
          <a:prstGeom prst="rect">
            <a:avLst/>
          </a:prstGeom>
          <a:solidFill>
            <a:srgbClr val="D4E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" y="1051560"/>
            <a:ext cx="4389120" cy="274320"/>
          </a:xfrm>
          <a:prstGeom prst="rect">
            <a:avLst/>
          </a:prstGeom>
          <a:solidFill>
            <a:srgbClr val="2E5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1069848"/>
            <a:ext cx="4206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BRAND STATEMENT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1371600"/>
            <a:ext cx="4206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1A1A1A"/>
                </a:solidFill>
              </a:rPr>
              <a:t>Stumptown é a prova de que café extraordinary não precisa de exclusividade — pode estar na sua geladeira de Target e ainda ser o melhor café que você já tomou. Portland credibility, national reach.</a:t>
            </a:r>
          </a:p>
        </p:txBody>
      </p:sp>
      <p:sp>
        <p:nvSpPr>
          <p:cNvPr id="9" name="Rectangle 8"/>
          <p:cNvSpPr/>
          <p:nvPr/>
        </p:nvSpPr>
        <p:spPr>
          <a:xfrm>
            <a:off x="4617720" y="1051560"/>
            <a:ext cx="4389120" cy="804672"/>
          </a:xfrm>
          <a:prstGeom prst="rect">
            <a:avLst/>
          </a:prstGeom>
          <a:solidFill>
            <a:srgbClr val="D4E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17720" y="1051560"/>
            <a:ext cx="4389120" cy="274320"/>
          </a:xfrm>
          <a:prstGeom prst="rect">
            <a:avLst/>
          </a:prstGeom>
          <a:solidFill>
            <a:srgbClr val="2E5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59" y="1069848"/>
            <a:ext cx="4206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CORE CREATIVE IDEA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59" y="1371600"/>
            <a:ext cx="4206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1A1A1A"/>
                </a:solidFill>
              </a:rPr>
              <a:t>'Coffee worth caring about.' — cada garrafa de Cold Brew e cada bag de Hair Bender carregam décadas de relação direta com agricultores e uma obsessão honesta com qualidade.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" y="1975104"/>
            <a:ext cx="4389120" cy="1353312"/>
          </a:xfrm>
          <a:prstGeom prst="rect">
            <a:avLst/>
          </a:prstGeom>
          <a:solidFill>
            <a:srgbClr val="D4E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" y="1975104"/>
            <a:ext cx="4389120" cy="256032"/>
          </a:xfrm>
          <a:prstGeom prst="rect">
            <a:avLst/>
          </a:prstGeom>
          <a:solidFill>
            <a:srgbClr val="2E5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" y="2002536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BENEFÍCIOS DO PRODUTO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" y="2286000"/>
            <a:ext cx="422452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Hair Bender Espresso — blend de referência nacional do specialty</a:t>
            </a:r>
          </a:p>
          <a:p>
            <a:r>
              <a:rPr sz="850">
                <a:solidFill>
                  <a:srgbClr val="1A1A1A"/>
                </a:solidFill>
              </a:rPr>
              <a:t>•  Cold Brew Stubby — shelf-ready, no sugar, real coffee flavor</a:t>
            </a:r>
          </a:p>
          <a:p>
            <a:r>
              <a:rPr sz="850">
                <a:solidFill>
                  <a:srgbClr val="1A1A1A"/>
                </a:solidFill>
              </a:rPr>
              <a:t>•  Direct trade documentado desde 2002 — rastreabilidade genuína</a:t>
            </a:r>
          </a:p>
          <a:p>
            <a:r>
              <a:rPr sz="850">
                <a:solidFill>
                  <a:srgbClr val="1A1A1A"/>
                </a:solidFill>
              </a:rPr>
              <a:t>•  Disponível em Target, Whole Foods, Kroger — sem sacrificar qualidade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17720" y="1975104"/>
            <a:ext cx="4389120" cy="1353312"/>
          </a:xfrm>
          <a:prstGeom prst="rect">
            <a:avLst/>
          </a:prstGeom>
          <a:solidFill>
            <a:srgbClr val="D4E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17720" y="1975104"/>
            <a:ext cx="4389120" cy="256032"/>
          </a:xfrm>
          <a:prstGeom prst="rect">
            <a:avLst/>
          </a:prstGeom>
          <a:solidFill>
            <a:srgbClr val="2E5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09159" y="2002536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BENEFÍCIOS EMOCIONAIS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90872" y="2286000"/>
            <a:ext cx="422452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Consumir indie credibility sem procurar — no supermercado da esquina</a:t>
            </a:r>
          </a:p>
          <a:p>
            <a:r>
              <a:rPr sz="850">
                <a:solidFill>
                  <a:srgbClr val="1A1A1A"/>
                </a:solidFill>
              </a:rPr>
              <a:t>•  Sentir que está fazendo a escolha certa por agricultores</a:t>
            </a:r>
          </a:p>
          <a:p>
            <a:r>
              <a:rPr sz="850">
                <a:solidFill>
                  <a:srgbClr val="1A1A1A"/>
                </a:solidFill>
              </a:rPr>
              <a:t>•  Portland provenance = contracultural status discreto</a:t>
            </a:r>
          </a:p>
          <a:p>
            <a:r>
              <a:rPr sz="850">
                <a:solidFill>
                  <a:srgbClr val="1A1A1A"/>
                </a:solidFill>
              </a:rPr>
              <a:t>•  Confiança: se baristas de Portland bebem, deve ser bom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" y="3392424"/>
            <a:ext cx="4389120" cy="1353312"/>
          </a:xfrm>
          <a:prstGeom prst="rect">
            <a:avLst/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" y="3392424"/>
            <a:ext cx="4389120" cy="256032"/>
          </a:xfrm>
          <a:prstGeom prst="rect">
            <a:avLst/>
          </a:prstGeom>
          <a:solidFill>
            <a:srgbClr val="C06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2880" y="3419856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REASONS TO BELIEVE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" y="3703320"/>
            <a:ext cx="422452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Transparência de preços pagos publicada desde 2002</a:t>
            </a:r>
          </a:p>
          <a:p>
            <a:r>
              <a:rPr sz="850">
                <a:solidFill>
                  <a:srgbClr val="1A1A1A"/>
                </a:solidFill>
              </a:rPr>
              <a:t>•  10,000+ pontos de venda retail sem perda de qualidade percebida</a:t>
            </a:r>
          </a:p>
          <a:p>
            <a:r>
              <a:rPr sz="850">
                <a:solidFill>
                  <a:srgbClr val="1A1A1A"/>
                </a:solidFill>
              </a:rPr>
              <a:t>•  Hair Bender como benchmark de qualidade para baristas e críticos</a:t>
            </a:r>
          </a:p>
          <a:p>
            <a:r>
              <a:rPr sz="850">
                <a:solidFill>
                  <a:srgbClr val="1A1A1A"/>
                </a:solidFill>
              </a:rPr>
              <a:t>•  Ace Hotel residency como validation de credibilidade premium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17720" y="3392424"/>
            <a:ext cx="4389120" cy="135331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17720" y="3392424"/>
            <a:ext cx="4389120" cy="256032"/>
          </a:xfrm>
          <a:prstGeom prst="rect">
            <a:avLst/>
          </a:prstGeom>
          <a:solidFill>
            <a:srgbClr val="1F4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09159" y="3419856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BRAND VALUES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90872" y="3703320"/>
            <a:ext cx="422452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Direct trade com transparência radical — preços publicados</a:t>
            </a:r>
          </a:p>
          <a:p>
            <a:r>
              <a:rPr sz="850">
                <a:solidFill>
                  <a:srgbClr val="1A1A1A"/>
                </a:solidFill>
              </a:rPr>
              <a:t>•  Design como identidade — Stubby é reconhecível em 2 segundos</a:t>
            </a:r>
          </a:p>
          <a:p>
            <a:r>
              <a:rPr sz="850">
                <a:solidFill>
                  <a:srgbClr val="1A1A1A"/>
                </a:solidFill>
              </a:rPr>
              <a:t>•  Indie independence — JAB money, Portland soul</a:t>
            </a:r>
          </a:p>
          <a:p>
            <a:r>
              <a:rPr sz="850">
                <a:solidFill>
                  <a:srgbClr val="1A1A1A"/>
                </a:solidFill>
              </a:rPr>
              <a:t>•  Qualidade não negociável — nenhum café de baixa qualidade no portfólio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Ho.Re.Ca. &amp; Wholesale — Stumptown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9494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DDCC"/>
                </a:solidFill>
              </a:rPr>
              <a:t>500+ contas B2B + Ace Hotel residencies + 10 cafés próprios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1051560"/>
            <a:ext cx="2185416" cy="3950208"/>
          </a:xfrm>
          <a:prstGeom prst="rect">
            <a:avLst/>
          </a:prstGeom>
          <a:solidFill>
            <a:srgbClr val="D4E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" y="1051560"/>
            <a:ext cx="2185416" cy="274320"/>
          </a:xfrm>
          <a:prstGeom prst="rect">
            <a:avLst/>
          </a:prstGeom>
          <a:solidFill>
            <a:srgbClr val="2E5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WHOLESALE CAFÉS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" y="1380743"/>
            <a:ext cx="2130552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500+ cafés independentes — foco em specialty e third wave</a:t>
            </a:r>
          </a:p>
          <a:p>
            <a:r>
              <a:rPr sz="850">
                <a:solidFill>
                  <a:srgbClr val="1A1A1A"/>
                </a:solidFill>
              </a:rPr>
              <a:t>•  Wholesale kit: Hair Bender, Holler Mountain + treinamento básico</a:t>
            </a:r>
          </a:p>
          <a:p>
            <a:r>
              <a:rPr sz="850">
                <a:solidFill>
                  <a:srgbClr val="1A1A1A"/>
                </a:solidFill>
              </a:rPr>
              <a:t>•  Barista visitas regionais — suporte técnico em grandes contas</a:t>
            </a:r>
          </a:p>
          <a:p>
            <a:r>
              <a:rPr sz="850">
                <a:solidFill>
                  <a:srgbClr val="1A1A1A"/>
                </a:solidFill>
              </a:rPr>
              <a:t>•  Co-branding: 'Serving Stumptown' como sinal de qualidade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31720" y="1051560"/>
            <a:ext cx="2185416" cy="3950208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331720" y="1051560"/>
            <a:ext cx="2185416" cy="274320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0487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ACE HOTEL PARTNERSHIP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86584" y="1380743"/>
            <a:ext cx="2130552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Residency em Ace Hotels: NYC, Portland, Seattle, Chicago</a:t>
            </a:r>
          </a:p>
          <a:p>
            <a:r>
              <a:rPr sz="850">
                <a:solidFill>
                  <a:srgbClr val="1A1A1A"/>
                </a:solidFill>
              </a:rPr>
              <a:t>•  Hotel lobby café = brand temple de alta visibilidade</a:t>
            </a:r>
          </a:p>
          <a:p>
            <a:r>
              <a:rPr sz="850">
                <a:solidFill>
                  <a:srgbClr val="1A1A1A"/>
                </a:solidFill>
              </a:rPr>
              <a:t>•  Curadoria de menu de café integrada ao conceito do hotel</a:t>
            </a:r>
          </a:p>
          <a:p>
            <a:r>
              <a:rPr sz="850">
                <a:solidFill>
                  <a:srgbClr val="1A1A1A"/>
                </a:solidFill>
              </a:rPr>
              <a:t>•  Presença em quartos: beans + brewing guide como amenity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051560"/>
            <a:ext cx="2185416" cy="395020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0" y="1051560"/>
            <a:ext cx="2185416" cy="274320"/>
          </a:xfrm>
          <a:prstGeom prst="rect">
            <a:avLst/>
          </a:prstGeom>
          <a:solidFill>
            <a:srgbClr val="1F4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515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CAFÉS PRÓPRIOS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6864" y="1380743"/>
            <a:ext cx="2130552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10 locais: Portland (HQ), NYC, Seattle, LA, Chicago</a:t>
            </a:r>
          </a:p>
          <a:p>
            <a:r>
              <a:rPr sz="850">
                <a:solidFill>
                  <a:srgbClr val="1A1A1A"/>
                </a:solidFill>
              </a:rPr>
              <a:t>•  Ambiente industrial-hipster — estética consistente com brand</a:t>
            </a:r>
          </a:p>
          <a:p>
            <a:r>
              <a:rPr sz="850">
                <a:solidFill>
                  <a:srgbClr val="1A1A1A"/>
                </a:solidFill>
              </a:rPr>
              <a:t>•  Barista como educador: servem e explicam origin, process</a:t>
            </a:r>
          </a:p>
          <a:p>
            <a:r>
              <a:rPr sz="850">
                <a:solidFill>
                  <a:srgbClr val="1A1A1A"/>
                </a:solidFill>
              </a:rPr>
              <a:t>•  Incubador de novos produtos — Cold Brew foi testado aqui primeiro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12280" y="1051560"/>
            <a:ext cx="2185416" cy="3950208"/>
          </a:xfrm>
          <a:prstGeom prst="rect">
            <a:avLst/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12280" y="1051560"/>
            <a:ext cx="2185416" cy="274320"/>
          </a:xfrm>
          <a:prstGeom prst="rect">
            <a:avLst/>
          </a:prstGeom>
          <a:solidFill>
            <a:srgbClr val="C06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8543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FOODSERVICE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67144" y="1380743"/>
            <a:ext cx="2130552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Restaurantes fine dining em Portland e NYC</a:t>
            </a:r>
          </a:p>
          <a:p>
            <a:r>
              <a:rPr sz="850">
                <a:solidFill>
                  <a:srgbClr val="1A1A1A"/>
                </a:solidFill>
              </a:rPr>
              <a:t>•  Universidades premium — NYU, Reed College</a:t>
            </a:r>
          </a:p>
          <a:p>
            <a:r>
              <a:rPr sz="850">
                <a:solidFill>
                  <a:srgbClr val="1A1A1A"/>
                </a:solidFill>
              </a:rPr>
              <a:t>•  Hotéis boutique além do Ace — mercado em expansão</a:t>
            </a:r>
          </a:p>
          <a:p>
            <a:r>
              <a:rPr sz="850">
                <a:solidFill>
                  <a:srgbClr val="1A1A1A"/>
                </a:solidFill>
              </a:rPr>
              <a:t>•  Catering premium — eventos e corporativo NYC/Portland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Portfólio &amp; Cold Brew RTD — Stumptown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9494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DDCC"/>
                </a:solidFill>
              </a:rPr>
              <a:t>Hair Bender · Cold Brew · Whole Bean · RTD Cans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1051560"/>
            <a:ext cx="2185416" cy="3950208"/>
          </a:xfrm>
          <a:prstGeom prst="rect">
            <a:avLst/>
          </a:prstGeom>
          <a:solidFill>
            <a:srgbClr val="D4E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" y="1051560"/>
            <a:ext cx="2185416" cy="292608"/>
          </a:xfrm>
          <a:prstGeom prst="rect">
            <a:avLst/>
          </a:prstGeom>
          <a:solidFill>
            <a:srgbClr val="2E5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ESPRESSO &amp; BEANS</a:t>
            </a:r>
          </a:p>
        </p:txBody>
      </p:sp>
      <p:sp>
        <p:nvSpPr>
          <p:cNvPr id="9" name="Rectangle 8"/>
          <p:cNvSpPr/>
          <p:nvPr/>
        </p:nvSpPr>
        <p:spPr>
          <a:xfrm>
            <a:off x="146304" y="1408176"/>
            <a:ext cx="207568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" y="1444752"/>
            <a:ext cx="1984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E552E"/>
                </a:solidFill>
              </a:rPr>
              <a:t>Hair Bender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" y="1719072"/>
            <a:ext cx="1984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Flagship espresso blend — icone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2029968"/>
            <a:ext cx="1984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E552E"/>
                </a:solidFill>
              </a:rPr>
              <a:t>$18/12oz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6304" y="2377440"/>
            <a:ext cx="207568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168" y="2414016"/>
            <a:ext cx="1984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E552E"/>
                </a:solidFill>
              </a:rPr>
              <a:t>Holler Mountain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688336"/>
            <a:ext cx="1984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Everyday espresso blend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999232"/>
            <a:ext cx="1984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E552E"/>
                </a:solidFill>
              </a:rPr>
              <a:t>$16/12oz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6304" y="3346704"/>
            <a:ext cx="207568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1168" y="3383280"/>
            <a:ext cx="1984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E552E"/>
                </a:solidFill>
              </a:rPr>
              <a:t>Ethio Gimbi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657600"/>
            <a:ext cx="1984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Single-origin Ethiopia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968496"/>
            <a:ext cx="1984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E552E"/>
                </a:solidFill>
              </a:rPr>
              <a:t>$22/12oz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6304" y="4315968"/>
            <a:ext cx="207568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1168" y="4352544"/>
            <a:ext cx="1984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E552E"/>
                </a:solidFill>
              </a:rPr>
              <a:t>Decaf Hairbender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4626864"/>
            <a:ext cx="1984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Swiss water process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937760"/>
            <a:ext cx="1984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E552E"/>
                </a:solidFill>
              </a:rPr>
              <a:t>$19/12oz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31720" y="1051560"/>
            <a:ext cx="2185416" cy="3950208"/>
          </a:xfrm>
          <a:prstGeom prst="rect">
            <a:avLst/>
          </a:prstGeom>
          <a:solidFill>
            <a:srgbClr val="D4E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331720" y="1051560"/>
            <a:ext cx="2185416" cy="292608"/>
          </a:xfrm>
          <a:prstGeom prst="rect">
            <a:avLst/>
          </a:prstGeom>
          <a:solidFill>
            <a:srgbClr val="2E5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0487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COLD BREW RTD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86584" y="1408176"/>
            <a:ext cx="207568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41448" y="1444752"/>
            <a:ext cx="1984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E552E"/>
                </a:solidFill>
              </a:rPr>
              <a:t>Cold Brew Stubby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41448" y="1719072"/>
            <a:ext cx="1984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Original glass bottle 10.5oz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41448" y="2029968"/>
            <a:ext cx="1984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E552E"/>
                </a:solidFill>
              </a:rPr>
              <a:t>$4.50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86584" y="2377440"/>
            <a:ext cx="207568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41448" y="2414016"/>
            <a:ext cx="1984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E552E"/>
                </a:solidFill>
              </a:rPr>
              <a:t>Cold Brew + Milk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41448" y="2688336"/>
            <a:ext cx="1984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Sweetened latte variant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41448" y="2999232"/>
            <a:ext cx="1984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E552E"/>
                </a:solidFill>
              </a:rPr>
              <a:t>$4.50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386584" y="3346704"/>
            <a:ext cx="207568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441448" y="3383280"/>
            <a:ext cx="1984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E552E"/>
                </a:solidFill>
              </a:rPr>
              <a:t>Cold Brew Concentrate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41448" y="3657600"/>
            <a:ext cx="1984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32oz bottle dilute 1:1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41448" y="3968496"/>
            <a:ext cx="1984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E552E"/>
                </a:solidFill>
              </a:rPr>
              <a:t>$14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386584" y="4315968"/>
            <a:ext cx="207568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441448" y="4352544"/>
            <a:ext cx="1984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E552E"/>
                </a:solidFill>
              </a:rPr>
              <a:t>Nitro Cold Brew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441448" y="4626864"/>
            <a:ext cx="1984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11oz can RTD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41448" y="4937760"/>
            <a:ext cx="1984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E552E"/>
                </a:solidFill>
              </a:rPr>
              <a:t>$4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0" y="1051560"/>
            <a:ext cx="2185416" cy="395020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72000" y="1051560"/>
            <a:ext cx="2185416" cy="292608"/>
          </a:xfrm>
          <a:prstGeom prst="rect">
            <a:avLst/>
          </a:prstGeom>
          <a:solidFill>
            <a:srgbClr val="1F4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4515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SUBSCRIPTIONS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26864" y="1408176"/>
            <a:ext cx="207568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81728" y="1444752"/>
            <a:ext cx="1984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4A1F"/>
                </a:solidFill>
              </a:rPr>
              <a:t>Whole Bean Monthly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81728" y="1719072"/>
            <a:ext cx="1984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12oz bag fresh roasted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81728" y="2029968"/>
            <a:ext cx="1984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F4A1F"/>
                </a:solidFill>
              </a:rPr>
              <a:t>$22-28/month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626864" y="2377440"/>
            <a:ext cx="207568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681728" y="2414016"/>
            <a:ext cx="1984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4A1F"/>
                </a:solidFill>
              </a:rPr>
              <a:t>Espresso Kit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81728" y="2688336"/>
            <a:ext cx="1984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Beans + brewing guide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681728" y="2999232"/>
            <a:ext cx="1984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F4A1F"/>
                </a:solidFill>
              </a:rPr>
              <a:t>$35/month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626864" y="3346704"/>
            <a:ext cx="207568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681728" y="3383280"/>
            <a:ext cx="1984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4A1F"/>
                </a:solidFill>
              </a:rPr>
              <a:t>Cold Brew Club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81728" y="3657600"/>
            <a:ext cx="1984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4-pack monthly delivery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681728" y="3968496"/>
            <a:ext cx="1984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F4A1F"/>
                </a:solidFill>
              </a:rPr>
              <a:t>$18/month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626864" y="4315968"/>
            <a:ext cx="207568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681728" y="4352544"/>
            <a:ext cx="1984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4A1F"/>
                </a:solidFill>
              </a:rPr>
              <a:t>Origin Series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681728" y="4626864"/>
            <a:ext cx="1984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Rotating single-origins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681728" y="4937760"/>
            <a:ext cx="1984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F4A1F"/>
                </a:solidFill>
              </a:rPr>
              <a:t>$26/month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812280" y="1051560"/>
            <a:ext cx="2185416" cy="3950208"/>
          </a:xfrm>
          <a:prstGeom prst="rect">
            <a:avLst/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812280" y="1051560"/>
            <a:ext cx="2185416" cy="292608"/>
          </a:xfrm>
          <a:prstGeom prst="rect">
            <a:avLst/>
          </a:prstGeom>
          <a:solidFill>
            <a:srgbClr val="C06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88543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ACCESSORIES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867144" y="1408176"/>
            <a:ext cx="207568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922008" y="1444752"/>
            <a:ext cx="1984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06A18"/>
                </a:solidFill>
              </a:rPr>
              <a:t>Tote Bags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922008" y="1719072"/>
            <a:ext cx="1984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Branded canvas high demand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922008" y="2029968"/>
            <a:ext cx="1984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06A18"/>
                </a:solidFill>
              </a:rPr>
              <a:t>$28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867144" y="2377440"/>
            <a:ext cx="207568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922008" y="2414016"/>
            <a:ext cx="1984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06A18"/>
                </a:solidFill>
              </a:rPr>
              <a:t>Brewing Kits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922008" y="2688336"/>
            <a:ext cx="1984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Chemex + filters + beans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922008" y="2999232"/>
            <a:ext cx="1984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06A18"/>
                </a:solidFill>
              </a:rPr>
              <a:t>$75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867144" y="3346704"/>
            <a:ext cx="207568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922008" y="3383280"/>
            <a:ext cx="1984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06A18"/>
                </a:solidFill>
              </a:rPr>
              <a:t>Gift Boxes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922008" y="3657600"/>
            <a:ext cx="1984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Holiday + birthday sets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922008" y="3968496"/>
            <a:ext cx="1984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06A18"/>
                </a:solidFill>
              </a:rPr>
              <a:t>$45-85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867144" y="4315968"/>
            <a:ext cx="207568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922008" y="4352544"/>
            <a:ext cx="1984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06A18"/>
                </a:solidFill>
              </a:rPr>
              <a:t>Branded Mugs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922008" y="4626864"/>
            <a:ext cx="1984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Portland-made ceramics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922008" y="4937760"/>
            <a:ext cx="1984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06A18"/>
                </a:solidFill>
              </a:rPr>
              <a:t>$24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Ativações &amp; Marketing — Stumptown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9494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DDCC"/>
                </a:solidFill>
              </a:rPr>
              <a:t>Packaging iconográfico · Cold Brew pioneirismo · Portland authenticity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1051560"/>
            <a:ext cx="2185416" cy="3950208"/>
          </a:xfrm>
          <a:prstGeom prst="rect">
            <a:avLst/>
          </a:prstGeom>
          <a:solidFill>
            <a:srgbClr val="D4E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" y="1051560"/>
            <a:ext cx="2185416" cy="274320"/>
          </a:xfrm>
          <a:prstGeom prst="rect">
            <a:avLst/>
          </a:prstGeom>
          <a:solidFill>
            <a:srgbClr val="2E5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STUBBY BOTTLE LAUNCH (2011)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" y="1380743"/>
            <a:ext cx="2130552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Glass bottle design = categoria nova no retail de café</a:t>
            </a:r>
          </a:p>
          <a:p>
            <a:r>
              <a:rPr sz="850">
                <a:solidFill>
                  <a:srgbClr val="1A1A1A"/>
                </a:solidFill>
              </a:rPr>
              <a:t>•  Premium packaging em prateleira ao lado de plastic commodity</a:t>
            </a:r>
          </a:p>
          <a:p>
            <a:r>
              <a:rPr sz="850">
                <a:solidFill>
                  <a:srgbClr val="1A1A1A"/>
                </a:solidFill>
              </a:rPr>
              <a:t>•  Lançamento em Whole Foods first = validação de credibilidade</a:t>
            </a:r>
          </a:p>
          <a:p>
            <a:r>
              <a:rPr sz="850">
                <a:solidFill>
                  <a:srgbClr val="1A1A1A"/>
                </a:solidFill>
              </a:rPr>
              <a:t>•  De Whole Foods → Target → Kroger: halo premium se transferiu</a:t>
            </a:r>
          </a:p>
          <a:p>
            <a:r>
              <a:rPr sz="850">
                <a:solidFill>
                  <a:srgbClr val="1A1A1A"/>
                </a:solidFill>
              </a:rPr>
              <a:t>•  O Stubby virou objeto colecionável — série de designs sazonais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31720" y="1051560"/>
            <a:ext cx="2185416" cy="3950208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331720" y="1051560"/>
            <a:ext cx="2185416" cy="274320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0487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ACE HOTEL RESIDENCY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86584" y="1380743"/>
            <a:ext cx="2130552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Parceria com Ace Hotels desde 2009 — brand co-habitation</a:t>
            </a:r>
          </a:p>
          <a:p>
            <a:r>
              <a:rPr sz="850">
                <a:solidFill>
                  <a:srgbClr val="1A1A1A"/>
                </a:solidFill>
              </a:rPr>
              <a:t>•  Cada café no lobby de um Ace = editorial coverage automático</a:t>
            </a:r>
          </a:p>
          <a:p>
            <a:r>
              <a:rPr sz="850">
                <a:solidFill>
                  <a:srgbClr val="1A1A1A"/>
                </a:solidFill>
              </a:rPr>
              <a:t>•  Design integrado: mostradores, embalagens co-branded</a:t>
            </a:r>
          </a:p>
          <a:p>
            <a:r>
              <a:rPr sz="850">
                <a:solidFill>
                  <a:srgbClr val="1A1A1A"/>
                </a:solidFill>
              </a:rPr>
              <a:t>•  Audiência: design/creative class + travel tastemakers</a:t>
            </a:r>
          </a:p>
          <a:p>
            <a:r>
              <a:rPr sz="850">
                <a:solidFill>
                  <a:srgbClr val="1A1A1A"/>
                </a:solidFill>
              </a:rPr>
              <a:t>•  Stumptown + Ace = validação de 'indie cool' premium nacional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051560"/>
            <a:ext cx="2185416" cy="395020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0" y="1051560"/>
            <a:ext cx="2185416" cy="274320"/>
          </a:xfrm>
          <a:prstGeom prst="rect">
            <a:avLst/>
          </a:prstGeom>
          <a:solidFill>
            <a:srgbClr val="1F4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515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ORIGIN CONTENT &amp; TRANSPARENCY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6864" y="1380743"/>
            <a:ext cx="2130552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Origin trip content: Duane Sorenson vai à Etiópia em 2002, publica preços pagos</a:t>
            </a:r>
          </a:p>
          <a:p>
            <a:r>
              <a:rPr sz="850">
                <a:solidFill>
                  <a:srgbClr val="1A1A1A"/>
                </a:solidFill>
              </a:rPr>
              <a:t>•  'From Portland with Obsession' — blog + Instagram de origem</a:t>
            </a:r>
          </a:p>
          <a:p>
            <a:r>
              <a:rPr sz="850">
                <a:solidFill>
                  <a:srgbClr val="1A1A1A"/>
                </a:solidFill>
              </a:rPr>
              <a:t>•  Transparência de preços pagos por ano e por país — publicado anualmente</a:t>
            </a:r>
          </a:p>
          <a:p>
            <a:r>
              <a:rPr sz="850">
                <a:solidFill>
                  <a:srgbClr val="1A1A1A"/>
                </a:solidFill>
              </a:rPr>
              <a:t>•  Barista competitions: patrocínio de competições regionais do US West Coast</a:t>
            </a:r>
          </a:p>
          <a:p>
            <a:r>
              <a:rPr sz="850">
                <a:solidFill>
                  <a:srgbClr val="1A1A1A"/>
                </a:solidFill>
              </a:rPr>
              <a:t>•  Zine 'Hairbender': publicação annual sobre a história do blend e atualizações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12280" y="1051560"/>
            <a:ext cx="2185416" cy="3950208"/>
          </a:xfrm>
          <a:prstGeom prst="rect">
            <a:avLst/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12280" y="1051560"/>
            <a:ext cx="2185416" cy="274320"/>
          </a:xfrm>
          <a:prstGeom prst="rect">
            <a:avLst/>
          </a:prstGeom>
          <a:solidFill>
            <a:srgbClr val="C06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8543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RETAIL EXPANSION STRATEGY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67144" y="1380743"/>
            <a:ext cx="2130552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Whole Foods first: prova de qualidade → Target: prova de escala</a:t>
            </a:r>
          </a:p>
          <a:p>
            <a:r>
              <a:rPr sz="850">
                <a:solidFill>
                  <a:srgbClr val="1A1A1A"/>
                </a:solidFill>
              </a:rPr>
              <a:t>•  Cold Brew como produto de entrada — não bags de café (mais commodity)</a:t>
            </a:r>
          </a:p>
          <a:p>
            <a:r>
              <a:rPr sz="850">
                <a:solidFill>
                  <a:srgbClr val="1A1A1A"/>
                </a:solidFill>
              </a:rPr>
              <a:t>•  Sem compromisso em preço: $4.50/10.5oz quando concorrentes em $2</a:t>
            </a:r>
          </a:p>
          <a:p>
            <a:r>
              <a:rPr sz="850">
                <a:solidFill>
                  <a:srgbClr val="1A1A1A"/>
                </a:solidFill>
              </a:rPr>
              <a:t>•  Shelf placement: seção de specialty, não corredor principal</a:t>
            </a:r>
          </a:p>
          <a:p>
            <a:r>
              <a:rPr sz="850">
                <a:solidFill>
                  <a:srgbClr val="1A1A1A"/>
                </a:solidFill>
              </a:rPr>
              <a:t>•  Packaging consistente: mesmo design de boutique no supermercado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Scorecard — Métricas &amp; Indicadores Chave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" y="1051560"/>
            <a:ext cx="2185416" cy="3950208"/>
          </a:xfrm>
          <a:prstGeom prst="rect">
            <a:avLst/>
          </a:prstGeom>
          <a:solidFill>
            <a:srgbClr val="D4E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" y="1051560"/>
            <a:ext cx="2185416" cy="256032"/>
          </a:xfrm>
          <a:prstGeom prst="rect">
            <a:avLst/>
          </a:prstGeom>
          <a:solidFill>
            <a:srgbClr val="2E5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" y="1069848"/>
            <a:ext cx="21122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FINANCEIRO</a:t>
            </a:r>
          </a:p>
        </p:txBody>
      </p:sp>
      <p:sp>
        <p:nvSpPr>
          <p:cNvPr id="8" name="Rectangle 7"/>
          <p:cNvSpPr/>
          <p:nvPr/>
        </p:nvSpPr>
        <p:spPr>
          <a:xfrm>
            <a:off x="146304" y="1371600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1426464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2E552E"/>
                </a:solidFill>
              </a:rPr>
              <a:t>Receita est.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1810512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~$65M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2048256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Peet's/JAB ecosystem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" y="2359152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" y="2414016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2E552E"/>
                </a:solidFill>
              </a:rPr>
              <a:t>Cold Brew RTD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" y="2798064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~40%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" y="3035808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Maior driver crescimento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6304" y="3346704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" y="3401568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2E552E"/>
                </a:solidFill>
              </a:rPr>
              <a:t>Cold Brew Stubby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" y="3785616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$4.50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" y="4023360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2.5× preço médio categoria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6304" y="4334256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2880" y="4389120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2E552E"/>
                </a:solidFill>
              </a:rPr>
              <a:t>Valuation 2015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" y="4773168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$100M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" y="5010912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Peet's acquisition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31720" y="1051560"/>
            <a:ext cx="2185416" cy="3950208"/>
          </a:xfrm>
          <a:prstGeom prst="rect">
            <a:avLst/>
          </a:prstGeom>
          <a:solidFill>
            <a:srgbClr val="D4E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31720" y="1051560"/>
            <a:ext cx="2185416" cy="256032"/>
          </a:xfrm>
          <a:prstGeom prst="rect">
            <a:avLst/>
          </a:prstGeom>
          <a:solidFill>
            <a:srgbClr val="2E5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04872" y="1069848"/>
            <a:ext cx="21122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CANAL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86584" y="1371600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23160" y="1426464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2E552E"/>
                </a:solidFill>
              </a:rPr>
              <a:t>Contas wholesale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23160" y="1810512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500+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23160" y="2048256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Cafés independentes B2B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86584" y="2359152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423160" y="2414016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2E552E"/>
                </a:solidFill>
              </a:rPr>
              <a:t>Pontos retail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23160" y="2798064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10K+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23160" y="3035808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Target, WF, Kroger, Amazon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386584" y="3346704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423160" y="3401568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2E552E"/>
                </a:solidFill>
              </a:rPr>
              <a:t>Cafés próprios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23160" y="3785616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23160" y="4023360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Portland, NYC, LA, Seattle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386584" y="4334256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423160" y="4389120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2E552E"/>
                </a:solidFill>
              </a:rPr>
              <a:t>Residency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23160" y="4773168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Ace Hotels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423160" y="5010912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Multi-city brand temples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0" y="1051560"/>
            <a:ext cx="2185416" cy="3950208"/>
          </a:xfrm>
          <a:prstGeom prst="rect">
            <a:avLst/>
          </a:prstGeom>
          <a:solidFill>
            <a:srgbClr val="D4E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0" y="1051560"/>
            <a:ext cx="2185416" cy="256032"/>
          </a:xfrm>
          <a:prstGeom prst="rect">
            <a:avLst/>
          </a:prstGeom>
          <a:solidFill>
            <a:srgbClr val="2E5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645152" y="1069848"/>
            <a:ext cx="21122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PRODUTO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26864" y="1371600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663440" y="1426464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2E552E"/>
                </a:solidFill>
              </a:rPr>
              <a:t>Flagship blend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63440" y="1810512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Hair Bender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63440" y="2048256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Referência specialty EUA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26864" y="2359152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663440" y="2414016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2E552E"/>
                </a:solidFill>
              </a:rPr>
              <a:t>Cold Brew launch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663440" y="2798064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2011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63440" y="3035808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Pioneer RTD retail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26864" y="3346704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663440" y="3401568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2E552E"/>
                </a:solidFill>
              </a:rPr>
              <a:t>Whole bean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63440" y="3785616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$18/12oz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63440" y="4023360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2.5× commodity premium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626864" y="4334256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663440" y="4389120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2E552E"/>
                </a:solidFill>
              </a:rPr>
              <a:t>Iconic design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63440" y="4773168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Stubby Bottle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663440" y="5010912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Packaging como brand asset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812280" y="1051560"/>
            <a:ext cx="2185416" cy="3950208"/>
          </a:xfrm>
          <a:prstGeom prst="rect">
            <a:avLst/>
          </a:prstGeom>
          <a:solidFill>
            <a:srgbClr val="D4E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812280" y="1051560"/>
            <a:ext cx="2185416" cy="256032"/>
          </a:xfrm>
          <a:prstGeom prst="rect">
            <a:avLst/>
          </a:prstGeom>
          <a:solidFill>
            <a:srgbClr val="2E5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885432" y="1069848"/>
            <a:ext cx="21122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BRAND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867144" y="1371600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903720" y="1426464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2E552E"/>
                </a:solidFill>
              </a:rPr>
              <a:t>Provenance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903720" y="1810512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Portland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903720" y="2048256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Indie credibility source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867144" y="2359152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903720" y="2414016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2E552E"/>
                </a:solidFill>
              </a:rPr>
              <a:t>Direct Trade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903720" y="2798064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2002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903720" y="3035808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Pioneer de transparência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867144" y="3346704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903720" y="3401568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2E552E"/>
                </a:solidFill>
              </a:rPr>
              <a:t>Retail reach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903720" y="3785616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Target+WF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903720" y="4023360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Credibilidade transferida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867144" y="4334256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903720" y="4389120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2E552E"/>
                </a:solidFill>
              </a:rPr>
              <a:t>Post-JAB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903720" y="4773168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Indie soul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903720" y="5010912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Independência preservada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Lições para a Orfeu — Stumptown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" y="1051560"/>
            <a:ext cx="8961120" cy="365760"/>
          </a:xfrm>
          <a:prstGeom prst="rect">
            <a:avLst/>
          </a:prstGeom>
          <a:solidFill>
            <a:srgbClr val="2E5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" y="1088136"/>
            <a:ext cx="8732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1">
                <a:solidFill>
                  <a:srgbClr val="FFFFFF"/>
                </a:solidFill>
              </a:rPr>
              <a:t>ÂNGULO: Transitioning Wholesale/Café Credibility to Retail Grocery Shelves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" y="1499616"/>
            <a:ext cx="4389120" cy="1645920"/>
          </a:xfrm>
          <a:prstGeom prst="rect">
            <a:avLst/>
          </a:prstGeom>
          <a:solidFill>
            <a:srgbClr val="D4E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" y="1499616"/>
            <a:ext cx="4389120" cy="256032"/>
          </a:xfrm>
          <a:prstGeom prst="rect">
            <a:avLst/>
          </a:prstGeom>
          <a:solidFill>
            <a:srgbClr val="2E5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1517904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Cold Brew como Veículo de Retail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1810512"/>
            <a:ext cx="420624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Stumptown entrou no varejo via Cold Brew RTD — não via café moído que competia com commodity. Orfeu deve usar Cold Brew como produto de entrada em supermercados premium — diferente o suficiente para não ser comparado por preço.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17720" y="1499616"/>
            <a:ext cx="4389120" cy="1645920"/>
          </a:xfrm>
          <a:prstGeom prst="rect">
            <a:avLst/>
          </a:prstGeom>
          <a:solidFill>
            <a:srgbClr val="D4E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17720" y="1499616"/>
            <a:ext cx="4389120" cy="256032"/>
          </a:xfrm>
          <a:prstGeom prst="rect">
            <a:avLst/>
          </a:prstGeom>
          <a:solidFill>
            <a:srgbClr val="2E5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59" y="1517904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Packaging como Brand Statement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59" y="1810512"/>
            <a:ext cx="420624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O Stubby virou objeto colecionável. Orfeu precisa de um packaging de Cold Brew / RTD tão distintivo que seja reconhecível em 2 segundos. Design não é custo — é defensabilidade de prateleira.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" y="3255263"/>
            <a:ext cx="4389120" cy="1645920"/>
          </a:xfrm>
          <a:prstGeom prst="rect">
            <a:avLst/>
          </a:prstGeom>
          <a:solidFill>
            <a:srgbClr val="D4E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" y="3255263"/>
            <a:ext cx="4389120" cy="256032"/>
          </a:xfrm>
          <a:prstGeom prst="rect">
            <a:avLst/>
          </a:prstGeom>
          <a:solidFill>
            <a:srgbClr val="2E5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" y="3273551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Halo Premium se Transfere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" y="3566159"/>
            <a:ext cx="420624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Whole Foods first, Target depois — o halo de credibilidade acompanha o produto. Orfeu pode usar parceiros premium (mercadinhos gourmet, hotéis boutique) para validar antes de ir para varejistas de volume.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17720" y="3255263"/>
            <a:ext cx="4389120" cy="1645920"/>
          </a:xfrm>
          <a:prstGeom prst="rect">
            <a:avLst/>
          </a:prstGeom>
          <a:solidFill>
            <a:srgbClr val="D4ED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17720" y="3255263"/>
            <a:ext cx="4389120" cy="256032"/>
          </a:xfrm>
          <a:prstGeom prst="rect">
            <a:avLst/>
          </a:prstGeom>
          <a:solidFill>
            <a:srgbClr val="2E5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9159" y="3273551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Wholesale Cafés como Prova Social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59" y="3566159"/>
            <a:ext cx="420624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500+ cafés servindo Stumptown = endorsement de qualidade que nenhuma campanha paga compra. Cada parceiro B2B da Orfeu que coloca 'Servindo Orfeu' no balcão é um outdoor premium no bairro mais relevante.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Fontes &amp; Referências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" y="1078992"/>
            <a:ext cx="88696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555555"/>
                </a:solidFill>
              </a:rPr>
              <a:t>1.  Stumptown Coffee Roasters — stumptowncoffee.com</a:t>
            </a:r>
          </a:p>
          <a:p>
            <a:r>
              <a:rPr sz="850">
                <a:solidFill>
                  <a:srgbClr val="555555"/>
                </a:solidFill>
              </a:rPr>
              <a:t>2.  Duane Sorenson profile — Portland Monthly, 2010</a:t>
            </a:r>
          </a:p>
          <a:p>
            <a:r>
              <a:rPr sz="850">
                <a:solidFill>
                  <a:srgbClr val="555555"/>
                </a:solidFill>
              </a:rPr>
              <a:t>3.  Peet's Coffee acquires Stumptown — Wall Street Journal, October 2015</a:t>
            </a:r>
          </a:p>
          <a:p>
            <a:r>
              <a:rPr sz="850">
                <a:solidFill>
                  <a:srgbClr val="555555"/>
                </a:solidFill>
              </a:rPr>
              <a:t>4.  Cold Brew Stubby launch coverage — Bon Appétit, 2011</a:t>
            </a:r>
          </a:p>
          <a:p>
            <a:r>
              <a:rPr sz="850">
                <a:solidFill>
                  <a:srgbClr val="555555"/>
                </a:solidFill>
              </a:rPr>
              <a:t>5.  Stumptown at Ace Hotel — acemehotels.com/coffee</a:t>
            </a:r>
          </a:p>
          <a:p>
            <a:r>
              <a:rPr sz="850">
                <a:solidFill>
                  <a:srgbClr val="555555"/>
                </a:solidFill>
              </a:rPr>
              <a:t>6.  Direct trade transparency reports — stumptowncoffee.com/coffee</a:t>
            </a:r>
          </a:p>
          <a:p>
            <a:r>
              <a:rPr sz="850">
                <a:solidFill>
                  <a:srgbClr val="555555"/>
                </a:solidFill>
              </a:rPr>
              <a:t>7.  JAB Holding coffee portfolio strategy — Reuters, 2018</a:t>
            </a:r>
          </a:p>
          <a:p>
            <a:r>
              <a:rPr sz="850">
                <a:solidFill>
                  <a:srgbClr val="555555"/>
                </a:solidFill>
              </a:rPr>
              <a:t>8.  Target cold brew expansion — Progressive Grocer, 2017</a:t>
            </a:r>
          </a:p>
          <a:p>
            <a:r>
              <a:rPr sz="850">
                <a:solidFill>
                  <a:srgbClr val="555555"/>
                </a:solidFill>
              </a:rPr>
              <a:t>9.  Hair Bender blend history — coffeegeek.com</a:t>
            </a:r>
          </a:p>
          <a:p>
            <a:r>
              <a:rPr sz="850">
                <a:solidFill>
                  <a:srgbClr val="555555"/>
                </a:solidFill>
              </a:rPr>
              <a:t>10.  Stumptown wholesale program — stumptowncoffee.com/wholesale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