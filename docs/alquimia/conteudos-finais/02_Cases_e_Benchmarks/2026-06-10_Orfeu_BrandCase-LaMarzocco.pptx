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737360"/>
            <a:ext cx="8449056" cy="548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901952"/>
            <a:ext cx="8449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LA MARZOCCO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76148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CC"/>
                </a:solidFill>
              </a:rPr>
              <a:t>Florença, Itália · 1927 · Máquinas de espresso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200400"/>
            <a:ext cx="8449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</a:rPr>
              <a:t>Ângulo Estratégico: Como uma marca de equipamento construiu brand equity via comunidade barista — e o que isso significa para a Orfeu nos EUA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Heritage &amp;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Arquitetura Financeira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48256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Brand DNA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523744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Positioning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999232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Distribuição &amp; 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474720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Portfólio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097280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Expansão nos EUA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572768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Marketing &amp; Ativações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048256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Digital &amp; Social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523744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Sustentabilidade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999232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62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Scorecard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474720"/>
            <a:ext cx="256032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Lições para a Orfeu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Heritage &amp; Milestones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Marcos estruturais e pivôs estratégicos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8449056" cy="457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1927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Fundação
Florença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Irmãos Giuseppe e Bruno Bambi fundam La Marzocco em Florença. Nome vem do leão heráldico de Florença — símbolo de força e artesanato.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9616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1939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Primeira
horizontal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Primeira máquina de espresso com caldeira horizontal e grupo de infusão separado. Inovação técnica que define a qualidade La Marzocco até hoje.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3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3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1970s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Linea
Clássica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Linea se torna a máquina padrão do café profissional na Itália e Europa. Adotada por cafés de referência como padrão de qualidade técnica.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7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1994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5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Entrada
EUA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5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Parceria com Espresso Specialists Inc. para distribuição nos EUA. Timing perfeito: coincide com o início do movimento specialty americano (Starbucks IPO 1992).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5776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2000s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Specialty
Movement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1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 Marzocco se torna a máquina de escolha de todos os grandes torrefadores americanos: Stumptown, Intelligentsia, Blue Bottle, Counter Culture. Credencial via associação.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2014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Aquisição
ByF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Aquisição pelo grupo Rhino Coffee Gear (depois rebrandado). Investimento em escalabilidade mantendo artesanalidade florentina.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24927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33488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5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3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La Marzocco
Home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3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Lançamento da linha residencial: Linea Mini. Expansão do canal B2C premium. Máquinas de US$2.000–5.000 para entusiastas domésticos.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58784" y="914400"/>
            <a:ext cx="3657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67344" y="1078992"/>
            <a:ext cx="219456" cy="2194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064"/>
                </a:solidFill>
              </a:rPr>
              <a:t>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Global
Barista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Patrocínio do World Barista Championship consolida posição como A máquina de competição. Equity de palco transferida para equity de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Arquitetura Financeira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Arquitetura financeira e estrutura de receitas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514600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111556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078992"/>
            <a:ext cx="1325880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6" y="1078992"/>
            <a:ext cx="1325880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1264" y="1078992"/>
            <a:ext cx="1325880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7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1078992"/>
            <a:ext cx="1600200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1155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26464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44475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Receita estimada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~$120M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6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~$140M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7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~$160M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1426464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6016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Estimativa mercado (privado)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737360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Máquinas vendidas/ano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~15.000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1376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~17.000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41264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7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~18.500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1737360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17556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Estimativa trade press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048256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206654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Preço médio B2B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~$8.000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1376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~$9.000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41264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96127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~$9.500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1152" y="2048256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6016" y="2066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Dealer network pricing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359152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" y="2377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Linha Home (Linea Mini)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51376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41264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7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2" y="2359152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86016" y="23774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% receita estimada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670048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" y="26883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Mercado EUA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61488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16352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51376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1264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96127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2670048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86016" y="26883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Principal mercado externo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3090672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Notas Financeiras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3291840"/>
            <a:ext cx="8961120" cy="109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2880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 Marzocco é empresa privada — dados financeiros são estimativas de analistas de mercado e trade press especializada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95728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87168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Margem bruta estimada em 60–70%: produto premium de alta engenharia e produção artesanal limitada em Florença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08576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00016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EUA representa ~35–40% da receita global. Seattle, NYC, SF, LA são os maiores mercados americanos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21424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Linea Mini (residencial, US$2.000–2.500) foi o produto de maior crescimento 2016–2024 — democratização controlada do brand premium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Identidade, valores e pilares estratégicos — La Marzocco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4297680" cy="296265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33856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08176"/>
            <a:ext cx="4078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Fabricar as máquinas de espresso mais precisas e confiáveis do mundo, para que os melhores baristas possam expressar sua arte sem limitações técnicas.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88366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21408"/>
            <a:ext cx="407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Ser o padrão técnico e cultural de excelência na preparação de espresso globalmente, da competição ao 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2374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4320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"The Standard"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054096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HERITAGE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273552"/>
            <a:ext cx="4078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Fundada em 1927 na cidade que inventou o Renascimento, La Marzocco carrega o DNA do artesanato florentino: cada máquina é montada à mão, testada individualmente e projetada para durar décadas — não anos.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078992"/>
            <a:ext cx="4297680" cy="23774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097280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PERSONALIDADE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Artesanal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1424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Precisa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Duradoura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Técnica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Icônica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Barista-first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651760"/>
            <a:ext cx="4297680" cy="23774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670048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PILARES ESTRATÉGICOS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064"/>
                </a:solidFill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Engineering
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9552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064"/>
                </a:solidFill>
              </a:rP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Competition
Credential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064"/>
                </a:solidFill>
              </a:rPr>
              <a:t>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From Pro
to Home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064"/>
                </a:solidFill>
              </a:rPr>
              <a:t>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4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Barista
Community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01583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9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064"/>
                </a:solidFill>
              </a:rPr>
              <a:t>🇮🇹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Italian
Heritage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Estrutura de posicionamento — La Marzocco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La Marzocco é a máquina de espresso que os melhores baristas do mundo escolhem quando o resultado é o que importa — o instrumento de referência que define o que um espresso pode 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The machine that champions use: se você está em cima de um palco num campeonato mundial de barismo, você está sobre uma La Marzocco.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Caldeira dupla com controle de temperatura independente; pressostatos de precisão; construção em aço inoxidável de grau profissional; design sem compromisso com a durabilidade.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81635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Orgulho profissional; confiança técnica absoluta; pertencer à comunidade de baristas de elite; saber que o equipamento nunca é a limitação.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81635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RTBs — RAZÕES PARA ACREDITAR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Máquina oficial do World Barista Championship há 20+ anos; utilizada por 80%+ das top 50 specialty cafés nos EUA; Linea é o design mais copiado do mercado.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816352"/>
            <a:ext cx="2852928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Excelência técnica; herança artesanal; barista-first; precisão sem concessão; longevidade.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Estratégia Ho.Re.Ca. &amp; Fora do 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Out-of-home e canais B2B — La Marzocco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La Marzocco opera em um modelo B2B de alta especialização: o cliente primário é o café specialty independente, não o franqueado ou o mass-market. Isso define toda a estratégia de distribuição.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81328"/>
            <a:ext cx="8961120" cy="109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554480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SPECIALTY CAFÉS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Máquinas Linea, GB5, Strada como padrão</a:t>
            </a:r>
          </a:p>
          <a:p>
            <a:r>
              <a:rPr sz="800">
                <a:solidFill>
                  <a:srgbClr val="1A1A1A"/>
                </a:solidFill>
              </a:rPr>
              <a:t>•  Contratos de manutenção preventiva incluídos</a:t>
            </a:r>
          </a:p>
          <a:p>
            <a:r>
              <a:rPr sz="800">
                <a:solidFill>
                  <a:srgbClr val="1A1A1A"/>
                </a:solidFill>
              </a:rPr>
              <a:t>•  Barista training programs nas instalações</a:t>
            </a:r>
          </a:p>
          <a:p>
            <a:r>
              <a:rPr sz="800">
                <a:solidFill>
                  <a:srgbClr val="1A1A1A"/>
                </a:solidFill>
              </a:rPr>
              <a:t>•  Upgrade program para fidelização de longo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554480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COMPETIÇÃO
WBC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Máquina oficial WBC há 20+ anos</a:t>
            </a:r>
          </a:p>
          <a:p>
            <a:r>
              <a:rPr sz="800">
                <a:solidFill>
                  <a:srgbClr val="1A1A1A"/>
                </a:solidFill>
              </a:rPr>
              <a:t>•  Customização especial para estação de competição</a:t>
            </a:r>
          </a:p>
          <a:p>
            <a:r>
              <a:rPr sz="800">
                <a:solidFill>
                  <a:srgbClr val="1A1A1A"/>
                </a:solidFill>
              </a:rPr>
              <a:t>•  Treinamento de competidores nas instalações de Seattle</a:t>
            </a:r>
          </a:p>
          <a:p>
            <a:r>
              <a:rPr sz="800">
                <a:solidFill>
                  <a:srgbClr val="1A1A1A"/>
                </a:solidFill>
              </a:rPr>
              <a:t>•  Branding nos palcos de 50+ eventos anuais globais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1554480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LA MARZOCCO
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Preço: US$2.000–5.000 por máquina</a:t>
            </a:r>
          </a:p>
          <a:p>
            <a:r>
              <a:rPr sz="800">
                <a:solidFill>
                  <a:srgbClr val="1A1A1A"/>
                </a:solidFill>
              </a:rPr>
              <a:t>•  Dealer premium: Williams-Sonoma, Sur La Table</a:t>
            </a:r>
          </a:p>
          <a:p>
            <a:r>
              <a:rPr sz="800">
                <a:solidFill>
                  <a:srgbClr val="1A1A1A"/>
                </a:solidFill>
              </a:rPr>
              <a:t>•  DTC via lamarzoccohome.com</a:t>
            </a:r>
          </a:p>
          <a:p>
            <a:r>
              <a:rPr sz="800">
                <a:solidFill>
                  <a:srgbClr val="1A1A1A"/>
                </a:solidFill>
              </a:rPr>
              <a:t>•  Comunidade de home baristas com 50K+ membros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1696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1696" y="1554480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BARISTA
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Free barista trainings semanais em Seattle</a:t>
            </a:r>
          </a:p>
          <a:p>
            <a:r>
              <a:rPr sz="800">
                <a:solidFill>
                  <a:srgbClr val="1A1A1A"/>
                </a:solidFill>
              </a:rPr>
              <a:t>•  Partnership com specialty roasters locais</a:t>
            </a:r>
          </a:p>
          <a:p>
            <a:r>
              <a:rPr sz="800">
                <a:solidFill>
                  <a:srgbClr val="1A1A1A"/>
                </a:solidFill>
              </a:rPr>
              <a:t>•  Showcase de novos equipamentos para compradores</a:t>
            </a:r>
          </a:p>
          <a:p>
            <a:r>
              <a:rPr sz="800">
                <a:solidFill>
                  <a:srgbClr val="1A1A1A"/>
                </a:solidFill>
              </a:rPr>
              <a:t>•  Comunidade de profissionais como canal de 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Nota: La Marzocco não tem representantes de vendas tradicionais — o barista que usa a máquina é o melhor vendedor. Community building é o canal de distribuição mais eficaz.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Portfólio de Produtos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Portfólio de produtos e linhas estratégicas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3969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39696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LINHA PRO — CAFÉS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Linea PB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 mais vendida. Grupo de infusão duplo, caldeira separada, interface digital. Padrão da industria specialty.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US$7.500–9.000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GB5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Para alto volume: 3–4 grupos, perfeita para bares e restaurantes premium. Controle de temperatura por grupo.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US$18.000–22.000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Strada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Máquina de competição: pressure profiling manual, display de pressão, customização total para expertise máxima.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US$24.000–28.000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078992"/>
            <a:ext cx="213969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1078992"/>
            <a:ext cx="2139696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LINHA HOME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230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Linea 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Versão doméstica da Linea profissional. Mesmo DNA técnico em formato compacto. Best-seller residencial.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US$2.300–2.500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230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GS3 AV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Semi-profissional para home baristas avançados: controle de pré-infusão, dual boiler, app conectado.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US$4.500–5.200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3230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716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Leva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Máquina de alavanca manual — para o barista que quer controle total e experiência ritualística de extração.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US$1.800–2.200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78992"/>
            <a:ext cx="213969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78992"/>
            <a:ext cx="2139696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MOEDORES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Lux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Moedor de discos planos premium, integração direta com Linea. Dosagem por peso automática.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US$2.200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Lux D Mini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Versão compacta para home. Design coordenado com Linea Mini. Launched 2022.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US$1.100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Swift Mini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Moedor de alta velocidade para alto volume — cafés com pico de demanda. Automação total.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US$3.800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59" y="1078992"/>
            <a:ext cx="213969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66559" y="1078992"/>
            <a:ext cx="2139696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SERVIÇOS &amp; PARTES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21423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La Marzocco 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Plano de manutenção preventiva anual: visita técnica, substituição de peças críticas, prioridade de suporte.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628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~US$600/ano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21423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7628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Rebuild Program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7628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Remanufatura completa de máquinas antigas — sustentabilidade + fidelização. Máquina sai como nova.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~US$2.000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1423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7628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Barista Training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Treinamento presencial em Seattle Café &amp; Showroom. Certificação La Marzocco Professional.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628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Free / por evento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Marketing &amp; Ativações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Campanhas e ativações de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40233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WORLD BARISTA
CHAMPIONSHIP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064"/>
                </a:solidFill>
              </a:rPr>
              <a:t>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Patrocinador oficial + fornecedor de máquinas do WBC</a:t>
            </a:r>
          </a:p>
          <a:p>
            <a:r>
              <a:rPr sz="750">
                <a:solidFill>
                  <a:srgbClr val="1A1A1A"/>
                </a:solidFill>
              </a:rPr>
              <a:t>•  Visibilidade em palco para os melhores baristas globais</a:t>
            </a:r>
          </a:p>
          <a:p>
            <a:r>
              <a:rPr sz="750">
                <a:solidFill>
                  <a:srgbClr val="1A1A1A"/>
                </a:solidFill>
              </a:rPr>
              <a:t>•  Máquinas customizadas para a estação de competição (collector's item)</a:t>
            </a:r>
          </a:p>
          <a:p>
            <a:r>
              <a:rPr sz="750">
                <a:solidFill>
                  <a:srgbClr val="1A1A1A"/>
                </a:solidFill>
              </a:rPr>
              <a:t>•  Cada campeão mundial de barismo é uma La Marzocco — equity de resultado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4279392"/>
            <a:ext cx="2121408" cy="4754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Brand recall de 95%+ entre baristas profissionais globalmente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078992"/>
            <a:ext cx="2121408" cy="40233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LA MARZOCCO CAFÉ
SEATTLE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064"/>
                </a:solidFill>
              </a:rPr>
              <a:t>Desde 2015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Loja-conceito em Seattle com rotating coffee program (torrefador diferente a cada mês)</a:t>
            </a:r>
          </a:p>
          <a:p>
            <a:r>
              <a:rPr sz="750">
                <a:solidFill>
                  <a:srgbClr val="1A1A1A"/>
                </a:solidFill>
              </a:rPr>
              <a:t>•  Barista trainings gratuitos toda semana — open para profissionais e entusiastas</a:t>
            </a:r>
          </a:p>
          <a:p>
            <a:r>
              <a:rPr sz="750">
                <a:solidFill>
                  <a:srgbClr val="1A1A1A"/>
                </a:solidFill>
              </a:rPr>
              <a:t>•  Showroom de máquinas para dealers e compradores institucionais</a:t>
            </a:r>
          </a:p>
          <a:p>
            <a:r>
              <a:rPr sz="750">
                <a:solidFill>
                  <a:srgbClr val="1A1A1A"/>
                </a:solidFill>
              </a:rPr>
              <a:t>•  Gera ~500K visitantes anuais e cobre o custo operacional com vendas e cursos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4279392"/>
            <a:ext cx="2121408" cy="4754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Referência global como modelo de barista community 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35424" y="1078992"/>
            <a:ext cx="2121408" cy="40233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INSTAGRAM &amp;
PHOTOGRAPHY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064"/>
                </a:solidFill>
              </a:rPr>
              <a:t>Contínuo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Estética visual consistente: aço escovado, espresso dourado, mãos de barista</a:t>
            </a:r>
          </a:p>
          <a:p>
            <a:r>
              <a:rPr sz="750">
                <a:solidFill>
                  <a:srgbClr val="1A1A1A"/>
                </a:solidFill>
              </a:rPr>
              <a:t>•  UGC strategy: baristas postam suas La Marzocco com #lamarzocco (1M+ posts)</a:t>
            </a:r>
          </a:p>
          <a:p>
            <a:r>
              <a:rPr sz="750">
                <a:solidFill>
                  <a:srgbClr val="1A1A1A"/>
                </a:solidFill>
              </a:rPr>
              <a:t>•  Parceria com fotógrafos de coffee culture para editorial</a:t>
            </a:r>
          </a:p>
          <a:p>
            <a:r>
              <a:rPr sz="750">
                <a:solidFill>
                  <a:srgbClr val="1A1A1A"/>
                </a:solidFill>
              </a:rPr>
              <a:t>•  Cada máquina é desenhada para ser fotogênica — form follows aesthetics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4279392"/>
            <a:ext cx="2121408" cy="4754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1M+ posts orgânicos com a hashtag #lamarzocco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11696" y="1078992"/>
            <a:ext cx="2121408" cy="40233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HANDS-ON EVENTS
&amp; LATTE 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064"/>
                </a:solidFill>
              </a:rPr>
              <a:t>Worldwide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Presença em expos de café: SCA Expo, World of Coffee, LaMarzocco @ events</a:t>
            </a:r>
          </a:p>
          <a:p>
            <a:r>
              <a:rPr sz="750">
                <a:solidFill>
                  <a:srgbClr val="1A1A1A"/>
                </a:solidFill>
              </a:rPr>
              <a:t>•  Latte Art Throwdowns patrocinados em cafés parceiros</a:t>
            </a:r>
          </a:p>
          <a:p>
            <a:r>
              <a:rPr sz="750">
                <a:solidFill>
                  <a:srgbClr val="1A1A1A"/>
                </a:solidFill>
              </a:rPr>
              <a:t>•  Barista Jams — eventos informais de comunidade em cidades-chave</a:t>
            </a:r>
          </a:p>
          <a:p>
            <a:r>
              <a:rPr sz="750">
                <a:solidFill>
                  <a:srgbClr val="1A1A1A"/>
                </a:solidFill>
              </a:rPr>
              <a:t>•  Demo days em novos mercados com baristas locais como hosts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6" y="4279392"/>
            <a:ext cx="2121408" cy="4754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Evento mais eficiente de marketing: custo zero além do equipamento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&amp; Social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Estratégia digital, social e campanhas notáveis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PRESENÇA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@lamarzocco · 500K+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Estética premium consistente: foco em equipamento, extração e barista craft. Mais aspiracional que educational.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La Marzocco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Reviews técnicos, unboxing, tutoriais de calibragem e limpeza. Suporte e educação como conteúdo.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5424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COMMUNITY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lamarzoccohome.com/community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Fórum online com 50K+ home baristas. Receitas de perfil de extração, dúvidas técnicas, meetups locais.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1696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La Marzocco B2B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Canal B2B: anúncios de novos modelos para compradores institucionais, press releases, careers.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37744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064"/>
                </a:solidFill>
              </a:rPr>
              <a:t>CAMPANHAS DIGITAIS NOTÁVEIS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2633472"/>
            <a:ext cx="8961120" cy="109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706624"/>
            <a:ext cx="2121408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HOME BARISTA
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Plataforma dedicada para usuários domésticos com fórum, receitas de extração, dial-in guides. Cria fidelidade pós-compra de US$2.500+.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2706624"/>
            <a:ext cx="2121408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ROTATING ROASTER
SEATTLE SERIES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Cada mês, torrefador diferente no La Marzocco Café Seattle — vídeos e posts mostrando a parceria. Conteúdo educativo + cross-promotion.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2706624"/>
            <a:ext cx="2121408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COMPETITION
BEHIND THE SCENES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Conteúdo de bastidores do WBC: calibração em tempo real, escolha de receita pelo competidor, entrevistas pós-round.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1696" y="2706624"/>
            <a:ext cx="2121408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REBUILD STORIES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Mini-documentários de máquinas com 20+ anos sendo restauradas. Mensagem de sustentabilidade + durabilidade. Alto engajamento de colecionadores.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Sustentabilidade &amp; ESG — La Marzocco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Sustentabilidade, ESG e compromissos ambientais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♻️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REBUILD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Máquinas com 10–25 anos restauradas a nível de novo</a:t>
            </a:r>
          </a:p>
          <a:p>
            <a:r>
              <a:rPr sz="800">
                <a:solidFill>
                  <a:srgbClr val="1A1A1A"/>
                </a:solidFill>
              </a:rPr>
              <a:t>•  Partes originais italianas utilizadas na restauração</a:t>
            </a:r>
          </a:p>
          <a:p>
            <a:r>
              <a:rPr sz="800">
                <a:solidFill>
                  <a:srgbClr val="1A1A1A"/>
                </a:solidFill>
              </a:rPr>
              <a:t>•  Certificação com garantia idêntica a máquina nova</a:t>
            </a:r>
          </a:p>
          <a:p>
            <a:r>
              <a:rPr sz="800">
                <a:solidFill>
                  <a:srgbClr val="1A1A1A"/>
                </a:solidFill>
              </a:rPr>
              <a:t>•  Posicionamento: você não compra uma La Marzocco, você passa ela adiante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1078992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🇮🇹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ARTISAN
MANUFACTURING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~95% da produção ainda em Florença</a:t>
            </a:r>
          </a:p>
          <a:p>
            <a:r>
              <a:rPr sz="800">
                <a:solidFill>
                  <a:srgbClr val="1A1A1A"/>
                </a:solidFill>
              </a:rPr>
              <a:t>•  Técnicos com média de 12 anos na empresa</a:t>
            </a:r>
          </a:p>
          <a:p>
            <a:r>
              <a:rPr sz="800">
                <a:solidFill>
                  <a:srgbClr val="1A1A1A"/>
                </a:solidFill>
              </a:rPr>
              <a:t>•  Touring program: compradores podem visitar a fábrica</a:t>
            </a:r>
          </a:p>
          <a:p>
            <a:r>
              <a:rPr sz="800">
                <a:solidFill>
                  <a:srgbClr val="1A1A1A"/>
                </a:solidFill>
              </a:rPr>
              <a:t>•  ESG report: emissões por máquina vs. vida útil (20+ anos)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5424" y="1078992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SPECIALTY COFFEE
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Sponsor da SCA Sustainability Fund</a:t>
            </a:r>
          </a:p>
          <a:p>
            <a:r>
              <a:rPr sz="800">
                <a:solidFill>
                  <a:srgbClr val="1A1A1A"/>
                </a:solidFill>
              </a:rPr>
              <a:t>•  Educação de baristas sobre práticas de sourcing responsável</a:t>
            </a:r>
          </a:p>
          <a:p>
            <a:r>
              <a:rPr sz="800">
                <a:solidFill>
                  <a:srgbClr val="1A1A1A"/>
                </a:solidFill>
              </a:rPr>
              <a:t>•  Integração com torrefadores com certificação B-Corp</a:t>
            </a:r>
          </a:p>
          <a:p>
            <a:r>
              <a:rPr sz="800">
                <a:solidFill>
                  <a:srgbClr val="1A1A1A"/>
                </a:solidFill>
              </a:rPr>
              <a:t>•  Alinhamento com 'less is more': menos máquinas, melhor qualidade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11696" y="1078992"/>
            <a:ext cx="2121408" cy="51206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ENERGY
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Linea PB: modo sleep programável reduz consumo em 60%</a:t>
            </a:r>
          </a:p>
          <a:p>
            <a:r>
              <a:rPr sz="800">
                <a:solidFill>
                  <a:srgbClr val="1A1A1A"/>
                </a:solidFill>
              </a:rPr>
              <a:t>•  Caldeira dupla vs. single: eficiência energética por extração</a:t>
            </a:r>
          </a:p>
          <a:p>
            <a:r>
              <a:rPr sz="800">
                <a:solidFill>
                  <a:srgbClr val="1A1A1A"/>
                </a:solidFill>
              </a:rPr>
              <a:t>•  App IoT: dados de consumo em tempo real por máquina</a:t>
            </a:r>
          </a:p>
          <a:p>
            <a:r>
              <a:rPr sz="800">
                <a:solidFill>
                  <a:srgbClr val="1A1A1A"/>
                </a:solidFill>
              </a:rPr>
              <a:t>•  Meta: carbono neutro na produção italiana até 2028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Scorecard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KPIs e posicionamento competitivo — La Marzocco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CREDENCIAL &amp; MARCA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26464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WBC champion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20+ anos consecutivos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Maior credencial de produto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UGC orgânico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1M+ posts #lamarzocco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Comunidade sem spend de mídia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82112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Brand recall baristas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95%+ profissionais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Global specialty coffee trade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59935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Design awards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Red Dot, iF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Reconhecimento internacional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1078992"/>
            <a:ext cx="2121408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4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MERCADO &amp; DISTRIBUIÇÃO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1426464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EUA market 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304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~35% de receita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Maior mercado externo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2304288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Top 50 US specialty cafés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80%+ usam 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Credencial de autoridade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9152" y="3182112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32304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Países ativos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304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60+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2304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Distribuição global via dealers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9152" y="4059935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32304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Seattle Café visitors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32304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~500K/ano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32304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Hub de comunidade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5424" y="1078992"/>
            <a:ext cx="2121408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1426464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576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Vida útil média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20+ anos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6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vs. 3–5 anos concorrentes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35424" y="2304288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8576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Linea Mini (home)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Best-seller consumer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8576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20% da receita, crescendo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5424" y="3182112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8576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Preço médio pro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~$9.000–12.000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Premium sem equivalente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35424" y="4059935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8576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Rebuild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8576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~25% dos clientes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8576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Retenção via sustentabilidade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11696" y="1078992"/>
            <a:ext cx="2121408" cy="31089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84848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IMPACTO BARISTA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11696" y="1426464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Barista trainings/ano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2.000+ presenciais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Seattle + eventos globais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11696" y="2304288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Community members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848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50K+ home baristas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4848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lamarzoccohome.com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11696" y="3182112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4848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Dealer network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4848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200+ globais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84848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Distribuição qualificada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11696" y="4059935"/>
            <a:ext cx="2121408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4848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Event presence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50+ expos/ano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SCA, WBC, locais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Lições para a Orfeu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Ângulo: Como uma marca de equipamento construiu brand equity via comunidade barista — e o que isso significa para a Orfeu nos EUA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1. O barista como canal de distribuição de marca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 Marzocco não tem representantes de vendas — tem campeões mundiais de barismo que escolhem sua máquina no palco mais visível do setor. Para a Orfeu, os baristas dos melhores cafés de specialty americanos são o canal mais eficiente de introdução ao mercado: se os top cafés de NYC ou SF servirem Orfeu, a narrativa se constrói sozinha.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2. Parceria estratégica com La Marzocco é acesso à comunidade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 Marzocco já tem a confiança de 80%+ dos specialty cafés americanos. Uma parceria exclusiva ou co-branded entre Orfeu e La Marzocco — como torrefador residente no La Marzocco Café de Seattle, ou como grão oficial das demonstrações de produto — é um atalho de credencial que anos de marketing não comprariam.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3. O espaço físico como plataforma de comunidade, não de venda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 La Marzocco Café em Seattle existe para a comunidade de baristas — não para faturar. O custo é coberto, a missão é de construção de comunidade. Para a Orfeu, um espaço-conceito nos EUA deve ser visto da mesma forma: não é um ponto de venda rentável nos primeiros anos, é um ponto de construção de credencial e comunidade.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779776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4. Design como argumento de marca permanente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 Marzocco investiu em design fotogênico porque entendeu antes dos outros que cada máquina nas mesas dos cafés é uma publicidade constante. A Orfeu deve pensar da mesma forma em seu packaging, barismo e espaço físico: cada elemento deve ser desenhado para ser filmado e compartilhado — especialmente num mercado novo onde você ainda não tem share of voice.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779776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5. Sustentabilidade e durabilidade como posicionamento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 Rebuild Program da La Marzocco transforma um custo de manutenção em argumento de premium: 'sua máquina vai durar 20 anos'. Para a Orfeu, a sustentabilidade de origem (fazendas parceiras, certificações, histórias de produtor) deve ser comunicada como argumento de premium e não apenas como compliance. No mercado americano, isso é diferencial real.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779776"/>
            <a:ext cx="283464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6. Nicho de especialistas expande para mainstream com o tempo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Em 1994, La Marzocco era conhecida por um nicho minúsculo de baristas de Seattle e NY. Hoje, a Linea Mini custa US$2.500 e vende para entusiastas domésticos pelo mundo. A estratégia de começar com o nicho de maior autoridade (specialty roasters, competições, baristas de referência) e deixar o mainstream vir depois é a mesma que a Orfeu deve seguir nos EUA.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Fontes e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42415"/>
            <a:ext cx="8778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1. La Marzocco Official Website — lamarzocco.com / lamarzoccohome.com</a:t>
            </a:r>
          </a:p>
          <a:p>
            <a:r>
              <a:rPr sz="850">
                <a:solidFill>
                  <a:srgbClr val="1A1A1A"/>
                </a:solidFill>
              </a:rPr>
              <a:t>•  2. 'How La Marzocco became the Apple of espresso machines' — Sprudge, 2022</a:t>
            </a:r>
          </a:p>
          <a:p>
            <a:r>
              <a:rPr sz="850">
                <a:solidFill>
                  <a:srgbClr val="1A1A1A"/>
                </a:solidFill>
              </a:rPr>
              <a:t>•  3. SCA World Barista Championship Official Partners — worldbaristachampionship.org</a:t>
            </a:r>
          </a:p>
          <a:p>
            <a:r>
              <a:rPr sz="850">
                <a:solidFill>
                  <a:srgbClr val="1A1A1A"/>
                </a:solidFill>
              </a:rPr>
              <a:t>•  4. La Marzocco Café Seattle: Community Hub Model — Perfect Daily Grind, 2021</a:t>
            </a:r>
          </a:p>
          <a:p>
            <a:r>
              <a:rPr sz="850">
                <a:solidFill>
                  <a:srgbClr val="1A1A1A"/>
                </a:solidFill>
              </a:rPr>
              <a:t>•  5. 'The $2.500 home espresso machine: who buys it and why' — New York Times, 2023</a:t>
            </a:r>
          </a:p>
          <a:p>
            <a:r>
              <a:rPr sz="850">
                <a:solidFill>
                  <a:srgbClr val="1A1A1A"/>
                </a:solidFill>
              </a:rPr>
              <a:t>•  6. Euromonitor: Professional Coffee Equipment Market Report 2024</a:t>
            </a:r>
          </a:p>
          <a:p>
            <a:r>
              <a:rPr sz="850">
                <a:solidFill>
                  <a:srgbClr val="1A1A1A"/>
                </a:solidFill>
              </a:rPr>
              <a:t>•  7. 'La Marzocco Rebuild: sustainability as premium product argument' — Barista Magazine, 2023</a:t>
            </a:r>
          </a:p>
          <a:p>
            <a:r>
              <a:rPr sz="850">
                <a:solidFill>
                  <a:srgbClr val="1A1A1A"/>
                </a:solidFill>
              </a:rPr>
              <a:t>•  8. La Marzocco x Specialty Coffee Association Partnership Announcement, 2022</a:t>
            </a:r>
          </a:p>
          <a:p>
            <a:r>
              <a:rPr sz="850">
                <a:solidFill>
                  <a:srgbClr val="1A1A1A"/>
                </a:solidFill>
              </a:rPr>
              <a:t>•  9. 'Italian craft engineering in a Seattle world' — Seattle Magazine, 2020</a:t>
            </a:r>
          </a:p>
          <a:p>
            <a:r>
              <a:rPr sz="850">
                <a:solidFill>
                  <a:srgbClr val="1A1A1A"/>
                </a:solidFill>
              </a:rPr>
              <a:t>•  10. Trade channel analysis — Specialty Coffee Retailer Magazine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