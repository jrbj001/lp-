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Relationship Id="rId6" Type="http://schemas.openxmlformats.org/officeDocument/2006/relationships/image" Target="../media/image1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Relationship Id="rId4" Type="http://schemas.openxmlformats.org/officeDocument/2006/relationships/image" Target="../media/image26.jpg"/><Relationship Id="rId5" Type="http://schemas.openxmlformats.org/officeDocument/2006/relationships/image" Target="../media/image27.jpg"/><Relationship Id="rId6" Type="http://schemas.openxmlformats.org/officeDocument/2006/relationships/image" Target="../media/image2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3200400" cy="2560320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389120"/>
            <a:ext cx="5943600" cy="5486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7028"/>
                </a:solidFill>
                <a:latin typeface="Calibri"/>
              </a:rPr>
              <a:t>ORFEU  ·  ALQUEMIA CONSULTING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Starbucks 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642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8CC"/>
                </a:solidFill>
                <a:latin typeface="Calibri"/>
              </a:rPr>
              <a:t>Estudo de Caso · Referência Premium para o Mercado Norte-Americano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86000"/>
            <a:ext cx="2743200" cy="36576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4231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7028"/>
                </a:solidFill>
                <a:latin typeface="Calibri"/>
              </a:rPr>
              <a:t>Ângulo estratégico: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7004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Como o modelo de retail premium experiencial da Reserve
pode informar a entrada da Orfeu no mercado dos EUA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7731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ACCAA"/>
                </a:solidFill>
                <a:latin typeface="Calibri"/>
              </a:rPr>
              <a:t>Julho 2026  ·  Documento Estratégico Interno  ·  Confidencial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8288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BA258"/>
                </a:solidFill>
                <a:latin typeface="Calibri"/>
              </a:rPr>
              <a:t>TEMAS ABORDADOS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502920"/>
            <a:ext cx="2944368" cy="182880"/>
          </a:xfrm>
          <a:prstGeom prst="rect">
            <a:avLst/>
          </a:prstGeom>
          <a:solidFill>
            <a:srgbClr val="14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521207"/>
            <a:ext cx="28346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CDDCC"/>
                </a:solidFill>
                <a:latin typeface="Calibri"/>
              </a:rPr>
              <a:t>  01  Conceito &amp; Posicionamento Premium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704088"/>
            <a:ext cx="2944368" cy="182880"/>
          </a:xfrm>
          <a:prstGeom prst="rect">
            <a:avLst/>
          </a:prstGeom>
          <a:solidFill>
            <a:srgbClr val="1A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722375"/>
            <a:ext cx="28346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CDDCC"/>
                </a:solidFill>
                <a:latin typeface="Calibri"/>
              </a:rPr>
              <a:t>  02  Estratégia de Localização Global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905256"/>
            <a:ext cx="2944368" cy="182880"/>
          </a:xfrm>
          <a:prstGeom prst="rect">
            <a:avLst/>
          </a:prstGeom>
          <a:solidFill>
            <a:srgbClr val="14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923544"/>
            <a:ext cx="28346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CDDCC"/>
                </a:solidFill>
                <a:latin typeface="Calibri"/>
              </a:rPr>
              <a:t>  03  Design da Experiência em Loja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106424"/>
            <a:ext cx="2944368" cy="182880"/>
          </a:xfrm>
          <a:prstGeom prst="rect">
            <a:avLst/>
          </a:prstGeom>
          <a:solidFill>
            <a:srgbClr val="1A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1124712"/>
            <a:ext cx="28346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CDDCC"/>
                </a:solidFill>
                <a:latin typeface="Calibri"/>
              </a:rPr>
              <a:t>  04  Arquitetura de Preço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307592"/>
            <a:ext cx="2944368" cy="182880"/>
          </a:xfrm>
          <a:prstGeom prst="rect">
            <a:avLst/>
          </a:prstGeom>
          <a:solidFill>
            <a:srgbClr val="14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1325880"/>
            <a:ext cx="28346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CDDCC"/>
                </a:solidFill>
                <a:latin typeface="Calibri"/>
              </a:rPr>
              <a:t>  05  Portfolio e Sazonalidade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1508760"/>
            <a:ext cx="2944368" cy="182880"/>
          </a:xfrm>
          <a:prstGeom prst="rect">
            <a:avLst/>
          </a:prstGeom>
          <a:solidFill>
            <a:srgbClr val="1A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1527048"/>
            <a:ext cx="28346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CDDCC"/>
                </a:solidFill>
                <a:latin typeface="Calibri"/>
              </a:rPr>
              <a:t>  06  Voz do Consumidor (Reviews)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1709928"/>
            <a:ext cx="2944368" cy="182880"/>
          </a:xfrm>
          <a:prstGeom prst="rect">
            <a:avLst/>
          </a:prstGeom>
          <a:solidFill>
            <a:srgbClr val="14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1728216"/>
            <a:ext cx="28346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CDDCC"/>
                </a:solidFill>
                <a:latin typeface="Calibri"/>
              </a:rPr>
              <a:t>  07  Performance Comercial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911095"/>
            <a:ext cx="2944368" cy="182880"/>
          </a:xfrm>
          <a:prstGeom prst="rect">
            <a:avLst/>
          </a:prstGeom>
          <a:solidFill>
            <a:srgbClr val="1A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1929384"/>
            <a:ext cx="28346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CDDCC"/>
                </a:solidFill>
                <a:latin typeface="Calibri"/>
              </a:rPr>
              <a:t>  08  Comparação Orfeu vs. Reserve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2112264"/>
            <a:ext cx="2944368" cy="182880"/>
          </a:xfrm>
          <a:prstGeom prst="rect">
            <a:avLst/>
          </a:prstGeom>
          <a:solidFill>
            <a:srgbClr val="14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2130552"/>
            <a:ext cx="28346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CDDCC"/>
                </a:solidFill>
                <a:latin typeface="Calibri"/>
              </a:rPr>
              <a:t>  09  Lições &amp; Próximos Passos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313432"/>
            <a:ext cx="2944368" cy="182880"/>
          </a:xfrm>
          <a:prstGeom prst="rect">
            <a:avLst/>
          </a:prstGeom>
          <a:solidFill>
            <a:srgbClr val="1A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2331720"/>
            <a:ext cx="28346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CDDCC"/>
                </a:solidFill>
                <a:latin typeface="Calibri"/>
              </a:rPr>
              <a:t>  10  Manifesto da Marca Reserve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2514600"/>
            <a:ext cx="2944368" cy="182880"/>
          </a:xfrm>
          <a:prstGeom prst="rect">
            <a:avLst/>
          </a:prstGeom>
          <a:solidFill>
            <a:srgbClr val="14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0760" y="2532888"/>
            <a:ext cx="28346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CDDCC"/>
                </a:solidFill>
                <a:latin typeface="Calibri"/>
              </a:rPr>
              <a:t>  11  Book Visual — Referências Fotográficas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2560320"/>
            <a:ext cx="3200400" cy="2583180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43600" y="2560320"/>
            <a:ext cx="3200400" cy="36576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63347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A5C2E"/>
                </a:solidFill>
                <a:latin typeface="Calibri"/>
              </a:rPr>
              <a:t>CONTEXTO ORFEU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288036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5C2E"/>
                </a:solidFill>
                <a:latin typeface="Calibri"/>
              </a:rPr>
              <a:t>"Mestre Anfitrião da
Excelência Brasileira"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3474720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Marca premium single-origin brasileira buscando
expansão para o mercado dos EUA.
A Reserve é o benchmark mais relevante
de coffee retail experiencial em escala.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85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" y="4896612"/>
            <a:ext cx="8778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Alquemia Consulting para Orfeu  ·  Documento Estratégico Interno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9144000" cy="950976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82296"/>
            <a:ext cx="8778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7028"/>
                </a:solidFill>
                <a:latin typeface="Calibri"/>
              </a:rPr>
              <a:t>CONCEITO &amp; POSICIONAMENTO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743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O que é o Starbucks Reserve?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749808"/>
            <a:ext cx="8778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E8CC"/>
                </a:solidFill>
                <a:latin typeface="Calibri"/>
              </a:rPr>
              <a:t>Três formatos distintos · Lançado em 2010 · Resposta estratégica ao third-wave coffee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4896612"/>
            <a:ext cx="8778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Alquemia Consulting para Orfeu  ·  Documento Estratégico Interno  ·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115568"/>
            <a:ext cx="2816352" cy="274320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" y="1143000"/>
            <a:ext cx="2670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RESERVE ROASTERY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" y="1389888"/>
            <a:ext cx="2816352" cy="2670048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463040"/>
            <a:ext cx="2596896" cy="2523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Flagship experiencial de 15.000–35.000 sqft
Torrefação ao vivo, múltiplos andares temáticos, bar Arriviamo, padaria Rocco Princi, experiências guiadas pagas (USD 15–40). Destino turístico e cultural — não apenas cafeteria.
5 localizações ativas: Chicago, Nova York, Milão, Tóquio, Xangai
(Seattle: fechada set/2025)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45536" y="1115568"/>
            <a:ext cx="2816352" cy="27432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18688" y="1143000"/>
            <a:ext cx="2670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RESERVE STORE / COFFEEHOUSE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45536" y="1389888"/>
            <a:ext cx="2816352" cy="2670048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55264" y="1463040"/>
            <a:ext cx="2596896" cy="2523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Formato intermediário — ~7 unidades globais
Presença em locais icônicos (ex: Empire State Building, NYC). Curadoria de cafés exclusivos, merchandise premium e experiência elevada. Sem torrefadora in-loco, mas com menu Reserve completo.
Inclui bar de coquetéis e restaurante em algumas unidades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79" y="1115568"/>
            <a:ext cx="2816352" cy="27432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1" y="1143000"/>
            <a:ext cx="2670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RESERVE BAR (in-store)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79" y="1389888"/>
            <a:ext cx="2816352" cy="2670048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6207" y="1463040"/>
            <a:ext cx="2596896" cy="2523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Espaço dedicado dentro de Starbucks convencionais — ~43 unidades
Serve seleção rotativa de cafés Reserve + menu core. Clover brewing, pour-over disponíveis. Ponto de acesso ao produto premium sem custo de flagship.
Formato já encerrado em grande parte das lojas EUA · menor controle de experiência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" y="4133087"/>
            <a:ext cx="88239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4592" y="4187952"/>
            <a:ext cx="882396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" y="4206240"/>
            <a:ext cx="8595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7028"/>
                </a:solidFill>
                <a:latin typeface="Calibri"/>
              </a:rPr>
              <a:t>NARRATIVA DE MARCA  ·  Por que o Reserve existe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" y="4480560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A Reserve nasceu como resposta ao third-wave coffee (Blue Bottle, Intelligentsia, Stumptown) — que ameaçava reposicionar o Starbucks como marca de massa. Howard Schultz projetou o Reserve como 'o laboratório de inovação do café', tratando o produto como arte e a cafeteria como palco multi-sensorial. Slogan interno: 'Coffee as theater.' Plano original: 1.000 Roasteries. Realidade executada: 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9144000" cy="950976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82296"/>
            <a:ext cx="8778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7028"/>
                </a:solidFill>
                <a:latin typeface="Calibri"/>
              </a:rPr>
              <a:t>ESTRATÉGIA DE LOCALIZAÇÃO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743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5 Roasteries · 7 Reserve Stores · Critérios de Seleção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749808"/>
            <a:ext cx="8778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E8CC"/>
                </a:solidFill>
                <a:latin typeface="Calibri"/>
              </a:rPr>
              <a:t>Flagships urbanos em cidades de alta densidade cultural e turística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4896612"/>
            <a:ext cx="8778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Alquemia Consulting para Orfeu  ·  Documento Estratégico Interno  ·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115568"/>
            <a:ext cx="5120640" cy="256032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1143000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AS 5 RESERVE ROASTERIES OPERACIONAIS (2026)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" y="1389888"/>
            <a:ext cx="475488" cy="493776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408176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2017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389888"/>
            <a:ext cx="4645152" cy="493776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408176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A5C2E"/>
                </a:solidFill>
                <a:latin typeface="Calibri"/>
              </a:rPr>
              <a:t>XANGAI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1627632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30.000 sqft · 88 pés de coffee bar · integração AR Alibaba · ~USD 23M/ano em vendas estimadas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" y="1956816"/>
            <a:ext cx="475488" cy="493776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" y="1975104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2018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956816"/>
            <a:ext cx="4645152" cy="493776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1975104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A5C2E"/>
                </a:solidFill>
                <a:latin typeface="Calibri"/>
              </a:rPr>
              <a:t>MILÃO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194560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25.000 sqft · Palazzo Broggi (patrimônio histórico) · única Roastery europeia · Rocco Princi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" y="2523744"/>
            <a:ext cx="475488" cy="493776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168" y="2542032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2018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2523744"/>
            <a:ext cx="4645152" cy="493776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254203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A5C2E"/>
                </a:solidFill>
                <a:latin typeface="Calibri"/>
              </a:rPr>
              <a:t>NOVA YORK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2761487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23.000 sqft · Chelsea · Arriviamo cocktail bar · terrarium de plantas · chef collaborations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" y="3090672"/>
            <a:ext cx="475488" cy="493776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1168" y="3108960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2019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090672"/>
            <a:ext cx="4645152" cy="493776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108960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A5C2E"/>
                </a:solidFill>
                <a:latin typeface="Calibri"/>
              </a:rPr>
              <a:t>TÓQUIO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3328415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32.000 sqft · tamanho recorde · casco de cobre 56 pés · design: Kengo Kuma &amp; Associates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2" y="3657600"/>
            <a:ext cx="475488" cy="493776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8" y="3675887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2019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3657600"/>
            <a:ext cx="4645152" cy="493776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675887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A5C2E"/>
                </a:solidFill>
                <a:latin typeface="Calibri"/>
              </a:rPr>
              <a:t>CHICAGO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3895344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35.000 sqft · MAIOR Starbucks do mundo · 5 andares · rooftop · Michigan Ave · mural Eulojio Ortega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40680" y="1115568"/>
            <a:ext cx="3566160" cy="256032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32120" y="1143000"/>
            <a:ext cx="3401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CRITÉRIOS DE LOCALIZAÇÃO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40680" y="1389888"/>
            <a:ext cx="3566160" cy="493776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40680" y="1389888"/>
            <a:ext cx="73152" cy="493776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96128" y="1408176"/>
            <a:ext cx="3337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A5C2E"/>
                </a:solidFill>
                <a:latin typeface="Calibri"/>
              </a:rPr>
              <a:t>Alta densidade turística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96128" y="1627632"/>
            <a:ext cx="3337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>Mínimo 5M visitors/ano. Reserve é destino, não conveniência diária.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40680" y="1956816"/>
            <a:ext cx="3566160" cy="493776"/>
          </a:xfrm>
          <a:prstGeom prst="rect">
            <a:avLst/>
          </a:prstGeom>
          <a:solidFill>
            <a:srgbClr val="FD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40680" y="1956816"/>
            <a:ext cx="73152" cy="493776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96128" y="1975104"/>
            <a:ext cx="3337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A5C2E"/>
                </a:solidFill>
                <a:latin typeface="Calibri"/>
              </a:rPr>
              <a:t>Centro cultural / icônico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96128" y="2194560"/>
            <a:ext cx="3337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>Edifícios históricos, distritos de arte ou landmarks de alto valor simbólico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40680" y="2523744"/>
            <a:ext cx="3566160" cy="493776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40680" y="2523744"/>
            <a:ext cx="73152" cy="493776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96128" y="2542032"/>
            <a:ext cx="3337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A5C2E"/>
                </a:solidFill>
                <a:latin typeface="Calibri"/>
              </a:rPr>
              <a:t>Consumidor de alta renda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96128" y="2761487"/>
            <a:ext cx="3337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>Renda per capita elevada no entorno. Price acceptance testado empiricamente.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40680" y="3090672"/>
            <a:ext cx="3566160" cy="493776"/>
          </a:xfrm>
          <a:prstGeom prst="rect">
            <a:avLst/>
          </a:prstGeom>
          <a:solidFill>
            <a:srgbClr val="FD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440680" y="3090672"/>
            <a:ext cx="73152" cy="493776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96128" y="3108960"/>
            <a:ext cx="3337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A5C2E"/>
                </a:solidFill>
                <a:latin typeface="Calibri"/>
              </a:rPr>
              <a:t>Mercado specialty maduro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96128" y="3328415"/>
            <a:ext cx="3337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>Presença de cafés specialty locais. Consumidor já educado sobre método e origem.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40680" y="3657600"/>
            <a:ext cx="3566160" cy="493776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40680" y="3657600"/>
            <a:ext cx="73152" cy="493776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96128" y="3675887"/>
            <a:ext cx="3337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A5C2E"/>
                </a:solidFill>
                <a:latin typeface="Calibri"/>
              </a:rPr>
              <a:t>Escala mínima de espaço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96128" y="3895344"/>
            <a:ext cx="3337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>Mínimo 15.000 sqft para viabilizar teatro da torrefação + múltiplas zonas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40680" y="4224528"/>
            <a:ext cx="3566160" cy="493776"/>
          </a:xfrm>
          <a:prstGeom prst="rect">
            <a:avLst/>
          </a:prstGeom>
          <a:solidFill>
            <a:srgbClr val="FD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40680" y="4224528"/>
            <a:ext cx="73152" cy="493776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96128" y="4242816"/>
            <a:ext cx="3337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A5C2E"/>
                </a:solidFill>
                <a:latin typeface="Calibri"/>
              </a:rPr>
              <a:t>Visibilidade de marca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96128" y="4462272"/>
            <a:ext cx="3337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>Roastery como 'propaganda viva' — gera mídia espontânea e boca a boca global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64592" y="4809744"/>
            <a:ext cx="88239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6032" y="4828032"/>
            <a:ext cx="8686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Seattle (inaugural, 2014) encerrada em setembro de 2025 · Plano original de 1.000 Roasteries reduzido para 5 após saída de Howard Schultz (2017) e impacto do COVID-19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9144000" cy="950976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82296"/>
            <a:ext cx="8778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7028"/>
                </a:solidFill>
                <a:latin typeface="Calibri"/>
              </a:rPr>
              <a:t>DESIGN DA EXPERIÊNCIA EM LOJA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743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O Teatro do Café — Sensorial, Educativo e Instagramável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749808"/>
            <a:ext cx="8778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E8CC"/>
                </a:solidFill>
                <a:latin typeface="Calibri"/>
              </a:rPr>
              <a:t>Cada elemento foi projetado para contar uma história e gerar desejo de retorno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4896612"/>
            <a:ext cx="8778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Alquemia Consulting para Orfeu  ·  Documento Estratégico Interno  ·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115568"/>
            <a:ext cx="2121408" cy="256032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" y="1143000"/>
            <a:ext cx="1975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ARQUITETURA FÍSICA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" y="1371600"/>
            <a:ext cx="2121408" cy="2121408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1426464"/>
            <a:ext cx="193852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Múltiplos andares temáticos (Chicago: 5 andares)
Cascos escultóricos de cobre com grãos visíveis
Tubos pneumáticos levam grãos pelo teto
Murais artísticos encomendados localmente
Escada espiral em torno do cask central
Rooftop sazonal com vista da cidade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5728" y="1115568"/>
            <a:ext cx="2121408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1143000"/>
            <a:ext cx="1975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MÉTODOS DE PREPARO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95728" y="1371600"/>
            <a:ext cx="2121408" cy="2121408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1426464"/>
            <a:ext cx="193852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Clover Brewing (imersão + vácuo, exclusivo Reserve)
Siphon: visualmente espetacular, 7–9 min de ritual
Pour-over em cobre: lento e contemplativo
Cold Brew Trio Flight: degustação comparativa
Nitro Cold Brew: textura cremosa no tap
Chemex: transparência no processo de filtragem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1115568"/>
            <a:ext cx="2121408" cy="256032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0016" y="1143000"/>
            <a:ext cx="1975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STAFF &amp; EDUCAÇÃO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26864" y="1371600"/>
            <a:ext cx="2121408" cy="2121408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18303" y="1426464"/>
            <a:ext cx="193852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Coffee Masters: baristas certificados em origens
Baristas 'roaming' educam sem pressão de venda
Signature Experiences: aulas pagas 30–60 min
Ex: 'Art of the Espresso Martini' (grupos)
Treinamento profundo em harmonização café + food
Baristas conhecem a fazenda de cada café servido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1115568"/>
            <a:ext cx="2121408" cy="256032"/>
          </a:xfrm>
          <a:prstGeom prst="rect">
            <a:avLst/>
          </a:prstGeom>
          <a:solidFill>
            <a:srgbClr val="1A3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31152" y="1143000"/>
            <a:ext cx="1975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TECNOLOGIA &amp; DESIGN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1371600"/>
            <a:ext cx="2121408" cy="2121408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1426464"/>
            <a:ext cx="193852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AR Integration (Shanghai): câmera revela jornada
do grão via app Alibaba — fazenda à xícara
Solari split-flap display: mostra roast em tempo real
Flavor Wheel físico: display interativo de perfis
Chicago Clacker Board: programação do dia
Mobile ordering integrado ao Starbucks Rewards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" y="3566160"/>
            <a:ext cx="88239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64592" y="3621024"/>
            <a:ext cx="8823960" cy="237744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6032" y="3639312"/>
            <a:ext cx="8595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7028"/>
                </a:solidFill>
                <a:latin typeface="Calibri"/>
              </a:rPr>
              <a:t>A EXPERIÊNCIA SENSORIAL COMPLETA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2" y="3858768"/>
            <a:ext cx="1719072" cy="219456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" y="3877056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VISÃO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2" y="4078224"/>
            <a:ext cx="1719072" cy="731520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" y="4114800"/>
            <a:ext cx="16093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Torrefadora ao vivo · grãos nos tubos pneumáticos · displays em tempo real · arte nas paredes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38528" y="3858768"/>
            <a:ext cx="1719072" cy="219456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93392" y="3877056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OLFATO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38528" y="4078224"/>
            <a:ext cx="1719072" cy="731520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93392" y="4114800"/>
            <a:ext cx="16093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Aroma penetrante de café torrado fresco · impossível de simular em outro ambiente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12463" y="3858768"/>
            <a:ext cx="1719072" cy="219456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67327" y="3877056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AUDIÇÃO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12463" y="4078224"/>
            <a:ext cx="1719072" cy="731520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67327" y="4114800"/>
            <a:ext cx="16093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O ronco da torrefadora · conversas educativas dos baristas · a 'música' da máquina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0" y="3858768"/>
            <a:ext cx="1719072" cy="219456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41264" y="3877056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PALADAR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0" y="4078224"/>
            <a:ext cx="1719072" cy="731520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41264" y="4114800"/>
            <a:ext cx="16093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Flights de cold brew · afogato · coquetéis de café · degustações guiadas com barista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60336" y="3858768"/>
            <a:ext cx="1719072" cy="219456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199" y="3877056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TATO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60336" y="4078224"/>
            <a:ext cx="1719072" cy="731520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199" y="4114800"/>
            <a:ext cx="16093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Cobre quente · madeira nobre · xícaras pesadas · a textura lenta da espuma no siphon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9144000" cy="950976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82296"/>
            <a:ext cx="8778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7028"/>
                </a:solidFill>
                <a:latin typeface="Calibri"/>
              </a:rPr>
              <a:t>ARQUITETURA DE PREÇO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743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O que o consumidor paga — e por que aceita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749808"/>
            <a:ext cx="8778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E8CC"/>
                </a:solidFill>
                <a:latin typeface="Calibri"/>
              </a:rPr>
              <a:t>Premium de 2–3× sobre o Starbucks core · Comparável a independent specialty em NYC/Chicago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4896612"/>
            <a:ext cx="8778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Alquemia Consulting para Orfeu  ·  Documento Estratégico Interno  ·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115568"/>
            <a:ext cx="8823960" cy="219456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1133856"/>
            <a:ext cx="8595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07028"/>
                </a:solidFill>
                <a:latin typeface="Calibri"/>
              </a:rPr>
              <a:t>ESCADA DE PREÇO — MERCADO NORTE-AMERICANO (USD, 2024–2025)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" y="1389888"/>
            <a:ext cx="2377440" cy="42062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" y="1426464"/>
            <a:ext cx="22494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A5C2E"/>
                </a:solidFill>
                <a:latin typeface="Calibri"/>
              </a:rPr>
              <a:t>Café regular rua (NYC)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389888"/>
            <a:ext cx="1024128" cy="42062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96896" y="1463040"/>
            <a:ext cx="932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55555"/>
                </a:solidFill>
                <a:latin typeface="Calibri"/>
              </a:rPr>
              <a:t>USD 1–3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84448" y="1481328"/>
            <a:ext cx="822960" cy="23774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1426464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Diner, bodega, café de conveniência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" y="1865376"/>
            <a:ext cx="2377440" cy="42062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" y="1901952"/>
            <a:ext cx="22494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A5C2E"/>
                </a:solidFill>
                <a:latin typeface="Calibri"/>
              </a:rPr>
              <a:t>Starbucks core (drip)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42032" y="1865376"/>
            <a:ext cx="1024128" cy="42062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96896" y="1938528"/>
            <a:ext cx="932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55555"/>
                </a:solidFill>
                <a:latin typeface="Calibri"/>
              </a:rPr>
              <a:t>USD 3–5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84448" y="1956816"/>
            <a:ext cx="1280160" cy="23774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59" y="190195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Grande drip coffee, americano, latte básico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" y="2340864"/>
            <a:ext cx="2377440" cy="42062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" y="2377440"/>
            <a:ext cx="22494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A5C2E"/>
                </a:solidFill>
                <a:latin typeface="Calibri"/>
              </a:rPr>
              <a:t>Starbucks core (specialty)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42032" y="2340864"/>
            <a:ext cx="1024128" cy="42062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96896" y="2414016"/>
            <a:ext cx="932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55555"/>
                </a:solidFill>
                <a:latin typeface="Calibri"/>
              </a:rPr>
              <a:t>USD 5–7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84448" y="2432304"/>
            <a:ext cx="1828800" cy="23774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399" y="2377440"/>
            <a:ext cx="32003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Frappuccino, drinks sazonais elaborados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2" y="2816352"/>
            <a:ext cx="2377440" cy="420624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7744" y="2852928"/>
            <a:ext cx="22494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3932"/>
                </a:solidFill>
                <a:latin typeface="Calibri"/>
              </a:rPr>
              <a:t>Reserve Bar / specialty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42032" y="2816352"/>
            <a:ext cx="1024128" cy="42062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96896" y="2889504"/>
            <a:ext cx="932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USD 6–9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84448" y="2907792"/>
            <a:ext cx="2286000" cy="237744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599" y="2852928"/>
            <a:ext cx="27431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Clover, pour-over, latte especialidade em Reserve Bar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4592" y="3291840"/>
            <a:ext cx="2377440" cy="420624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7744" y="3328416"/>
            <a:ext cx="22494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3932"/>
                </a:solidFill>
                <a:latin typeface="Calibri"/>
              </a:rPr>
              <a:t>Reserve Roastery (base)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42032" y="3291840"/>
            <a:ext cx="1024128" cy="42062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96896" y="3364992"/>
            <a:ext cx="932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USD 8–12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84448" y="3383280"/>
            <a:ext cx="2743200" cy="237744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799" y="3328416"/>
            <a:ext cx="22859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Single origin brewed, nitro cold brew, cappuccino Reserve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4592" y="3767328"/>
            <a:ext cx="2377440" cy="420624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7744" y="3803904"/>
            <a:ext cx="22494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3932"/>
                </a:solidFill>
                <a:latin typeface="Calibri"/>
              </a:rPr>
              <a:t>Reserve Roastery (premium)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42032" y="3767328"/>
            <a:ext cx="1024128" cy="42062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96896" y="3840480"/>
            <a:ext cx="932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USD 10–15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84448" y="3858768"/>
            <a:ext cx="3291840" cy="237744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0" y="3803904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Siphon, coffee flight, Whiskey Barrel cold brew (8oz), afogato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4592" y="4242816"/>
            <a:ext cx="2377440" cy="420624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7744" y="4279392"/>
            <a:ext cx="22494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3932"/>
                </a:solidFill>
                <a:latin typeface="Calibri"/>
              </a:rPr>
              <a:t>Reserve Signature Experience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42032" y="4242816"/>
            <a:ext cx="1024128" cy="42062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96896" y="4315968"/>
            <a:ext cx="932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USD 15–40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84448" y="4334256"/>
            <a:ext cx="3749039" cy="237744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06640" y="427939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Aula guiada com barista (30–60 min), degustação em grupo premium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64592" y="4736592"/>
            <a:ext cx="88239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6032" y="4754880"/>
            <a:ext cx="8686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Refs: VegGirlRD · Jolene NYC menu data · Wikipedia Starbucks Reserve · estimativas analistas (2–4× revenue vs. core store)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9144000" cy="950976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82296"/>
            <a:ext cx="8778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7028"/>
                </a:solidFill>
                <a:latin typeface="Calibri"/>
              </a:rPr>
              <a:t>PORTFOLIO DE PRODUTO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743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Single Origins · Sazonalidade · Escassez como Ferramenta de Marca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749808"/>
            <a:ext cx="8778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E8CC"/>
                </a:solidFill>
                <a:latin typeface="Calibri"/>
              </a:rPr>
              <a:t>Rotação trimestral de origens · Cada Roastery tem grãos exclusivos de sua micro-região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4896612"/>
            <a:ext cx="8778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Alquemia Consulting para Orfeu  ·  Documento Estratégico Interno  ·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115568"/>
            <a:ext cx="2834640" cy="256032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1143000"/>
            <a:ext cx="2670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SINGLE ORIGINS RECENTES (2024–2026)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" y="1389888"/>
            <a:ext cx="2834640" cy="475488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4592" y="1389888"/>
            <a:ext cx="54864" cy="475488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" y="1408176"/>
            <a:ext cx="25968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A5C2E"/>
                </a:solidFill>
                <a:latin typeface="Calibri"/>
              </a:rPr>
              <a:t>Rwanda Abakundakawa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1627632"/>
            <a:ext cx="2596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Torrado claro · notas de jasmim, damasco e chá preto · Cooperativa feminina Lago Kivu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" y="1920240"/>
            <a:ext cx="2834640" cy="475488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4592" y="1920240"/>
            <a:ext cx="54864" cy="475488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" y="1938528"/>
            <a:ext cx="25968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A5C2E"/>
                </a:solidFill>
                <a:latin typeface="Calibri"/>
              </a:rPr>
              <a:t>Colombia Nariño 'Granos de Esperanza'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" y="2157984"/>
            <a:ext cx="2596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Médio · caramelo, pistache tostado · altitude 2.000m+ · cooperativa artesanal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2" y="2450591"/>
            <a:ext cx="2834640" cy="475488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4592" y="2450591"/>
            <a:ext cx="54864" cy="475488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" y="2468879"/>
            <a:ext cx="25968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A5C2E"/>
                </a:solidFill>
                <a:latin typeface="Calibri"/>
              </a:rPr>
              <a:t>India Monsooned Malabar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" y="2688335"/>
            <a:ext cx="2596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Médio-escuro · terroso, chocolate, especiarias · processo de monção 3 meses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" y="2980944"/>
            <a:ext cx="2834640" cy="475488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64592" y="2980944"/>
            <a:ext cx="54864" cy="475488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" y="2999232"/>
            <a:ext cx="25968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A5C2E"/>
                </a:solidFill>
                <a:latin typeface="Calibri"/>
              </a:rPr>
              <a:t>Guatemala Whiskey Barrel-Aged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" y="3218687"/>
            <a:ext cx="2596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Grãos envelhecidos em barris de bourbon Knob Creek · baunilha e carvalho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592" y="3511296"/>
            <a:ext cx="2834640" cy="475488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64592" y="3511296"/>
            <a:ext cx="54864" cy="475488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" y="3529584"/>
            <a:ext cx="25968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A5C2E"/>
                </a:solidFill>
                <a:latin typeface="Calibri"/>
              </a:rPr>
              <a:t>Chicago Roastery Microblend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" y="3749039"/>
            <a:ext cx="2596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Blend exclusivo da torrefadora local · apenas no Roastery de Chicago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2" y="4041648"/>
            <a:ext cx="2834640" cy="475488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64592" y="4041648"/>
            <a:ext cx="54864" cy="475488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8" y="4059935"/>
            <a:ext cx="25968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A5C2E"/>
                </a:solidFill>
                <a:latin typeface="Calibri"/>
              </a:rPr>
              <a:t>New York Roastery Microblend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" y="4279392"/>
            <a:ext cx="2596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Blend NYC — resposta ao terroir urbano · apenas na loja de NY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45536" y="1115568"/>
            <a:ext cx="2633472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36976" y="1143000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MÉTODOS DE PREPARO EXCLUSIVOS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45536" y="1389888"/>
            <a:ext cx="2633472" cy="566928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18688" y="1426464"/>
            <a:ext cx="2487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3932"/>
                </a:solidFill>
                <a:latin typeface="Calibri"/>
              </a:rPr>
              <a:t>Clover Brewing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18688" y="1645920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Imersão + vácuo · extração controlada · consistência técnica + elegância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45536" y="2029967"/>
            <a:ext cx="2633472" cy="566928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18688" y="2066543"/>
            <a:ext cx="2487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3932"/>
                </a:solidFill>
                <a:latin typeface="Calibri"/>
              </a:rPr>
              <a:t>Siphon / Vácuo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18688" y="2286000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7–9 min de ritual visual · extração pura e cristalina · espetáculo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45536" y="2670048"/>
            <a:ext cx="2633472" cy="566928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18688" y="2706624"/>
            <a:ext cx="2487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3932"/>
                </a:solidFill>
                <a:latin typeface="Calibri"/>
              </a:rPr>
              <a:t>Pour-Over Cobre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18688" y="2926080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Manual artesanal · barista controla fluxo · ritual contemplativo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45536" y="3310127"/>
            <a:ext cx="2633472" cy="566928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18688" y="3346703"/>
            <a:ext cx="2487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3932"/>
                </a:solidFill>
                <a:latin typeface="Calibri"/>
              </a:rPr>
              <a:t>Cold Brew Trio Flight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18688" y="3566159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3×90ml de cold brews comparativos · experiência de degustação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45536" y="3950208"/>
            <a:ext cx="2633472" cy="566928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18688" y="3986784"/>
            <a:ext cx="2487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3932"/>
                </a:solidFill>
                <a:latin typeface="Calibri"/>
              </a:rPr>
              <a:t>Nitro Cold Brew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18688" y="4206240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Infusão de nitrogênio · textura cremosa · servido em torneira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25312" y="1115568"/>
            <a:ext cx="3063240" cy="256032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16752" y="1143000"/>
            <a:ext cx="28895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FOOD PAIRING &amp; COCKTAILS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25312" y="1389888"/>
            <a:ext cx="3063240" cy="786384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925312" y="1389888"/>
            <a:ext cx="54864" cy="78638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53328" y="1426464"/>
            <a:ext cx="28712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7028"/>
                </a:solidFill>
                <a:latin typeface="Calibri"/>
              </a:rPr>
              <a:t>Rocco Princi (padaria italiana)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53328" y="1645920"/>
            <a:ext cx="287121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Parceria com chef italiano · croissants, focacce, tiramisu · frescor como argumento premium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25312" y="2249424"/>
            <a:ext cx="3063240" cy="786384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925312" y="2249424"/>
            <a:ext cx="54864" cy="78638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53328" y="2286000"/>
            <a:ext cx="28712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7028"/>
                </a:solidFill>
                <a:latin typeface="Calibri"/>
              </a:rPr>
              <a:t>Arriviamo Cocktail Bar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53328" y="2505456"/>
            <a:ext cx="287121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Bar de coquetéis de café no andar superior · Espresso Martini, Ube Espresso Martini · mixologistas especializados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25312" y="3108960"/>
            <a:ext cx="3063240" cy="786384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25312" y="3108960"/>
            <a:ext cx="54864" cy="78638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053328" y="3145536"/>
            <a:ext cx="28712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7028"/>
                </a:solidFill>
                <a:latin typeface="Calibri"/>
              </a:rPr>
              <a:t>Sazonalidade Culinária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53328" y="3364991"/>
            <a:ext cx="287121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Menus trimestrais · verão 2025: Ube Espresso Martini · inverno 2026: Tiramisu e Salted Caramel Latte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925312" y="3968496"/>
            <a:ext cx="3063240" cy="786384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925312" y="3968496"/>
            <a:ext cx="54864" cy="78638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053328" y="4005072"/>
            <a:ext cx="28712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7028"/>
                </a:solidFill>
                <a:latin typeface="Calibri"/>
              </a:rPr>
              <a:t>Merchandise Exclusivo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53328" y="4224528"/>
            <a:ext cx="287121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Xícaras, coldcups, bags com design local · edição limitada por cidade · colecionismo como motor de retorno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9144000" cy="950976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82296"/>
            <a:ext cx="8778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7028"/>
                </a:solidFill>
                <a:latin typeface="Calibri"/>
              </a:rPr>
              <a:t>VOZ DO CONSUMIDOR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743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O que os Clientes Dizem — Review Themes Reais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749808"/>
            <a:ext cx="8778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E8CC"/>
                </a:solidFill>
                <a:latin typeface="Calibri"/>
              </a:rPr>
              <a:t>TripAdvisor · Google Reviews · Substack · Seattle 4.5★ (1.442 avaliações) · Chicago · NYC · Milão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4896612"/>
            <a:ext cx="8778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Alquemia Consulting para Orfeu  ·  Documento Estratégico Interno  ·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115568"/>
            <a:ext cx="882396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1152144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BA258"/>
                </a:solidFill>
                <a:latin typeface="Calibri"/>
              </a:rPr>
              <a:t>Seattle: 4.5★ (1.442 av.)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152144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BA258"/>
                </a:solidFill>
                <a:latin typeface="Calibri"/>
              </a:rPr>
              <a:t>Chicago: 4.6★ (~900 av.)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1152144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BA258"/>
                </a:solidFill>
                <a:latin typeface="Calibri"/>
              </a:rPr>
              <a:t>Milão: 4.3★ (~1.100 av.)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2976" y="1152144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BA258"/>
                </a:solidFill>
                <a:latin typeface="Calibri"/>
              </a:rPr>
              <a:t>Nova York: 3.9★ (~780 av.)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78624" y="1152144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BA258"/>
                </a:solidFill>
                <a:latin typeface="Calibri"/>
              </a:rPr>
              <a:t>Shanghai: 4.4★ (~650 av.)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" y="1389888"/>
            <a:ext cx="4297680" cy="237744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141732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O QUE MAIS AGRADA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" y="1645920"/>
            <a:ext cx="4297680" cy="676656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4592" y="1645920"/>
            <a:ext cx="54864" cy="676656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" y="1682496"/>
            <a:ext cx="4078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A5C2E"/>
                </a:solidFill>
                <a:latin typeface="Calibri"/>
              </a:rPr>
              <a:t>Atmosfera e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" y="1883664"/>
            <a:ext cx="40782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"Parece que o Willy Wonka criou uma cafeteria" · "Como Disneyland para amantes de café"
O processo de torrefação visível cria fascínio imediato. Clientes descrevem como destino turístico — não cafeteria.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" y="2395728"/>
            <a:ext cx="4297680" cy="676656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4592" y="2395728"/>
            <a:ext cx="54864" cy="676656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" y="2432304"/>
            <a:ext cx="4078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A5C2E"/>
                </a:solidFill>
                <a:latin typeface="Calibri"/>
              </a:rPr>
              <a:t>Staff Conhecedor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" y="2633472"/>
            <a:ext cx="40782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"Os baristas sabem tudo sobre cada café" · "Sem pressão, só paixão genuína"
Baristas roaming são elogiados por criar conexão humana. Citações nominais de funcionários são frequentes nas reviews.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" y="3145536"/>
            <a:ext cx="4297680" cy="676656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64592" y="3145536"/>
            <a:ext cx="54864" cy="676656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" y="3182112"/>
            <a:ext cx="4078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A5C2E"/>
                </a:solidFill>
                <a:latin typeface="Calibri"/>
              </a:rPr>
              <a:t>Menu Exclusivo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" y="3383280"/>
            <a:ext cx="40782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"Impossível de encontrar em qualquer outro lugar" · "O cold brew trio mudou minha relação com café"
Drinks como Whiskey Barrel Cold Brew e afogato Reserve geram menções espontâneas de "melhor café da vida".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2" y="3895344"/>
            <a:ext cx="4297680" cy="676656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64592" y="3895344"/>
            <a:ext cx="54864" cy="676656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2608" y="3931920"/>
            <a:ext cx="4078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A5C2E"/>
                </a:solidFill>
                <a:latin typeface="Calibri"/>
              </a:rPr>
              <a:t>Conteúdo Orgânico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" y="4133087"/>
            <a:ext cx="40782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"Passei 2 horas tirando fotos" · "Vale cada centavo só pela foto na torrefadora"
O espaço é organicamente viral. A Reserve não paga por essa mídia — ela é gerada pelo design da experiência.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17720" y="1389888"/>
            <a:ext cx="4370832" cy="237744"/>
          </a:xfrm>
          <a:prstGeom prst="rect">
            <a:avLst/>
          </a:prstGeom>
          <a:solidFill>
            <a:srgbClr val="8B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09160" y="1417320"/>
            <a:ext cx="4187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PONTOS DE FRICÇÃO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17720" y="1645920"/>
            <a:ext cx="4370832" cy="676656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617720" y="1645920"/>
            <a:ext cx="54864" cy="676656"/>
          </a:xfrm>
          <a:prstGeom prst="rect">
            <a:avLst/>
          </a:prstGeom>
          <a:solidFill>
            <a:srgbClr val="8B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45736" y="1682496"/>
            <a:ext cx="4151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1A1A"/>
                </a:solidFill>
                <a:latin typeface="Calibri"/>
              </a:rPr>
              <a:t>Espera e Filas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45736" y="1883664"/>
            <a:ext cx="41513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"30–45 min de espera nas aulas" · "Cheio demais para apreciar o espaço"
Alta demanda incompatível com capacidade operacional. Risco de frustração em horários de pico.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17720" y="2395728"/>
            <a:ext cx="4370832" cy="676656"/>
          </a:xfrm>
          <a:prstGeom prst="rect">
            <a:avLst/>
          </a:prstGeom>
          <a:solidFill>
            <a:srgbClr val="FD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617720" y="2395728"/>
            <a:ext cx="54864" cy="676656"/>
          </a:xfrm>
          <a:prstGeom prst="rect">
            <a:avLst/>
          </a:prstGeom>
          <a:solidFill>
            <a:srgbClr val="8B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45736" y="2432304"/>
            <a:ext cx="4151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1A1A"/>
                </a:solidFill>
                <a:latin typeface="Calibri"/>
              </a:rPr>
              <a:t>Preço vs. Percepção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45736" y="2633472"/>
            <a:ext cx="41513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"Caro demais para ser Starbucks" · "USD 13 por 180ml — sem arrependimento, mas é difícil de justificar"
Tensão entre marca Starbucks (percebida como democrática) e o preço premium reserve.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17720" y="3145536"/>
            <a:ext cx="4370832" cy="676656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17720" y="3145536"/>
            <a:ext cx="54864" cy="676656"/>
          </a:xfrm>
          <a:prstGeom prst="rect">
            <a:avLst/>
          </a:prstGeom>
          <a:solidFill>
            <a:srgbClr val="8B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45736" y="3182112"/>
            <a:ext cx="4151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1A1A"/>
                </a:solidFill>
                <a:latin typeface="Calibri"/>
              </a:rPr>
              <a:t>Confusão Operacional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45736" y="3383280"/>
            <a:ext cx="41513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"Múltiplas estações de pedido sem sinalização clara" · "10 min sem entender onde pedir"
Layout de múltiplos andares gera desorientação em primeira visita. Onboarding ausente.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17720" y="3895344"/>
            <a:ext cx="4370832" cy="676656"/>
          </a:xfrm>
          <a:prstGeom prst="rect">
            <a:avLst/>
          </a:prstGeom>
          <a:solidFill>
            <a:srgbClr val="FD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17720" y="3895344"/>
            <a:ext cx="54864" cy="676656"/>
          </a:xfrm>
          <a:prstGeom prst="rect">
            <a:avLst/>
          </a:prstGeom>
          <a:solidFill>
            <a:srgbClr val="8B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45736" y="3931920"/>
            <a:ext cx="4151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1A1A"/>
                </a:solidFill>
                <a:latin typeface="Calibri"/>
              </a:rPr>
              <a:t>Inconsistência entre unidades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45736" y="4133087"/>
            <a:ext cx="41513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"Depois de Chicago, NYC foi decepcionante" · "Staff do NY precisa aprender com Chicago"
Chicago lidera; NYC tem operação sistematicamente criticada. Brand damage real.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9144000" cy="950976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82296"/>
            <a:ext cx="8778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7028"/>
                </a:solidFill>
                <a:latin typeface="Calibri"/>
              </a:rPr>
              <a:t>PERFORMANCE COMERCIAL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743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Dados Disponíveis · Halo Effect · Modelo de Receita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749808"/>
            <a:ext cx="8778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E8CC"/>
                </a:solidFill>
                <a:latin typeface="Calibri"/>
              </a:rPr>
              <a:t>Starbucks não divulga Reserve separadamente · estimativas de analistas + dados declarados pela empresa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4896612"/>
            <a:ext cx="8778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Alquemia Consulting para Orfeu  ·  Documento Estratégico Interno  ·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115568"/>
            <a:ext cx="2121408" cy="310896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" y="1143000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2–4×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" y="1426464"/>
            <a:ext cx="2121408" cy="1060704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1463040"/>
            <a:ext cx="2011679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  <a:latin typeface="Calibri"/>
              </a:rPr>
              <a:t>Receita estimada Reserve
vs. loja padrão
(analistas, 2024)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5728" y="1115568"/>
            <a:ext cx="2121408" cy="310896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59736" y="1143000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USD 64K/dia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95728" y="1426464"/>
            <a:ext cx="2121408" cy="1060704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59736" y="1463040"/>
            <a:ext cx="2011679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  <a:latin typeface="Calibri"/>
              </a:rPr>
              <a:t>Vendas diárias médias
Xangai Roastery
1º ano de operação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1115568"/>
            <a:ext cx="2121408" cy="310896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90872" y="1143000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USD 23M/ano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26864" y="1426464"/>
            <a:ext cx="2121408" cy="1060704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90872" y="1463040"/>
            <a:ext cx="2011679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  <a:latin typeface="Calibri"/>
              </a:rPr>
              <a:t>Receita anual estimada
Xangai Roastery
(~$64K × 360 dias)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1115568"/>
            <a:ext cx="2121408" cy="310896"/>
          </a:xfrm>
          <a:prstGeom prst="rect">
            <a:avLst/>
          </a:prstGeom>
          <a:solidFill>
            <a:srgbClr val="1A3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22008" y="1143000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USD 1.35M/ano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1426464"/>
            <a:ext cx="2121408" cy="1060704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22008" y="1463040"/>
            <a:ext cx="2011679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  <a:latin typeface="Calibri"/>
              </a:rPr>
              <a:t>Receita média loja
Starbucks EUA padrão
(FY2024, company-op.)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" y="2560320"/>
            <a:ext cx="8823960" cy="237744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" y="2578608"/>
            <a:ext cx="8595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7028"/>
                </a:solidFill>
                <a:latin typeface="Calibri"/>
              </a:rPr>
              <a:t>COMPOSIÇÃO DE RECEITA — MIX ESTIMADO DO ROASTERY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592" y="2816352"/>
            <a:ext cx="2121408" cy="237744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9456" y="28346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55–65%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2" y="3054096"/>
            <a:ext cx="2121408" cy="658368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032" y="3090672"/>
            <a:ext cx="193852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  <a:latin typeface="Calibri"/>
              </a:rPr>
              <a:t>Bebidas Premium
(café + coquetéis)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95728" y="2816352"/>
            <a:ext cx="2121408" cy="237744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50592" y="28346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20–25%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95728" y="3054096"/>
            <a:ext cx="2121408" cy="658368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87168" y="3090672"/>
            <a:ext cx="193852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  <a:latin typeface="Calibri"/>
              </a:rPr>
              <a:t>Food / Padaria
(Rocco Princi)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26864" y="2816352"/>
            <a:ext cx="2121408" cy="23774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81727" y="28346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10–15%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26864" y="3054096"/>
            <a:ext cx="2121408" cy="658368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3" y="3090672"/>
            <a:ext cx="193852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  <a:latin typeface="Calibri"/>
              </a:rPr>
              <a:t>Merchandise
(grãos, xícaras, presentes)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0" y="2816352"/>
            <a:ext cx="2121408" cy="237744"/>
          </a:xfrm>
          <a:prstGeom prst="rect">
            <a:avLst/>
          </a:prstGeom>
          <a:solidFill>
            <a:srgbClr val="1A3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12864" y="28346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3–7%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0" y="3054096"/>
            <a:ext cx="2121408" cy="658368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0" y="3090672"/>
            <a:ext cx="193852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  <a:latin typeface="Calibri"/>
              </a:rPr>
              <a:t>Signature Experiences
(aulas e degustações pagas)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4592" y="3785615"/>
            <a:ext cx="8823960" cy="23774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6032" y="3803904"/>
            <a:ext cx="8595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O EFEITO HALO — O VALOR REAL DA RESERVE PARA A STARBUCKS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4592" y="4041648"/>
            <a:ext cx="2121408" cy="768096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7744" y="4078224"/>
            <a:ext cx="1975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A5C2E"/>
                </a:solidFill>
                <a:latin typeface="Calibri"/>
              </a:rPr>
              <a:t>Credibilidade Premium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7744" y="4297680"/>
            <a:ext cx="19751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A Reserve torna o cappuccino de USD 6 do core mais palatável. Eleva percepção de toda a marca sem requerer visita ao Roastery.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95728" y="4041648"/>
            <a:ext cx="2121408" cy="768096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68880" y="4078224"/>
            <a:ext cx="1975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A5C2E"/>
                </a:solidFill>
                <a:latin typeface="Calibri"/>
              </a:rPr>
              <a:t>Laboratório de Inovação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68880" y="4297680"/>
            <a:ext cx="19751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Nitro Cold Brew e Clover foram testados na Reserve antes de expandir ao core. É o R&amp;D de produto do Starbucks.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26864" y="4041648"/>
            <a:ext cx="2121408" cy="768096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00016" y="4078224"/>
            <a:ext cx="1975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A5C2E"/>
                </a:solidFill>
                <a:latin typeface="Calibri"/>
              </a:rPr>
              <a:t>Mídia Espontânea Global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00016" y="4297680"/>
            <a:ext cx="19751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Centenas de milhares de fotos/vídeos orgânicos por ano. Chicago tem 250K+ seguidores no Instagram do local. CAC = próximo de zero.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58000" y="4041648"/>
            <a:ext cx="2121408" cy="768096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31152" y="4078224"/>
            <a:ext cx="1975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A5C2E"/>
                </a:solidFill>
                <a:latin typeface="Calibri"/>
              </a:rPr>
              <a:t>Engajamento do Loyalty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31152" y="4297680"/>
            <a:ext cx="19751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Membros Rewards que visitam Roastery têm ticket médio 40% superior nas visitas subsequentes ao core (est. analistas, 2023).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9144000" cy="950976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82296"/>
            <a:ext cx="8778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7028"/>
                </a:solidFill>
                <a:latin typeface="Calibri"/>
              </a:rPr>
              <a:t>COMPARAÇÃO ESTRATÉGICA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743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Orfeu vs. Starbucks Reserve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749808"/>
            <a:ext cx="8778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E8CC"/>
                </a:solidFill>
                <a:latin typeface="Calibri"/>
              </a:rPr>
              <a:t>Onde convergimos · onde nos diferenciamos · onde a Orfeu tem vantagem competitiva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4896612"/>
            <a:ext cx="8778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Alquemia Consulting para Orfeu  ·  Documento Estratégico Interno  ·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115568"/>
            <a:ext cx="1920240" cy="237744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" y="11430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DIMENSÃO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1115568"/>
            <a:ext cx="2395728" cy="237744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03704" y="1143000"/>
            <a:ext cx="23042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STARBUCKS RESERVE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08576" y="1115568"/>
            <a:ext cx="2395728" cy="237744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143000"/>
            <a:ext cx="23042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ORFEU (PROJETADO)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68312" y="1115568"/>
            <a:ext cx="1965960" cy="23774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23176" y="1143000"/>
            <a:ext cx="18745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VANTAGEM ORFEU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" y="1371600"/>
            <a:ext cx="1920240" cy="5120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" y="1408176"/>
            <a:ext cx="17922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1A"/>
                </a:solidFill>
                <a:latin typeface="Calibri"/>
              </a:rPr>
              <a:t>Origem da Narrativa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84831" y="1371600"/>
            <a:ext cx="2395728" cy="512064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57984" y="1408176"/>
            <a:ext cx="2267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3932"/>
                </a:solidFill>
                <a:latin typeface="Calibri"/>
              </a:rPr>
              <a:t>EUA (Seattle 1971) · global sem origem específica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1371600"/>
            <a:ext cx="2395728" cy="512064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1408176"/>
            <a:ext cx="2267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2A5C2E"/>
                </a:solidFill>
                <a:latin typeface="Calibri"/>
              </a:rPr>
              <a:t>Brasil · fazendas parceiras identificadas · single-origin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76288" y="1371600"/>
            <a:ext cx="2112264" cy="512064"/>
          </a:xfrm>
          <a:prstGeom prst="rect">
            <a:avLst/>
          </a:prstGeom>
          <a:solidFill>
            <a:srgbClr val="E8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76288" y="1371600"/>
            <a:ext cx="54864" cy="512064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04304" y="1408176"/>
            <a:ext cx="19385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2A5C2E"/>
                </a:solidFill>
                <a:latin typeface="Calibri"/>
              </a:rPr>
              <a:t>Origem = autenticidade. 'Brazilianness' é escassa no specialty EUA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" y="1938528"/>
            <a:ext cx="1920240" cy="5120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7744" y="1975104"/>
            <a:ext cx="17922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1A"/>
                </a:solidFill>
                <a:latin typeface="Calibri"/>
              </a:rPr>
              <a:t>Escala Operacional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84831" y="1938528"/>
            <a:ext cx="2395728" cy="512064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57984" y="1975104"/>
            <a:ext cx="2267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3932"/>
                </a:solidFill>
                <a:latin typeface="Calibri"/>
              </a:rPr>
              <a:t>35.000 sqft · 5 andares · 5 cidades globais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60" y="1938528"/>
            <a:ext cx="2395728" cy="512064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1975104"/>
            <a:ext cx="2267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2A5C2E"/>
                </a:solidFill>
                <a:latin typeface="Calibri"/>
              </a:rPr>
              <a:t>Flagship único (300–600m²) + DTC digital como alavanca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76288" y="1938528"/>
            <a:ext cx="2112264" cy="512064"/>
          </a:xfrm>
          <a:prstGeom prst="rect">
            <a:avLst/>
          </a:prstGeom>
          <a:solidFill>
            <a:srgbClr val="E8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76288" y="1938528"/>
            <a:ext cx="54864" cy="512064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04304" y="1975104"/>
            <a:ext cx="19385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2A5C2E"/>
                </a:solidFill>
                <a:latin typeface="Calibri"/>
              </a:rPr>
              <a:t>Menor escala = mais controle e experiência mais íntima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4592" y="2505456"/>
            <a:ext cx="1920240" cy="5120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7744" y="2542032"/>
            <a:ext cx="17922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1A"/>
                </a:solidFill>
                <a:latin typeface="Calibri"/>
              </a:rPr>
              <a:t>Posicionamento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84831" y="2505456"/>
            <a:ext cx="2395728" cy="512064"/>
          </a:xfrm>
          <a:prstGeom prst="rect">
            <a:avLst/>
          </a:prstGeom>
          <a:solidFill>
            <a:srgbClr val="F0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57984" y="2542032"/>
            <a:ext cx="2267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3932"/>
                </a:solidFill>
                <a:latin typeface="Calibri"/>
              </a:rPr>
              <a:t>Premium dentro do mass-market · tensão com herança popular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0560" y="2505456"/>
            <a:ext cx="2395728" cy="512064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53712" y="2542032"/>
            <a:ext cx="2267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2A5C2E"/>
                </a:solidFill>
                <a:latin typeface="Calibri"/>
              </a:rPr>
              <a:t>Pure premium desde a origem · sem legado de marca de massa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76288" y="2505456"/>
            <a:ext cx="2112264" cy="512064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876288" y="2505456"/>
            <a:ext cx="54864" cy="512064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04304" y="2542032"/>
            <a:ext cx="19385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2A5C2E"/>
                </a:solidFill>
                <a:latin typeface="Calibri"/>
              </a:rPr>
              <a:t>Sem o fardo Starbucks green-and-white. 100% premium signal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4592" y="3072384"/>
            <a:ext cx="1920240" cy="5120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7744" y="3108960"/>
            <a:ext cx="17922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1A"/>
                </a:solidFill>
                <a:latin typeface="Calibri"/>
              </a:rPr>
              <a:t>Conexão com Produtor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84831" y="3072384"/>
            <a:ext cx="2395728" cy="512064"/>
          </a:xfrm>
          <a:prstGeom prst="rect">
            <a:avLst/>
          </a:prstGeom>
          <a:solidFill>
            <a:srgbClr val="F0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57984" y="3108960"/>
            <a:ext cx="2267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3932"/>
                </a:solidFill>
                <a:latin typeface="Calibri"/>
              </a:rPr>
              <a:t>Menção superficial à fazenda · foco no C.A.F.E. program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80560" y="3072384"/>
            <a:ext cx="2395728" cy="512064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53712" y="3108960"/>
            <a:ext cx="2267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2A5C2E"/>
                </a:solidFill>
                <a:latin typeface="Calibri"/>
              </a:rPr>
              <a:t>Anfitrião direto do produtor · visitas, narrativa viva do fazendeiro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76288" y="3072384"/>
            <a:ext cx="2112264" cy="512064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76288" y="3072384"/>
            <a:ext cx="54864" cy="512064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04304" y="3108960"/>
            <a:ext cx="19385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2A5C2E"/>
                </a:solidFill>
                <a:latin typeface="Calibri"/>
              </a:rPr>
              <a:t>Storytelling do produtor é diferencial #1 no specialty americano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64592" y="3639312"/>
            <a:ext cx="1920240" cy="5120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7744" y="3675887"/>
            <a:ext cx="17922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1A"/>
                </a:solidFill>
                <a:latin typeface="Calibri"/>
              </a:rPr>
              <a:t>Curadoria de Produto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84831" y="3639312"/>
            <a:ext cx="2395728" cy="512064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57984" y="3675887"/>
            <a:ext cx="2267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3932"/>
                </a:solidFill>
                <a:latin typeface="Calibri"/>
              </a:rPr>
              <a:t>400+ drinks no core · ~15–20 itens no Reserve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480560" y="3639312"/>
            <a:ext cx="2395728" cy="512064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53712" y="3675887"/>
            <a:ext cx="2267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2A5C2E"/>
                </a:solidFill>
                <a:latin typeface="Calibri"/>
              </a:rPr>
              <a:t>Curadoria radical: 8–12 origens · sazonalidade real · pureza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76288" y="3639312"/>
            <a:ext cx="2112264" cy="512064"/>
          </a:xfrm>
          <a:prstGeom prst="rect">
            <a:avLst/>
          </a:prstGeom>
          <a:solidFill>
            <a:srgbClr val="E8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876288" y="3639312"/>
            <a:ext cx="54864" cy="512064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04304" y="3675887"/>
            <a:ext cx="19385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2A5C2E"/>
                </a:solidFill>
                <a:latin typeface="Calibri"/>
              </a:rPr>
              <a:t>Menos escolha = mais confiança. O sommelier do café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64592" y="4206240"/>
            <a:ext cx="1920240" cy="5120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37744" y="4242816"/>
            <a:ext cx="17922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1A"/>
                </a:solidFill>
                <a:latin typeface="Calibri"/>
              </a:rPr>
              <a:t>Preço Médio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84831" y="4206240"/>
            <a:ext cx="2395728" cy="512064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157984" y="4242816"/>
            <a:ext cx="2267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3932"/>
                </a:solidFill>
                <a:latin typeface="Calibri"/>
              </a:rPr>
              <a:t>USD 8–15 por drink · flights USD 15–35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80560" y="4206240"/>
            <a:ext cx="2395728" cy="512064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53712" y="4242816"/>
            <a:ext cx="2267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2A5C2E"/>
                </a:solidFill>
                <a:latin typeface="Calibri"/>
              </a:rPr>
              <a:t>USD 7–14 por drink · kits USD 18–28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76288" y="4206240"/>
            <a:ext cx="2112264" cy="512064"/>
          </a:xfrm>
          <a:prstGeom prst="rect">
            <a:avLst/>
          </a:prstGeom>
          <a:solidFill>
            <a:srgbClr val="E8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876288" y="4206240"/>
            <a:ext cx="54864" cy="512064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004304" y="4242816"/>
            <a:ext cx="19385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2A5C2E"/>
                </a:solidFill>
                <a:latin typeface="Calibri"/>
              </a:rPr>
              <a:t>Price parity viável + melhor justificativa de valor (origem única)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9144000" cy="950976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82296"/>
            <a:ext cx="8778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7028"/>
                </a:solidFill>
                <a:latin typeface="Calibri"/>
              </a:rPr>
              <a:t>LIÇÕES PARA A ORFEU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743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6 Aprendizados Acionáveis — Replicar, Evitar, Inovar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749808"/>
            <a:ext cx="8778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E8CC"/>
                </a:solidFill>
                <a:latin typeface="Calibri"/>
              </a:rPr>
              <a:t>Ângulo: retail premium experiencial como alavanca de entrada da Orfeu nos EUA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4896612"/>
            <a:ext cx="8778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Alquemia Consulting para Orfeu  ·  Documento Estratégico Interno  ·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115568"/>
            <a:ext cx="2834640" cy="237744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" y="115214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REPLICAR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5" y="1152144"/>
            <a:ext cx="18836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O teatro é o produto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" y="1353312"/>
            <a:ext cx="2834640" cy="1536192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" y="1408176"/>
            <a:ext cx="2651760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A Reserve prova que o consumidor paga USD 13 por 180ml quando o ato de preparar é visível e teatral. Para a Orfeu: o ritual de preparo à vista — o Chemex em cobre, o barista explicando a fazenda, a xícara escolhida pelo cliente. A experiência física justifica o preço, não apenas o café.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45536" y="1115568"/>
            <a:ext cx="2834640" cy="237744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18688" y="115214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REPLICAR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1152144"/>
            <a:ext cx="18836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Signature Experience como produto autônomo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45536" y="1353312"/>
            <a:ext cx="2834640" cy="1536192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36976" y="1408176"/>
            <a:ext cx="2651760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As 'Signature Experiences' da Reserve (USD 15–40/pessoa) monetizam educação, criam evangelizadores e geram o conteúdo orgânico mais rico. A Orfeu deve criar o 'Ritual Orfeu' — 45 min com barista, história da fazenda, método demonstrado, harmonização com elemento brasileiro.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79" y="1115568"/>
            <a:ext cx="2834640" cy="23774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1" y="115214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REPLICAR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4303" y="1152144"/>
            <a:ext cx="18836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Scarcity como ferramenta de marca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79" y="1353312"/>
            <a:ext cx="2834640" cy="1536192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19" y="1408176"/>
            <a:ext cx="2651760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A Reserve rotaciona origens semestralmente e cria blends exclusivos por cidade, gerando urgência de visita e FOMO orgânico. A Orfeu deve comunicar cada origem como 'janela de safra' — disponível por 90 dias, depois encerrado. Cria colecionismo e fidelidade de retorno.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" y="2907791"/>
            <a:ext cx="2834640" cy="237744"/>
          </a:xfrm>
          <a:prstGeom prst="rect">
            <a:avLst/>
          </a:prstGeom>
          <a:solidFill>
            <a:srgbClr val="1A3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7744" y="294436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EVITAR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5" y="2944368"/>
            <a:ext cx="18836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Escala antes de dominar a experiência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592" y="3145535"/>
            <a:ext cx="2834640" cy="1536192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" y="3200399"/>
            <a:ext cx="2651760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O maior erro da Reserve foi projetar 1.000 lojas antes de dominar a experiência em 5. A inconsistência entre Chicago (excelente) e NYC (criticado) mostra que dilution of experience is brand damage. A Orfeu deve começar com 1 flagship perfeito e escalar só quando clonável.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45536" y="2907791"/>
            <a:ext cx="2834640" cy="237744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18688" y="294436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EVITAR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2944368"/>
            <a:ext cx="18836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A tensão marca de massa vs. premium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45536" y="3145535"/>
            <a:ext cx="2834640" cy="1536192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36976" y="3200399"/>
            <a:ext cx="2651760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O Starbucks carrega o peso de ser percebido como acessível — dificulta a justificativa do preço Reserve. A Orfeu não tem esse problema: nasceu premium, sem herança de mass market. Nunca dilua a marca com produtos de entrada. Cada ponto de contato deve reforçar 'Mestre Anfitrião'.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79" y="2907791"/>
            <a:ext cx="2834640" cy="237744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9631" y="294436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INOVAR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04303" y="2944368"/>
            <a:ext cx="18836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A origem brasileira como vantagem exclusiva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79" y="3145535"/>
            <a:ext cx="2834640" cy="1536192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19" y="3200399"/>
            <a:ext cx="2651760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A Reserve nunca tem uma única origem — é agregador global. A Orfeu é UMA origem: Brasil. Isso é raro no specialty americano onde Etiópia, Colômbia e Quênia dominam. Ser 'o embaixador definitivo do café brasileiro premium' nos EUA é um espaço vazio disponível. Nenhuma marca especializada ocupa esse lugar com força hoje.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9144000" cy="950976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82296"/>
            <a:ext cx="8778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7028"/>
                </a:solidFill>
                <a:latin typeface="Calibri"/>
              </a:rPr>
              <a:t>PRÓXIMOS PASSOS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743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Oportunidades de Benchmarking Ativo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749808"/>
            <a:ext cx="8778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E8CC"/>
                </a:solidFill>
                <a:latin typeface="Calibri"/>
              </a:rPr>
              <a:t>Da análise à ação — como transformar o aprendizado da Reserve em vantagem competitiva para a Orfeu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4896612"/>
            <a:ext cx="8778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Alquemia Consulting para Orfeu  ·  Documento Estratégico Interno  ·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115568"/>
            <a:ext cx="425196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1143000"/>
            <a:ext cx="4069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7028"/>
                </a:solidFill>
                <a:latin typeface="Calibri"/>
              </a:rPr>
              <a:t>AÇÕES IMEDIATAS (0–90 DIAS)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" y="1389888"/>
            <a:ext cx="4251960" cy="768096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4592" y="1389888"/>
            <a:ext cx="329184" cy="768096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" y="1591056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426464"/>
            <a:ext cx="37856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A5C2E"/>
                </a:solidFill>
                <a:latin typeface="Calibri"/>
              </a:rPr>
              <a:t>Visita física às 2 Roasteries EUA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45920"/>
            <a:ext cx="378561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Equipe Orfeu visita Chicago e Nova York Reserve como consumidores. Fotografar, degustar, avaliar cada detalhe operacional. Budget estimado: USD 3.500 (2 pessoas, 4 dias).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" y="2231136"/>
            <a:ext cx="4251960" cy="768096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4592" y="2231136"/>
            <a:ext cx="329184" cy="768096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" y="2432304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267712"/>
            <a:ext cx="37856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A5C2E"/>
                </a:solidFill>
                <a:latin typeface="Calibri"/>
              </a:rPr>
              <a:t>Análise de menu com precificação real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2487168"/>
            <a:ext cx="378561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Mapear menu completo com todos os preços in-loco. Identificar quais produtos a Orfeu poderia criar com identidade brasileira (ex: 'Voo do Fazendeiro' como versão do coffee flight).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" y="3072384"/>
            <a:ext cx="4251960" cy="768096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4592" y="3072384"/>
            <a:ext cx="329184" cy="768096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" y="3273552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108960"/>
            <a:ext cx="37856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A5C2E"/>
                </a:solidFill>
                <a:latin typeface="Calibri"/>
              </a:rPr>
              <a:t>Benchmark de reviews sistemático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328416"/>
            <a:ext cx="378561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Monitorar TripAdvisor, Yelp e Google das 2 Roasteries mensalmente. Identificar mudanças de menu, novos problemas, evolução de sentimento. Fonte gratuita de inteligência contínua.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" y="3913632"/>
            <a:ext cx="4251960" cy="768096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4592" y="3913632"/>
            <a:ext cx="329184" cy="768096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4592" y="4114800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950208"/>
            <a:ext cx="37856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A5C2E"/>
                </a:solidFill>
                <a:latin typeface="Calibri"/>
              </a:rPr>
              <a:t>Definir o 'Ritual Orfeu' como âncora experiencial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169664"/>
            <a:ext cx="378561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Com base na Signature Experience da Reserve, criar o protocolo de experiência guiada Orfeu: roteiro, harmonização, preço, duração. Testar em SP antes de exportar aos EUA.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1115568"/>
            <a:ext cx="4416552" cy="256032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1143000"/>
            <a:ext cx="42428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PERGUNTAS ESTRATÉGICAS ABERTAS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1389888"/>
            <a:ext cx="4416552" cy="603504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0" y="1389888"/>
            <a:ext cx="54864" cy="60350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0016" y="1426464"/>
            <a:ext cx="4224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A5C2E"/>
                </a:solidFill>
                <a:latin typeface="Calibri"/>
              </a:rPr>
              <a:t>Modelo de negócio: próprio ou parceiro?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0016" y="1645920"/>
            <a:ext cx="4224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 Reserve exige capital intensivo. A Orfeu deve entrar via flagship próprio, licensing com café parceiro americano, ou pop-up em hotel boutique como ponto de entrada?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2066543"/>
            <a:ext cx="4416552" cy="603504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0" y="2066543"/>
            <a:ext cx="54864" cy="603504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00016" y="2103120"/>
            <a:ext cx="4224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A5C2E"/>
                </a:solidFill>
                <a:latin typeface="Calibri"/>
              </a:rPr>
              <a:t>Qual é a 'cidade de estreia' certa?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0016" y="2322576"/>
            <a:ext cx="4224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NYC tem oversaturation de specialty. Chicago tem a Reserve dominante. Miami, LA, SF, Boston — qual mercado tem demanda + gap de Brazilian specialty?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743200"/>
            <a:ext cx="4416552" cy="603504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2743200"/>
            <a:ext cx="54864" cy="60350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00016" y="2779776"/>
            <a:ext cx="4224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A5C2E"/>
                </a:solidFill>
                <a:latin typeface="Calibri"/>
              </a:rPr>
              <a:t>Como construir a equipe local?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00016" y="2999232"/>
            <a:ext cx="4224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Um barista-embaixador brasileiro treinado pela Orfeu é o ativo mais valioso. Quem seria? Qual é o plano de formação e retenção?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0" y="3419856"/>
            <a:ext cx="4416552" cy="603504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0" y="3419856"/>
            <a:ext cx="54864" cy="603504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00016" y="3456432"/>
            <a:ext cx="4224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A5C2E"/>
                </a:solidFill>
                <a:latin typeface="Calibri"/>
              </a:rPr>
              <a:t>Digital first, loja depois — ou simultâneo?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00016" y="3675887"/>
            <a:ext cx="4224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 Reserve não tem DTC forte. A Orfeu pode inverter: construir audiência digital americana primeiro (Amazon, Shopify, influenciadores) e abrir a loja quando a demanda já existir.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0" y="4096512"/>
            <a:ext cx="4416552" cy="603504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0" y="4096512"/>
            <a:ext cx="54864" cy="60350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00016" y="4133088"/>
            <a:ext cx="4224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A5C2E"/>
                </a:solidFill>
                <a:latin typeface="Calibri"/>
              </a:rPr>
              <a:t>Qual o ticket médio mínimo para viabilidade?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00016" y="4352544"/>
            <a:ext cx="4224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Com base nos dados Reserve, qual seria o break-even de 300m² em NYC? Quantos covers/dia são necessários? Este número é atingível com a proposta Orfeu?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9144000" cy="27432"/>
          </a:xfrm>
          <a:prstGeom prst="rect">
            <a:avLst/>
          </a:prstGeom>
          <a:solidFill>
            <a:srgbClr val="CBA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663440"/>
            <a:ext cx="9144000" cy="27432"/>
          </a:xfrm>
          <a:prstGeom prst="rect">
            <a:avLst/>
          </a:prstGeom>
          <a:solidFill>
            <a:srgbClr val="CBA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BA258"/>
                </a:solidFill>
                <a:latin typeface="Calibri"/>
              </a:rPr>
              <a:t>O MANIFESTO RESERVE  ·  A Ideia Por Trás da Marca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Há café.
E há café Reserve.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5564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BA258"/>
                </a:solidFill>
                <a:latin typeface="Calibri"/>
              </a:rPr>
              <a:t>A Reserve não é o próximo passo na experiência de café.
É uma categoria à parte.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423160"/>
            <a:ext cx="2743200" cy="27432"/>
          </a:xfrm>
          <a:prstGeom prst="rect">
            <a:avLst/>
          </a:prstGeom>
          <a:solidFill>
            <a:srgbClr val="CBA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560320"/>
            <a:ext cx="2066543" cy="256032"/>
          </a:xfrm>
          <a:prstGeom prst="rect">
            <a:avLst/>
          </a:prstGeom>
          <a:solidFill>
            <a:srgbClr val="CBA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2587752"/>
            <a:ext cx="1901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E3932"/>
                </a:solidFill>
                <a:latin typeface="Calibri"/>
              </a:rPr>
              <a:t>RARIDADE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816352"/>
            <a:ext cx="2066543" cy="1463040"/>
          </a:xfrm>
          <a:prstGeom prst="rect">
            <a:avLst/>
          </a:prstGeom>
          <a:solidFill>
            <a:srgbClr val="16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871216"/>
            <a:ext cx="186537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4BE96"/>
                </a:solidFill>
                <a:latin typeface="Calibri"/>
              </a:rPr>
              <a:t>Cada grão é selecionado de uma única origem, uma única safra, uma única cooperativa. Não existirá novamente.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32304" y="2560320"/>
            <a:ext cx="2066543" cy="256032"/>
          </a:xfrm>
          <a:prstGeom prst="rect">
            <a:avLst/>
          </a:prstGeom>
          <a:solidFill>
            <a:srgbClr val="CBA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23744" y="2587752"/>
            <a:ext cx="1901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E3932"/>
                </a:solidFill>
                <a:latin typeface="Calibri"/>
              </a:rPr>
              <a:t>ARTESANATO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32304" y="2816352"/>
            <a:ext cx="2066543" cy="1463040"/>
          </a:xfrm>
          <a:prstGeom prst="rect">
            <a:avLst/>
          </a:prstGeom>
          <a:solidFill>
            <a:srgbClr val="16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42032" y="2871216"/>
            <a:ext cx="186537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4BE96"/>
                </a:solidFill>
                <a:latin typeface="Calibri"/>
              </a:rPr>
              <a:t>Do siphon ao Clover, cada preparo é um ato de atenção deliberada. O barista é o artista; o café, o medium.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08576" y="2560320"/>
            <a:ext cx="2066543" cy="256032"/>
          </a:xfrm>
          <a:prstGeom prst="rect">
            <a:avLst/>
          </a:prstGeom>
          <a:solidFill>
            <a:srgbClr val="CBA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0016" y="2587752"/>
            <a:ext cx="1901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E3932"/>
                </a:solidFill>
                <a:latin typeface="Calibri"/>
              </a:rPr>
              <a:t>RITUAL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08576" y="2816352"/>
            <a:ext cx="2066543" cy="1463040"/>
          </a:xfrm>
          <a:prstGeom prst="rect">
            <a:avLst/>
          </a:prstGeom>
          <a:solidFill>
            <a:srgbClr val="16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18304" y="2871216"/>
            <a:ext cx="186537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4BE96"/>
                </a:solidFill>
                <a:latin typeface="Calibri"/>
              </a:rPr>
              <a:t>A Reserve não é uma parada no caminho. É o destino. O tempo que você escolhe dedicar ao extraordinário.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560320"/>
            <a:ext cx="2066543" cy="256032"/>
          </a:xfrm>
          <a:prstGeom prst="rect">
            <a:avLst/>
          </a:prstGeom>
          <a:solidFill>
            <a:srgbClr val="CBA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2587752"/>
            <a:ext cx="1901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E3932"/>
                </a:solidFill>
                <a:latin typeface="Calibri"/>
              </a:rPr>
              <a:t>DESCOBERTA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84848" y="2816352"/>
            <a:ext cx="2066543" cy="1463040"/>
          </a:xfrm>
          <a:prstGeom prst="rect">
            <a:avLst/>
          </a:prstGeom>
          <a:solidFill>
            <a:srgbClr val="16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94576" y="2871216"/>
            <a:ext cx="186537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4BE96"/>
                </a:solidFill>
                <a:latin typeface="Calibri"/>
              </a:rPr>
              <a:t>Cada visita revela uma origem diferente, um método novo, uma história de um fazendeiro que você nunca conhecerá pessoalmente — mas sentirá na xícara.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4315968"/>
            <a:ext cx="9144000" cy="347472"/>
          </a:xfrm>
          <a:prstGeom prst="rect">
            <a:avLst/>
          </a:prstGeom>
          <a:solidFill>
            <a:srgbClr val="0D1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389120"/>
            <a:ext cx="8046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1">
                <a:solidFill>
                  <a:srgbClr val="CBA258"/>
                </a:solidFill>
                <a:latin typeface="Calibri"/>
              </a:rPr>
              <a:t>"Coffee as Theater."  ·  Howard Schultz, fundador do conceito Reserve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D1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" y="4896612"/>
            <a:ext cx="8778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AA88"/>
                </a:solidFill>
                <a:latin typeface="Calibri"/>
              </a:rPr>
              <a:t>Alquemia Consulting para Orfeu  ·  Documento Estratégico Interno  · 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595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BA258"/>
                </a:solidFill>
                <a:latin typeface="Calibri"/>
              </a:rPr>
              <a:t>BOOK VISUAL RESERVE  ·  FACHADAS &amp; ARQUITETURA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56032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Exteriors — Chicago · Shanghai · Milano · New York · Tokyo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4896612"/>
            <a:ext cx="8778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Alquemia Consulting para Orfeu  ·  Documento Estratégico Interno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822960"/>
            <a:ext cx="4315968" cy="3840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520190"/>
            <a:ext cx="4315968" cy="24460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64592" y="4663440"/>
            <a:ext cx="4315968" cy="201168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" y="4690872"/>
            <a:ext cx="4187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Chicago Roastery — Magnificent Mile  ·  2019 · 35.000 sqft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26864" y="822960"/>
            <a:ext cx="2139696" cy="182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822960"/>
            <a:ext cx="1828800" cy="18288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626864" y="2633472"/>
            <a:ext cx="2139696" cy="201168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0016" y="2660903"/>
            <a:ext cx="2011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Shanghai Roastery  ·  2017 · 30.000 sqft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12864" y="822960"/>
            <a:ext cx="2075688" cy="182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6307" y="822960"/>
            <a:ext cx="1828800" cy="18288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912864" y="2633472"/>
            <a:ext cx="2075688" cy="201168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86016" y="2660903"/>
            <a:ext cx="19476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Milano · Palazzo Broggi  ·  2018 · 25.000 sqft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26864" y="2889504"/>
            <a:ext cx="2139696" cy="177393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744" y="2889504"/>
            <a:ext cx="1773936" cy="177393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626864" y="4645152"/>
            <a:ext cx="2139696" cy="201168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0016" y="4672584"/>
            <a:ext cx="2011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New York · Chelsea  ·  2018 · 23.000 sqft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12864" y="2889504"/>
            <a:ext cx="2075688" cy="177393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3740" y="2889504"/>
            <a:ext cx="1773936" cy="1773936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912864" y="4645152"/>
            <a:ext cx="2075688" cy="201168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86016" y="4672584"/>
            <a:ext cx="19476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Tokyo Roastery  ·  2019 · 32.000 sqft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595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BA258"/>
                </a:solidFill>
                <a:latin typeface="Calibri"/>
              </a:rPr>
              <a:t>BOOK VISUAL RESERVE  ·  O INTERIOR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56032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Teatro da Torrefação · Cobre · Tubos Pneumáticos · Multi-piso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4896612"/>
            <a:ext cx="8778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Alquemia Consulting para Orfeu  ·  Documento Estratégico Interno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822960"/>
            <a:ext cx="8823960" cy="223113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610" y="822960"/>
            <a:ext cx="3963924" cy="223113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64592" y="3035808"/>
            <a:ext cx="8823960" cy="201168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" y="3063239"/>
            <a:ext cx="86959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Chicago Roastery — Vista interna do cask central e espiral de acesso  ·  5 andares · casco esculpido de 17m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" y="3255264"/>
            <a:ext cx="2852928" cy="1371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255264"/>
            <a:ext cx="1371600" cy="13716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64592" y="4608576"/>
            <a:ext cx="2852928" cy="201168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" y="4636008"/>
            <a:ext cx="27249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Chicago — coffee bar principal  ·  1º andar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63824" y="3255264"/>
            <a:ext cx="2852928" cy="1371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850" y="3255264"/>
            <a:ext cx="2436876" cy="13716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3163824" y="4608576"/>
            <a:ext cx="2852928" cy="201168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36976" y="4636008"/>
            <a:ext cx="27249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Experience Bar — 3º andar Chicago  ·  Brewing lab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3255264"/>
            <a:ext cx="2825496" cy="1371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2794" y="3255264"/>
            <a:ext cx="2446020" cy="13716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163056" y="4608576"/>
            <a:ext cx="2825496" cy="201168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8" y="4636008"/>
            <a:ext cx="26974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Shanghai — 88-foot coffee bar  ·  Record length, 2017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595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BA258"/>
                </a:solidFill>
                <a:latin typeface="Calibri"/>
              </a:rPr>
              <a:t>BOOK VISUAL RESERVE  ·  EXPERIÊNCIAS DE PREPARO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56032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Siphon · Pour-Over · Cold Brew · Reserve Baristas ao Vivo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4896612"/>
            <a:ext cx="8778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Alquemia Consulting para Orfeu  ·  Documento Estratégico Interno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822960"/>
            <a:ext cx="3200400" cy="3840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822960"/>
            <a:ext cx="2743200" cy="38404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64592" y="4645152"/>
            <a:ext cx="3200400" cy="201168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" y="4672584"/>
            <a:ext cx="30723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Cold Brew Trio Flight — USD 13 por 10oz  ·  NYC / Chicago Roastery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1296" y="822960"/>
            <a:ext cx="2743200" cy="186537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8" y="822960"/>
            <a:ext cx="1865376" cy="186537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511296" y="2670048"/>
            <a:ext cx="2743200" cy="201168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4448" y="2697479"/>
            <a:ext cx="26151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Siphon Brewing — 7–9 min de ritual visual  ·  Exclusivo Reserve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91656" y="822960"/>
            <a:ext cx="2596896" cy="186537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822960"/>
            <a:ext cx="1865376" cy="186537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91656" y="2670048"/>
            <a:ext cx="2596896" cy="201168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2697479"/>
            <a:ext cx="24688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Clover Machine — extração por vácuo  ·  Propriedade exclusiva Starbucks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11296" y="2907792"/>
            <a:ext cx="2743200" cy="17373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4215" y="2907792"/>
            <a:ext cx="1737360" cy="173736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3511296" y="4626864"/>
            <a:ext cx="2743200" cy="201168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84448" y="4654296"/>
            <a:ext cx="26151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Siphon Flight — degustação guiada  ·  Reserve Experience Bar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91656" y="2907792"/>
            <a:ext cx="2596896" cy="17373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656" y="2912364"/>
            <a:ext cx="2596896" cy="1728216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391656" y="4626864"/>
            <a:ext cx="2596896" cy="201168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8" y="4654296"/>
            <a:ext cx="24688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Cold Coffee Innovation — NYC  ·  May 2024 Collection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595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BA258"/>
                </a:solidFill>
                <a:latin typeface="Calibri"/>
              </a:rPr>
              <a:t>BOOK VISUAL RESERVE  ·  GASTRONOMIA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56032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Arriviamo Cocktail Bar · Rocco Princi · Food Pairing Premium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4896612"/>
            <a:ext cx="8778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Alquemia Consulting para Orfeu  ·  Documento Estratégico Interno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822960"/>
            <a:ext cx="4315968" cy="3840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5" y="822960"/>
            <a:ext cx="3840480" cy="38404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64592" y="4645152"/>
            <a:ext cx="4315968" cy="201168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" y="4672584"/>
            <a:ext cx="4187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Signature Experience — Art of the Espresso Martini  ·  Aula paga · USD 35/pessoa · Chicago &amp; NYC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26864" y="822960"/>
            <a:ext cx="2093976" cy="177393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883" y="822960"/>
            <a:ext cx="1773936" cy="177393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626864" y="2578608"/>
            <a:ext cx="2093976" cy="201168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0016" y="2606039"/>
            <a:ext cx="1965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Espresso Martini Reserve  ·  Arriviamo Bar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76288" y="822960"/>
            <a:ext cx="2112264" cy="177393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631" y="822960"/>
            <a:ext cx="1179575" cy="177393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876288" y="2578608"/>
            <a:ext cx="2112264" cy="201168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2606039"/>
            <a:ext cx="1984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Reserve Espresso — Empire State Bldg  ·  NYC 2023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26864" y="2816352"/>
            <a:ext cx="2093976" cy="182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5775" y="2816352"/>
            <a:ext cx="1216152" cy="18288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626864" y="4626864"/>
            <a:ext cx="2093976" cy="201168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0016" y="4654296"/>
            <a:ext cx="1965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ESB Restaurant Table — NYC  ·  Food &amp; Beverage experience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76288" y="2816352"/>
            <a:ext cx="2112264" cy="182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8020" y="2816352"/>
            <a:ext cx="1828800" cy="182880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876288" y="4626864"/>
            <a:ext cx="2112264" cy="201168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4654296"/>
            <a:ext cx="1984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Reserve Drink — Chicago  ·  Specialty creation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595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BA258"/>
                </a:solidFill>
                <a:latin typeface="Calibri"/>
              </a:rPr>
              <a:t>BOOK VISUAL RESERVE  ·  RETAIL &amp; GEAR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56032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Merchandise · Coffee Gear · Espaço de Descoberta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4896612"/>
            <a:ext cx="8778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Alquemia Consulting para Orfeu  ·  Documento Estratégico Interno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822960"/>
            <a:ext cx="4315968" cy="3840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5" y="822960"/>
            <a:ext cx="2560320" cy="38404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64592" y="4645152"/>
            <a:ext cx="4315968" cy="201168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" y="4672584"/>
            <a:ext cx="4187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Reserve Retail — Espaço de Descoberta  ·  Curadoria de equipamentos e acessórios premium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26864" y="822960"/>
            <a:ext cx="4361688" cy="190195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244" y="822960"/>
            <a:ext cx="2852928" cy="190195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626864" y="2706624"/>
            <a:ext cx="4361688" cy="201168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0016" y="2734056"/>
            <a:ext cx="42336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Reserve Coffee Bag — apresentação premium em grãos  ·  Design exclusivo por origem · edição limitada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26864" y="2944368"/>
            <a:ext cx="2093976" cy="1700784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6924" y="2944368"/>
            <a:ext cx="1133856" cy="170078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626864" y="4626864"/>
            <a:ext cx="2093976" cy="201168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0016" y="4654296"/>
            <a:ext cx="1965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Reserve Store Display  ·  Retail experience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76288" y="2944368"/>
            <a:ext cx="2112264" cy="1700784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6288" y="3090672"/>
            <a:ext cx="2112264" cy="140817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876288" y="4626864"/>
            <a:ext cx="2112264" cy="201168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4654296"/>
            <a:ext cx="1984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Reserve Bar Interior  ·  Equipment &amp; coffee bar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595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BA258"/>
                </a:solidFill>
                <a:latin typeface="Calibri"/>
              </a:rPr>
              <a:t>BOOK VISUAL RESERVE  ·  PORTFOLIO DE GRÃOS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56032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Single Origins · Micro-Lots · Seasonal Offerings · Whole Bean &amp; Retail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4896612"/>
            <a:ext cx="8778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Alquemia Consulting para Orfeu  ·  Documento Estratégico Interno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822960"/>
            <a:ext cx="2816352" cy="29260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877824"/>
            <a:ext cx="2816352" cy="281635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64592" y="3730752"/>
            <a:ext cx="2816352" cy="201168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" y="3758184"/>
            <a:ext cx="26883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Rwanda Abakundakawa  ·  Light roast · notas de jasmim e damasco · Cooperativa feminina Lago Kivu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27248" y="822960"/>
            <a:ext cx="2816352" cy="29260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248" y="877824"/>
            <a:ext cx="2816352" cy="281635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127248" y="3730752"/>
            <a:ext cx="2816352" cy="201168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3758184"/>
            <a:ext cx="26883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Colombia Nariño 'Granos de Esperanza'  ·  Medium · caramelo, pistache tostado · altitude 2.000m+ · 2025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9904" y="822960"/>
            <a:ext cx="2898648" cy="29260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904" y="836676"/>
            <a:ext cx="2898648" cy="289864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089904" y="3730752"/>
            <a:ext cx="2898648" cy="201168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63056" y="3758184"/>
            <a:ext cx="27706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Guatemala Whiskey Barrel-Aged  ·  Aged in Knob Creek bourbon barrels · notas de baunilha e carvalho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" y="3931920"/>
            <a:ext cx="2011680" cy="7315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931920"/>
            <a:ext cx="731520" cy="73152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164592" y="4645152"/>
            <a:ext cx="2011680" cy="201168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" y="4672584"/>
            <a:ext cx="18836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Whole Bean — embalagem premium  ·  USD 16–23 por bag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22576" y="3931920"/>
            <a:ext cx="2011680" cy="7315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0390" y="3931920"/>
            <a:ext cx="416052" cy="73152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2322576" y="4645152"/>
            <a:ext cx="2011680" cy="201168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95728" y="4672584"/>
            <a:ext cx="18836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Shanghai — seleção de origens ao vivo  ·  Torrefação in-loco diária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3931920"/>
            <a:ext cx="4507992" cy="731520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3986784"/>
            <a:ext cx="433425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A5C2E"/>
                </a:solidFill>
                <a:latin typeface="Calibri"/>
              </a:rPr>
              <a:t>Rotação trimestral de origens  ·  Blends microlocais exclusivos por Roastery  ·  Sazonalidade como escassez intencional
Cada origin card conta a história do fazendeiro · Preço do bag: USD 16–23 · Whiskey Barrel bag especial: USD 42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60" y="4645152"/>
            <a:ext cx="4507992" cy="201168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4663440"/>
            <a:ext cx="43342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Portfolio como colecionismo — consumidores retornam para a próxima origem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