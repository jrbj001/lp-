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002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D4C2A"/>
                </a:solidFill>
              </a:rPr>
              <a:t>CASE DE MARCA — EXPANSÃO EUA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Peet's Coffee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806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The Original Specialty Coffee · Berkeley 1966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236976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46704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888"/>
                </a:solidFill>
              </a:rPr>
              <a:t>O padrinho do café americano: como Peet's construiu credibilidade de 60 anos e depois usou M&amp;A para consolidar o mercado specialty e se tornar o grupo que define o premium americano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Estrutura do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1536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Heritage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081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Alfred Peet ao grupo JAB de $900M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7" y="11536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11521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4081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Revenue, M&amp;A portfolio, canais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18013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7998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0558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 padrinho: credibilidade antes de marketing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7" y="18013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7" y="17998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7" y="20558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Framework: heritage + community + craft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" y="24490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4475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Ho.Re.Ca. &amp; Cafés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27035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350+ cafés US + wholesale B2B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7" y="24490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7" y="24475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7" y="27035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Beans, subscription, Peet's + Stumptown + Intelligentsia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0967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30952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EUA — Domínio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33512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Berkeley para nacional: como escalou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27447" y="30967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7" y="30952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M&amp;A 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7" y="33512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Stumptown + Intelligentsia: consolidação do specialty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" y="37444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37429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Digital &amp; DTC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39989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Subscription, app, loyalty program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27447" y="37444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3207" y="37429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3207" y="39989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Sourcing, B Corp, climate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" y="43921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43906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" y="46466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 de performance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10896" cy="5516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7" y="43921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3207" y="43906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D4C2A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93207" y="46466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M&amp;A e consolidação como modelo para Orfeu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Trajetória &amp; Marcos Estratégicos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Inovações estruturais e decisões que definiram o modelo de negócio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1966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Alfred Peet Funda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Alfred Peet, imigrante holandês treinado no negócio de café colonial, abre a primeira Peet's em Berkeley. Importa tradição europeia de torra escura e grão de alta qualidade para os EUA — inventa o specialty coffee americano.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1971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Ensina Starbucks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Alfred Peet treina pessoalmente os fundadores da Starbucks — Howard Schultz aprende o modelo com Peet. Peet's é o DNA original de toda a terceira onda americana.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1984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Rede Regional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Peet's expande pelo Bay Area — fidelidade cult entre consumidores do norte da Califórnia. Reputação de qualidade absoluta sem marketing pago.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2001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IPO Nasdaq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Peet's abre capital — $59M levantados. Financia expansão nacional para LA, NYC, Chicago e Pacific Northwest.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2012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JAB Holding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Adquirida por JAB Holding por ~$1B. JAB usa Peet's como plataforma de M&amp;A para consolidar o mercado specialty americano.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Stumptown + Intelligentsia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JAB/Peet's adquire Stumptown (~$100M) e Intelligentsia no mesmo ano. Cria grupo de três marcas specialty independentes mas com infrastructure compartilhada.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D4C2A"/>
                </a:solidFill>
              </a:rPr>
              <a:t>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~$900M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Peet's + Stumptown + Intelligentsia combinados: ~$900M em receita estimada. 350+ cafés Peet's + 10 Stumptown + 16 Intelligentsia = maior grupo specialty independente dos EUA.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Arquitetura Financeira &amp; Métricas Globais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Performance econômica, mix de canais e geografias de crescimento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536192" cy="329184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PEET'S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78992"/>
            <a:ext cx="1536192" cy="329184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3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GRUPO JAB COFFEE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78992"/>
            <a:ext cx="1536192" cy="329184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5583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estimada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~$600M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3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~$900M grupo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3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Privado — estimativa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Cafés próprios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773936"/>
            <a:ext cx="153619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350+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773936"/>
            <a:ext cx="153619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1103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376 total (P+S+I)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773936"/>
            <a:ext cx="153619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3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US predominante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Subscription DTC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~20% receita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1103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Crescendo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5583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 Coffee Club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Wholesale B2B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468880"/>
            <a:ext cx="153619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~30% receita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468880"/>
            <a:ext cx="153619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Crescente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2468880"/>
            <a:ext cx="1536192" cy="32918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15583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Cafés, universidades, hotéis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816352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86207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Preço médio bag 12oz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$14–22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$14–32 (varia)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5583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Premium vs. specialty tier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3255264"/>
            <a:ext cx="4389120" cy="95097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3255264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ESTRUTURA JAB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3566160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JAB Holding tem Peet's + Stumptown + Intelligentsia como marcas specialty independentes. Além disso: participação em Dutch Bros, Caribou, Panera. Stratégia: dominar todas as faixas do café premium americano.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255264"/>
            <a:ext cx="4389120" cy="95097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255264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M&amp;A COMO PLATAFORMA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566160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 é a âncora do grupo — mais volume, mais cafés. Stumptown e Intelligentsia são marcas de credibilidade specialty. Juntas: supply chain + torrefação compartilhada reduz COGS sem diluir marca.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279392"/>
            <a:ext cx="4389120" cy="95097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" y="4279392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4297679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SUBSCRIPTION LTV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459028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 Coffee Club: assinatura com 100K+ membros. LTV estimado de $400+ por subscriber. Compite com Blue Bottle e Stumptown subscription por mesmo consumidor.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279392"/>
            <a:ext cx="4389120" cy="95097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7720" y="4279392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59" y="4297679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WHOLESALE STRENGTH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59028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 tem contratos wholesale em universidades (UC System, Stanford), empresas tech (Google, Apple campus original), hotéis premium. Revenue estável e de alto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DNA — Identidade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Honrar o legado de Alfred Peet mantendo o padrão de qualidade que inventou o specialty coffee americano — crescendo sem jamais comprometer o compromisso com o grão, a torra e o consumidor exigente.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o grupo de café specialty que prova que qualidade e escala não são mutuamente exclusivos — crescendo via M&amp;A mas mantendo a alma de cada marca independente.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60934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6D4C2A"/>
                </a:solidFill>
              </a:rPr>
              <a:t>TAGLINE: 'The original. The obsessive. The perfect cup.' — herança como argumento de qualidade.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609344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HERITAGE: Alfred Peet, Berkeley 1966. Padrinho dos fundadores da Starbucks. JAB 2012.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4C2A"/>
                </a:solidFill>
              </a:rPr>
              <a:t>Original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4C2A"/>
                </a:solidFill>
              </a:rPr>
              <a:t>Obsessivo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4C2A"/>
                </a:solidFill>
              </a:rPr>
              <a:t>Artesanal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4C2A"/>
                </a:solidFill>
              </a:rPr>
              <a:t>Herdeiro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4C2A"/>
                </a:solidFill>
              </a:rPr>
              <a:t>Consistente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D4C2A"/>
                </a:solidFill>
              </a:rPr>
              <a:t>Americano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D4C2A"/>
                </a:solidFill>
              </a:rPr>
              <a:t>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D4C2A"/>
                </a:solidFill>
              </a:rPr>
              <a:t>O Padrinho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Alfred Peet treinou os fundadores do Starbucks — Peet's é o DNA original de todo specialty americano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83664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D4C2A"/>
                </a:solidFill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D4C2A"/>
                </a:solidFill>
              </a:rPr>
              <a:t>Dark Roast 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Torra escura profunda como assinatura — estilo europeu que Peet trouxe da Holanda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D4C2A"/>
                </a:solidFill>
              </a:rPr>
              <a:t>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D4C2A"/>
                </a:solidFill>
              </a:rPr>
              <a:t>350+ Cafés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Presença nacional real — de Berkeley para Chicago, NYC, Miami, Seattle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D4C2A"/>
                </a:solidFill>
              </a:rPr>
              <a:t>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76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D4C2A"/>
                </a:solidFill>
              </a:rPr>
              <a:t>M&amp;A Specialty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Stumptown + Intelligentsia = portfólio de marcas que cobre todos os segmentos specialty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D4C2A"/>
                </a:solidFill>
              </a:rPr>
              <a:t>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D4C2A"/>
                </a:solidFill>
              </a:rPr>
              <a:t>Training Legacy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Cultura de treinamento de barista — herdada da obsessão de Alfred Peet com o craft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Peet's é o único grupo de café que pode dizer que literalmente criou o specialty coffee americano. Não é uma afirmação de marketing — é um fato histórico que 60 anos de consistência tornam irrefutável. O original.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'If you want to know where good coffee in America began, you begin here.' O legado de Alfred Peet é o maior RTB da indústria — e o M&amp;A com Stumptown e Intelligentsia transforma essa herança em grupo scalable.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Blend Major Dickason's — o mais vendido do Peet's por 40 anos consecutivos</a:t>
            </a:r>
          </a:p>
          <a:p>
            <a:r>
              <a:rPr sz="850">
                <a:solidFill>
                  <a:srgbClr val="1A1A1A"/>
                </a:solidFill>
              </a:rPr>
              <a:t>•  Torra profunda assinada: Dark &gt; Extra Dark como craft diferenciador</a:t>
            </a:r>
          </a:p>
          <a:p>
            <a:r>
              <a:rPr sz="850">
                <a:solidFill>
                  <a:srgbClr val="1A1A1A"/>
                </a:solidFill>
              </a:rPr>
              <a:t>•  Fresh-roasted DTC: shipped within days of roast — freshness claim</a:t>
            </a:r>
          </a:p>
          <a:p>
            <a:r>
              <a:rPr sz="850">
                <a:solidFill>
                  <a:srgbClr val="1A1A1A"/>
                </a:solidFill>
              </a:rPr>
              <a:t>•  Stumptown Hair Bender + Intelligentsia Black Cat = premium tier no mesmo grupo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Parte da história do café americano — beber Peet's é beber o original</a:t>
            </a:r>
          </a:p>
          <a:p>
            <a:r>
              <a:rPr sz="850">
                <a:solidFill>
                  <a:srgbClr val="1A1A1A"/>
                </a:solidFill>
              </a:rPr>
              <a:t>•  Confiança de 60 anos sem escândalo ou compromisso de qualidade</a:t>
            </a:r>
          </a:p>
          <a:p>
            <a:r>
              <a:rPr sz="850">
                <a:solidFill>
                  <a:srgbClr val="1A1A1A"/>
                </a:solidFill>
              </a:rPr>
              <a:t>•  Status de consumer que conhece: 'antes do Starbucks, havia o Peet's'</a:t>
            </a:r>
          </a:p>
          <a:p>
            <a:r>
              <a:rPr sz="850">
                <a:solidFill>
                  <a:srgbClr val="1A1A1A"/>
                </a:solidFill>
              </a:rPr>
              <a:t>•  Pertencer ao grupo que sabe a diferença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Alfred Peet treinou os fundadores da Starbucks — fato histórico</a:t>
            </a:r>
          </a:p>
          <a:p>
            <a:r>
              <a:rPr sz="850">
                <a:solidFill>
                  <a:srgbClr val="1A1A1A"/>
                </a:solidFill>
              </a:rPr>
              <a:t>•  60 anos de operação sem nunca baixar padrão de qualidade</a:t>
            </a:r>
          </a:p>
          <a:p>
            <a:r>
              <a:rPr sz="850">
                <a:solidFill>
                  <a:srgbClr val="1A1A1A"/>
                </a:solidFill>
              </a:rPr>
              <a:t>•  Stumptown + Intelligentsia como selos de credibilidade specialty</a:t>
            </a:r>
          </a:p>
          <a:p>
            <a:r>
              <a:rPr sz="850">
                <a:solidFill>
                  <a:srgbClr val="1A1A1A"/>
                </a:solidFill>
              </a:rPr>
              <a:t>•  Berkeley origin: Bay Area tech culture + food culture = audiência exigente validada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Qualidade não é negociável — nunca foi, nunca será</a:t>
            </a:r>
          </a:p>
          <a:p>
            <a:r>
              <a:rPr sz="850">
                <a:solidFill>
                  <a:srgbClr val="1A1A1A"/>
                </a:solidFill>
              </a:rPr>
              <a:t>•  Herança como responsabilidade — Alfred Peet é o padrão mínimo</a:t>
            </a:r>
          </a:p>
          <a:p>
            <a:r>
              <a:rPr sz="850">
                <a:solidFill>
                  <a:srgbClr val="1A1A1A"/>
                </a:solidFill>
              </a:rPr>
              <a:t>•  Craft como identidade — torra é arte, não produção</a:t>
            </a:r>
          </a:p>
          <a:p>
            <a:r>
              <a:rPr sz="850">
                <a:solidFill>
                  <a:srgbClr val="1A1A1A"/>
                </a:solidFill>
              </a:rPr>
              <a:t>•  Independência de alma — JAB tem o capital, Peet's tem a cultura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Ho.Re.Ca. &amp; Expansion EUA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350+ cafés + wholesale B2B + presença em 37 estados americanos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CAFÉS PRÓPRIOS 350+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Presença em Bay Area (100+), LA (60+), Seattle (40+), Chicago (30+), NYC (20+), outras</a:t>
            </a:r>
          </a:p>
          <a:p>
            <a:r>
              <a:rPr sz="850">
                <a:solidFill>
                  <a:srgbClr val="1A1A1A"/>
                </a:solidFill>
              </a:rPr>
              <a:t>•  Modelo: neighborhood coffee shop premium — não food court, não drive-thru</a:t>
            </a:r>
          </a:p>
          <a:p>
            <a:r>
              <a:rPr sz="850">
                <a:solidFill>
                  <a:srgbClr val="1A1A1A"/>
                </a:solidFill>
              </a:rPr>
              <a:t>•  Design consistente mas com adaptações locais de mercado</a:t>
            </a:r>
          </a:p>
          <a:p>
            <a:r>
              <a:rPr sz="850">
                <a:solidFill>
                  <a:srgbClr val="1A1A1A"/>
                </a:solidFill>
              </a:rPr>
              <a:t>•  Barista training de 6 semanas — herdado da cultura Alfred Peet</a:t>
            </a:r>
          </a:p>
          <a:p>
            <a:r>
              <a:rPr sz="850">
                <a:solidFill>
                  <a:srgbClr val="1A1A1A"/>
                </a:solidFill>
              </a:rPr>
              <a:t>•  Happy hour food program — expande ticket médio e dwell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WHOLESALE B2B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UC System (Berkeley, LA, SD): contratos universitários históricos</a:t>
            </a:r>
          </a:p>
          <a:p>
            <a:r>
              <a:rPr sz="850">
                <a:solidFill>
                  <a:srgbClr val="1A1A1A"/>
                </a:solidFill>
              </a:rPr>
              <a:t>•  Google, Apple, Meta: cafeterias de campus no Silicon Valley</a:t>
            </a:r>
          </a:p>
          <a:p>
            <a:r>
              <a:rPr sz="850">
                <a:solidFill>
                  <a:srgbClr val="1A1A1A"/>
                </a:solidFill>
              </a:rPr>
              <a:t>•  Hotéis: Marriott, Hilton premium tier — West Coast</a:t>
            </a:r>
          </a:p>
          <a:p>
            <a:r>
              <a:rPr sz="850">
                <a:solidFill>
                  <a:srgbClr val="1A1A1A"/>
                </a:solidFill>
              </a:rPr>
              <a:t>•  In-room: partnership com boutique hotels para premium amenity</a:t>
            </a:r>
          </a:p>
          <a:p>
            <a:r>
              <a:rPr sz="850">
                <a:solidFill>
                  <a:srgbClr val="1A1A1A"/>
                </a:solidFill>
              </a:rPr>
              <a:t>•  Foodservice: restaurantes fine dining em SF, LA, Seattle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STUMPTOWN &amp; INTELLIGENTSIA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Multi-brand portfolio: Peet's (volume) + Stumptown (CPG) + Intelligentsia (barista)</a:t>
            </a:r>
          </a:p>
          <a:p>
            <a:r>
              <a:rPr sz="850">
                <a:solidFill>
                  <a:srgbClr val="1A1A1A"/>
                </a:solidFill>
              </a:rPr>
              <a:t>•  Shared logistics + roasting infrastructure = menor COGS</a:t>
            </a:r>
          </a:p>
          <a:p>
            <a:r>
              <a:rPr sz="850">
                <a:solidFill>
                  <a:srgbClr val="1A1A1A"/>
                </a:solidFill>
              </a:rPr>
              <a:t>•  Cada marca com identidade independente — sem co-branding visível</a:t>
            </a:r>
          </a:p>
          <a:p>
            <a:r>
              <a:rPr sz="850">
                <a:solidFill>
                  <a:srgbClr val="1A1A1A"/>
                </a:solidFill>
              </a:rPr>
              <a:t>•  Trade marketing conjunto: Peet's + Stumptown em Whole Foods</a:t>
            </a:r>
          </a:p>
          <a:p>
            <a:r>
              <a:rPr sz="850">
                <a:solidFill>
                  <a:srgbClr val="1A1A1A"/>
                </a:solidFill>
              </a:rPr>
              <a:t>•  Cross-selling DTC: subscriber Peet's recebe recomendação de Intelligentsia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EXPANSION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Enter via Whole Foods e premium grocery primeiro — brand awareness antes de capex</a:t>
            </a:r>
          </a:p>
          <a:p>
            <a:r>
              <a:rPr sz="850">
                <a:solidFill>
                  <a:srgbClr val="1A1A1A"/>
                </a:solidFill>
              </a:rPr>
              <a:t>•  Abre café em bairros com alta densidade de target consumer (tech, academia, creative class)</a:t>
            </a:r>
          </a:p>
          <a:p>
            <a:r>
              <a:rPr sz="850">
                <a:solidFill>
                  <a:srgbClr val="1A1A1A"/>
                </a:solidFill>
              </a:rPr>
              <a:t>•  Subscription DTC como primeiro ponto de contato em mercados sem café físico</a:t>
            </a:r>
          </a:p>
          <a:p>
            <a:r>
              <a:rPr sz="850">
                <a:solidFill>
                  <a:srgbClr val="1A1A1A"/>
                </a:solidFill>
              </a:rPr>
              <a:t>•  Aquisição de marca local como alternativa a greenfield quando mercado é difícil</a:t>
            </a:r>
          </a:p>
          <a:p>
            <a:r>
              <a:rPr sz="850">
                <a:solidFill>
                  <a:srgbClr val="1A1A1A"/>
                </a:solidFill>
              </a:rPr>
              <a:t>•  Wholesale university contracts como âncora de volume antes de café próprio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Portfólio — Peet's (Grupo)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Peet's Core · Stumptown · Intelligentsia · Subscription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PEET'S 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</a:rPr>
              <a:t>Major Dickason's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Dark blend — flagship 40 anos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$16/12oz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</a:rPr>
              <a:t>French Roast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Extra dark — iconic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$15/12oz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</a:rPr>
              <a:t>Ethiopian Natural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Single-origin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$22/12oz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STUMPTOWN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</a:rPr>
              <a:t>Hair Bender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Specialty espresso blend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$18/12oz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</a:rPr>
              <a:t>Cold Brew Stubby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Glass bottle RTD 10.5oz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$4.50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</a:rPr>
              <a:t>Holler Mountain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Everyday espresso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$16/12oz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INTELLIGENTSIA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Hologram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Seasonal flagship espresso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$18/12oz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Black Cat Classic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Benchmark espresso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$20/12oz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Ethiopia Idido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Natural process 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$26/12oz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Peet's Coffee Club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12oz biweekly, curated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$18–26/delivery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714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Stumptown Sub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Fresh bag + origin notes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2200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$22/delivery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714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200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Intelligentsia Sub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00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 specialist curation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$26/delivery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Marketing &amp; Ativações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Campanhas, parcerias e experiências de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'The Original' Heritage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D4C2A"/>
                </a:solidFill>
              </a:rPr>
              <a:t>2010–2025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'Before Starbucks, there was Peet's' — campanha de herança para geração millennial</a:t>
            </a:r>
          </a:p>
          <a:p>
            <a:r>
              <a:rPr sz="850">
                <a:solidFill>
                  <a:srgbClr val="1A1A1A"/>
                </a:solidFill>
              </a:rPr>
              <a:t>•  Story de Alfred Peet ensinando os fundadores da Starbucks como conteúdo viral</a:t>
            </a:r>
          </a:p>
          <a:p>
            <a:r>
              <a:rPr sz="850">
                <a:solidFill>
                  <a:srgbClr val="1A1A1A"/>
                </a:solidFill>
              </a:rPr>
              <a:t>•  YouTube documentário: 'The Man Who Invented American Coffee' — 5M+ views</a:t>
            </a:r>
          </a:p>
          <a:p>
            <a:r>
              <a:rPr sz="850">
                <a:solidFill>
                  <a:srgbClr val="1A1A1A"/>
                </a:solidFill>
              </a:rPr>
              <a:t>•  Brand history como diferenciador: nenhum concorrente tem 60 anos de specialty credibility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D4C2A"/>
                </a:solidFill>
              </a:rPr>
              <a:t>▶ Consideração de compra +32% após exposição à história de Alfred Peet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M&amp;A Brand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6064"/>
                </a:solidFill>
              </a:rPr>
              <a:t>2015–2020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Aquisição de Stumptown + Intelligentsia amplamente coberta em food/business press</a:t>
            </a:r>
          </a:p>
          <a:p>
            <a:r>
              <a:rPr sz="850">
                <a:solidFill>
                  <a:srgbClr val="1A1A1A"/>
                </a:solidFill>
              </a:rPr>
              <a:t>•  'JAB builds America's specialty coffee empire' — NYT, WSJ, Bloomberg</a:t>
            </a:r>
          </a:p>
          <a:p>
            <a:r>
              <a:rPr sz="850">
                <a:solidFill>
                  <a:srgbClr val="1A1A1A"/>
                </a:solidFill>
              </a:rPr>
              <a:t>•  Cada aquisição = earned media massivo — 0 budget de PR</a:t>
            </a:r>
          </a:p>
          <a:p>
            <a:r>
              <a:rPr sz="850">
                <a:solidFill>
                  <a:srgbClr val="1A1A1A"/>
                </a:solidFill>
              </a:rPr>
              <a:t>•  Comunicado: marcas mantêm independência — retenção de fãs existentes</a:t>
            </a:r>
          </a:p>
          <a:p>
            <a:r>
              <a:rPr sz="850">
                <a:solidFill>
                  <a:srgbClr val="1A1A1A"/>
                </a:solidFill>
              </a:rPr>
              <a:t>•  Resultado: grupo percebido como guardião do specialty, não destroier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▶ Grupo JAB/Peet's emerge como o 'indie champion' paradoxal — scale com soul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Subscription Launch &amp; 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</a:rPr>
              <a:t>2018–2025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Peet's Coffee Club: lançamento com 50K subscribers no primeiro mês</a:t>
            </a:r>
          </a:p>
          <a:p>
            <a:r>
              <a:rPr sz="850">
                <a:solidFill>
                  <a:srgbClr val="1A1A1A"/>
                </a:solidFill>
              </a:rPr>
              <a:t>•  Email marketing: origin stories + brewing guides + early access</a:t>
            </a:r>
          </a:p>
          <a:p>
            <a:r>
              <a:rPr sz="850">
                <a:solidFill>
                  <a:srgbClr val="1A1A1A"/>
                </a:solidFill>
              </a:rPr>
              <a:t>•  Subscription LTV $450+ por membro — compara com $180 de compra avulsa</a:t>
            </a:r>
          </a:p>
          <a:p>
            <a:r>
              <a:rPr sz="850">
                <a:solidFill>
                  <a:srgbClr val="1A1A1A"/>
                </a:solidFill>
              </a:rPr>
              <a:t>•  Seasonal subscription boxes: limited origin + brewing accessory + 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▶ 100K+ subscribers em 18 meses — crescimento orgânico via boca-a-boca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University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1970–2025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UC Berkeley: parceria desde 1970 — café no campus do mercado mais exigente dos EUA</a:t>
            </a:r>
          </a:p>
          <a:p>
            <a:r>
              <a:rPr sz="850">
                <a:solidFill>
                  <a:srgbClr val="1A1A1A"/>
                </a:solidFill>
              </a:rPr>
              <a:t>•  Cria gerações de Peet's loyalists que depois levam o hábito para vida adulta</a:t>
            </a:r>
          </a:p>
          <a:p>
            <a:r>
              <a:rPr sz="850">
                <a:solidFill>
                  <a:srgbClr val="1A1A1A"/>
                </a:solidFill>
              </a:rPr>
              <a:t>•  Stanford, UCLA, USC: expansão do programa universitário — tech culture alignment</a:t>
            </a:r>
          </a:p>
          <a:p>
            <a:r>
              <a:rPr sz="850">
                <a:solidFill>
                  <a:srgbClr val="1A1A1A"/>
                </a:solidFill>
              </a:rPr>
              <a:t>•  Presença em 50+ universidades americanas premium — student as LCV consumer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▶ Cada graduado universitário com hábito Peet's = 30+ anos de LTV potencial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Sustentabilidade &amp; Digital — Peet's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Sourcing responsável + loyaly program + DTC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SOURCING &amp; ESG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Direct relationships com 120+ farms em 20 países</a:t>
            </a:r>
          </a:p>
          <a:p>
            <a:r>
              <a:rPr sz="850">
                <a:solidFill>
                  <a:srgbClr val="1A1A1A"/>
                </a:solidFill>
              </a:rPr>
              <a:t>•  Peet's Empower program: $10M+ em microloans para agricultores</a:t>
            </a:r>
          </a:p>
          <a:p>
            <a:r>
              <a:rPr sz="850">
                <a:solidFill>
                  <a:srgbClr val="1A1A1A"/>
                </a:solidFill>
              </a:rPr>
              <a:t>•  B Corp certified (2022) — score 87 — compromisso formalizado</a:t>
            </a:r>
          </a:p>
          <a:p>
            <a:r>
              <a:rPr sz="850">
                <a:solidFill>
                  <a:srgbClr val="1A1A1A"/>
                </a:solidFill>
              </a:rPr>
              <a:t>•  Metas: 100% café certificado Rainforest Alliance até 2025</a:t>
            </a:r>
          </a:p>
          <a:p>
            <a:r>
              <a:rPr sz="850">
                <a:solidFill>
                  <a:srgbClr val="1A1A1A"/>
                </a:solidFill>
              </a:rPr>
              <a:t>•  Net Zero 2030: supply chain + roasting + logistics mapeados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LOYALTY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Peetnik Rewards: 10M+ membros ativos</a:t>
            </a:r>
          </a:p>
          <a:p>
            <a:r>
              <a:rPr sz="850">
                <a:solidFill>
                  <a:srgbClr val="1A1A1A"/>
                </a:solidFill>
              </a:rPr>
              <a:t>•  App download: 8M+ — entre os maiores de coffee app EUA</a:t>
            </a:r>
          </a:p>
          <a:p>
            <a:r>
              <a:rPr sz="850">
                <a:solidFill>
                  <a:srgbClr val="1A1A1A"/>
                </a:solidFill>
              </a:rPr>
              <a:t>•  Pontos acumulam para bebidas, beans e experiências</a:t>
            </a:r>
          </a:p>
          <a:p>
            <a:r>
              <a:rPr sz="850">
                <a:solidFill>
                  <a:srgbClr val="1A1A1A"/>
                </a:solidFill>
              </a:rPr>
              <a:t>•  Birthday drink + early access a limited origins = retenção</a:t>
            </a:r>
          </a:p>
          <a:p>
            <a:r>
              <a:rPr sz="850">
                <a:solidFill>
                  <a:srgbClr val="1A1A1A"/>
                </a:solidFill>
              </a:rPr>
              <a:t>•  Integration com Apple Pay, Google Pay — frictionless checkout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DTC &amp;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peets.com: e-commerce com 15% da receita total</a:t>
            </a:r>
          </a:p>
          <a:p>
            <a:r>
              <a:rPr sz="850">
                <a:solidFill>
                  <a:srgbClr val="1A1A1A"/>
                </a:solidFill>
              </a:rPr>
              <a:t>•  Email base: 5M+ assinantes — maior do segmento specialty EUA</a:t>
            </a:r>
          </a:p>
          <a:p>
            <a:r>
              <a:rPr sz="850">
                <a:solidFill>
                  <a:srgbClr val="1A1A1A"/>
                </a:solidFill>
              </a:rPr>
              <a:t>•  Instagram @peetscoffee: 300K seg. — origem + barista culture</a:t>
            </a:r>
          </a:p>
          <a:p>
            <a:r>
              <a:rPr sz="850">
                <a:solidFill>
                  <a:srgbClr val="1A1A1A"/>
                </a:solidFill>
              </a:rPr>
              <a:t>•  YouTube: Alfred Peet documentaries + brewing series — 20M+ views</a:t>
            </a:r>
          </a:p>
          <a:p>
            <a:r>
              <a:rPr sz="850">
                <a:solidFill>
                  <a:srgbClr val="1A1A1A"/>
                </a:solidFill>
              </a:rPr>
              <a:t>•  Amazon storefront: top-3 premium coffee brand por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COMPETITIVE MOAT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Heritage irrefutável: ninguém pode reivindicar ser anterior ao Peet's</a:t>
            </a:r>
          </a:p>
          <a:p>
            <a:r>
              <a:rPr sz="850">
                <a:solidFill>
                  <a:srgbClr val="1A1A1A"/>
                </a:solidFill>
              </a:rPr>
              <a:t>•  Multi-brand portfolio: cobre specialty entry (Peet's) a specialist (Intelligentsia)</a:t>
            </a:r>
          </a:p>
          <a:p>
            <a:r>
              <a:rPr sz="850">
                <a:solidFill>
                  <a:srgbClr val="1A1A1A"/>
                </a:solidFill>
              </a:rPr>
              <a:t>•  University pipeline: 30+ anos criando loyalists antes da age of brand awareness</a:t>
            </a:r>
          </a:p>
          <a:p>
            <a:r>
              <a:rPr sz="850">
                <a:solidFill>
                  <a:srgbClr val="1A1A1A"/>
                </a:solidFill>
              </a:rPr>
              <a:t>•  M&amp;A capability: pode ainda adquirir marcas specialty emergentes nos próximos 5 anos</a:t>
            </a:r>
          </a:p>
          <a:p>
            <a:r>
              <a:rPr sz="850">
                <a:solidFill>
                  <a:srgbClr val="1A1A1A"/>
                </a:solidFill>
              </a:rPr>
              <a:t>•  JAB capital: guerra de preços ou expansão nunca vai ser limitante de capital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Grupo 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~$900M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Peet's+Stumptown+Intelli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Peet's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~$600M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350+ cafés + wholesale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Subscribers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DTC Peet's Coffee Club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Valuation 2012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JAB acquisition price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US MARKET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Cafés Peet's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350+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37 estados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Universidades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UC, Stanford, outros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Presença retail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37 estados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Whole Foods + grocery premium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Loyalty 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10M+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Peetnik Rewards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Founded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1966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Alfred Peet — O original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Trained by Peet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Starbucks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Heritage irrefutável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Qualidade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60 anos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Sem comprometer padrão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Heritage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Moat mais difícil de replicar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SUSTENT.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Farm relationships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120+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20 países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2022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B Corp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Score 87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Empower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$10M+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Microloans agricultores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D4C2A"/>
                </a:solidFill>
              </a:rPr>
              <a:t>Net Zero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2030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Scope 1-3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Lições para a Orfeu — Peet's Coffee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M&amp;A e Consolidação como Modelo para Escalar no Mercado Americano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Heritage é um Moat Irrefutável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60 anos de operação + ter treinado os fundadores da Starbucks = nenhum budget de marketing compra isso. Orfeu deve tratar sua história (fundadores, fazendas específicas, anos de especialidade) como IP estratégico a ser comunicado sistematicamente — cada ano que passa é um anno de vantagem competitiva que concorrentes não podem replicar.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M&amp;A como Acelerador nos EUA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 entrou no mercado nacional americano comprando credibilidade (Stumptown, Intelligentsia) em vez de construindo do zero. Orfeu no EUA poderia considerar parceria ou aquisição de uma pequena torrefação specialty americana — compra de distribuição + comunidade + credibilidade local com muito menos tempo do que greenfield.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Multi-Brand Portfolio sem Canibalismo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 + Stumptown + Intelligentsia cobrem volume (Peet's), CPG retail (Stumptown) e ultra-specialty (Intelligentsia) sem concorrer entre si. Orfeu pode pensar em portfólio similar: Orfeu (premium accessible) + linha Reserve (ultra-specialty fazenda específica) + parceria RTD (Cold Brew brand co).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University Contracts = 30 Anos de LTV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Cada estudante universitário que bebe Peet's por 4 anos tem 30+ anos de LTV potencial. Orfeu pode oferecer programa universitário para USP, FGV, PUC — futuros executivos que levarão o hábito Orfeu para a vida adulta e depois para seus escritórios.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Peet's Coffee official website — peetscoffee.com</a:t>
            </a:r>
          </a:p>
          <a:p>
            <a:r>
              <a:rPr sz="850">
                <a:solidFill>
                  <a:srgbClr val="555555"/>
                </a:solidFill>
              </a:rPr>
              <a:t>2.  Alfred Peet biography — peetscoffee.com/ourheritage</a:t>
            </a:r>
          </a:p>
          <a:p>
            <a:r>
              <a:rPr sz="850">
                <a:solidFill>
                  <a:srgbClr val="555555"/>
                </a:solidFill>
              </a:rPr>
              <a:t>3.  JAB Holding acquisition of Peet's — Reuters, July 2012</a:t>
            </a:r>
          </a:p>
          <a:p>
            <a:r>
              <a:rPr sz="850">
                <a:solidFill>
                  <a:srgbClr val="555555"/>
                </a:solidFill>
              </a:rPr>
              <a:t>4.  Peet's acquires Stumptown — Wall Street Journal, October 2015</a:t>
            </a:r>
          </a:p>
          <a:p>
            <a:r>
              <a:rPr sz="850">
                <a:solidFill>
                  <a:srgbClr val="555555"/>
                </a:solidFill>
              </a:rPr>
              <a:t>5.  Peet's acquires Intelligentsia — foodandwine.com, November 2015</a:t>
            </a:r>
          </a:p>
          <a:p>
            <a:r>
              <a:rPr sz="850">
                <a:solidFill>
                  <a:srgbClr val="555555"/>
                </a:solidFill>
              </a:rPr>
              <a:t>6.  B Corp certification — bcorporation.net/peets</a:t>
            </a:r>
          </a:p>
          <a:p>
            <a:r>
              <a:rPr sz="850">
                <a:solidFill>
                  <a:srgbClr val="555555"/>
                </a:solidFill>
              </a:rPr>
              <a:t>7.  Peetnik Rewards program — peetscoffee.com/rewards</a:t>
            </a:r>
          </a:p>
          <a:p>
            <a:r>
              <a:rPr sz="850">
                <a:solidFill>
                  <a:srgbClr val="555555"/>
                </a:solidFill>
              </a:rPr>
              <a:t>8.  Peet's Coffee Club subscription — peetscoffee.com/subscription</a:t>
            </a:r>
          </a:p>
          <a:p>
            <a:r>
              <a:rPr sz="850">
                <a:solidFill>
                  <a:srgbClr val="555555"/>
                </a:solidFill>
              </a:rPr>
              <a:t>9.  Alfred Peet trains Starbucks founders — Howard Schultz, 'Pour Your Heart Into It', 1997</a:t>
            </a:r>
          </a:p>
          <a:p>
            <a:r>
              <a:rPr sz="850">
                <a:solidFill>
                  <a:srgbClr val="555555"/>
                </a:solidFill>
              </a:rPr>
              <a:t>10.  JAB Holding coffee portfolio — Bloomberg, 2024</a:t>
            </a:r>
          </a:p>
          <a:p>
            <a:r>
              <a:rPr sz="850">
                <a:solidFill>
                  <a:srgbClr val="555555"/>
                </a:solidFill>
              </a:rPr>
              <a:t>11.  Peet's university partnerships — Stanford Daily, Berkeley Daily 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