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064"/>
                </a:solidFill>
              </a:rPr>
              <a:t>CASE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Intelligentsia Coffee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Direct Trade Pioneers · Chicago, 1995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310128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Barista Community as Tastemakers — how trade credibility built by competition wins translates to wholesale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Estrutura do Case — Intelligentsia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Heritage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1995 ao pioneirismo em Direct Trade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~$60M em receita, estrutura de canal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Brand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Expert positioning e cultura de barista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Framework completo de posicionamento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Ho.Re.Ca.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1,500+ contas wholesale e cafés próprios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Portfólio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Single-origins, blends e Black Cat espresso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Expansão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Chicago → LA → NY → Boston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Ativações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Barista Championships + educação como marketing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Digital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Conteúdo educacional como estratégia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4573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149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Sustentabilidade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Direct Trade como moat ético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 de performance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29184" cy="5516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4573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1149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6064"/>
                </a:solidFill>
              </a:rPr>
              <a:t>Lições para Orfeu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Insights aplicáveis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Trajetória Estratégica &amp; Marcos Fundamentais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005840"/>
            <a:ext cx="73152" cy="20116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64"/>
                </a:solidFill>
              </a:rPr>
              <a:t>1995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Fundação Chicago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Doug Zell &amp; Emily Mange abrem o primeiro café em Chicago. Foco obsessivo em qualidade de extração — treinamento de barista como prioridade central.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75104" y="1005840"/>
            <a:ext cx="73152" cy="20116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64"/>
                </a:solidFill>
              </a:rPr>
              <a:t>2003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Direct 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Intelligentsia lança o modelo Direct Trade — vai diretamente às fazendas, paga 25%+ acima do piso do Fair Trade, exige qualidade mínima certificada. Pioneiro absoluto da prática.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5264" y="1005840"/>
            <a:ext cx="73152" cy="20116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64"/>
                </a:solidFill>
              </a:rPr>
              <a:t>2007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Expansão 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Abertura em Silver Lake, Los Angeles — o bairro mais influente para café specialty nos EUA. Solidifica a reputação como marca bi-coastal premium.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5424" y="1005840"/>
            <a:ext cx="73152" cy="20116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64"/>
                </a:solidFill>
              </a:rPr>
              <a:t>2010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Black Cat Espresso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Black Cat Espresso blend se torna ícone da terceira onda — adotado por cafés independentes como benchmark de qualidade. Blend que define a identidade técnica da marca.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5584" y="1005840"/>
            <a:ext cx="73152" cy="20116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5780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64"/>
                </a:solidFill>
              </a:rPr>
              <a:t>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Aquisição Peet's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JAB Holding / Peet's adquire Intelligentsia. Financiamento para escalar, mas mantém sede em Chicago e operação independente.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95744" y="1005840"/>
            <a:ext cx="73152" cy="20116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64"/>
                </a:solidFill>
              </a:rPr>
              <a:t>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Canned Cold Brew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Lançamento de Cold Brew RTD e concentrados — expansão para retail premium (Whole Foods, Target) sem perder credibilidade specialty.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1005840"/>
            <a:ext cx="73152" cy="20116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55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064"/>
                </a:solidFill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16 cafés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Presença em Chicago, LA, NYC, Boston. 1,500+ contas wholesale. Modelo: café = R&amp;D lab + brand temple, wholesale = receita principal.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Arquitetura Financeira — Intelligentsia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~$60M receita estimada · wholesale-first · parte do ecossistema Peet's/JAB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291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627632" cy="3291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ESTIMATIVA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78992"/>
            <a:ext cx="1810512" cy="3291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12471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78992"/>
            <a:ext cx="2816352" cy="3291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12471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426464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472184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26464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472184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~$50–70M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426464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472184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Multi-canal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26464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72184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Privado — estimativa de mercado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1773936"/>
            <a:ext cx="254203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" y="1819656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Wholesale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773936"/>
            <a:ext cx="162763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181965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~55%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773936"/>
            <a:ext cx="181051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181965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B2B Cafés/Restau.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773936"/>
            <a:ext cx="281635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1819656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1,500+ contas ativas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2121408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" y="2167128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Varejo/DTC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121408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216712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121408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2167128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E-comm + Amazon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121408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2167128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Bags + subscriptions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468880"/>
            <a:ext cx="254203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" y="2514600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Cafés Próprios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468880"/>
            <a:ext cx="162763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251460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2468880"/>
            <a:ext cx="181051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2544" y="25146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16 locais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468880"/>
            <a:ext cx="2816352" cy="3291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81344" y="2514600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Chicago, LA, NYC, Boston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816352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286207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Preço médio bag 12oz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816352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86207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$22–32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2816352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52544" y="286207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Premium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816352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1344" y="286207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vs. $8–12 mass market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3273552"/>
            <a:ext cx="4389120" cy="95097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" y="3273552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32918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MODELO DE NEGÓCIO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358444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Wholesale-first: cafés próprios são brand temples, não drivers de receita principal. 1,500+ contas wholesale = escala com margem melhor do que retail próprio.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273552"/>
            <a:ext cx="4389120" cy="95097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3273552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59" y="32918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PEET'S / JAB ECOSYSTEM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358444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Acesso à supply chain e financiamento JAB, enquanto mantém brand independence. Similar ao modelo Blue Bottle/Nestlé — aquisição que preserva identidade.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4297680"/>
            <a:ext cx="4389120" cy="95097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" y="4297680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4315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PREMIUM PRICING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46085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$22–32 por 12oz = ~$30–42/lb = 4-6× commodity. Justificado por Direct Trade storytelling + barista championship wins + curação de origens.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297680"/>
            <a:ext cx="4389120" cy="95097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17720" y="4297680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59" y="4315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EXPANSION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59" y="46085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Crescimento via wholesale em novos mercados antes de abrir cafés físicos — testa demanda com menor risco de capital.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DNA — Intelligentsia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Expert positioning: o barista como artesão, o café como disciplina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Elevar o café a um artesanato de precisão — conectando o trabalho dos agricultores ao conhecimento técnico dos baristas e ao prazer do consumidor final.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 a referência técnica do café specialty nos EUA — onde baristas, agricultores e consumidores exigentes encontram o padrão máximo de qualidade.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609344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06064"/>
                </a:solidFill>
              </a:rPr>
              <a:t>TAGLINE: 'Coffee worth obsessing over.' — experts falando para experts e aspirantes.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2011680"/>
            <a:ext cx="1426464" cy="40233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064"/>
                </a:solidFill>
              </a:rPr>
              <a:t>Técnico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2011680"/>
            <a:ext cx="1426464" cy="40233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064"/>
                </a:solidFill>
              </a:rPr>
              <a:t>Apaixonado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2011680"/>
            <a:ext cx="1426464" cy="40233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064"/>
                </a:solidFill>
              </a:rPr>
              <a:t>Educador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011680"/>
            <a:ext cx="1426464" cy="40233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064"/>
                </a:solidFill>
              </a:rPr>
              <a:t>Transparente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011680"/>
            <a:ext cx="1426464" cy="40233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064"/>
                </a:solidFill>
              </a:rPr>
              <a:t>Exigente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011680"/>
            <a:ext cx="1426464" cy="402336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6064"/>
                </a:solidFill>
              </a:rPr>
              <a:t>Artesanal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487168"/>
            <a:ext cx="1737360" cy="254203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6064"/>
                </a:solidFill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6064"/>
                </a:solidFill>
              </a:rPr>
              <a:t>Barista Championships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Dezenas de títulos no US Barista Championship. Vencedores = credibilidade de marca que nenhuma campanha paga compra.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83664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6064"/>
                </a:solidFill>
              </a:rPr>
              <a:t>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6064"/>
                </a:solidFill>
              </a:rPr>
              <a:t>Direct Trade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25%+ acima do Fair Trade, 3 visitas/ano às fazendas. Trade credibility construída no campo, não no marketing.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8" y="2487168"/>
            <a:ext cx="1737360" cy="254203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6064"/>
                </a:solidFill>
              </a:rPr>
              <a:t>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6064"/>
                </a:solidFill>
              </a:rPr>
              <a:t>Barista Education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Cursos certificados, masterclasses semanais, treinamento de parceiros B2B. Conhecimento como produto.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8112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6064"/>
                </a:solidFill>
              </a:rPr>
              <a:t>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2976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6064"/>
                </a:solidFill>
              </a:rPr>
              <a:t>Black Cat Blend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O espresso mais replicado no ecossistema specialty EUA. RTB de qualidade técnica absoluta.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2487168"/>
            <a:ext cx="1737360" cy="254203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6064"/>
                </a:solidFill>
              </a:rPr>
              <a:t>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6064"/>
                </a:solidFill>
              </a:rPr>
              <a:t>Extraction Science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Pesquisa própria de extração, calibração de moagem, temperatura. R&amp;D que se torna conteúdo.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Positioning Framework — Intelligentsia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89120" cy="80467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Intelligentsia é a escola do café specialty — onde a obsessão técnica do barista encontra a qualidade irrecusável do produtor e o paladar educado do consumidor exigente. Uma marca que ensina enquanto vende.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4389120" cy="80467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O barista como artesão mestre. Cada xícara é o resultado de anos de prática, toneladas de pesquisa de origem e uma relação pessoal com o agricultor que cultivou o café.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75104"/>
            <a:ext cx="4389120" cy="135331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975104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Single-origin de fazendas visitadas pessoalmente 3x/ano</a:t>
            </a:r>
          </a:p>
          <a:p>
            <a:r>
              <a:rPr sz="850">
                <a:solidFill>
                  <a:srgbClr val="1A1A1A"/>
                </a:solidFill>
              </a:rPr>
              <a:t>•  Black Cat Espresso — blend ícone do café specialty americano</a:t>
            </a:r>
          </a:p>
          <a:p>
            <a:r>
              <a:rPr sz="850">
                <a:solidFill>
                  <a:srgbClr val="1A1A1A"/>
                </a:solidFill>
              </a:rPr>
              <a:t>•  Cold Brew RTD shelf-stable — quality specialty em formato conveniente</a:t>
            </a:r>
          </a:p>
          <a:p>
            <a:r>
              <a:rPr sz="850">
                <a:solidFill>
                  <a:srgbClr val="1A1A1A"/>
                </a:solidFill>
              </a:rPr>
              <a:t>•  Moagem calibrada por baristas treinados — extração otimizada por produto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975104"/>
            <a:ext cx="4389120" cy="1353312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75104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Pertencer à comunidade de baristas e entusiastas sérios</a:t>
            </a:r>
          </a:p>
          <a:p>
            <a:r>
              <a:rPr sz="850">
                <a:solidFill>
                  <a:srgbClr val="1A1A1A"/>
                </a:solidFill>
              </a:rPr>
              <a:t>•  Sentir que seu café foi feito por quem realmente entende</a:t>
            </a:r>
          </a:p>
          <a:p>
            <a:r>
              <a:rPr sz="850">
                <a:solidFill>
                  <a:srgbClr val="1A1A1A"/>
                </a:solidFill>
              </a:rPr>
              <a:t>•  Status de consumidor que vai além do corriqueiro</a:t>
            </a:r>
          </a:p>
          <a:p>
            <a:r>
              <a:rPr sz="850">
                <a:solidFill>
                  <a:srgbClr val="1A1A1A"/>
                </a:solidFill>
              </a:rPr>
              <a:t>•  Aprender enquanto bebe — cada embalagem é uma história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3392424"/>
            <a:ext cx="4389120" cy="135331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339242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Dezenas de títulos em US Barista Championship — 1995–2025</a:t>
            </a:r>
          </a:p>
          <a:p>
            <a:r>
              <a:rPr sz="850">
                <a:solidFill>
                  <a:srgbClr val="1A1A1A"/>
                </a:solidFill>
              </a:rPr>
              <a:t>•  Direct Trade documentado: preços pagos publicados anualmente</a:t>
            </a:r>
          </a:p>
          <a:p>
            <a:r>
              <a:rPr sz="850">
                <a:solidFill>
                  <a:srgbClr val="1A1A1A"/>
                </a:solidFill>
              </a:rPr>
              <a:t>•  16 training centers em Chicago, LA, NYC, Boston</a:t>
            </a:r>
          </a:p>
          <a:p>
            <a:r>
              <a:rPr sz="850">
                <a:solidFill>
                  <a:srgbClr val="1A1A1A"/>
                </a:solidFill>
              </a:rPr>
              <a:t>•  3 visitas/ano às fazendas parceiras — relação direta e verificável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392424"/>
            <a:ext cx="4389120" cy="13533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339242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Transparência radical — preços pagos públicos, origens rastreáveis</a:t>
            </a:r>
          </a:p>
          <a:p>
            <a:r>
              <a:rPr sz="850">
                <a:solidFill>
                  <a:srgbClr val="1A1A1A"/>
                </a:solidFill>
              </a:rPr>
              <a:t>•  Educação como missão — barista education é parte do modelo</a:t>
            </a:r>
          </a:p>
          <a:p>
            <a:r>
              <a:rPr sz="850">
                <a:solidFill>
                  <a:srgbClr val="1A1A1A"/>
                </a:solidFill>
              </a:rPr>
              <a:t>•  Qualidade sem compromisso — não vai para varejo se qualidade baixa</a:t>
            </a:r>
          </a:p>
          <a:p>
            <a:r>
              <a:rPr sz="850">
                <a:solidFill>
                  <a:srgbClr val="1A1A1A"/>
                </a:solidFill>
              </a:rPr>
              <a:t>•  Comunidade — baristas, agricultores e clientes como parceiros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Ho.Re.Ca. &amp; Wholesale — Intelligentsia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1,500+ contas: cafés independentes, restaurantes fine dining, hotéis premium e universidades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8961120" cy="34747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" y="1088136"/>
            <a:ext cx="8732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Wholesale é o motor de receita da Intelligentsia — 55%+ da receita total. Cada conta é suportada por treinamento, calibração de máquina e visitas técnicas periódicas.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1463040"/>
            <a:ext cx="2185416" cy="192024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146304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CAFÉS INDEPENDENTES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1,200+ cafés specialty independentes nos EUA</a:t>
            </a:r>
          </a:p>
          <a:p>
            <a:r>
              <a:rPr sz="850">
                <a:solidFill>
                  <a:srgbClr val="1A1A1A"/>
                </a:solidFill>
              </a:rPr>
              <a:t>•  Treinamento gratuito na assinatura do contrato wholesale</a:t>
            </a:r>
          </a:p>
          <a:p>
            <a:r>
              <a:rPr sz="850">
                <a:solidFill>
                  <a:srgbClr val="1A1A1A"/>
                </a:solidFill>
              </a:rPr>
              <a:t>•  Visitas técnicas trimestrais — calibração de moagem e máquina</a:t>
            </a:r>
          </a:p>
          <a:p>
            <a:r>
              <a:rPr sz="850">
                <a:solidFill>
                  <a:srgbClr val="1A1A1A"/>
                </a:solidFill>
              </a:rPr>
              <a:t>•  Acesso exclusivo a origens especiais para parceiros</a:t>
            </a:r>
          </a:p>
          <a:p>
            <a:r>
              <a:rPr sz="850">
                <a:solidFill>
                  <a:srgbClr val="1A1A1A"/>
                </a:solidFill>
              </a:rPr>
              <a:t>•  Co-branding permitido: 'serving Intelligentsia'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463040"/>
            <a:ext cx="2185416" cy="192024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146304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0487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FINE DINING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Presença em restaurantes Michelin e James Beard nominees</a:t>
            </a:r>
          </a:p>
          <a:p>
            <a:r>
              <a:rPr sz="850">
                <a:solidFill>
                  <a:srgbClr val="1A1A1A"/>
                </a:solidFill>
              </a:rPr>
              <a:t>•  Black Cat Espresso como digestivo premium</a:t>
            </a:r>
          </a:p>
          <a:p>
            <a:r>
              <a:rPr sz="850">
                <a:solidFill>
                  <a:srgbClr val="1A1A1A"/>
                </a:solidFill>
              </a:rPr>
              <a:t>•  Menu de café com 5+ variedades — sommelier de café incluso</a:t>
            </a:r>
          </a:p>
          <a:p>
            <a:r>
              <a:rPr sz="850">
                <a:solidFill>
                  <a:srgbClr val="1A1A1A"/>
                </a:solidFill>
              </a:rPr>
              <a:t>•  Programa: chef + barista visit para design do programa de café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463040"/>
            <a:ext cx="2185416" cy="1920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46304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HOTÉIS &amp; RESORTS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Presente em boutique hotels premium em Chicago e LA</a:t>
            </a:r>
          </a:p>
          <a:p>
            <a:r>
              <a:rPr sz="850">
                <a:solidFill>
                  <a:srgbClr val="1A1A1A"/>
                </a:solidFill>
              </a:rPr>
              <a:t>•  In-room specialty coffee program — French press + whole bean</a:t>
            </a:r>
          </a:p>
          <a:p>
            <a:r>
              <a:rPr sz="850">
                <a:solidFill>
                  <a:srgbClr val="1A1A1A"/>
                </a:solidFill>
              </a:rPr>
              <a:t>•  Lobby café como diferencial de experiência hospedagem</a:t>
            </a:r>
          </a:p>
          <a:p>
            <a:r>
              <a:rPr sz="850">
                <a:solidFill>
                  <a:srgbClr val="1A1A1A"/>
                </a:solidFill>
              </a:rPr>
              <a:t>•  Branded amenities kit disponível para marcas hoteleiras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463040"/>
            <a:ext cx="2185416" cy="192024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146304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2" y="148132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UNIVERSITÁRIO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792224"/>
            <a:ext cx="2130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Contas em Northwestern, DePaul, UCLA</a:t>
            </a:r>
          </a:p>
          <a:p>
            <a:r>
              <a:rPr sz="850">
                <a:solidFill>
                  <a:srgbClr val="1A1A1A"/>
                </a:solidFill>
              </a:rPr>
              <a:t>•  Dining services premium — alternativa ao café de commodity</a:t>
            </a:r>
          </a:p>
          <a:p>
            <a:r>
              <a:rPr sz="850">
                <a:solidFill>
                  <a:srgbClr val="1A1A1A"/>
                </a:solidFill>
              </a:rPr>
              <a:t>•  Programa educacional: cuppings para estudantes</a:t>
            </a:r>
          </a:p>
          <a:p>
            <a:r>
              <a:rPr sz="850">
                <a:solidFill>
                  <a:srgbClr val="1A1A1A"/>
                </a:solidFill>
              </a:rPr>
              <a:t>•  Gateway para a próxima geração de consumidores specialty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3456432"/>
            <a:ext cx="896112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" y="3456432"/>
            <a:ext cx="1097280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" y="3474720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CAFÉS PRÓPRIOS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34747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16 cafés em Chicago, LA, NYC e Boston — cada um é um training center e brand temple, não driver de receita. Servem como laboratório de R&amp;D e vitrine para parceiros wholesale.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" y="3858768"/>
            <a:ext cx="87965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Modelo: café = 20% da receita, wholesale = 55%, DTC/e-comm = 25%</a:t>
            </a:r>
          </a:p>
          <a:p>
            <a:r>
              <a:rPr sz="850">
                <a:solidFill>
                  <a:srgbClr val="1A1A1A"/>
                </a:solidFill>
              </a:rPr>
              <a:t>•  Barista Education disponível em todos os cafés — masterclasses abertas ao público semanalmente</a:t>
            </a:r>
          </a:p>
          <a:p>
            <a:r>
              <a:rPr sz="850">
                <a:solidFill>
                  <a:srgbClr val="1A1A1A"/>
                </a:solidFill>
              </a:rPr>
              <a:t>•  Ambientes projetados para demonstrar técnica: balcão aberto, equipamentos visíveis</a:t>
            </a:r>
          </a:p>
          <a:p>
            <a:r>
              <a:rPr sz="850">
                <a:solidFill>
                  <a:srgbClr val="1A1A1A"/>
                </a:solidFill>
              </a:rPr>
              <a:t>•  Cafés geram tráfego orgânico e mídia espontânea — não precisam ser lucrativos individualmente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Portfólio de Produtos — Intelligentsia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Single-Origins · Blends · Cold Brew · Barista Equipment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SINGLE-ORIGINS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Los Inmortales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El Salvador — caramel, dark cherry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$28/12oz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Yirga-1 Ethiopia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Natural process — blueberry, jasmine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$30/12oz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La Palma Colombia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Washed — citrus, milk choc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$26/12oz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BLENDS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658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Black Cat Espresso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Signature blend — benchmark specialty espresso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$22/12oz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House Blend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Accessible entry — balanced, nutty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$18/12oz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Decaf Black Cat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Swiss water process espresso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$24/12oz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COLD BREW RTD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Cold Brew Concentrate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2:1 dilute — 32oz bottle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$14–18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Nitro Cold Brew Can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Ready-to-drink — 11oz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$4–6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Cold Brew + Oat Milk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Ready-to-drink barista latte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$5–7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BARISTA TOOLS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714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Cupping Kits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2200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Professional cupping tools — wholesale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$45–85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6714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Brewing Guides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Origin-specific recipe cards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2200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Free/DTC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6714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2200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Subscriptions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200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Weekly fresh roast — 3 bag options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2200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$32–68/mo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Ativações &amp; Marketing — Intelligentsia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Barista Championships · Education as Marketing · Direct Trade Storytelling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US BARISTA CHAMPIONSHIP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Dezenas de competidores treinados por Intelligentsia</a:t>
            </a:r>
          </a:p>
          <a:p>
            <a:r>
              <a:rPr sz="850">
                <a:solidFill>
                  <a:srgbClr val="1A1A1A"/>
                </a:solidFill>
              </a:rPr>
              <a:t>•  Vencedores = mídia orgânica massiva na comunidade specialty</a:t>
            </a:r>
          </a:p>
          <a:p>
            <a:r>
              <a:rPr sz="850">
                <a:solidFill>
                  <a:srgbClr val="1A1A1A"/>
                </a:solidFill>
              </a:rPr>
              <a:t>•  'Treinar campeões' = RTB definitivo de qualidade técnica</a:t>
            </a:r>
          </a:p>
          <a:p>
            <a:r>
              <a:rPr sz="850">
                <a:solidFill>
                  <a:srgbClr val="1A1A1A"/>
                </a:solidFill>
              </a:rPr>
              <a:t>•  Competições filmadas e distribuídas no YouTube — conteúdo de alto valor</a:t>
            </a:r>
          </a:p>
          <a:p>
            <a:r>
              <a:rPr sz="850">
                <a:solidFill>
                  <a:srgbClr val="1A1A1A"/>
                </a:solidFill>
              </a:rPr>
              <a:t>•  Custo: tempo de treinamento + entry fee — ROI imensurável em credibilidade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BARISTA EDUCATION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Cursos abertos ao público: 'Foundations of Espresso', 'Cupping', 'Brewing Science'</a:t>
            </a:r>
          </a:p>
          <a:p>
            <a:r>
              <a:rPr sz="850">
                <a:solidFill>
                  <a:srgbClr val="1A1A1A"/>
                </a:solidFill>
              </a:rPr>
              <a:t>•  Free weekly cuppings em todos os cafés — 50+ por ano</a:t>
            </a:r>
          </a:p>
          <a:p>
            <a:r>
              <a:rPr sz="850">
                <a:solidFill>
                  <a:srgbClr val="1A1A1A"/>
                </a:solidFill>
              </a:rPr>
              <a:t>•  Wholesale Partner Education: treinamento incluso em cada contrato</a:t>
            </a:r>
          </a:p>
          <a:p>
            <a:r>
              <a:rPr sz="850">
                <a:solidFill>
                  <a:srgbClr val="1A1A1A"/>
                </a:solidFill>
              </a:rPr>
              <a:t>•  Online courses via YouTube — acesso gratuito = top of funnel</a:t>
            </a:r>
          </a:p>
          <a:p>
            <a:r>
              <a:rPr sz="850">
                <a:solidFill>
                  <a:srgbClr val="1A1A1A"/>
                </a:solidFill>
              </a:rPr>
              <a:t>•  Certificação Intelligentsia Educator — retenção de parceiros B2B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DIRECT TRADE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Origin Trip documentaries: baristas viajam às fazendas, filmam, publicam</a:t>
            </a:r>
          </a:p>
          <a:p>
            <a:r>
              <a:rPr sz="850">
                <a:solidFill>
                  <a:srgbClr val="1A1A1A"/>
                </a:solidFill>
              </a:rPr>
              <a:t>•  'Letters from the Farm' — newsletter de origin updates para membros</a:t>
            </a:r>
          </a:p>
          <a:p>
            <a:r>
              <a:rPr sz="850">
                <a:solidFill>
                  <a:srgbClr val="1A1A1A"/>
                </a:solidFill>
              </a:rPr>
              <a:t>•  Transparência de preços: relatório anual publicado no site (cada país, preço pago)</a:t>
            </a:r>
          </a:p>
          <a:p>
            <a:r>
              <a:rPr sz="850">
                <a:solidFill>
                  <a:srgbClr val="1A1A1A"/>
                </a:solidFill>
              </a:rPr>
              <a:t>•  Co-criação com agricultores: naming de blends, embalagens com história do produtor</a:t>
            </a:r>
          </a:p>
          <a:p>
            <a:r>
              <a:rPr sz="850">
                <a:solidFill>
                  <a:srgbClr val="1A1A1A"/>
                </a:solidFill>
              </a:rPr>
              <a:t>•  Earned media: NYT, Bon Appétit, James Beard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EVENTS &amp; POP-UPS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Intelligentsia at Frieze Art Fair — coffee + art community crossover</a:t>
            </a:r>
          </a:p>
          <a:p>
            <a:r>
              <a:rPr sz="850">
                <a:solidFill>
                  <a:srgbClr val="1A1A1A"/>
                </a:solidFill>
              </a:rPr>
              <a:t>•  NYC Coffee Festival — booth com live roasting</a:t>
            </a:r>
          </a:p>
          <a:p>
            <a:r>
              <a:rPr sz="850">
                <a:solidFill>
                  <a:srgbClr val="1A1A1A"/>
                </a:solidFill>
              </a:rPr>
              <a:t>•  Coachella VIP Lounge — coffee para crowd premium</a:t>
            </a:r>
          </a:p>
          <a:p>
            <a:r>
              <a:rPr sz="850">
                <a:solidFill>
                  <a:srgbClr val="1A1A1A"/>
                </a:solidFill>
              </a:rPr>
              <a:t>•  Colaboração com chefs James Beard — coffee pairing dinners</a:t>
            </a:r>
          </a:p>
          <a:p>
            <a:r>
              <a:rPr sz="850">
                <a:solidFill>
                  <a:srgbClr val="1A1A1A"/>
                </a:solidFill>
              </a:rPr>
              <a:t>•  Pop-up em novos mercados antes de abrir cafés permanentes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Estratégia Digital — Intelligentsia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Conteúdo educacional como aquisição: ensinar = vender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57984" cy="17373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57984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53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64"/>
                </a:solidFill>
              </a:rPr>
              <a:t>185K seg.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7007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Origin photography + barista technique + product releases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57984" cy="173736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051560"/>
            <a:ext cx="2157984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04872" y="10698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1353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064"/>
                </a:solidFill>
              </a:rPr>
              <a:t>12M+ 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17007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Brewing tutorials, origin trips, competition footage — full-length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051560"/>
            <a:ext cx="2157984" cy="1737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051560"/>
            <a:ext cx="2157984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0698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E-commerce DTC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1353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A1F"/>
                </a:solidFill>
              </a:rPr>
              <a:t>~25% receita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17007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Subscriptions + origin releases + barista equipment bundles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1051560"/>
            <a:ext cx="2157984" cy="17373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1051560"/>
            <a:ext cx="2157984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10698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Newsletter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5432" y="1353312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6A18"/>
                </a:solidFill>
              </a:rPr>
              <a:t>50K+ assinantes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5432" y="1700784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Weekly: brewing tip + origin update + exclusive offer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889504"/>
            <a:ext cx="89611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" y="29443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CONTEÚDO EDUCACIONAL COMO ESTRATÉGIA PRINCIPAL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3218688"/>
            <a:ext cx="4389120" cy="7863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" y="3218688"/>
            <a:ext cx="274320" cy="7863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7355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Série 'Origin Trips'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29584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Baristas da Intelligentsia viajam a El Salvador, Etiópia, Colômbia — filmam o processo, publicam no YouTube. Resultado: média de 200K views por vídeo, earned media em food publications.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218688"/>
            <a:ext cx="4389120" cy="7863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3218688"/>
            <a:ext cx="274320" cy="7863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83480" y="327355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'How to Brew' Tutorial Series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529584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Séries técnicas de extração — cada produto tem seu guia ideal. 50+ vídeos, 5M+ views totais. Converte consumidor curioso em cliente fidelizado.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" y="4096512"/>
            <a:ext cx="4389120" cy="7863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" y="4096512"/>
            <a:ext cx="274320" cy="7863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51376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Barista Championship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40740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Transmissão ao vivo e recap das competições. Intelligentsia como suporte visível dos campeões = brand equity de comunidade que nenhum ad compra.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17720" y="4096512"/>
            <a:ext cx="4389120" cy="786384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17720" y="4096512"/>
            <a:ext cx="274320" cy="786384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83480" y="4151376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Transparency Annual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4407408"/>
            <a:ext cx="3931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Publicação anual dos preços pagos por cada café, por fazenda. Único no mercado. Gera cobertura jornalística consistente e trust radical dos consumidores exigentes.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Sustentabilidade &amp; Direct Trade — Intelligentsia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Transparência radical como vantagem competitiva e argumento comercial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DIRECT TRADE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25%+ acima do piso Fair Trade pago aos agricultores</a:t>
            </a:r>
          </a:p>
          <a:p>
            <a:r>
              <a:rPr sz="850">
                <a:solidFill>
                  <a:srgbClr val="1A1A1A"/>
                </a:solidFill>
              </a:rPr>
              <a:t>•  Contratos de 3–5 anos — estabilidade para o produtor planejar</a:t>
            </a:r>
          </a:p>
          <a:p>
            <a:r>
              <a:rPr sz="850">
                <a:solidFill>
                  <a:srgbClr val="1A1A1A"/>
                </a:solidFill>
              </a:rPr>
              <a:t>•  3 visitas/ano às fazendas — agronômica + sensorial + social</a:t>
            </a:r>
          </a:p>
          <a:p>
            <a:r>
              <a:rPr sz="850">
                <a:solidFill>
                  <a:srgbClr val="1A1A1A"/>
                </a:solidFill>
              </a:rPr>
              <a:t>•  Mínimo de qualidade: 84+ pontos SCA — só specialty entra</a:t>
            </a:r>
          </a:p>
          <a:p>
            <a:r>
              <a:rPr sz="850">
                <a:solidFill>
                  <a:srgbClr val="1A1A1A"/>
                </a:solidFill>
              </a:rPr>
              <a:t>•  Relatório anual de transparência: preços pagos por fazenda publicados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FARMER 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Relação pessoal com 40+ fazendas em 12 países</a:t>
            </a:r>
          </a:p>
          <a:p>
            <a:r>
              <a:rPr sz="850">
                <a:solidFill>
                  <a:srgbClr val="1A1A1A"/>
                </a:solidFill>
              </a:rPr>
              <a:t>•  Co-desenvolvimento de varietais e processos experimentais</a:t>
            </a:r>
          </a:p>
          <a:p>
            <a:r>
              <a:rPr sz="850">
                <a:solidFill>
                  <a:srgbClr val="1A1A1A"/>
                </a:solidFill>
              </a:rPr>
              <a:t>•  Baristas de Intelligentsia treinam equipes nas fazendas</a:t>
            </a:r>
          </a:p>
          <a:p>
            <a:r>
              <a:rPr sz="850">
                <a:solidFill>
                  <a:srgbClr val="1A1A1A"/>
                </a:solidFill>
              </a:rPr>
              <a:t>•  Acesso a micro-lotes e naturais experimentais exclusivos</a:t>
            </a:r>
          </a:p>
          <a:p>
            <a:r>
              <a:rPr sz="850">
                <a:solidFill>
                  <a:srgbClr val="1A1A1A"/>
                </a:solidFill>
              </a:rPr>
              <a:t>•  Origem como narrativa de marketing — nome da fazenda na embalagem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ENVIRONMENTAL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100% energias renováveis nas torrefações de Chicago e LA</a:t>
            </a:r>
          </a:p>
          <a:p>
            <a:r>
              <a:rPr sz="850">
                <a:solidFill>
                  <a:srgbClr val="1A1A1A"/>
                </a:solidFill>
              </a:rPr>
              <a:t>•  Embalagens: 80% recicladas/recicláveis</a:t>
            </a:r>
          </a:p>
          <a:p>
            <a:r>
              <a:rPr sz="850">
                <a:solidFill>
                  <a:srgbClr val="1A1A1A"/>
                </a:solidFill>
              </a:rPr>
              <a:t>•  Cold Brew cans: alumínio reciclável — programa de devolução</a:t>
            </a:r>
          </a:p>
          <a:p>
            <a:r>
              <a:rPr sz="850">
                <a:solidFill>
                  <a:srgbClr val="1A1A1A"/>
                </a:solidFill>
              </a:rPr>
              <a:t>•  Carbono: mapeamento completo Scope 1-3 (2023)</a:t>
            </a:r>
          </a:p>
          <a:p>
            <a:r>
              <a:rPr sz="850">
                <a:solidFill>
                  <a:srgbClr val="1A1A1A"/>
                </a:solidFill>
              </a:rPr>
              <a:t>•  Meta: Net Zero 2030 — road map publicado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SOCIAL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Intelligentsia Foundation: bolsas para baristas de comunidades sub-representadas</a:t>
            </a:r>
          </a:p>
          <a:p>
            <a:r>
              <a:rPr sz="850">
                <a:solidFill>
                  <a:srgbClr val="1A1A1A"/>
                </a:solidFill>
              </a:rPr>
              <a:t>•  Diversidade no quadro de funcionários: 55%+ BIPOC em 2024</a:t>
            </a:r>
          </a:p>
          <a:p>
            <a:r>
              <a:rPr sz="850">
                <a:solidFill>
                  <a:srgbClr val="1A1A1A"/>
                </a:solidFill>
              </a:rPr>
              <a:t>•  Living Wage certification para todos os funcionários diretos</a:t>
            </a:r>
          </a:p>
          <a:p>
            <a:r>
              <a:rPr sz="850">
                <a:solidFill>
                  <a:srgbClr val="1A1A1A"/>
                </a:solidFill>
              </a:rPr>
              <a:t>•  Parceria com SCA (Specialty Coffee Association) em programas de equidade</a:t>
            </a:r>
          </a:p>
          <a:p>
            <a:r>
              <a:rPr sz="850">
                <a:solidFill>
                  <a:srgbClr val="1A1A1A"/>
                </a:solidFill>
              </a:rPr>
              <a:t>•  Girl &amp; Boy Scout of America coffee education partnership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Receita 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~$60M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Privado, parte Peet's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Receita wholesale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1,500+ contas B2B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Bag 12oz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$22–32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4–6× commodity price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DTC/e-comm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Crescendo pós-2020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Contas B2B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1,500+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Cafés, restau., hotéis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Cafés próprios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Brand temples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658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SCA score min.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84+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Direct Trade threshold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Fazendas parceiras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40+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12 países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COMUNIDADE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2686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Títulos USBC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Dezenas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US Barista Championship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Newsletter subs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50K+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Educação como aquisição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Instagram seg.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185K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Lifestyle specialty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2686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Cuppings/semana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Free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Em todos os cafés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SUSTENT.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Prêmio DT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25%+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Acima Fair Trade floor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714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Transparency report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Anual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Preços pagos publicados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6714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Net Zero meta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Scope 1-3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6714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6064"/>
                </a:solidFill>
              </a:rPr>
              <a:t>Farm visits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3x/ano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Por fazenda parceira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Intelligentsia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8961120" cy="36576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088136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ÂNGULO: Barista Community as Tastemakers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99616"/>
            <a:ext cx="4389120" cy="164592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1499616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Comunidade de Baristas = Credibilidade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Intelligentsia investiu em barista championships e nunca em mídia massiva. Orfeu deve tratar os baristas dos parceiros B2B como embaixadores ativos — treinamento Orfeu = certificação de qualidade que eles promovem voluntariamente.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99616"/>
            <a:ext cx="4389120" cy="164592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499616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Treinamento B2B como Lock-in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Cada contrato wholesale da Intelligentsia inclui treinamento gratuito. Isso cria dependência técnica e lealdade. Academia Orfeu para parceiros Ho.Re.Ca. = mesma lógica, com escalabilidade via formato presencial + digital.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255263"/>
            <a:ext cx="4389120" cy="164592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Transparência Radical como Diferenciação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Annual Transparency Report com preços pagos = earned media consistente + trust de consumidores exigentes. Orfeu pode publicar 'Relatório de Origem Orfeu' — preço ao produtor, score SCA, localização da fazenda. Único no Brasil.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55263"/>
            <a:ext cx="4389120" cy="1645920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55263"/>
            <a:ext cx="4389120" cy="25603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Wholesale-First Reduz Risco de Expansão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Crescer wholesale antes de abrir cafés próprios = testar mercado com menor capital. Orfeu pode expandir para São Paulo/Rio premium wholesale antes de investir em cafés próprios.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Intelligentsia Coffee official website — intelligentsia.com</a:t>
            </a:r>
          </a:p>
          <a:p>
            <a:r>
              <a:rPr sz="850">
                <a:solidFill>
                  <a:srgbClr val="555555"/>
                </a:solidFill>
              </a:rPr>
              <a:t>2.  Doug Zell interview — Barista Magazine, 2015</a:t>
            </a:r>
          </a:p>
          <a:p>
            <a:r>
              <a:rPr sz="850">
                <a:solidFill>
                  <a:srgbClr val="555555"/>
                </a:solidFill>
              </a:rPr>
              <a:t>3.  Intelligentsia Direct Trade Program — coffeehabitat.com</a:t>
            </a:r>
          </a:p>
          <a:p>
            <a:r>
              <a:rPr sz="850">
                <a:solidFill>
                  <a:srgbClr val="555555"/>
                </a:solidFill>
              </a:rPr>
              <a:t>4.  US Barista Championship records — scaexpo.com</a:t>
            </a:r>
          </a:p>
          <a:p>
            <a:r>
              <a:rPr sz="850">
                <a:solidFill>
                  <a:srgbClr val="555555"/>
                </a:solidFill>
              </a:rPr>
              <a:t>5.  JAB Holding / Peet's acquisition — Wall Street Journal, 2015</a:t>
            </a:r>
          </a:p>
          <a:p>
            <a:r>
              <a:rPr sz="850">
                <a:solidFill>
                  <a:srgbClr val="555555"/>
                </a:solidFill>
              </a:rPr>
              <a:t>6.  Intelligentsia wholesale program — intelligentsia.com/wholesale</a:t>
            </a:r>
          </a:p>
          <a:p>
            <a:r>
              <a:rPr sz="850">
                <a:solidFill>
                  <a:srgbClr val="555555"/>
                </a:solidFill>
              </a:rPr>
              <a:t>7.  Transparency Report — intelligentsia.com/transparency</a:t>
            </a:r>
          </a:p>
          <a:p>
            <a:r>
              <a:rPr sz="850">
                <a:solidFill>
                  <a:srgbClr val="555555"/>
                </a:solidFill>
              </a:rPr>
              <a:t>8.  Cold Brew launch coverage — Bon Appétit, 2020</a:t>
            </a:r>
          </a:p>
          <a:p>
            <a:r>
              <a:rPr sz="850">
                <a:solidFill>
                  <a:srgbClr val="555555"/>
                </a:solidFill>
              </a:rPr>
              <a:t>9.  Intelligentsia Barista Education Program — intelligentsia.com/education</a:t>
            </a:r>
          </a:p>
          <a:p>
            <a:r>
              <a:rPr sz="850">
                <a:solidFill>
                  <a:srgbClr val="555555"/>
                </a:solidFill>
              </a:rPr>
              <a:t>10.  SCA Specialty Coffee Association accreditation — sca.coffee</a:t>
            </a:r>
          </a:p>
          <a:p>
            <a:r>
              <a:rPr sz="850">
                <a:solidFill>
                  <a:srgbClr val="555555"/>
                </a:solidFill>
              </a:rPr>
              <a:t>11.  James Beard Award nominations — jamesbeard.org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