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" cy="51435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63500"/>
            <a:ext cx="9144000" cy="18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4000" y="1440180"/>
            <a:ext cx="8910000" cy="45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00000"/>
                </a:solidFill>
                <a:latin typeface="Avenir Next LT Pro"/>
              </a:rPr>
              <a:t>illy caffè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2674620"/>
            <a:ext cx="8910000" cy="30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Avenir Next LT Pro"/>
              </a:rPr>
              <a:t>Referências Complementares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000" y="3343275"/>
            <a:ext cx="8910000" cy="18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venir Next LT Pro"/>
              </a:rPr>
              <a:t>Formatos Secundários  ·  Cápsulas  ·  RTD  ·  Máquinas  ·  Art Collection  ·  Flagship Retail  ·  Trade &amp; HoReCa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00" y="4963500"/>
            <a:ext cx="9144000" cy="18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venir Next LT Pro"/>
              </a:rPr>
              <a:t>Alquemia Consulting  ·  Julho 2026  · 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venir Next LT Pro"/>
              </a:rPr>
              <a:t>Formatos Secundários — Paper Pods (ESE) &amp; Café Instantâneo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0"/>
            <a:ext cx="3477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Além da cápsula iperEspresso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900000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86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PORTFÓLIO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000" y="537144"/>
            <a:ext cx="2856000" cy="5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000" y="537144"/>
            <a:ext cx="2820000" cy="54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PAPER PODS ESE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91144"/>
            <a:ext cx="2856000" cy="162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0000" y="2319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Classico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2517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Blend 100% Arábica
Compatível ESE 44mm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000" y="591144"/>
            <a:ext cx="2856000" cy="162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44000" y="2319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Intenso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4000" y="2517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Torra mais intensa
Compatível ESE 44mm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8000" y="537144"/>
            <a:ext cx="2856000" cy="54000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000" y="537144"/>
            <a:ext cx="2820000" cy="54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CAFÉ INSTANTÂNEO</a:t>
            </a: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000" y="591144"/>
            <a:ext cx="1374000" cy="1620000"/>
          </a:xfrm>
          <a:prstGeom prst="rect">
            <a:avLst/>
          </a:prstGeom>
        </p:spPr>
      </p:pic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000" y="591144"/>
            <a:ext cx="1374000" cy="162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08000" y="2319144"/>
            <a:ext cx="1374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Ground — Classico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000" y="2517144"/>
            <a:ext cx="1374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Pó solúvel
Café 100% Arábica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0000" y="2319144"/>
            <a:ext cx="1374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Stick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0000" y="2517144"/>
            <a:ext cx="1374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Monodose prático
Ideal para hotelaria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000" y="2895144"/>
            <a:ext cx="8784000" cy="288000"/>
          </a:xfrm>
          <a:prstGeom prst="rect">
            <a:avLst/>
          </a:prstGeom>
          <a:solidFill>
            <a:srgbClr val="F8F0F0"/>
          </a:solidFill>
          <a:ln>
            <a:solidFill>
              <a:srgbClr val="F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0000" y="2895144"/>
            <a:ext cx="9144" cy="28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000" y="2895144"/>
            <a:ext cx="8712000" cy="28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venir Next LT Pro"/>
              </a:rPr>
              <a:t>Para Orfeu: ESE e instantâneo premium abrem HoReCa, hotelaria e gift sets — complementam a cápsula iperEspresso sem canibalizar.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illy caffè  ·  Referências Complementares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venir Next LT Pro"/>
              </a:rPr>
              <a:t>Cápsulas — iperEspresso &amp; Compatíveis Nespresso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0"/>
            <a:ext cx="3477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Dois sistemas, um portfólio premium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900000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86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PORTFÓLIO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000" y="537144"/>
            <a:ext cx="8784000" cy="54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000" y="537144"/>
            <a:ext cx="8784000" cy="54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iperEspresso CAPSULES — Sistema exclusivo illy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91144"/>
            <a:ext cx="2115000" cy="144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0000" y="2139144"/>
            <a:ext cx="2115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Classico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2337144"/>
            <a:ext cx="2115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125g · 18 cápsulas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000" y="591144"/>
            <a:ext cx="2115000" cy="144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03000" y="2139144"/>
            <a:ext cx="2115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Intenso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3000" y="2337144"/>
            <a:ext cx="2115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125g · Corpo pleno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000" y="591144"/>
            <a:ext cx="2115000" cy="144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26000" y="2139144"/>
            <a:ext cx="2115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Brasil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000" y="2337144"/>
            <a:ext cx="2115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100% Arábica Brasil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9000" y="591144"/>
            <a:ext cx="2115000" cy="144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49000" y="2139144"/>
            <a:ext cx="2115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Classico — Cube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9000" y="2337144"/>
            <a:ext cx="2115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Design premium · 21 caps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0000" y="2625144"/>
            <a:ext cx="8784000" cy="54000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8000" y="2625144"/>
            <a:ext cx="8784000" cy="54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COMPATIBLE CAPSULES — Nespresso Original Line</a:t>
            </a:r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000" y="2787144"/>
            <a:ext cx="4338000" cy="129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80000" y="4191144"/>
            <a:ext cx="4338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Intenso — Nespresso Compatible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" y="4389144"/>
            <a:ext cx="4338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Torra intensa · 10 cápsulas
Compatível linha Original</a:t>
            </a:r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00" y="2787144"/>
            <a:ext cx="4338000" cy="129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626000" y="4191144"/>
            <a:ext cx="4338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Classico — Lifestyle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000" y="4389144"/>
            <a:ext cx="4338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Variante média · Acessibilidade
Distribuição massiva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illy caffè  ·  Referências Complementares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venir Next LT Pro"/>
              </a:rPr>
              <a:t>Ready-to-Drink &amp; Cold Brew Concentrate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0"/>
            <a:ext cx="3477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Canal on-trade, supermercado e travel retail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900000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86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RTD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37144"/>
            <a:ext cx="2856000" cy="19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000" y="262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Cold Brew Concentrate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282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250ml · Alta concentração
Serve 4–6 drinques por lata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000" y="537144"/>
            <a:ext cx="28560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44000" y="262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Cappuccino RTD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4000" y="282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192ml · Emulsionado
Canal conveniência e travel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000" y="537144"/>
            <a:ext cx="2856000" cy="198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08000" y="262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Latte Macchiato RTD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000" y="282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192ml · Suave e cremoso
Target: consumidor jovem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3201144"/>
            <a:ext cx="8784000" cy="288000"/>
          </a:xfrm>
          <a:prstGeom prst="rect">
            <a:avLst/>
          </a:prstGeom>
          <a:solidFill>
            <a:srgbClr val="F8F0F0"/>
          </a:solidFill>
          <a:ln>
            <a:solidFill>
              <a:srgbClr val="F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0000" y="3201144"/>
            <a:ext cx="9144" cy="28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4000" y="3201144"/>
            <a:ext cx="8712000" cy="28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venir Next LT Pro"/>
              </a:rPr>
              <a:t>Para Orfeu: o RTD abre supermercado premium, travel retail e o "3º turno" (tarde/noite fria) — mercado de R$2bi+ no Brasil e crescendo 20%aa. Entry point com margem superior ao grão.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illy caffè  ·  Referências Complementares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venir Next LT Pro"/>
              </a:rPr>
              <a:t>Máquinas de Café — Y3.3 &amp; X7.1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0"/>
            <a:ext cx="3477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Hardware como ativo de canal — capex e comodato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900000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86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MÁQUINAS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37144"/>
            <a:ext cx="4338000" cy="216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0000" y="2697144"/>
            <a:ext cx="4338000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000" y="2697144"/>
            <a:ext cx="4302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venir Next LT Pro"/>
              </a:rPr>
              <a:t>Y3.3 — Entry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" y="2877144"/>
            <a:ext cx="4338000" cy="45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Cápsulas iperEspresso
Design compacto e icônico
PVP: ~€ 149
Ideal: home &amp; office entry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000" y="537144"/>
            <a:ext cx="4338000" cy="2160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626000" y="2697144"/>
            <a:ext cx="4338000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4000" y="2697144"/>
            <a:ext cx="4302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venir Next LT Pro"/>
              </a:rPr>
              <a:t>X7.1 — Professional 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000" y="2877144"/>
            <a:ext cx="4338000" cy="45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iperEspresso + moagem integrada
Monodose e grão inteiro
PVP: ~€ 349
Ideal: home top-tier &amp; gifting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" y="3377144"/>
            <a:ext cx="8784000" cy="288000"/>
          </a:xfrm>
          <a:prstGeom prst="rect">
            <a:avLst/>
          </a:prstGeom>
          <a:solidFill>
            <a:srgbClr val="F8F0F0"/>
          </a:solidFill>
          <a:ln>
            <a:solidFill>
              <a:srgbClr val="F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0000" y="3377144"/>
            <a:ext cx="9144" cy="28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4000" y="3377144"/>
            <a:ext cx="8712000" cy="28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venir Next LT Pro"/>
              </a:rPr>
              <a:t>Para Orfeu: modelo de comodato de máquinas no B2B é comprovado pela illy — lock-in de consumível e aumento de ticket médio. A máquina é o canal, não o produto.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illy caffè  ·  Referências Complementares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venir Next LT Pro"/>
              </a:rPr>
              <a:t>illy Art Collection — 30+ Anos de Arte Contemporânea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0"/>
            <a:ext cx="3477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Desde 1992 · +100 artistas · Biennale di Venezia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900000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86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ART COLLECTION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37144"/>
            <a:ext cx="2856000" cy="18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000" y="244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Biennale 2024 — Set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264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4 xícaras · Artistas da 60ª Biennale
Curador Adriano Pedrosa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000" y="537144"/>
            <a:ext cx="2856000" cy="180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44000" y="244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Detalhe de 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4000" y="264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Aycoobo, MAHKU, Paula Nicho
Rember Yahuarcani · Artistas globais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000" y="537144"/>
            <a:ext cx="2856000" cy="180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08000" y="2445144"/>
            <a:ext cx="2856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Posição no PDV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000" y="2643144"/>
            <a:ext cx="2856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Gift set premium · PVP ~€ 75–90
Trade e lojas próprias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3021144"/>
            <a:ext cx="8784000" cy="288000"/>
          </a:xfrm>
          <a:prstGeom prst="rect">
            <a:avLst/>
          </a:prstGeom>
          <a:solidFill>
            <a:srgbClr val="F8F0F0"/>
          </a:solidFill>
          <a:ln>
            <a:solidFill>
              <a:srgbClr val="F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0000" y="3021144"/>
            <a:ext cx="9144" cy="28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4000" y="3021144"/>
            <a:ext cx="8712000" cy="28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venir Next LT Pro"/>
              </a:rPr>
              <a:t>Para Orfeu: Art Collection transforma o produto em objeto cultural — defende margem, blinda de commoditização e cria categoria de gifting premium. Modelo replicável para Orfeu com produtores e artistas brasileiros.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illy caffè  ·  Referências Complementares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venir Next LT Pro"/>
              </a:rPr>
              <a:t>Flagship Retail — Via Monte Napoleone, Milano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0"/>
            <a:ext cx="3477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ACPV Architects · Antonio Citterio &amp; Patricia Viel · 2022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900000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86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FLAGSHIP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37144"/>
            <a:ext cx="4338000" cy="144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000" y="2085144"/>
            <a:ext cx="4338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Entrada — Via Monte Napoleone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2283144"/>
            <a:ext cx="4338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Chandelier de 100 xícaras Art Collection
Porta de entrada em espelho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000" y="537144"/>
            <a:ext cx="4338000" cy="144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26000" y="2085144"/>
            <a:ext cx="4338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Bar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000" y="2283144"/>
            <a:ext cx="4338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Tampo em chapa vermelha illy
Terrazzo artesanal · Oak bar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00" y="2373144"/>
            <a:ext cx="4338000" cy="144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0000" y="3921144"/>
            <a:ext cx="4338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Sala Art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4119144"/>
            <a:ext cx="4338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Duas salas dedicadas à coleção
Peças desde 1992 em exibição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000" y="2373144"/>
            <a:ext cx="4338000" cy="144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26000" y="3921144"/>
            <a:ext cx="4338000" cy="198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Espresso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000" y="4119144"/>
            <a:ext cx="4338000" cy="36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Accademia do café · Treinamento
300m² · Conceito multisensorial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illy caffè  ·  Referências Complementares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venir Next LT Pro"/>
              </a:rPr>
              <a:t>Trade &amp; HoReCa — Execução no Canal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0"/>
            <a:ext cx="3477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venir Next LT Pro"/>
              </a:rPr>
              <a:t>Programa de parceiros profissionais · &gt;200.000 pontos no mundo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330000"/>
            <a:ext cx="900000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330000"/>
            <a:ext cx="86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TRADE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37144"/>
            <a:ext cx="2856000" cy="180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144000" y="573144"/>
            <a:ext cx="12000" cy="19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0000" y="573144"/>
            <a:ext cx="5676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Avenir Next LT Pro"/>
              </a:rPr>
              <a:t>PROGRAMA DE PARCEIROS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0000" y="663144"/>
            <a:ext cx="5676000" cy="126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Mais de 200.000 pontos de venda profissionais em +140 países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44000" y="843144"/>
            <a:ext cx="12000" cy="19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0000" y="843144"/>
            <a:ext cx="5676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Avenir Next LT Pro"/>
              </a:rPr>
              <a:t>COMODATO DE MÁQUINAS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0000" y="933144"/>
            <a:ext cx="5676000" cy="126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Máquinas fornecidas em comodato + suporte técnico incluído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44000" y="1113144"/>
            <a:ext cx="12000" cy="19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80000" y="1113144"/>
            <a:ext cx="5676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Avenir Next LT Pro"/>
              </a:rPr>
              <a:t>TREINAMENTO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0000" y="1203144"/>
            <a:ext cx="5676000" cy="126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illy Università del Caffè · Formação de baristas e gerentes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44000" y="1383144"/>
            <a:ext cx="12000" cy="19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0000" y="1383144"/>
            <a:ext cx="5676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Avenir Next LT Pro"/>
              </a:rPr>
              <a:t>IDENTIDADE VISUAL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0000" y="1473144"/>
            <a:ext cx="5676000" cy="126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POS materials, menus, xícaras, guarda-chuvas — branded experience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44000" y="1653144"/>
            <a:ext cx="12000" cy="19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0000" y="1653144"/>
            <a:ext cx="5676000" cy="90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Avenir Next LT Pro"/>
              </a:rPr>
              <a:t>ACCADEMIA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0000" y="1743144"/>
            <a:ext cx="5676000" cy="126000"/>
          </a:xfrm>
          <a:prstGeom prst="rect">
            <a:avLst/>
          </a:prstGeom>
          <a:noFill/>
        </p:spPr>
        <p:txBody anchor="top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Avenir Next LT Pro"/>
              </a:rPr>
              <a:t>Escola do café integrada ao flagship · formação técnica avançada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000" y="2457144"/>
            <a:ext cx="8784000" cy="288000"/>
          </a:xfrm>
          <a:prstGeom prst="rect">
            <a:avLst/>
          </a:prstGeom>
          <a:solidFill>
            <a:srgbClr val="F8F0F0"/>
          </a:solidFill>
          <a:ln>
            <a:solidFill>
              <a:srgbClr val="F8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0000" y="2457144"/>
            <a:ext cx="9144" cy="28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000" y="2457144"/>
            <a:ext cx="8712000" cy="28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venir Next LT Pro"/>
              </a:rPr>
              <a:t>Para Orfeu: O programa HoReCa da illy é o benchmark — comodato + treinamento + identidade visual cria lock-in e aumenta CLV. Prioridade: estabelecer programa estruturado para os 500 melhores pontos B2B.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illy caffè  ·  Referências Complementares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" cy="42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0"/>
            <a:ext cx="5943600" cy="420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venir Next LT Pro"/>
              </a:rPr>
              <a:t>Síntese — O que a illy Nos Ensina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330000"/>
            <a:ext cx="900000" cy="7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000" y="330000"/>
            <a:ext cx="864000" cy="7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venir Next LT Pro"/>
              </a:rPr>
              <a:t>LIÇÕES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20000"/>
            <a:ext cx="9144000" cy="914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000" y="465144"/>
            <a:ext cx="8784000" cy="432000"/>
          </a:xfrm>
          <a:prstGeom prst="rect">
            <a:avLst/>
          </a:prstGeom>
          <a:solidFill>
            <a:srgbClr val="FFFFFF"/>
          </a:solidFill>
          <a:ln w="4572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000" y="465144"/>
            <a:ext cx="9144" cy="43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000" y="465144"/>
            <a:ext cx="2820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Formatos múltiplos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4000" y="465144"/>
            <a:ext cx="2820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iperEspresso + ESE + Nespresso + Instant + RTD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2000" y="465144"/>
            <a:ext cx="2928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Cada canal tem seu formato — não existe produto único. Orfeu precisa de roadmap de formatos por canal e horizonte.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000" y="915144"/>
            <a:ext cx="8784000" cy="432000"/>
          </a:xfrm>
          <a:prstGeom prst="rect">
            <a:avLst/>
          </a:prstGeom>
          <a:solidFill>
            <a:srgbClr val="FFFFFF"/>
          </a:solidFill>
          <a:ln w="4572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000" y="915144"/>
            <a:ext cx="9144" cy="43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915144"/>
            <a:ext cx="2820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Máquinas como canal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4000" y="915144"/>
            <a:ext cx="2820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Y3.3 e X7.1 — comodato e PVP diferenciados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2000" y="915144"/>
            <a:ext cx="2928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A máquina cria o ecossistema. No B2B, o comodato é lock-in. No varejo, a caixa de cápsulas é recorrência.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" y="1365144"/>
            <a:ext cx="8784000" cy="432000"/>
          </a:xfrm>
          <a:prstGeom prst="rect">
            <a:avLst/>
          </a:prstGeom>
          <a:solidFill>
            <a:srgbClr val="FFFFFF"/>
          </a:solidFill>
          <a:ln w="4572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0000" y="1365144"/>
            <a:ext cx="9144" cy="43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6000" y="1365144"/>
            <a:ext cx="2820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Arte como identidade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4000" y="1365144"/>
            <a:ext cx="2820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Art Collection desde 1992 · Biennale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2000" y="1365144"/>
            <a:ext cx="2928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Cultura eleva margem. A xícara não é brinde — é colecionável. Orfeu tem fazenda, terroir, história de 30 anos — o conteúdo existe.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0000" y="1815144"/>
            <a:ext cx="8784000" cy="432000"/>
          </a:xfrm>
          <a:prstGeom prst="rect">
            <a:avLst/>
          </a:prstGeom>
          <a:solidFill>
            <a:srgbClr val="FFFFFF"/>
          </a:solidFill>
          <a:ln w="4572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0000" y="1815144"/>
            <a:ext cx="9144" cy="43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6000" y="1815144"/>
            <a:ext cx="2820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Flagship como laboratório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4000" y="1815144"/>
            <a:ext cx="2820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Via Monte Napoleone · 300m² · ACPV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2000" y="1815144"/>
            <a:ext cx="2928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A loja não precisa ser rentável — ela calibra a marca para todos os outros canais. O flagship define o teto de posicionamento.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0000" y="2265144"/>
            <a:ext cx="8784000" cy="432000"/>
          </a:xfrm>
          <a:prstGeom prst="rect">
            <a:avLst/>
          </a:prstGeom>
          <a:solidFill>
            <a:srgbClr val="FFFFFF"/>
          </a:solidFill>
          <a:ln w="4572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0000" y="2265144"/>
            <a:ext cx="9144" cy="432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6000" y="2265144"/>
            <a:ext cx="2820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venir Next LT Pro"/>
              </a:rPr>
              <a:t>HoReCa como âncora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4000" y="2265144"/>
            <a:ext cx="2820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venir Next LT Pro"/>
              </a:rPr>
              <a:t>&gt;200k pontos · Università del Caffè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2000" y="2265144"/>
            <a:ext cx="2928000" cy="432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Presença premium em restaurantes e hotéis legitima o preço no varejo e online. HoReCa primeiro, depois pull no consumidor final.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035500"/>
            <a:ext cx="9144000" cy="3000"/>
          </a:xfrm>
          <a:prstGeom prst="rect">
            <a:avLst/>
          </a:prstGeom>
          <a:solidFill>
            <a:srgbClr val="DDDDDD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0000" y="5035500"/>
            <a:ext cx="457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venir Next LT Pro"/>
              </a:rPr>
              <a:t>illy caffè  ·  Referências Complementares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035500"/>
            <a:ext cx="4392000" cy="108000"/>
          </a:xfrm>
          <a:prstGeom prst="rect">
            <a:avLst/>
          </a:prstGeom>
          <a:noFill/>
        </p:spPr>
        <p:txBody anchor="ctr"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55555"/>
                </a:solidFill>
                <a:latin typeface="Avenir Next LT Pro"/>
              </a:rPr>
              <a:t>Documento de trabalho — Alquemia Consulting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