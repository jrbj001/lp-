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1.tif"/><Relationship Id="rId6" Type="http://schemas.openxmlformats.org/officeDocument/2006/relationships/image" Target="../media/image2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5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2926082" cy="68580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11480" y="320040"/>
            <a:ext cx="2103121" cy="210312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19" y="3101339"/>
            <a:ext cx="2834641" cy="3118106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4"/>
          <p:cNvSpPr txBox="1"/>
          <p:nvPr/>
        </p:nvSpPr>
        <p:spPr>
          <a:xfrm>
            <a:off x="3246120" y="457200"/>
            <a:ext cx="81381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555555"/>
                </a:solidFill>
              </a:defRPr>
            </a:lvl1pPr>
          </a:lstStyle>
          <a:p>
            <a:pPr/>
            <a:r>
              <a:t>BRAND CASE STUDY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3246120" y="960119"/>
            <a:ext cx="8138160" cy="895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200">
                <a:solidFill>
                  <a:srgbClr val="FFFFFF"/>
                </a:solidFill>
              </a:defRPr>
            </a:lvl1pPr>
          </a:lstStyle>
          <a:p>
            <a:pPr/>
            <a:r>
              <a:t>illycaffè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3246120" y="2331720"/>
            <a:ext cx="813816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CC0000"/>
                </a:solidFill>
              </a:defRPr>
            </a:lvl1pPr>
          </a:lstStyle>
          <a:p>
            <a:pPr/>
            <a:r>
              <a:t>Strategic Anatomy &amp; Omnichannel Evolution</a:t>
            </a:r>
          </a:p>
        </p:txBody>
      </p:sp>
      <p:sp>
        <p:nvSpPr>
          <p:cNvPr id="100" name="Rectangle 7"/>
          <p:cNvSpPr/>
          <p:nvPr/>
        </p:nvSpPr>
        <p:spPr>
          <a:xfrm>
            <a:off x="365760" y="3210560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3246120" y="3893820"/>
            <a:ext cx="84124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F5F5F5"/>
                </a:solidFill>
              </a:defRPr>
            </a:lvl1pPr>
          </a:lstStyle>
          <a:p>
            <a:pPr/>
            <a:r>
              <a:t>Premium Coffee  ·  FY2025 Financials  ·  Brand Architecture  ·  HoReCa  ·  US GTM  ·  Lessons for Orfeu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3246120" y="6263640"/>
            <a:ext cx="84124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Prepared for Orfeu US Market Research  ·  June 2026  ·  Confidential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3"/>
          <p:cNvSpPr/>
          <p:nvPr/>
        </p:nvSpPr>
        <p:spPr>
          <a:xfrm>
            <a:off x="365759" y="914400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ectangle 4"/>
          <p:cNvSpPr/>
          <p:nvPr/>
        </p:nvSpPr>
        <p:spPr>
          <a:xfrm>
            <a:off x="365759" y="914400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Rectangle 7"/>
          <p:cNvSpPr/>
          <p:nvPr/>
        </p:nvSpPr>
        <p:spPr>
          <a:xfrm>
            <a:off x="6217920" y="914400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Rectangle 8"/>
          <p:cNvSpPr/>
          <p:nvPr/>
        </p:nvSpPr>
        <p:spPr>
          <a:xfrm>
            <a:off x="6217920" y="914400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Rectangle 11"/>
          <p:cNvSpPr/>
          <p:nvPr/>
        </p:nvSpPr>
        <p:spPr>
          <a:xfrm>
            <a:off x="365759" y="1768963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Rectangle 12"/>
          <p:cNvSpPr/>
          <p:nvPr/>
        </p:nvSpPr>
        <p:spPr>
          <a:xfrm>
            <a:off x="365759" y="1768963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ectangle 15"/>
          <p:cNvSpPr/>
          <p:nvPr/>
        </p:nvSpPr>
        <p:spPr>
          <a:xfrm>
            <a:off x="6217920" y="1768963"/>
            <a:ext cx="5532121" cy="743100"/>
          </a:xfrm>
          <a:prstGeom prst="rect">
            <a:avLst/>
          </a:prstGeom>
          <a:solidFill>
            <a:srgbClr val="FFEE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Rectangle 16"/>
          <p:cNvSpPr/>
          <p:nvPr/>
        </p:nvSpPr>
        <p:spPr>
          <a:xfrm>
            <a:off x="6217920" y="1768963"/>
            <a:ext cx="502920" cy="743100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Rectangle 20"/>
          <p:cNvSpPr/>
          <p:nvPr/>
        </p:nvSpPr>
        <p:spPr>
          <a:xfrm>
            <a:off x="365759" y="2623527"/>
            <a:ext cx="5532121" cy="743100"/>
          </a:xfrm>
          <a:prstGeom prst="rect">
            <a:avLst/>
          </a:prstGeom>
          <a:solidFill>
            <a:srgbClr val="FFEE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Rectangle 21"/>
          <p:cNvSpPr/>
          <p:nvPr/>
        </p:nvSpPr>
        <p:spPr>
          <a:xfrm>
            <a:off x="365759" y="2623527"/>
            <a:ext cx="502920" cy="743100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25"/>
          <p:cNvSpPr/>
          <p:nvPr/>
        </p:nvSpPr>
        <p:spPr>
          <a:xfrm>
            <a:off x="6217920" y="2623527"/>
            <a:ext cx="5532121" cy="743100"/>
          </a:xfrm>
          <a:prstGeom prst="rect">
            <a:avLst/>
          </a:prstGeom>
          <a:solidFill>
            <a:srgbClr val="FFEE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26"/>
          <p:cNvSpPr/>
          <p:nvPr/>
        </p:nvSpPr>
        <p:spPr>
          <a:xfrm>
            <a:off x="6217920" y="2623527"/>
            <a:ext cx="502920" cy="743100"/>
          </a:xfrm>
          <a:prstGeom prst="rect">
            <a:avLst/>
          </a:prstGeom>
          <a:solidFill>
            <a:srgbClr val="99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Rectangle 30"/>
          <p:cNvSpPr/>
          <p:nvPr/>
        </p:nvSpPr>
        <p:spPr>
          <a:xfrm>
            <a:off x="365759" y="3478090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ectangle 31"/>
          <p:cNvSpPr/>
          <p:nvPr/>
        </p:nvSpPr>
        <p:spPr>
          <a:xfrm>
            <a:off x="365759" y="3478090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34"/>
          <p:cNvSpPr/>
          <p:nvPr/>
        </p:nvSpPr>
        <p:spPr>
          <a:xfrm>
            <a:off x="6217920" y="3478090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ectangle 35"/>
          <p:cNvSpPr/>
          <p:nvPr/>
        </p:nvSpPr>
        <p:spPr>
          <a:xfrm>
            <a:off x="6217920" y="3478090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ectangle 38"/>
          <p:cNvSpPr/>
          <p:nvPr/>
        </p:nvSpPr>
        <p:spPr>
          <a:xfrm>
            <a:off x="365759" y="4332655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39"/>
          <p:cNvSpPr/>
          <p:nvPr/>
        </p:nvSpPr>
        <p:spPr>
          <a:xfrm>
            <a:off x="365759" y="4332655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42"/>
          <p:cNvSpPr/>
          <p:nvPr/>
        </p:nvSpPr>
        <p:spPr>
          <a:xfrm>
            <a:off x="6217920" y="4332655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Rectangle 43"/>
          <p:cNvSpPr/>
          <p:nvPr/>
        </p:nvSpPr>
        <p:spPr>
          <a:xfrm>
            <a:off x="6217920" y="4332655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ectangle 46"/>
          <p:cNvSpPr/>
          <p:nvPr/>
        </p:nvSpPr>
        <p:spPr>
          <a:xfrm>
            <a:off x="365759" y="5187219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47"/>
          <p:cNvSpPr/>
          <p:nvPr/>
        </p:nvSpPr>
        <p:spPr>
          <a:xfrm>
            <a:off x="365759" y="5187219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Rectangle 50"/>
          <p:cNvSpPr/>
          <p:nvPr/>
        </p:nvSpPr>
        <p:spPr>
          <a:xfrm>
            <a:off x="6217920" y="5187219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Rectangle 51"/>
          <p:cNvSpPr/>
          <p:nvPr/>
        </p:nvSpPr>
        <p:spPr>
          <a:xfrm>
            <a:off x="6217920" y="5187219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54"/>
          <p:cNvSpPr/>
          <p:nvPr/>
        </p:nvSpPr>
        <p:spPr>
          <a:xfrm>
            <a:off x="365759" y="6041782"/>
            <a:ext cx="5532121" cy="743100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ectangle 55"/>
          <p:cNvSpPr/>
          <p:nvPr/>
        </p:nvSpPr>
        <p:spPr>
          <a:xfrm>
            <a:off x="365759" y="6041782"/>
            <a:ext cx="502920" cy="743100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132" name="TextBox 5"/>
          <p:cNvSpPr txBox="1"/>
          <p:nvPr/>
        </p:nvSpPr>
        <p:spPr>
          <a:xfrm>
            <a:off x="411479" y="1115567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3" name="TextBox 6"/>
          <p:cNvSpPr txBox="1"/>
          <p:nvPr/>
        </p:nvSpPr>
        <p:spPr>
          <a:xfrm>
            <a:off x="1005839" y="1161288"/>
            <a:ext cx="4754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Brand Heritage &amp; Strategic Timeline</a:t>
            </a:r>
          </a:p>
        </p:txBody>
      </p:sp>
      <p:sp>
        <p:nvSpPr>
          <p:cNvPr id="134" name="TextBox 9"/>
          <p:cNvSpPr txBox="1"/>
          <p:nvPr/>
        </p:nvSpPr>
        <p:spPr>
          <a:xfrm>
            <a:off x="6263640" y="1115567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35" name="TextBox 10"/>
          <p:cNvSpPr txBox="1"/>
          <p:nvPr/>
        </p:nvSpPr>
        <p:spPr>
          <a:xfrm>
            <a:off x="6858000" y="1161288"/>
            <a:ext cx="47548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Financial Architecture FY2024–2025</a:t>
            </a:r>
          </a:p>
        </p:txBody>
      </p:sp>
      <p:sp>
        <p:nvSpPr>
          <p:cNvPr id="136" name="TextBox 13"/>
          <p:cNvSpPr txBox="1"/>
          <p:nvPr/>
        </p:nvSpPr>
        <p:spPr>
          <a:xfrm>
            <a:off x="411479" y="2027427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7" name="TextBox 14"/>
          <p:cNvSpPr txBox="1"/>
          <p:nvPr/>
        </p:nvSpPr>
        <p:spPr>
          <a:xfrm>
            <a:off x="1005839" y="2073148"/>
            <a:ext cx="4754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Brand DNA &amp; Core Positioning</a:t>
            </a:r>
          </a:p>
        </p:txBody>
      </p:sp>
      <p:sp>
        <p:nvSpPr>
          <p:cNvPr id="138" name="TextBox 17"/>
          <p:cNvSpPr txBox="1"/>
          <p:nvPr/>
        </p:nvSpPr>
        <p:spPr>
          <a:xfrm>
            <a:off x="6263640" y="2027427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39" name="TextBox 18"/>
          <p:cNvSpPr txBox="1"/>
          <p:nvPr/>
        </p:nvSpPr>
        <p:spPr>
          <a:xfrm>
            <a:off x="6858000" y="2073148"/>
            <a:ext cx="47548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Brand Positioning Framework</a:t>
            </a:r>
          </a:p>
        </p:txBody>
      </p:sp>
      <p:sp>
        <p:nvSpPr>
          <p:cNvPr id="140" name="TextBox 22"/>
          <p:cNvSpPr txBox="1"/>
          <p:nvPr/>
        </p:nvSpPr>
        <p:spPr>
          <a:xfrm>
            <a:off x="411479" y="2863088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41" name="TextBox 23"/>
          <p:cNvSpPr txBox="1"/>
          <p:nvPr/>
        </p:nvSpPr>
        <p:spPr>
          <a:xfrm>
            <a:off x="1005839" y="2908808"/>
            <a:ext cx="4754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HoReCa Strategy &amp; Own Café Network</a:t>
            </a:r>
          </a:p>
        </p:txBody>
      </p:sp>
      <p:sp>
        <p:nvSpPr>
          <p:cNvPr id="142" name="TextBox 27"/>
          <p:cNvSpPr txBox="1"/>
          <p:nvPr/>
        </p:nvSpPr>
        <p:spPr>
          <a:xfrm>
            <a:off x="6263640" y="2863088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43" name="TextBox 28"/>
          <p:cNvSpPr txBox="1"/>
          <p:nvPr/>
        </p:nvSpPr>
        <p:spPr>
          <a:xfrm>
            <a:off x="6858000" y="2908808"/>
            <a:ext cx="47548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Product Portfolio — Formats &amp; Range</a:t>
            </a:r>
          </a:p>
        </p:txBody>
      </p:sp>
      <p:sp>
        <p:nvSpPr>
          <p:cNvPr id="144" name="TextBox 32"/>
          <p:cNvSpPr txBox="1"/>
          <p:nvPr/>
        </p:nvSpPr>
        <p:spPr>
          <a:xfrm>
            <a:off x="411479" y="3724147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45" name="TextBox 33"/>
          <p:cNvSpPr txBox="1"/>
          <p:nvPr/>
        </p:nvSpPr>
        <p:spPr>
          <a:xfrm>
            <a:off x="1005839" y="3769867"/>
            <a:ext cx="4754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US Market GTM Strategy</a:t>
            </a:r>
          </a:p>
        </p:txBody>
      </p:sp>
      <p:sp>
        <p:nvSpPr>
          <p:cNvPr id="146" name="TextBox 36"/>
          <p:cNvSpPr txBox="1"/>
          <p:nvPr/>
        </p:nvSpPr>
        <p:spPr>
          <a:xfrm>
            <a:off x="6263640" y="3724147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47" name="TextBox 37"/>
          <p:cNvSpPr txBox="1"/>
          <p:nvPr/>
        </p:nvSpPr>
        <p:spPr>
          <a:xfrm>
            <a:off x="6858000" y="3769867"/>
            <a:ext cx="47548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Key Activations &amp; Campaigns</a:t>
            </a:r>
          </a:p>
        </p:txBody>
      </p:sp>
      <p:sp>
        <p:nvSpPr>
          <p:cNvPr id="148" name="TextBox 40"/>
          <p:cNvSpPr txBox="1"/>
          <p:nvPr/>
        </p:nvSpPr>
        <p:spPr>
          <a:xfrm>
            <a:off x="411479" y="4559806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149" name="TextBox 41"/>
          <p:cNvSpPr txBox="1"/>
          <p:nvPr/>
        </p:nvSpPr>
        <p:spPr>
          <a:xfrm>
            <a:off x="1005839" y="4605527"/>
            <a:ext cx="4754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Digital, Social &amp; E-commerce</a:t>
            </a:r>
          </a:p>
        </p:txBody>
      </p:sp>
      <p:sp>
        <p:nvSpPr>
          <p:cNvPr id="150" name="TextBox 44"/>
          <p:cNvSpPr txBox="1"/>
          <p:nvPr/>
        </p:nvSpPr>
        <p:spPr>
          <a:xfrm>
            <a:off x="6263640" y="4559806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51" name="TextBox 45"/>
          <p:cNvSpPr txBox="1"/>
          <p:nvPr/>
        </p:nvSpPr>
        <p:spPr>
          <a:xfrm>
            <a:off x="6858000" y="4605527"/>
            <a:ext cx="47548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Sustainability as Commercial Moat</a:t>
            </a:r>
          </a:p>
        </p:txBody>
      </p:sp>
      <p:sp>
        <p:nvSpPr>
          <p:cNvPr id="152" name="TextBox 48"/>
          <p:cNvSpPr txBox="1"/>
          <p:nvPr/>
        </p:nvSpPr>
        <p:spPr>
          <a:xfrm>
            <a:off x="411479" y="5433567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53" name="TextBox 49"/>
          <p:cNvSpPr txBox="1"/>
          <p:nvPr/>
        </p:nvSpPr>
        <p:spPr>
          <a:xfrm>
            <a:off x="1005839" y="5479288"/>
            <a:ext cx="4754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Results Scorecard</a:t>
            </a:r>
          </a:p>
        </p:txBody>
      </p:sp>
      <p:sp>
        <p:nvSpPr>
          <p:cNvPr id="154" name="TextBox 52"/>
          <p:cNvSpPr txBox="1"/>
          <p:nvPr/>
        </p:nvSpPr>
        <p:spPr>
          <a:xfrm>
            <a:off x="6263640" y="5433567"/>
            <a:ext cx="411480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155" name="TextBox 53"/>
          <p:cNvSpPr txBox="1"/>
          <p:nvPr/>
        </p:nvSpPr>
        <p:spPr>
          <a:xfrm>
            <a:off x="6858000" y="5479288"/>
            <a:ext cx="47548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Key Articles &amp; Sources</a:t>
            </a:r>
          </a:p>
        </p:txBody>
      </p:sp>
      <p:sp>
        <p:nvSpPr>
          <p:cNvPr id="156" name="TextBox 56"/>
          <p:cNvSpPr txBox="1"/>
          <p:nvPr/>
        </p:nvSpPr>
        <p:spPr>
          <a:xfrm>
            <a:off x="411479" y="6307326"/>
            <a:ext cx="41148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157" name="TextBox 57"/>
          <p:cNvSpPr txBox="1"/>
          <p:nvPr/>
        </p:nvSpPr>
        <p:spPr>
          <a:xfrm>
            <a:off x="1005839" y="6353047"/>
            <a:ext cx="47548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Lessons for Orfeu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0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Brand Heritage &amp; Strategic Timeline</a:t>
            </a:r>
          </a:p>
        </p:txBody>
      </p:sp>
      <p:sp>
        <p:nvSpPr>
          <p:cNvPr id="162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From Trieste 1933 to €700M global leader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01 · BRAND HERITAGE &amp; STRATEGIC TIMELINE</a:t>
            </a:r>
          </a:p>
        </p:txBody>
      </p:sp>
      <p:sp>
        <p:nvSpPr>
          <p:cNvPr id="166" name="Rectangle 3"/>
          <p:cNvSpPr/>
          <p:nvPr/>
        </p:nvSpPr>
        <p:spPr>
          <a:xfrm>
            <a:off x="795527" y="941831"/>
            <a:ext cx="41149" cy="55778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Oval 4"/>
          <p:cNvSpPr/>
          <p:nvPr/>
        </p:nvSpPr>
        <p:spPr>
          <a:xfrm>
            <a:off x="630936" y="950975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5"/>
          <p:cNvSpPr txBox="1"/>
          <p:nvPr/>
        </p:nvSpPr>
        <p:spPr>
          <a:xfrm>
            <a:off x="1143000" y="896111"/>
            <a:ext cx="7772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1933</a:t>
            </a:r>
          </a:p>
        </p:txBody>
      </p:sp>
      <p:sp>
        <p:nvSpPr>
          <p:cNvPr id="169" name="TextBox 6"/>
          <p:cNvSpPr txBox="1"/>
          <p:nvPr/>
        </p:nvSpPr>
        <p:spPr>
          <a:xfrm>
            <a:off x="2057399" y="914400"/>
            <a:ext cx="96926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Founded in Trieste, Italy by Francesco Illy. Roots in Central-European café culture — Italian coffee as a cultural institution, not a commodity.</a:t>
            </a:r>
          </a:p>
        </p:txBody>
      </p:sp>
      <p:sp>
        <p:nvSpPr>
          <p:cNvPr id="170" name="Oval 7"/>
          <p:cNvSpPr/>
          <p:nvPr/>
        </p:nvSpPr>
        <p:spPr>
          <a:xfrm>
            <a:off x="630936" y="1645920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8"/>
          <p:cNvSpPr txBox="1"/>
          <p:nvPr/>
        </p:nvSpPr>
        <p:spPr>
          <a:xfrm>
            <a:off x="1143000" y="1591055"/>
            <a:ext cx="7772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1934</a:t>
            </a:r>
          </a:p>
        </p:txBody>
      </p:sp>
      <p:sp>
        <p:nvSpPr>
          <p:cNvPr id="172" name="TextBox 9"/>
          <p:cNvSpPr txBox="1"/>
          <p:nvPr/>
        </p:nvSpPr>
        <p:spPr>
          <a:xfrm>
            <a:off x="2057399" y="1609344"/>
            <a:ext cx="96926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Pressurization patent: nitrogen/CO₂ replaces oxygen in tins → tin becomes active aging vessel → transoceanic export of fresh roasts becomes viable.</a:t>
            </a:r>
          </a:p>
        </p:txBody>
      </p:sp>
      <p:sp>
        <p:nvSpPr>
          <p:cNvPr id="173" name="Oval 10"/>
          <p:cNvSpPr/>
          <p:nvPr/>
        </p:nvSpPr>
        <p:spPr>
          <a:xfrm>
            <a:off x="630936" y="2340864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4" name="TextBox 11"/>
          <p:cNvSpPr txBox="1"/>
          <p:nvPr/>
        </p:nvSpPr>
        <p:spPr>
          <a:xfrm>
            <a:off x="1143000" y="2286000"/>
            <a:ext cx="7772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1935</a:t>
            </a:r>
          </a:p>
        </p:txBody>
      </p:sp>
      <p:sp>
        <p:nvSpPr>
          <p:cNvPr id="175" name="TextBox 12"/>
          <p:cNvSpPr txBox="1"/>
          <p:nvPr/>
        </p:nvSpPr>
        <p:spPr>
          <a:xfrm>
            <a:off x="2057399" y="2304288"/>
            <a:ext cx="96926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"Illetta" proto-espresso machine separates pressure from temperature → hardware-and-coffee dual DNA begins.</a:t>
            </a:r>
          </a:p>
        </p:txBody>
      </p:sp>
      <p:sp>
        <p:nvSpPr>
          <p:cNvPr id="176" name="Oval 13"/>
          <p:cNvSpPr/>
          <p:nvPr/>
        </p:nvSpPr>
        <p:spPr>
          <a:xfrm>
            <a:off x="630936" y="3035807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14"/>
          <p:cNvSpPr txBox="1"/>
          <p:nvPr/>
        </p:nvSpPr>
        <p:spPr>
          <a:xfrm>
            <a:off x="1143000" y="2980944"/>
            <a:ext cx="7772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1991</a:t>
            </a:r>
          </a:p>
        </p:txBody>
      </p:sp>
      <p:sp>
        <p:nvSpPr>
          <p:cNvPr id="178" name="TextBox 15"/>
          <p:cNvSpPr txBox="1"/>
          <p:nvPr/>
        </p:nvSpPr>
        <p:spPr>
          <a:xfrm>
            <a:off x="2057399" y="2999232"/>
            <a:ext cx="96926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Direct Trade model: bypass commodity brokers → premium financial incentives for quality yields → supply chain control + ESG foundation.</a:t>
            </a:r>
          </a:p>
        </p:txBody>
      </p:sp>
      <p:sp>
        <p:nvSpPr>
          <p:cNvPr id="179" name="Oval 16"/>
          <p:cNvSpPr/>
          <p:nvPr/>
        </p:nvSpPr>
        <p:spPr>
          <a:xfrm>
            <a:off x="630936" y="3730750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17"/>
          <p:cNvSpPr txBox="1"/>
          <p:nvPr/>
        </p:nvSpPr>
        <p:spPr>
          <a:xfrm>
            <a:off x="1143000" y="3675886"/>
            <a:ext cx="7772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1999</a:t>
            </a:r>
          </a:p>
        </p:txBody>
      </p:sp>
      <p:sp>
        <p:nvSpPr>
          <p:cNvPr id="181" name="TextBox 18"/>
          <p:cNvSpPr txBox="1"/>
          <p:nvPr/>
        </p:nvSpPr>
        <p:spPr>
          <a:xfrm>
            <a:off x="2057399" y="3694174"/>
            <a:ext cx="9692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Università del Caffè: institutionalised B2B training across 25 countries → ensures perfect extraction at every HoReCa touchpoint.</a:t>
            </a:r>
          </a:p>
        </p:txBody>
      </p:sp>
      <p:sp>
        <p:nvSpPr>
          <p:cNvPr id="182" name="Oval 19"/>
          <p:cNvSpPr/>
          <p:nvPr/>
        </p:nvSpPr>
        <p:spPr>
          <a:xfrm>
            <a:off x="630936" y="4425694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20"/>
          <p:cNvSpPr txBox="1"/>
          <p:nvPr/>
        </p:nvSpPr>
        <p:spPr>
          <a:xfrm>
            <a:off x="1143000" y="4370830"/>
            <a:ext cx="77724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2021</a:t>
            </a:r>
          </a:p>
        </p:txBody>
      </p:sp>
      <p:sp>
        <p:nvSpPr>
          <p:cNvPr id="184" name="TextBox 21"/>
          <p:cNvSpPr txBox="1"/>
          <p:nvPr/>
        </p:nvSpPr>
        <p:spPr>
          <a:xfrm>
            <a:off x="2057399" y="4389118"/>
            <a:ext cx="9692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B Corp Certification → formalized ESG credentials justify super-premium pricing vs. mass market.</a:t>
            </a:r>
          </a:p>
        </p:txBody>
      </p:sp>
      <p:sp>
        <p:nvSpPr>
          <p:cNvPr id="185" name="Oval 22"/>
          <p:cNvSpPr/>
          <p:nvPr/>
        </p:nvSpPr>
        <p:spPr>
          <a:xfrm>
            <a:off x="630936" y="5120640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23"/>
          <p:cNvSpPr txBox="1"/>
          <p:nvPr/>
        </p:nvSpPr>
        <p:spPr>
          <a:xfrm>
            <a:off x="1143000" y="5065776"/>
            <a:ext cx="7772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2024</a:t>
            </a:r>
          </a:p>
        </p:txBody>
      </p:sp>
      <p:sp>
        <p:nvSpPr>
          <p:cNvPr id="187" name="TextBox 24"/>
          <p:cNvSpPr txBox="1"/>
          <p:nvPr/>
        </p:nvSpPr>
        <p:spPr>
          <a:xfrm>
            <a:off x="2057399" y="5084064"/>
            <a:ext cx="96926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B Corp recertification: score 90.4 (+9.7 pts). Rhône Capital 20% stake → funds aggressive US market rollout.</a:t>
            </a:r>
          </a:p>
        </p:txBody>
      </p:sp>
      <p:sp>
        <p:nvSpPr>
          <p:cNvPr id="188" name="Oval 25"/>
          <p:cNvSpPr/>
          <p:nvPr/>
        </p:nvSpPr>
        <p:spPr>
          <a:xfrm>
            <a:off x="630936" y="5815584"/>
            <a:ext cx="347473" cy="347473"/>
          </a:xfrm>
          <a:prstGeom prst="ellipse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26"/>
          <p:cNvSpPr txBox="1"/>
          <p:nvPr/>
        </p:nvSpPr>
        <p:spPr>
          <a:xfrm>
            <a:off x="1143000" y="5760720"/>
            <a:ext cx="77724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190" name="TextBox 27"/>
          <p:cNvSpPr txBox="1"/>
          <p:nvPr/>
        </p:nvSpPr>
        <p:spPr>
          <a:xfrm>
            <a:off x="2057399" y="5779008"/>
            <a:ext cx="969264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Acquires 80% Capitani (home machines) + 100% Thalwil Ag (Swiss B2B distribution). FY revenue €700M. 4th consecutive year of growth.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93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Financial Architecture</a:t>
            </a:r>
          </a:p>
        </p:txBody>
      </p:sp>
      <p:sp>
        <p:nvSpPr>
          <p:cNvPr id="195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FY2024–2025 · Revenue growth vs. margin compression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02 · FINANCIAL ARCHITECTURE FY2024–2025</a:t>
            </a:r>
          </a:p>
        </p:txBody>
      </p:sp>
      <p:sp>
        <p:nvSpPr>
          <p:cNvPr id="199" name="Rectangle 3"/>
          <p:cNvSpPr/>
          <p:nvPr/>
        </p:nvSpPr>
        <p:spPr>
          <a:xfrm>
            <a:off x="320039" y="896111"/>
            <a:ext cx="2697482" cy="1353314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4"/>
          <p:cNvSpPr txBox="1"/>
          <p:nvPr/>
        </p:nvSpPr>
        <p:spPr>
          <a:xfrm>
            <a:off x="457198" y="941832"/>
            <a:ext cx="2423162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1B5E20"/>
                </a:solidFill>
              </a:defRPr>
            </a:lvl1pPr>
          </a:lstStyle>
          <a:p>
            <a:pPr/>
            <a:r>
              <a:t>€700M</a:t>
            </a:r>
          </a:p>
        </p:txBody>
      </p:sp>
      <p:sp>
        <p:nvSpPr>
          <p:cNvPr id="201" name="TextBox 5"/>
          <p:cNvSpPr txBox="1"/>
          <p:nvPr/>
        </p:nvSpPr>
        <p:spPr>
          <a:xfrm>
            <a:off x="457198" y="1572767"/>
            <a:ext cx="242316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FY2025 Revenue</a:t>
            </a:r>
          </a:p>
        </p:txBody>
      </p:sp>
      <p:sp>
        <p:nvSpPr>
          <p:cNvPr id="202" name="TextBox 6"/>
          <p:cNvSpPr txBox="1"/>
          <p:nvPr/>
        </p:nvSpPr>
        <p:spPr>
          <a:xfrm>
            <a:off x="457198" y="1901951"/>
            <a:ext cx="242316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1B5E20"/>
                </a:solidFill>
              </a:defRPr>
            </a:lvl1pPr>
          </a:lstStyle>
          <a:p>
            <a:pPr/>
            <a:r>
              <a:t>+11.1% YoY</a:t>
            </a:r>
          </a:p>
        </p:txBody>
      </p:sp>
      <p:sp>
        <p:nvSpPr>
          <p:cNvPr id="203" name="Rectangle 7"/>
          <p:cNvSpPr/>
          <p:nvPr/>
        </p:nvSpPr>
        <p:spPr>
          <a:xfrm>
            <a:off x="3200400" y="896111"/>
            <a:ext cx="2697481" cy="1353314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8"/>
          <p:cNvSpPr txBox="1"/>
          <p:nvPr/>
        </p:nvSpPr>
        <p:spPr>
          <a:xfrm>
            <a:off x="3337560" y="941832"/>
            <a:ext cx="2423161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CC0000"/>
                </a:solidFill>
              </a:defRPr>
            </a:lvl1pPr>
          </a:lstStyle>
          <a:p>
            <a:pPr/>
            <a:r>
              <a:t>€90M</a:t>
            </a:r>
          </a:p>
        </p:txBody>
      </p:sp>
      <p:sp>
        <p:nvSpPr>
          <p:cNvPr id="205" name="TextBox 9"/>
          <p:cNvSpPr txBox="1"/>
          <p:nvPr/>
        </p:nvSpPr>
        <p:spPr>
          <a:xfrm>
            <a:off x="3337560" y="1572767"/>
            <a:ext cx="24231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EBITDA</a:t>
            </a:r>
          </a:p>
        </p:txBody>
      </p:sp>
      <p:sp>
        <p:nvSpPr>
          <p:cNvPr id="206" name="TextBox 10"/>
          <p:cNvSpPr txBox="1"/>
          <p:nvPr/>
        </p:nvSpPr>
        <p:spPr>
          <a:xfrm>
            <a:off x="3337560" y="1901951"/>
            <a:ext cx="24231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CC0000"/>
                </a:solidFill>
              </a:defRPr>
            </a:lvl1pPr>
          </a:lstStyle>
          <a:p>
            <a:pPr/>
            <a:r>
              <a:t>–18.1% YoY</a:t>
            </a:r>
          </a:p>
        </p:txBody>
      </p:sp>
      <p:sp>
        <p:nvSpPr>
          <p:cNvPr id="207" name="Rectangle 11"/>
          <p:cNvSpPr/>
          <p:nvPr/>
        </p:nvSpPr>
        <p:spPr>
          <a:xfrm>
            <a:off x="6080759" y="896111"/>
            <a:ext cx="2697481" cy="1353314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12"/>
          <p:cNvSpPr txBox="1"/>
          <p:nvPr/>
        </p:nvSpPr>
        <p:spPr>
          <a:xfrm>
            <a:off x="6217918" y="941832"/>
            <a:ext cx="2423161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CC0000"/>
                </a:solidFill>
              </a:defRPr>
            </a:lvl1pPr>
          </a:lstStyle>
          <a:p>
            <a:pPr/>
            <a:r>
              <a:t>€20M</a:t>
            </a:r>
          </a:p>
        </p:txBody>
      </p:sp>
      <p:sp>
        <p:nvSpPr>
          <p:cNvPr id="209" name="TextBox 13"/>
          <p:cNvSpPr txBox="1"/>
          <p:nvPr/>
        </p:nvSpPr>
        <p:spPr>
          <a:xfrm>
            <a:off x="6217918" y="1572767"/>
            <a:ext cx="24231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Net Profit</a:t>
            </a:r>
          </a:p>
        </p:txBody>
      </p:sp>
      <p:sp>
        <p:nvSpPr>
          <p:cNvPr id="210" name="TextBox 14"/>
          <p:cNvSpPr txBox="1"/>
          <p:nvPr/>
        </p:nvSpPr>
        <p:spPr>
          <a:xfrm>
            <a:off x="6217918" y="1901951"/>
            <a:ext cx="24231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CC0000"/>
                </a:solidFill>
              </a:defRPr>
            </a:lvl1pPr>
          </a:lstStyle>
          <a:p>
            <a:pPr/>
            <a:r>
              <a:t>–39.3% YoY</a:t>
            </a:r>
          </a:p>
        </p:txBody>
      </p:sp>
      <p:sp>
        <p:nvSpPr>
          <p:cNvPr id="211" name="Rectangle 15"/>
          <p:cNvSpPr/>
          <p:nvPr/>
        </p:nvSpPr>
        <p:spPr>
          <a:xfrm>
            <a:off x="8961118" y="896111"/>
            <a:ext cx="2697482" cy="1353314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16"/>
          <p:cNvSpPr txBox="1"/>
          <p:nvPr/>
        </p:nvSpPr>
        <p:spPr>
          <a:xfrm>
            <a:off x="9098278" y="941832"/>
            <a:ext cx="2423161" cy="497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200">
                <a:solidFill>
                  <a:srgbClr val="1B5E20"/>
                </a:solidFill>
              </a:defRPr>
            </a:lvl1pPr>
          </a:lstStyle>
          <a:p>
            <a:pPr/>
            <a:r>
              <a:t>+20.1%</a:t>
            </a:r>
          </a:p>
        </p:txBody>
      </p:sp>
      <p:sp>
        <p:nvSpPr>
          <p:cNvPr id="213" name="TextBox 17"/>
          <p:cNvSpPr txBox="1"/>
          <p:nvPr/>
        </p:nvSpPr>
        <p:spPr>
          <a:xfrm>
            <a:off x="9098278" y="1572767"/>
            <a:ext cx="24231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US Revenue Growth</a:t>
            </a:r>
          </a:p>
        </p:txBody>
      </p:sp>
      <p:sp>
        <p:nvSpPr>
          <p:cNvPr id="214" name="TextBox 18"/>
          <p:cNvSpPr txBox="1"/>
          <p:nvPr/>
        </p:nvSpPr>
        <p:spPr>
          <a:xfrm>
            <a:off x="9098278" y="1901951"/>
            <a:ext cx="24231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900">
                <a:solidFill>
                  <a:srgbClr val="1B5E20"/>
                </a:solidFill>
              </a:defRPr>
            </a:lvl1pPr>
          </a:lstStyle>
          <a:p>
            <a:pPr/>
            <a:r>
              <a:t>const. FX 2025</a:t>
            </a:r>
          </a:p>
        </p:txBody>
      </p:sp>
      <p:sp>
        <p:nvSpPr>
          <p:cNvPr id="215" name="Rectangle 19"/>
          <p:cNvSpPr/>
          <p:nvPr/>
        </p:nvSpPr>
        <p:spPr>
          <a:xfrm>
            <a:off x="365760" y="2395727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20"/>
          <p:cNvSpPr txBox="1"/>
          <p:nvPr/>
        </p:nvSpPr>
        <p:spPr>
          <a:xfrm>
            <a:off x="411479" y="2487167"/>
            <a:ext cx="5394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Revenue by Channel</a:t>
            </a:r>
          </a:p>
        </p:txBody>
      </p:sp>
      <p:sp>
        <p:nvSpPr>
          <p:cNvPr id="217" name="Rectangle 21"/>
          <p:cNvSpPr/>
          <p:nvPr/>
        </p:nvSpPr>
        <p:spPr>
          <a:xfrm>
            <a:off x="365759" y="2871216"/>
            <a:ext cx="5303522" cy="6858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22"/>
          <p:cNvSpPr txBox="1"/>
          <p:nvPr/>
        </p:nvSpPr>
        <p:spPr>
          <a:xfrm>
            <a:off x="548639" y="2926079"/>
            <a:ext cx="237744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1A1A"/>
                </a:solidFill>
              </a:defRPr>
            </a:lvl1pPr>
          </a:lstStyle>
          <a:p>
            <a:pPr/>
            <a:r>
              <a:t>Out-of-Home (HoReCa)</a:t>
            </a:r>
          </a:p>
        </p:txBody>
      </p:sp>
      <p:sp>
        <p:nvSpPr>
          <p:cNvPr id="219" name="TextBox 23"/>
          <p:cNvSpPr txBox="1"/>
          <p:nvPr/>
        </p:nvSpPr>
        <p:spPr>
          <a:xfrm>
            <a:off x="3063240" y="2907792"/>
            <a:ext cx="8229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CC0000"/>
                </a:solidFill>
              </a:defRPr>
            </a:lvl1pPr>
          </a:lstStyle>
          <a:p>
            <a:pPr/>
            <a:r>
              <a:t>53.1%</a:t>
            </a:r>
          </a:p>
        </p:txBody>
      </p:sp>
      <p:sp>
        <p:nvSpPr>
          <p:cNvPr id="220" name="TextBox 24"/>
          <p:cNvSpPr txBox="1"/>
          <p:nvPr/>
        </p:nvSpPr>
        <p:spPr>
          <a:xfrm>
            <a:off x="4023359" y="2926079"/>
            <a:ext cx="822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€372M</a:t>
            </a:r>
          </a:p>
        </p:txBody>
      </p:sp>
      <p:sp>
        <p:nvSpPr>
          <p:cNvPr id="221" name="TextBox 25"/>
          <p:cNvSpPr txBox="1"/>
          <p:nvPr/>
        </p:nvSpPr>
        <p:spPr>
          <a:xfrm>
            <a:off x="548639" y="3255264"/>
            <a:ext cx="493776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+8.2% — US, ES, IT, DE premium accounts</a:t>
            </a:r>
          </a:p>
        </p:txBody>
      </p:sp>
      <p:sp>
        <p:nvSpPr>
          <p:cNvPr id="222" name="Rectangle 26"/>
          <p:cNvSpPr/>
          <p:nvPr/>
        </p:nvSpPr>
        <p:spPr>
          <a:xfrm>
            <a:off x="365759" y="3675888"/>
            <a:ext cx="5303522" cy="6858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TextBox 27"/>
          <p:cNvSpPr txBox="1"/>
          <p:nvPr/>
        </p:nvSpPr>
        <p:spPr>
          <a:xfrm>
            <a:off x="548639" y="3730752"/>
            <a:ext cx="237744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1A1A1A"/>
                </a:solidFill>
              </a:defRPr>
            </a:lvl1pPr>
          </a:lstStyle>
          <a:p>
            <a:pPr/>
            <a:r>
              <a:t>Home (DTC/E-comm/Retail)</a:t>
            </a:r>
          </a:p>
        </p:txBody>
      </p:sp>
      <p:sp>
        <p:nvSpPr>
          <p:cNvPr id="224" name="TextBox 28"/>
          <p:cNvSpPr txBox="1"/>
          <p:nvPr/>
        </p:nvSpPr>
        <p:spPr>
          <a:xfrm>
            <a:off x="3063240" y="3712464"/>
            <a:ext cx="8229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CC0000"/>
                </a:solidFill>
              </a:defRPr>
            </a:lvl1pPr>
          </a:lstStyle>
          <a:p>
            <a:pPr/>
            <a:r>
              <a:t>46.9%</a:t>
            </a:r>
          </a:p>
        </p:txBody>
      </p:sp>
      <p:sp>
        <p:nvSpPr>
          <p:cNvPr id="225" name="TextBox 29"/>
          <p:cNvSpPr txBox="1"/>
          <p:nvPr/>
        </p:nvSpPr>
        <p:spPr>
          <a:xfrm>
            <a:off x="4023359" y="3730752"/>
            <a:ext cx="8229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>
                <a:solidFill>
                  <a:srgbClr val="1A1A1A"/>
                </a:solidFill>
              </a:defRPr>
            </a:lvl1pPr>
          </a:lstStyle>
          <a:p>
            <a:pPr/>
            <a:r>
              <a:t>€328M</a:t>
            </a:r>
          </a:p>
        </p:txBody>
      </p:sp>
      <p:sp>
        <p:nvSpPr>
          <p:cNvPr id="226" name="TextBox 30"/>
          <p:cNvSpPr txBox="1"/>
          <p:nvPr/>
        </p:nvSpPr>
        <p:spPr>
          <a:xfrm>
            <a:off x="548639" y="4059935"/>
            <a:ext cx="49377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Amazon, D2C subscriptions, premium grocery</a:t>
            </a:r>
          </a:p>
        </p:txBody>
      </p:sp>
      <p:sp>
        <p:nvSpPr>
          <p:cNvPr id="227" name="TextBox 31"/>
          <p:cNvSpPr txBox="1"/>
          <p:nvPr/>
        </p:nvSpPr>
        <p:spPr>
          <a:xfrm>
            <a:off x="6172200" y="2487167"/>
            <a:ext cx="53949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Geographic Mix</a:t>
            </a:r>
          </a:p>
        </p:txBody>
      </p:sp>
      <p:sp>
        <p:nvSpPr>
          <p:cNvPr id="228" name="Rectangle 32"/>
          <p:cNvSpPr/>
          <p:nvPr/>
        </p:nvSpPr>
        <p:spPr>
          <a:xfrm>
            <a:off x="6126479" y="2871216"/>
            <a:ext cx="5486401" cy="6858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33"/>
          <p:cNvSpPr txBox="1"/>
          <p:nvPr/>
        </p:nvSpPr>
        <p:spPr>
          <a:xfrm>
            <a:off x="6309360" y="2926079"/>
            <a:ext cx="2834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EMEA (ex-Italy)</a:t>
            </a:r>
          </a:p>
        </p:txBody>
      </p:sp>
      <p:sp>
        <p:nvSpPr>
          <p:cNvPr id="230" name="TextBox 34"/>
          <p:cNvSpPr txBox="1"/>
          <p:nvPr/>
        </p:nvSpPr>
        <p:spPr>
          <a:xfrm>
            <a:off x="9281159" y="2907792"/>
            <a:ext cx="86868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1A1A1A"/>
                </a:solidFill>
              </a:defRPr>
            </a:lvl1pPr>
          </a:lstStyle>
          <a:p>
            <a:pPr/>
            <a:r>
              <a:t>38.4%</a:t>
            </a:r>
          </a:p>
        </p:txBody>
      </p:sp>
      <p:sp>
        <p:nvSpPr>
          <p:cNvPr id="231" name="TextBox 35"/>
          <p:cNvSpPr txBox="1"/>
          <p:nvPr/>
        </p:nvSpPr>
        <p:spPr>
          <a:xfrm>
            <a:off x="10287000" y="2926079"/>
            <a:ext cx="10972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~€269M</a:t>
            </a:r>
          </a:p>
        </p:txBody>
      </p:sp>
      <p:sp>
        <p:nvSpPr>
          <p:cNvPr id="232" name="Rectangle 36"/>
          <p:cNvSpPr/>
          <p:nvPr/>
        </p:nvSpPr>
        <p:spPr>
          <a:xfrm>
            <a:off x="6126479" y="3675888"/>
            <a:ext cx="5486401" cy="6858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37"/>
          <p:cNvSpPr txBox="1"/>
          <p:nvPr/>
        </p:nvSpPr>
        <p:spPr>
          <a:xfrm>
            <a:off x="6309360" y="3730752"/>
            <a:ext cx="2834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Italy (Home Market)</a:t>
            </a:r>
          </a:p>
        </p:txBody>
      </p:sp>
      <p:sp>
        <p:nvSpPr>
          <p:cNvPr id="234" name="TextBox 38"/>
          <p:cNvSpPr txBox="1"/>
          <p:nvPr/>
        </p:nvSpPr>
        <p:spPr>
          <a:xfrm>
            <a:off x="9281159" y="3712464"/>
            <a:ext cx="86868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1A1A1A"/>
                </a:solidFill>
              </a:defRPr>
            </a:lvl1pPr>
          </a:lstStyle>
          <a:p>
            <a:pPr/>
            <a:r>
              <a:t>31.6%</a:t>
            </a:r>
          </a:p>
        </p:txBody>
      </p:sp>
      <p:sp>
        <p:nvSpPr>
          <p:cNvPr id="235" name="TextBox 39"/>
          <p:cNvSpPr txBox="1"/>
          <p:nvPr/>
        </p:nvSpPr>
        <p:spPr>
          <a:xfrm>
            <a:off x="10287000" y="3730752"/>
            <a:ext cx="10972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~€221M</a:t>
            </a:r>
          </a:p>
        </p:txBody>
      </p:sp>
      <p:sp>
        <p:nvSpPr>
          <p:cNvPr id="236" name="Rectangle 40"/>
          <p:cNvSpPr/>
          <p:nvPr/>
        </p:nvSpPr>
        <p:spPr>
          <a:xfrm>
            <a:off x="6126479" y="4480559"/>
            <a:ext cx="5486401" cy="6858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41"/>
          <p:cNvSpPr txBox="1"/>
          <p:nvPr/>
        </p:nvSpPr>
        <p:spPr>
          <a:xfrm>
            <a:off x="6309360" y="4535423"/>
            <a:ext cx="2834641" cy="255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CC0000"/>
                </a:solidFill>
              </a:defRPr>
            </a:lvl1pPr>
          </a:lstStyle>
          <a:p>
            <a:pPr/>
            <a:r>
              <a:t>Americas  ★ Priority</a:t>
            </a:r>
          </a:p>
        </p:txBody>
      </p:sp>
      <p:sp>
        <p:nvSpPr>
          <p:cNvPr id="238" name="TextBox 42"/>
          <p:cNvSpPr txBox="1"/>
          <p:nvPr/>
        </p:nvSpPr>
        <p:spPr>
          <a:xfrm>
            <a:off x="9281159" y="4517135"/>
            <a:ext cx="86868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CC0000"/>
                </a:solidFill>
              </a:defRPr>
            </a:lvl1pPr>
          </a:lstStyle>
          <a:p>
            <a:pPr/>
            <a:r>
              <a:t>22.0%</a:t>
            </a:r>
          </a:p>
        </p:txBody>
      </p:sp>
      <p:sp>
        <p:nvSpPr>
          <p:cNvPr id="239" name="TextBox 43"/>
          <p:cNvSpPr txBox="1"/>
          <p:nvPr/>
        </p:nvSpPr>
        <p:spPr>
          <a:xfrm>
            <a:off x="10287000" y="4535423"/>
            <a:ext cx="10972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€154M</a:t>
            </a:r>
          </a:p>
        </p:txBody>
      </p:sp>
      <p:sp>
        <p:nvSpPr>
          <p:cNvPr id="240" name="Rectangle 44"/>
          <p:cNvSpPr/>
          <p:nvPr/>
        </p:nvSpPr>
        <p:spPr>
          <a:xfrm>
            <a:off x="6126479" y="5285232"/>
            <a:ext cx="5486401" cy="6858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45"/>
          <p:cNvSpPr txBox="1"/>
          <p:nvPr/>
        </p:nvSpPr>
        <p:spPr>
          <a:xfrm>
            <a:off x="6309360" y="5340096"/>
            <a:ext cx="2834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1A1A1A"/>
                </a:solidFill>
              </a:defRPr>
            </a:lvl1pPr>
          </a:lstStyle>
          <a:p>
            <a:pPr/>
            <a:r>
              <a:t>Asia / Rest of World</a:t>
            </a:r>
          </a:p>
        </p:txBody>
      </p:sp>
      <p:sp>
        <p:nvSpPr>
          <p:cNvPr id="242" name="TextBox 46"/>
          <p:cNvSpPr txBox="1"/>
          <p:nvPr/>
        </p:nvSpPr>
        <p:spPr>
          <a:xfrm>
            <a:off x="9281159" y="5321808"/>
            <a:ext cx="86868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solidFill>
                  <a:srgbClr val="1A1A1A"/>
                </a:solidFill>
              </a:defRPr>
            </a:lvl1pPr>
          </a:lstStyle>
          <a:p>
            <a:pPr/>
            <a:r>
              <a:t>8.0%</a:t>
            </a:r>
          </a:p>
        </p:txBody>
      </p:sp>
      <p:sp>
        <p:nvSpPr>
          <p:cNvPr id="243" name="TextBox 47"/>
          <p:cNvSpPr txBox="1"/>
          <p:nvPr/>
        </p:nvSpPr>
        <p:spPr>
          <a:xfrm>
            <a:off x="10287000" y="5340096"/>
            <a:ext cx="10972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>
                <a:solidFill>
                  <a:srgbClr val="555555"/>
                </a:solidFill>
              </a:defRPr>
            </a:lvl1pPr>
          </a:lstStyle>
          <a:p>
            <a:pPr/>
            <a:r>
              <a:t>~€56M</a:t>
            </a:r>
          </a:p>
        </p:txBody>
      </p:sp>
      <p:sp>
        <p:nvSpPr>
          <p:cNvPr id="244" name="TextBox 48"/>
          <p:cNvSpPr txBox="1"/>
          <p:nvPr/>
        </p:nvSpPr>
        <p:spPr>
          <a:xfrm>
            <a:off x="411479" y="6291071"/>
            <a:ext cx="11338561" cy="220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i="1" sz="800">
                <a:solidFill>
                  <a:srgbClr val="555555"/>
                </a:solidFill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  </a:t>
            </a:r>
            <a:r>
              <a:t>Margin compression driven by Arabica price inflation (+70% 2023–25). EBITDA/profit decline reflects strategic US investment period — prioritising market share and brand equity over short-term profitability.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47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Brand DNA &amp; Core Positioning</a:t>
            </a:r>
          </a:p>
        </p:txBody>
      </p:sp>
      <p:sp>
        <p:nvSpPr>
          <p:cNvPr id="249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Single blend · Five pillars · Art Collection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03 · BRAND DNA &amp; CORE POSITIONING</a:t>
            </a:r>
          </a:p>
        </p:txBody>
      </p:sp>
      <p:sp>
        <p:nvSpPr>
          <p:cNvPr id="253" name="Rectangle 3"/>
          <p:cNvSpPr/>
          <p:nvPr/>
        </p:nvSpPr>
        <p:spPr>
          <a:xfrm>
            <a:off x="365759" y="868680"/>
            <a:ext cx="11430001" cy="960120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4"/>
          <p:cNvSpPr txBox="1"/>
          <p:nvPr/>
        </p:nvSpPr>
        <p:spPr>
          <a:xfrm>
            <a:off x="640079" y="960119"/>
            <a:ext cx="10881361" cy="300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i="1" sz="1600">
                <a:solidFill>
                  <a:srgbClr val="FFFFFF"/>
                </a:solidFill>
              </a:defRPr>
            </a:lvl1pPr>
          </a:lstStyle>
          <a:p>
            <a:pPr/>
            <a:r>
              <a:t>"The authentic Italian coffee lifestyle, delivered without compromise — at scale."</a:t>
            </a:r>
          </a:p>
        </p:txBody>
      </p:sp>
      <p:sp>
        <p:nvSpPr>
          <p:cNvPr id="255" name="Rectangle 5"/>
          <p:cNvSpPr/>
          <p:nvPr/>
        </p:nvSpPr>
        <p:spPr>
          <a:xfrm>
            <a:off x="320039" y="1920239"/>
            <a:ext cx="2103122" cy="25146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6"/>
          <p:cNvSpPr/>
          <p:nvPr/>
        </p:nvSpPr>
        <p:spPr>
          <a:xfrm>
            <a:off x="320039" y="1920239"/>
            <a:ext cx="2103122" cy="38404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7"/>
          <p:cNvSpPr txBox="1"/>
          <p:nvPr/>
        </p:nvSpPr>
        <p:spPr>
          <a:xfrm>
            <a:off x="457199" y="1989327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SELECTION</a:t>
            </a:r>
          </a:p>
        </p:txBody>
      </p:sp>
      <p:sp>
        <p:nvSpPr>
          <p:cNvPr id="258" name="TextBox 8"/>
          <p:cNvSpPr txBox="1"/>
          <p:nvPr/>
        </p:nvSpPr>
        <p:spPr>
          <a:xfrm>
            <a:off x="475487" y="2384551"/>
            <a:ext cx="1792226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9 origins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100% Arabica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Top 1% beans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Direct Trade</a:t>
            </a:r>
          </a:p>
        </p:txBody>
      </p:sp>
      <p:sp>
        <p:nvSpPr>
          <p:cNvPr id="259" name="Rectangle 9"/>
          <p:cNvSpPr/>
          <p:nvPr/>
        </p:nvSpPr>
        <p:spPr>
          <a:xfrm>
            <a:off x="2606039" y="1920239"/>
            <a:ext cx="2103122" cy="25146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10"/>
          <p:cNvSpPr/>
          <p:nvPr/>
        </p:nvSpPr>
        <p:spPr>
          <a:xfrm>
            <a:off x="2606039" y="1920239"/>
            <a:ext cx="2103122" cy="38404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11"/>
          <p:cNvSpPr txBox="1"/>
          <p:nvPr/>
        </p:nvSpPr>
        <p:spPr>
          <a:xfrm>
            <a:off x="2743200" y="1989327"/>
            <a:ext cx="18288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BLENDING</a:t>
            </a:r>
          </a:p>
        </p:txBody>
      </p:sp>
      <p:sp>
        <p:nvSpPr>
          <p:cNvPr id="262" name="TextBox 12"/>
          <p:cNvSpPr txBox="1"/>
          <p:nvPr/>
        </p:nvSpPr>
        <p:spPr>
          <a:xfrm>
            <a:off x="2761487" y="2384551"/>
            <a:ext cx="1792225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Single proprietary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blend since 1933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Consistent across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all SKUs globally</a:t>
            </a:r>
          </a:p>
        </p:txBody>
      </p:sp>
      <p:sp>
        <p:nvSpPr>
          <p:cNvPr id="263" name="Rectangle 13"/>
          <p:cNvSpPr/>
          <p:nvPr/>
        </p:nvSpPr>
        <p:spPr>
          <a:xfrm>
            <a:off x="4892040" y="1920239"/>
            <a:ext cx="2103121" cy="25146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Rectangle 14"/>
          <p:cNvSpPr/>
          <p:nvPr/>
        </p:nvSpPr>
        <p:spPr>
          <a:xfrm>
            <a:off x="4892040" y="1920239"/>
            <a:ext cx="2103121" cy="38404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15"/>
          <p:cNvSpPr txBox="1"/>
          <p:nvPr/>
        </p:nvSpPr>
        <p:spPr>
          <a:xfrm>
            <a:off x="5029199" y="1989327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ROASTING</a:t>
            </a:r>
          </a:p>
        </p:txBody>
      </p:sp>
      <p:sp>
        <p:nvSpPr>
          <p:cNvPr id="266" name="TextBox 16"/>
          <p:cNvSpPr txBox="1"/>
          <p:nvPr/>
        </p:nvSpPr>
        <p:spPr>
          <a:xfrm>
            <a:off x="5047488" y="2384551"/>
            <a:ext cx="1792225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Precision roasting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protocol. No SKU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diversification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dilutes brand</a:t>
            </a:r>
          </a:p>
        </p:txBody>
      </p:sp>
      <p:sp>
        <p:nvSpPr>
          <p:cNvPr id="267" name="Rectangle 17"/>
          <p:cNvSpPr/>
          <p:nvPr/>
        </p:nvSpPr>
        <p:spPr>
          <a:xfrm>
            <a:off x="7178040" y="1920239"/>
            <a:ext cx="2103121" cy="25146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ectangle 18"/>
          <p:cNvSpPr/>
          <p:nvPr/>
        </p:nvSpPr>
        <p:spPr>
          <a:xfrm>
            <a:off x="7178040" y="1920239"/>
            <a:ext cx="2103121" cy="38404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19"/>
          <p:cNvSpPr txBox="1"/>
          <p:nvPr/>
        </p:nvSpPr>
        <p:spPr>
          <a:xfrm>
            <a:off x="7315198" y="1989327"/>
            <a:ext cx="1828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PRESSURIZATION</a:t>
            </a:r>
          </a:p>
        </p:txBody>
      </p:sp>
      <p:sp>
        <p:nvSpPr>
          <p:cNvPr id="270" name="TextBox 20"/>
          <p:cNvSpPr txBox="1"/>
          <p:nvPr/>
        </p:nvSpPr>
        <p:spPr>
          <a:xfrm>
            <a:off x="7333488" y="2384551"/>
            <a:ext cx="1792225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1934 patent: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N₂ seal actively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ages + preserves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essential oils</a:t>
            </a:r>
          </a:p>
        </p:txBody>
      </p:sp>
      <p:sp>
        <p:nvSpPr>
          <p:cNvPr id="271" name="Rectangle 21"/>
          <p:cNvSpPr/>
          <p:nvPr/>
        </p:nvSpPr>
        <p:spPr>
          <a:xfrm>
            <a:off x="9464040" y="1920239"/>
            <a:ext cx="2103121" cy="25146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22"/>
          <p:cNvSpPr/>
          <p:nvPr/>
        </p:nvSpPr>
        <p:spPr>
          <a:xfrm>
            <a:off x="9464040" y="1920239"/>
            <a:ext cx="2103121" cy="38404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23"/>
          <p:cNvSpPr txBox="1"/>
          <p:nvPr/>
        </p:nvSpPr>
        <p:spPr>
          <a:xfrm>
            <a:off x="9601200" y="1989327"/>
            <a:ext cx="182880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SIP</a:t>
            </a:r>
          </a:p>
        </p:txBody>
      </p:sp>
      <p:sp>
        <p:nvSpPr>
          <p:cNvPr id="274" name="TextBox 24"/>
          <p:cNvSpPr txBox="1"/>
          <p:nvPr/>
        </p:nvSpPr>
        <p:spPr>
          <a:xfrm>
            <a:off x="9619486" y="2384551"/>
            <a:ext cx="1792225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'Why We Make It'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narrative. Experience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over transaction.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Craft story</a:t>
            </a:r>
          </a:p>
        </p:txBody>
      </p:sp>
      <p:pic>
        <p:nvPicPr>
          <p:cNvPr id="275" name="Picture 25" descr="Picture 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4165600"/>
            <a:ext cx="2001894" cy="22020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26" descr="Picture 2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38625" y="4193726"/>
            <a:ext cx="2001894" cy="22020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27" descr="Picture 2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20" y="4198254"/>
            <a:ext cx="2001894" cy="22020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Picture 28" descr="Picture 2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294876" y="4566077"/>
            <a:ext cx="1457381" cy="1457382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Box 29"/>
          <p:cNvSpPr txBox="1"/>
          <p:nvPr/>
        </p:nvSpPr>
        <p:spPr>
          <a:xfrm>
            <a:off x="91439" y="6291071"/>
            <a:ext cx="25603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Iconic red tin — single blend globally</a:t>
            </a:r>
          </a:p>
        </p:txBody>
      </p:sp>
      <p:sp>
        <p:nvSpPr>
          <p:cNvPr id="280" name="TextBox 30"/>
          <p:cNvSpPr txBox="1"/>
          <p:nvPr/>
        </p:nvSpPr>
        <p:spPr>
          <a:xfrm>
            <a:off x="2859412" y="6291071"/>
            <a:ext cx="2560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Art Collection — 30-yr artist collab</a:t>
            </a:r>
          </a:p>
        </p:txBody>
      </p:sp>
      <p:sp>
        <p:nvSpPr>
          <p:cNvPr id="281" name="TextBox 31"/>
          <p:cNvSpPr txBox="1"/>
          <p:nvPr/>
        </p:nvSpPr>
        <p:spPr>
          <a:xfrm>
            <a:off x="6022119" y="6291071"/>
            <a:ext cx="2560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iperEspresso capsules — home format</a:t>
            </a:r>
          </a:p>
        </p:txBody>
      </p:sp>
      <p:sp>
        <p:nvSpPr>
          <p:cNvPr id="282" name="TextBox 32"/>
          <p:cNvSpPr txBox="1"/>
          <p:nvPr/>
        </p:nvSpPr>
        <p:spPr>
          <a:xfrm>
            <a:off x="8743406" y="6291071"/>
            <a:ext cx="25603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Red circle — 90yr brand equity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CC0000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85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CC0000"/>
                </a:solidFill>
              </a:defRPr>
            </a:lvl1pPr>
          </a:lstStyle>
          <a:p>
            <a:pPr/>
            <a:r>
              <a:t>Brand Positioning Framework</a:t>
            </a:r>
          </a:p>
        </p:txBody>
      </p:sp>
      <p:sp>
        <p:nvSpPr>
          <p:cNvPr id="287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Positioning statement · Creative idea · Benefits · RTBs · Values · Target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04 · BRAND POSITIONING FRAMEWORK</a:t>
            </a:r>
          </a:p>
        </p:txBody>
      </p:sp>
      <p:pic>
        <p:nvPicPr>
          <p:cNvPr id="29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6640" y="841247"/>
            <a:ext cx="2849632" cy="1900706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Rectangle 4"/>
          <p:cNvSpPr/>
          <p:nvPr/>
        </p:nvSpPr>
        <p:spPr>
          <a:xfrm>
            <a:off x="4335779" y="1026160"/>
            <a:ext cx="7040882" cy="86868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5"/>
          <p:cNvSpPr txBox="1"/>
          <p:nvPr/>
        </p:nvSpPr>
        <p:spPr>
          <a:xfrm>
            <a:off x="4518660" y="1044447"/>
            <a:ext cx="67665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CCCC"/>
                </a:solidFill>
              </a:defRPr>
            </a:lvl1pPr>
          </a:lstStyle>
          <a:p>
            <a:pPr/>
            <a:r>
              <a:t>BRAND POSITIONING STATEMENT</a:t>
            </a:r>
          </a:p>
        </p:txBody>
      </p:sp>
      <p:sp>
        <p:nvSpPr>
          <p:cNvPr id="294" name="TextBox 6"/>
          <p:cNvSpPr txBox="1"/>
          <p:nvPr/>
        </p:nvSpPr>
        <p:spPr>
          <a:xfrm>
            <a:off x="4518659" y="1300480"/>
            <a:ext cx="672084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FFFFFF"/>
                </a:solidFill>
              </a:defRPr>
            </a:lvl1pPr>
          </a:lstStyle>
          <a:p>
            <a:pPr/>
            <a:r>
              <a:t>For discerning coffee lovers who seek authentic Italian mastery, illy is the only super-premium espresso brand that guarantees perfection in every cup — because uncompromising quality in every step, from farm to extraction, is the only way we know.</a:t>
            </a:r>
          </a:p>
        </p:txBody>
      </p:sp>
      <p:sp>
        <p:nvSpPr>
          <p:cNvPr id="295" name="Rectangle 7"/>
          <p:cNvSpPr/>
          <p:nvPr/>
        </p:nvSpPr>
        <p:spPr>
          <a:xfrm>
            <a:off x="4335779" y="1986279"/>
            <a:ext cx="7040882" cy="502920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8"/>
          <p:cNvSpPr txBox="1"/>
          <p:nvPr/>
        </p:nvSpPr>
        <p:spPr>
          <a:xfrm>
            <a:off x="4518660" y="2004567"/>
            <a:ext cx="3108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C0000"/>
                </a:solidFill>
              </a:defRPr>
            </a:lvl1pPr>
          </a:lstStyle>
          <a:p>
            <a:pPr/>
            <a:r>
              <a:t>CORE CREATIVE IDEA</a:t>
            </a:r>
          </a:p>
        </p:txBody>
      </p:sp>
      <p:sp>
        <p:nvSpPr>
          <p:cNvPr id="297" name="TextBox 9"/>
          <p:cNvSpPr txBox="1"/>
          <p:nvPr/>
        </p:nvSpPr>
        <p:spPr>
          <a:xfrm>
            <a:off x="4518659" y="2233167"/>
            <a:ext cx="67208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FFFFFF"/>
                </a:solidFill>
              </a:defRPr>
            </a:lvl1pPr>
          </a:lstStyle>
          <a:p>
            <a:pPr/>
            <a:r>
              <a:t>"Quality Loves Details"  — Perfection is the accumulation of a thousand uncompromising choices.</a:t>
            </a:r>
          </a:p>
        </p:txBody>
      </p:sp>
      <p:sp>
        <p:nvSpPr>
          <p:cNvPr id="298" name="Rectangle 10"/>
          <p:cNvSpPr/>
          <p:nvPr/>
        </p:nvSpPr>
        <p:spPr>
          <a:xfrm>
            <a:off x="320039" y="2788920"/>
            <a:ext cx="5577842" cy="1691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11"/>
          <p:cNvSpPr/>
          <p:nvPr/>
        </p:nvSpPr>
        <p:spPr>
          <a:xfrm>
            <a:off x="320039" y="2788920"/>
            <a:ext cx="5577842" cy="34747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12"/>
          <p:cNvSpPr txBox="1"/>
          <p:nvPr/>
        </p:nvSpPr>
        <p:spPr>
          <a:xfrm>
            <a:off x="475487" y="2852927"/>
            <a:ext cx="5257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PRODUCT BENEFITS &amp; CLAIMS</a:t>
            </a:r>
          </a:p>
        </p:txBody>
      </p:sp>
      <p:sp>
        <p:nvSpPr>
          <p:cNvPr id="301" name="TextBox 13"/>
          <p:cNvSpPr txBox="1"/>
          <p:nvPr/>
        </p:nvSpPr>
        <p:spPr>
          <a:xfrm>
            <a:off x="475487" y="3200400"/>
            <a:ext cx="5257801" cy="88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100% select Arabica — no Robusta, ever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Single global blend: 9 origins, consistent across 40+ markets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Pressurized tin: sealed with inert gas → preserves aroma &amp; essential oils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Precision roasting protocol → consistent extraction every time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iperEspresso: patented two-phase capsule for crema-perfect espresso at home</a:t>
            </a:r>
          </a:p>
        </p:txBody>
      </p:sp>
      <p:sp>
        <p:nvSpPr>
          <p:cNvPr id="302" name="Rectangle 14"/>
          <p:cNvSpPr/>
          <p:nvPr/>
        </p:nvSpPr>
        <p:spPr>
          <a:xfrm>
            <a:off x="6172200" y="2788920"/>
            <a:ext cx="5577841" cy="1691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Rectangle 15"/>
          <p:cNvSpPr/>
          <p:nvPr/>
        </p:nvSpPr>
        <p:spPr>
          <a:xfrm>
            <a:off x="6172200" y="2788920"/>
            <a:ext cx="5577841" cy="347473"/>
          </a:xfrm>
          <a:prstGeom prst="rect">
            <a:avLst/>
          </a:prstGeom>
          <a:solidFill>
            <a:srgbClr val="1A2A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16"/>
          <p:cNvSpPr txBox="1"/>
          <p:nvPr/>
        </p:nvSpPr>
        <p:spPr>
          <a:xfrm>
            <a:off x="6327648" y="2852927"/>
            <a:ext cx="525780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BRAND VALUES</a:t>
            </a:r>
          </a:p>
        </p:txBody>
      </p:sp>
      <p:sp>
        <p:nvSpPr>
          <p:cNvPr id="305" name="TextBox 17"/>
          <p:cNvSpPr txBox="1"/>
          <p:nvPr/>
        </p:nvSpPr>
        <p:spPr>
          <a:xfrm>
            <a:off x="6327648" y="3200400"/>
            <a:ext cx="5257801" cy="88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Excellence: the relentless pursuit of perfection in every detail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Authenticity: Italian heritage expressed without nostalgia or irony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Responsibility: Direct Trade, B Corp, Climate Transition Plan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Beauty: Art Collection, cinematic advertising, design-forward packaging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Knowledge: Università del Caffè — sharing mastery, not keeping secrets</a:t>
            </a:r>
          </a:p>
        </p:txBody>
      </p:sp>
      <p:sp>
        <p:nvSpPr>
          <p:cNvPr id="306" name="Rectangle 18"/>
          <p:cNvSpPr/>
          <p:nvPr/>
        </p:nvSpPr>
        <p:spPr>
          <a:xfrm>
            <a:off x="320039" y="4663440"/>
            <a:ext cx="5577842" cy="1691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Rectangle 19"/>
          <p:cNvSpPr/>
          <p:nvPr/>
        </p:nvSpPr>
        <p:spPr>
          <a:xfrm>
            <a:off x="320039" y="4663440"/>
            <a:ext cx="5577842" cy="347473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20"/>
          <p:cNvSpPr txBox="1"/>
          <p:nvPr/>
        </p:nvSpPr>
        <p:spPr>
          <a:xfrm>
            <a:off x="475487" y="4727447"/>
            <a:ext cx="5257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EMOTIONAL BENEFITS &amp; CLAIMS</a:t>
            </a:r>
          </a:p>
        </p:txBody>
      </p:sp>
      <p:sp>
        <p:nvSpPr>
          <p:cNvPr id="309" name="TextBox 21"/>
          <p:cNvSpPr txBox="1"/>
          <p:nvPr/>
        </p:nvSpPr>
        <p:spPr>
          <a:xfrm>
            <a:off x="475487" y="5074920"/>
            <a:ext cx="5257801" cy="88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"I chose the best" — signals taste sophistication and discernment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Italian lifestyle aspiration — la dolce vita in a cup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Ritual and pause: coffee as moment of beauty, not caffeine delivery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Pride of serving: for HoReCa, illy on the counter signals curation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"Coffee people" identity: belonging to a global community of craft</a:t>
            </a:r>
          </a:p>
        </p:txBody>
      </p:sp>
      <p:sp>
        <p:nvSpPr>
          <p:cNvPr id="310" name="Rectangle 22"/>
          <p:cNvSpPr/>
          <p:nvPr/>
        </p:nvSpPr>
        <p:spPr>
          <a:xfrm>
            <a:off x="6172200" y="4663440"/>
            <a:ext cx="5577841" cy="1691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Rectangle 23"/>
          <p:cNvSpPr/>
          <p:nvPr/>
        </p:nvSpPr>
        <p:spPr>
          <a:xfrm>
            <a:off x="6172200" y="4663440"/>
            <a:ext cx="5577841" cy="347473"/>
          </a:xfrm>
          <a:prstGeom prst="rect">
            <a:avLst/>
          </a:prstGeom>
          <a:solidFill>
            <a:srgbClr val="5544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24"/>
          <p:cNvSpPr txBox="1"/>
          <p:nvPr/>
        </p:nvSpPr>
        <p:spPr>
          <a:xfrm>
            <a:off x="6327648" y="4727447"/>
            <a:ext cx="5257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TARGET CONSUMER</a:t>
            </a:r>
          </a:p>
        </p:txBody>
      </p:sp>
      <p:sp>
        <p:nvSpPr>
          <p:cNvPr id="313" name="TextBox 25"/>
          <p:cNvSpPr txBox="1"/>
          <p:nvPr/>
        </p:nvSpPr>
        <p:spPr>
          <a:xfrm>
            <a:off x="6327648" y="5074920"/>
            <a:ext cx="5257801" cy="895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Primary: affluent urban professional, 30–55, frequent traveller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Coffee-literate: knows the difference between third-wave and mass market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Motivated by provenance, craft, and brand integrity — not price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US: Amazon Prime household, premium airline passenger, Whole Foods shopper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HoReCa: decision-makers at 4-5★ hotels, Michelin-adjacent restaurants, design cafés</a:t>
            </a:r>
          </a:p>
        </p:txBody>
      </p:sp>
      <p:sp>
        <p:nvSpPr>
          <p:cNvPr id="314" name="Rectangle 26"/>
          <p:cNvSpPr/>
          <p:nvPr/>
        </p:nvSpPr>
        <p:spPr>
          <a:xfrm>
            <a:off x="320040" y="6309359"/>
            <a:ext cx="11430001" cy="475488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Rectangle 27"/>
          <p:cNvSpPr/>
          <p:nvPr/>
        </p:nvSpPr>
        <p:spPr>
          <a:xfrm>
            <a:off x="320040" y="6309359"/>
            <a:ext cx="2011679" cy="475488"/>
          </a:xfrm>
          <a:prstGeom prst="rect">
            <a:avLst/>
          </a:prstGeom>
          <a:solidFill>
            <a:srgbClr val="1B5E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28"/>
          <p:cNvSpPr txBox="1"/>
          <p:nvPr/>
        </p:nvSpPr>
        <p:spPr>
          <a:xfrm>
            <a:off x="384047" y="6447535"/>
            <a:ext cx="18745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REASONS TO BELIEVE</a:t>
            </a:r>
          </a:p>
        </p:txBody>
      </p:sp>
      <p:sp>
        <p:nvSpPr>
          <p:cNvPr id="317" name="TextBox 29"/>
          <p:cNvSpPr txBox="1"/>
          <p:nvPr/>
        </p:nvSpPr>
        <p:spPr>
          <a:xfrm>
            <a:off x="2468879" y="6472935"/>
            <a:ext cx="91440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Direct Trade 1991  ·  B Corp 90.4  ·  Università del Caffè 25 countries  ·  Ernesto Illy Award (top 27 global producers)  ·  90+ years single blend  ·  1,000+ premium HoReCa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CC0000"/>
                </a:solidFill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20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HoReCa Strategy &amp; Own Café Network</a:t>
            </a:r>
          </a:p>
        </p:txBody>
      </p:sp>
      <p:sp>
        <p:nvSpPr>
          <p:cNvPr id="322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53.1% of revenue · Partner selection · Università del Caffè · illy caffè branded stores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05 · HoReCa STRATEGY &amp; OWN CAFÉ NETWORK</a:t>
            </a:r>
          </a:p>
        </p:txBody>
      </p:sp>
      <p:sp>
        <p:nvSpPr>
          <p:cNvPr id="326" name="Rectangle 3"/>
          <p:cNvSpPr/>
          <p:nvPr/>
        </p:nvSpPr>
        <p:spPr>
          <a:xfrm>
            <a:off x="320040" y="822960"/>
            <a:ext cx="11430001" cy="54864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4"/>
          <p:cNvSpPr txBox="1"/>
          <p:nvPr/>
        </p:nvSpPr>
        <p:spPr>
          <a:xfrm>
            <a:off x="548639" y="954024"/>
            <a:ext cx="110642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HoReCa = 53.1% of total revenue  ·  €372M  ·  +8.2% growth 2025  ·  Largest single revenue driver  ·  New premium accounts: US, ES, IT, DE</a:t>
            </a:r>
          </a:p>
        </p:txBody>
      </p:sp>
      <p:sp>
        <p:nvSpPr>
          <p:cNvPr id="328" name="Rectangle 5"/>
          <p:cNvSpPr/>
          <p:nvPr/>
        </p:nvSpPr>
        <p:spPr>
          <a:xfrm>
            <a:off x="320039" y="1481327"/>
            <a:ext cx="5349242" cy="38404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6"/>
          <p:cNvSpPr txBox="1"/>
          <p:nvPr/>
        </p:nvSpPr>
        <p:spPr>
          <a:xfrm>
            <a:off x="502919" y="1563116"/>
            <a:ext cx="4983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HORECA CHANNEL STRATEGY</a:t>
            </a:r>
          </a:p>
        </p:txBody>
      </p:sp>
      <p:sp>
        <p:nvSpPr>
          <p:cNvPr id="330" name="TextBox 7"/>
          <p:cNvSpPr txBox="1"/>
          <p:nvPr/>
        </p:nvSpPr>
        <p:spPr>
          <a:xfrm>
            <a:off x="365759" y="1920239"/>
            <a:ext cx="5257801" cy="175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Strictly premium partner selection — illy does NOT distribute to mass-market cafés or QSR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4-star+ hotels, Michelin-adjacent fine dining, specialty/independent cafés, premium airline galleys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HoReCa contributes brand equity as much as revenue — every cup served is a brand experience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Università del Caffè: B2B training platform across 25 countries → reduces partner churn, ensures consistent quality at point of consumption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Francis Francis espresso machines: sold/leased to partners → hardware lock-in, margin + brand presence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Professional Co. machine range (high-volume HoReCa): positioned for 4-5★ environments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2025 M&amp;A: 80% Capitani acquisition internalises the home + professional machine ecosystem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2025 M&amp;A: 100% Thalwil Ag (Switzerland) internalises B2B distribution infrastructure</a:t>
            </a:r>
          </a:p>
        </p:txBody>
      </p:sp>
      <p:sp>
        <p:nvSpPr>
          <p:cNvPr id="331" name="Rectangle 8"/>
          <p:cNvSpPr/>
          <p:nvPr/>
        </p:nvSpPr>
        <p:spPr>
          <a:xfrm>
            <a:off x="5897879" y="1481327"/>
            <a:ext cx="5577842" cy="384049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9"/>
          <p:cNvSpPr txBox="1"/>
          <p:nvPr/>
        </p:nvSpPr>
        <p:spPr>
          <a:xfrm>
            <a:off x="6080760" y="1563116"/>
            <a:ext cx="52120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BRANDED CAFÉ NETWORK — illy caffè</a:t>
            </a:r>
          </a:p>
        </p:txBody>
      </p:sp>
      <p:sp>
        <p:nvSpPr>
          <p:cNvPr id="333" name="TextBox 10"/>
          <p:cNvSpPr txBox="1"/>
          <p:nvPr/>
        </p:nvSpPr>
        <p:spPr>
          <a:xfrm>
            <a:off x="5943600" y="1920239"/>
            <a:ext cx="5486400" cy="138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illy operates a branded café format under the 'illy caffè' name in select global markets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Locations: flagship stores in Trieste (HQ), Milan, Rome + international franchise model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Function: brand showcasing, consumer education, premium sampling — P&amp;L secondary to brand-building role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Flagship stores serve as 'concept stores': art exhibitions, barista masterclasses, product launches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Each café carries illy Art Collection as permanent décor — reinforces art/coffee positioning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Not a scaled café chain — strategic footprint only (unlike Lavazza, which has ~300+ branded bars)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illy deliberately limits own-retail expansion to protect HoReCa partner relationships and brand scarcity</a:t>
            </a:r>
          </a:p>
        </p:txBody>
      </p:sp>
      <p:sp>
        <p:nvSpPr>
          <p:cNvPr id="334" name="Rectangle 11"/>
          <p:cNvSpPr/>
          <p:nvPr/>
        </p:nvSpPr>
        <p:spPr>
          <a:xfrm>
            <a:off x="365760" y="3853090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33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7649" y="4460150"/>
            <a:ext cx="4338001" cy="1440001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TextBox 10"/>
          <p:cNvSpPr txBox="1"/>
          <p:nvPr/>
        </p:nvSpPr>
        <p:spPr>
          <a:xfrm>
            <a:off x="1743369" y="6008150"/>
            <a:ext cx="4246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Entrada — Via Monte Napoleone</a:t>
            </a:r>
          </a:p>
        </p:txBody>
      </p:sp>
      <p:pic>
        <p:nvPicPr>
          <p:cNvPr id="337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43650" y="4460150"/>
            <a:ext cx="4338001" cy="1440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CC0000"/>
                </a:solidFill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40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1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CC0000"/>
                </a:solidFill>
              </a:defRPr>
            </a:lvl1pPr>
          </a:lstStyle>
          <a:p>
            <a:pPr/>
            <a:r>
              <a:t>Product Portfolio — Formats &amp; Range</a:t>
            </a:r>
          </a:p>
        </p:txBody>
      </p:sp>
      <p:sp>
        <p:nvSpPr>
          <p:cNvPr id="342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555555"/>
                </a:solidFill>
              </a:defRPr>
            </a:lvl1pPr>
          </a:lstStyle>
          <a:p>
            <a:pPr/>
            <a:r>
              <a:t>Primary: whole bean · capsule · RTD  ·  Secondary: ESE pods · Nespresso · machines · Art Collection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06a · PRODUCT PORTFOLIO — PRIMARY FORMATS</a:t>
            </a:r>
          </a:p>
        </p:txBody>
      </p:sp>
      <p:sp>
        <p:nvSpPr>
          <p:cNvPr id="346" name="Rectangle 3"/>
          <p:cNvSpPr/>
          <p:nvPr/>
        </p:nvSpPr>
        <p:spPr>
          <a:xfrm>
            <a:off x="320040" y="804672"/>
            <a:ext cx="11430001" cy="384049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4"/>
          <p:cNvSpPr txBox="1"/>
          <p:nvPr/>
        </p:nvSpPr>
        <p:spPr>
          <a:xfrm>
            <a:off x="502919" y="861060"/>
            <a:ext cx="1106424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200">
                <a:solidFill>
                  <a:srgbClr val="1A1A1A"/>
                </a:solidFill>
              </a:defRPr>
            </a:lvl1pPr>
          </a:lstStyle>
          <a:p>
            <a:pPr/>
            <a:r>
              <a:t>All products share ONE roast philosophy: single 100% Arabica blend, 9 origins. Differentiation by FORMAT + use occasion — never by origin or roast variety.</a:t>
            </a:r>
          </a:p>
        </p:txBody>
      </p:sp>
      <p:sp>
        <p:nvSpPr>
          <p:cNvPr id="348" name="Rectangle 6"/>
          <p:cNvSpPr/>
          <p:nvPr/>
        </p:nvSpPr>
        <p:spPr>
          <a:xfrm>
            <a:off x="320040" y="3456432"/>
            <a:ext cx="3657601" cy="475488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7"/>
          <p:cNvSpPr txBox="1"/>
          <p:nvPr/>
        </p:nvSpPr>
        <p:spPr>
          <a:xfrm>
            <a:off x="457198" y="3487420"/>
            <a:ext cx="33832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Whole Bean &amp; Ground Coffee</a:t>
            </a:r>
          </a:p>
        </p:txBody>
      </p:sp>
      <p:sp>
        <p:nvSpPr>
          <p:cNvPr id="350" name="TextBox 8"/>
          <p:cNvSpPr txBox="1"/>
          <p:nvPr/>
        </p:nvSpPr>
        <p:spPr>
          <a:xfrm>
            <a:off x="457198" y="3723638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CCCC"/>
                </a:solidFill>
              </a:defRPr>
            </a:lvl1pPr>
          </a:lstStyle>
          <a:p>
            <a:pPr/>
            <a:r>
              <a:t>Primary / Hero SKU</a:t>
            </a:r>
          </a:p>
        </p:txBody>
      </p:sp>
      <p:sp>
        <p:nvSpPr>
          <p:cNvPr id="351" name="Rectangle 9"/>
          <p:cNvSpPr/>
          <p:nvPr/>
        </p:nvSpPr>
        <p:spPr>
          <a:xfrm>
            <a:off x="320040" y="3950208"/>
            <a:ext cx="3657601" cy="233172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10"/>
          <p:cNvSpPr txBox="1"/>
          <p:nvPr/>
        </p:nvSpPr>
        <p:spPr>
          <a:xfrm>
            <a:off x="475487" y="4005071"/>
            <a:ext cx="3346705" cy="1219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Whole bean (250g, 500g)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Ground for moka, filter, drip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Fine ground for espresso</a:t>
            </a:r>
          </a:p>
          <a:p>
            <a:pPr>
              <a:defRPr sz="1000"/>
            </a:pPr>
          </a:p>
          <a:p>
            <a:pPr>
              <a:defRPr b="1" sz="1000">
                <a:solidFill>
                  <a:srgbClr val="CC0000"/>
                </a:solidFill>
              </a:defRPr>
            </a:pPr>
            <a:r>
              <a:t>CHANNELS:  Grocery premium, DTC, HoReCa</a:t>
            </a:r>
          </a:p>
          <a:p>
            <a:pPr>
              <a:defRPr i="1" sz="1000">
                <a:solidFill>
                  <a:srgbClr val="555555"/>
                </a:solidFill>
              </a:defRPr>
            </a:pPr>
            <a:r>
              <a:t>"The pure illy experience — nothing between the bean and your cup"</a:t>
            </a:r>
          </a:p>
        </p:txBody>
      </p:sp>
      <p:sp>
        <p:nvSpPr>
          <p:cNvPr id="353" name="Rectangle 12"/>
          <p:cNvSpPr/>
          <p:nvPr/>
        </p:nvSpPr>
        <p:spPr>
          <a:xfrm>
            <a:off x="4251959" y="3456432"/>
            <a:ext cx="3657601" cy="475488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13"/>
          <p:cNvSpPr txBox="1"/>
          <p:nvPr/>
        </p:nvSpPr>
        <p:spPr>
          <a:xfrm>
            <a:off x="4389118" y="3487420"/>
            <a:ext cx="33832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iperEspresso Capsules</a:t>
            </a:r>
          </a:p>
        </p:txBody>
      </p:sp>
      <p:sp>
        <p:nvSpPr>
          <p:cNvPr id="355" name="TextBox 14"/>
          <p:cNvSpPr txBox="1"/>
          <p:nvPr/>
        </p:nvSpPr>
        <p:spPr>
          <a:xfrm>
            <a:off x="4389118" y="3723638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CCCC"/>
                </a:solidFill>
              </a:defRPr>
            </a:lvl1pPr>
          </a:lstStyle>
          <a:p>
            <a:pPr/>
            <a:r>
              <a:t>Primary / Premium Home</a:t>
            </a:r>
          </a:p>
        </p:txBody>
      </p:sp>
      <p:sp>
        <p:nvSpPr>
          <p:cNvPr id="356" name="Rectangle 15"/>
          <p:cNvSpPr/>
          <p:nvPr/>
        </p:nvSpPr>
        <p:spPr>
          <a:xfrm>
            <a:off x="4251959" y="3950208"/>
            <a:ext cx="3657601" cy="233172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16"/>
          <p:cNvSpPr txBox="1"/>
          <p:nvPr/>
        </p:nvSpPr>
        <p:spPr>
          <a:xfrm>
            <a:off x="4407408" y="4005071"/>
            <a:ext cx="3346704" cy="1054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Single capsule (illy-exclusive system)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Compatible: illy X7.1, Y3.3 machines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Available: Classico, Intenso, Lungo, Decaf</a:t>
            </a:r>
          </a:p>
          <a:p>
            <a:pPr>
              <a:defRPr sz="1000"/>
            </a:pPr>
          </a:p>
          <a:p>
            <a:pPr>
              <a:defRPr b="1" sz="1000">
                <a:solidFill>
                  <a:srgbClr val="8B0000"/>
                </a:solidFill>
              </a:defRPr>
            </a:pPr>
            <a:r>
              <a:t>CHANNELS:  DTC, Amazon, illy.com, specialty retail</a:t>
            </a:r>
          </a:p>
          <a:p>
            <a:pPr>
              <a:defRPr i="1" sz="1000">
                <a:solidFill>
                  <a:srgbClr val="555555"/>
                </a:solidFill>
              </a:defRPr>
            </a:pPr>
            <a:r>
              <a:t>"Barista-quality crema in a closed premium ecosystem"</a:t>
            </a:r>
          </a:p>
        </p:txBody>
      </p:sp>
      <p:pic>
        <p:nvPicPr>
          <p:cNvPr id="35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326" y="868881"/>
            <a:ext cx="2611399" cy="2872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29340" y="949452"/>
            <a:ext cx="2611399" cy="2872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17" descr="Picture 1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55793" y="1216152"/>
            <a:ext cx="2611399" cy="2409015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Rectangle 18"/>
          <p:cNvSpPr/>
          <p:nvPr/>
        </p:nvSpPr>
        <p:spPr>
          <a:xfrm>
            <a:off x="8183878" y="3456432"/>
            <a:ext cx="3657601" cy="475488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9"/>
          <p:cNvSpPr txBox="1"/>
          <p:nvPr/>
        </p:nvSpPr>
        <p:spPr>
          <a:xfrm>
            <a:off x="8321038" y="3487420"/>
            <a:ext cx="338328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RTD — Ready to Drink</a:t>
            </a:r>
          </a:p>
        </p:txBody>
      </p:sp>
      <p:sp>
        <p:nvSpPr>
          <p:cNvPr id="363" name="TextBox 20"/>
          <p:cNvSpPr txBox="1"/>
          <p:nvPr/>
        </p:nvSpPr>
        <p:spPr>
          <a:xfrm>
            <a:off x="8321038" y="3723638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CCCC"/>
                </a:solidFill>
              </a:defRPr>
            </a:lvl1pPr>
          </a:lstStyle>
          <a:p>
            <a:pPr/>
            <a:r>
              <a:t>Primary / Growth Format</a:t>
            </a:r>
          </a:p>
        </p:txBody>
      </p:sp>
      <p:sp>
        <p:nvSpPr>
          <p:cNvPr id="364" name="Rectangle 21"/>
          <p:cNvSpPr/>
          <p:nvPr/>
        </p:nvSpPr>
        <p:spPr>
          <a:xfrm>
            <a:off x="8183878" y="3950208"/>
            <a:ext cx="3657601" cy="233172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22"/>
          <p:cNvSpPr txBox="1"/>
          <p:nvPr/>
        </p:nvSpPr>
        <p:spPr>
          <a:xfrm>
            <a:off x="8339326" y="4005071"/>
            <a:ext cx="3346705" cy="138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issimo Cold Brew cans (8.45oz)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Cold Brew + Oat Milk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Cappuccino RTD (shelf stable)</a:t>
            </a:r>
          </a:p>
          <a:p>
            <a:pPr>
              <a:defRPr sz="1000"/>
            </a:pPr>
          </a:p>
          <a:p>
            <a:pPr>
              <a:defRPr b="1" sz="1000">
                <a:solidFill>
                  <a:srgbClr val="1A1A1A"/>
                </a:solidFill>
              </a:defRPr>
            </a:pPr>
            <a:r>
              <a:t>CHANNELS:  United Airlines cabins, premium retail, Amazon, convenience premium</a:t>
            </a:r>
          </a:p>
          <a:p>
            <a:pPr>
              <a:defRPr i="1" sz="1000">
                <a:solidFill>
                  <a:srgbClr val="555555"/>
                </a:solidFill>
              </a:defRPr>
            </a:pPr>
            <a:r>
              <a:t>"illy coffee without equipment — same quality standard in a can"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06b · PRODUCT PORTFOLIO — SECONDARY FORMATS &amp; MACHINES</a:t>
            </a:r>
          </a:p>
        </p:txBody>
      </p:sp>
      <p:sp>
        <p:nvSpPr>
          <p:cNvPr id="369" name="Rectangle 6"/>
          <p:cNvSpPr/>
          <p:nvPr/>
        </p:nvSpPr>
        <p:spPr>
          <a:xfrm>
            <a:off x="320039" y="3794759"/>
            <a:ext cx="5532122" cy="9144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Rectangle 7"/>
          <p:cNvSpPr/>
          <p:nvPr/>
        </p:nvSpPr>
        <p:spPr>
          <a:xfrm>
            <a:off x="320040" y="3794759"/>
            <a:ext cx="73153" cy="914401"/>
          </a:xfrm>
          <a:prstGeom prst="rect">
            <a:avLst/>
          </a:prstGeom>
          <a:solidFill>
            <a:srgbClr val="6D4C4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8"/>
          <p:cNvSpPr txBox="1"/>
          <p:nvPr/>
        </p:nvSpPr>
        <p:spPr>
          <a:xfrm>
            <a:off x="548639" y="3831335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ESE Paper Pods</a:t>
            </a:r>
          </a:p>
        </p:txBody>
      </p:sp>
      <p:sp>
        <p:nvSpPr>
          <p:cNvPr id="372" name="TextBox 9"/>
          <p:cNvSpPr txBox="1"/>
          <p:nvPr/>
        </p:nvSpPr>
        <p:spPr>
          <a:xfrm>
            <a:off x="548639" y="4096511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6D4C41"/>
                </a:solidFill>
              </a:defRPr>
            </a:lvl1pPr>
          </a:lstStyle>
          <a:p>
            <a:pPr/>
            <a:r>
              <a:t>Easy Serving Espresso</a:t>
            </a:r>
          </a:p>
        </p:txBody>
      </p:sp>
      <p:sp>
        <p:nvSpPr>
          <p:cNvPr id="373" name="TextBox 10"/>
          <p:cNvSpPr txBox="1"/>
          <p:nvPr/>
        </p:nvSpPr>
        <p:spPr>
          <a:xfrm>
            <a:off x="548640" y="4297679"/>
            <a:ext cx="5120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•  44mm industry-standard pod format</a:t>
            </a:r>
          </a:p>
        </p:txBody>
      </p:sp>
      <p:sp>
        <p:nvSpPr>
          <p:cNvPr id="374" name="TextBox 11"/>
          <p:cNvSpPr txBox="1"/>
          <p:nvPr/>
        </p:nvSpPr>
        <p:spPr>
          <a:xfrm>
            <a:off x="548640" y="4471415"/>
            <a:ext cx="5120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•  Compatible with all ESE machines globally</a:t>
            </a:r>
          </a:p>
        </p:txBody>
      </p:sp>
      <p:sp>
        <p:nvSpPr>
          <p:cNvPr id="375" name="Rectangle 12"/>
          <p:cNvSpPr/>
          <p:nvPr/>
        </p:nvSpPr>
        <p:spPr>
          <a:xfrm>
            <a:off x="6080759" y="3794759"/>
            <a:ext cx="5532121" cy="9144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Rectangle 13"/>
          <p:cNvSpPr/>
          <p:nvPr/>
        </p:nvSpPr>
        <p:spPr>
          <a:xfrm>
            <a:off x="6080759" y="3794759"/>
            <a:ext cx="73153" cy="91440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14"/>
          <p:cNvSpPr txBox="1"/>
          <p:nvPr/>
        </p:nvSpPr>
        <p:spPr>
          <a:xfrm>
            <a:off x="6309360" y="3831335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Nespresso-Compatible Capsules</a:t>
            </a:r>
          </a:p>
        </p:txBody>
      </p:sp>
      <p:sp>
        <p:nvSpPr>
          <p:cNvPr id="378" name="TextBox 15"/>
          <p:cNvSpPr txBox="1"/>
          <p:nvPr/>
        </p:nvSpPr>
        <p:spPr>
          <a:xfrm>
            <a:off x="6309360" y="4096511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CC0000"/>
                </a:solidFill>
              </a:defRPr>
            </a:lvl1pPr>
          </a:lstStyle>
          <a:p>
            <a:pPr/>
            <a:r>
              <a:t>illy for Nespresso®</a:t>
            </a:r>
          </a:p>
        </p:txBody>
      </p:sp>
      <p:sp>
        <p:nvSpPr>
          <p:cNvPr id="379" name="TextBox 16"/>
          <p:cNvSpPr txBox="1"/>
          <p:nvPr/>
        </p:nvSpPr>
        <p:spPr>
          <a:xfrm>
            <a:off x="6309360" y="4297679"/>
            <a:ext cx="5120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•  Aluminium capsule — illy blend in Nespresso machines</a:t>
            </a:r>
          </a:p>
        </p:txBody>
      </p:sp>
      <p:sp>
        <p:nvSpPr>
          <p:cNvPr id="380" name="TextBox 17"/>
          <p:cNvSpPr txBox="1"/>
          <p:nvPr/>
        </p:nvSpPr>
        <p:spPr>
          <a:xfrm>
            <a:off x="6309360" y="4471415"/>
            <a:ext cx="5120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•  Classico, Intenso, Lungo formats</a:t>
            </a:r>
          </a:p>
        </p:txBody>
      </p:sp>
      <p:sp>
        <p:nvSpPr>
          <p:cNvPr id="381" name="Rectangle 18"/>
          <p:cNvSpPr/>
          <p:nvPr/>
        </p:nvSpPr>
        <p:spPr>
          <a:xfrm>
            <a:off x="320039" y="4782311"/>
            <a:ext cx="5532122" cy="9144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Rectangle 19"/>
          <p:cNvSpPr/>
          <p:nvPr/>
        </p:nvSpPr>
        <p:spPr>
          <a:xfrm>
            <a:off x="320040" y="4782311"/>
            <a:ext cx="73153" cy="914401"/>
          </a:xfrm>
          <a:prstGeom prst="rect">
            <a:avLst/>
          </a:prstGeom>
          <a:solidFill>
            <a:srgbClr val="55555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20"/>
          <p:cNvSpPr txBox="1"/>
          <p:nvPr/>
        </p:nvSpPr>
        <p:spPr>
          <a:xfrm>
            <a:off x="548639" y="4818888"/>
            <a:ext cx="33832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Instant Coffee — ilyissimo</a:t>
            </a:r>
          </a:p>
        </p:txBody>
      </p:sp>
      <p:sp>
        <p:nvSpPr>
          <p:cNvPr id="384" name="TextBox 21"/>
          <p:cNvSpPr txBox="1"/>
          <p:nvPr/>
        </p:nvSpPr>
        <p:spPr>
          <a:xfrm>
            <a:off x="548639" y="5084064"/>
            <a:ext cx="33832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555555"/>
                </a:solidFill>
              </a:defRPr>
            </a:lvl1pPr>
          </a:lstStyle>
          <a:p>
            <a:pPr/>
            <a:r>
              <a:t>Emerging / Test Format</a:t>
            </a:r>
          </a:p>
        </p:txBody>
      </p:sp>
      <p:sp>
        <p:nvSpPr>
          <p:cNvPr id="385" name="TextBox 22"/>
          <p:cNvSpPr txBox="1"/>
          <p:nvPr/>
        </p:nvSpPr>
        <p:spPr>
          <a:xfrm>
            <a:off x="548640" y="5285232"/>
            <a:ext cx="5120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•  Freeze-dried instant — premium tier positioning</a:t>
            </a:r>
          </a:p>
        </p:txBody>
      </p:sp>
      <p:sp>
        <p:nvSpPr>
          <p:cNvPr id="386" name="TextBox 23"/>
          <p:cNvSpPr txBox="1"/>
          <p:nvPr/>
        </p:nvSpPr>
        <p:spPr>
          <a:xfrm>
            <a:off x="548640" y="5458967"/>
            <a:ext cx="5120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•  Targets: travel, office, emerging markets</a:t>
            </a:r>
          </a:p>
        </p:txBody>
      </p:sp>
      <p:sp>
        <p:nvSpPr>
          <p:cNvPr id="387" name="Rectangle 24"/>
          <p:cNvSpPr/>
          <p:nvPr/>
        </p:nvSpPr>
        <p:spPr>
          <a:xfrm>
            <a:off x="6080759" y="4782311"/>
            <a:ext cx="5532121" cy="9144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ectangle 25"/>
          <p:cNvSpPr/>
          <p:nvPr/>
        </p:nvSpPr>
        <p:spPr>
          <a:xfrm>
            <a:off x="6080759" y="4782311"/>
            <a:ext cx="73153" cy="914401"/>
          </a:xfrm>
          <a:prstGeom prst="rect">
            <a:avLst/>
          </a:prstGeom>
          <a:solidFill>
            <a:srgbClr val="1A2A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26"/>
          <p:cNvSpPr txBox="1"/>
          <p:nvPr/>
        </p:nvSpPr>
        <p:spPr>
          <a:xfrm>
            <a:off x="6309360" y="4818888"/>
            <a:ext cx="33832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Machines — illy Y3.3 / X7.1</a:t>
            </a:r>
          </a:p>
        </p:txBody>
      </p:sp>
      <p:sp>
        <p:nvSpPr>
          <p:cNvPr id="390" name="TextBox 27"/>
          <p:cNvSpPr txBox="1"/>
          <p:nvPr/>
        </p:nvSpPr>
        <p:spPr>
          <a:xfrm>
            <a:off x="6309360" y="5084064"/>
            <a:ext cx="33832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1A2A4A"/>
                </a:solidFill>
              </a:defRPr>
            </a:lvl1pPr>
          </a:lstStyle>
          <a:p>
            <a:pPr/>
            <a:r>
              <a:t>Hardware Ecosystem</a:t>
            </a:r>
          </a:p>
        </p:txBody>
      </p:sp>
      <p:sp>
        <p:nvSpPr>
          <p:cNvPr id="391" name="TextBox 28"/>
          <p:cNvSpPr txBox="1"/>
          <p:nvPr/>
        </p:nvSpPr>
        <p:spPr>
          <a:xfrm>
            <a:off x="6309360" y="5285232"/>
            <a:ext cx="5120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•  Y3.3: iperEspresso capsule machine — home flagship</a:t>
            </a:r>
          </a:p>
        </p:txBody>
      </p:sp>
      <p:sp>
        <p:nvSpPr>
          <p:cNvPr id="392" name="TextBox 29"/>
          <p:cNvSpPr txBox="1"/>
          <p:nvPr/>
        </p:nvSpPr>
        <p:spPr>
          <a:xfrm>
            <a:off x="6309360" y="5458967"/>
            <a:ext cx="512064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555555"/>
                </a:solidFill>
              </a:defRPr>
            </a:lvl1pPr>
          </a:lstStyle>
          <a:p>
            <a:pPr/>
            <a:r>
              <a:t>•  X7.1: premium home espresso machine — semi-professional</a:t>
            </a:r>
          </a:p>
        </p:txBody>
      </p:sp>
      <p:sp>
        <p:nvSpPr>
          <p:cNvPr id="393" name="Rectangle 30"/>
          <p:cNvSpPr/>
          <p:nvPr/>
        </p:nvSpPr>
        <p:spPr>
          <a:xfrm>
            <a:off x="320039" y="5769864"/>
            <a:ext cx="5532122" cy="9144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Rectangle 31"/>
          <p:cNvSpPr/>
          <p:nvPr/>
        </p:nvSpPr>
        <p:spPr>
          <a:xfrm>
            <a:off x="320040" y="5769864"/>
            <a:ext cx="73153" cy="914401"/>
          </a:xfrm>
          <a:prstGeom prst="rect">
            <a:avLst/>
          </a:prstGeom>
          <a:solidFill>
            <a:srgbClr val="B8965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TextBox 32"/>
          <p:cNvSpPr txBox="1"/>
          <p:nvPr/>
        </p:nvSpPr>
        <p:spPr>
          <a:xfrm>
            <a:off x="548639" y="5806440"/>
            <a:ext cx="33832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Art Collection Products</a:t>
            </a:r>
          </a:p>
        </p:txBody>
      </p:sp>
      <p:sp>
        <p:nvSpPr>
          <p:cNvPr id="396" name="TextBox 33"/>
          <p:cNvSpPr txBox="1"/>
          <p:nvPr/>
        </p:nvSpPr>
        <p:spPr>
          <a:xfrm>
            <a:off x="548639" y="6071615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B89650"/>
                </a:solidFill>
              </a:defRPr>
            </a:lvl1pPr>
          </a:lstStyle>
          <a:p>
            <a:pPr/>
            <a:r>
              <a:t>Brand / Cultural / Gift</a:t>
            </a:r>
          </a:p>
        </p:txBody>
      </p:sp>
      <p:sp>
        <p:nvSpPr>
          <p:cNvPr id="397" name="TextBox 34"/>
          <p:cNvSpPr txBox="1"/>
          <p:nvPr/>
        </p:nvSpPr>
        <p:spPr>
          <a:xfrm>
            <a:off x="548640" y="6272784"/>
            <a:ext cx="5120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•  Artist-designed espresso cups, mugs, accessories</a:t>
            </a:r>
          </a:p>
        </p:txBody>
      </p:sp>
      <p:sp>
        <p:nvSpPr>
          <p:cNvPr id="398" name="TextBox 35"/>
          <p:cNvSpPr txBox="1"/>
          <p:nvPr/>
        </p:nvSpPr>
        <p:spPr>
          <a:xfrm>
            <a:off x="548640" y="6446520"/>
            <a:ext cx="512064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•  Annual artist collaborations since 1992 (30+ year programme)</a:t>
            </a:r>
          </a:p>
        </p:txBody>
      </p:sp>
      <p:sp>
        <p:nvSpPr>
          <p:cNvPr id="399" name="Rectangle 36"/>
          <p:cNvSpPr/>
          <p:nvPr/>
        </p:nvSpPr>
        <p:spPr>
          <a:xfrm>
            <a:off x="6080759" y="5769864"/>
            <a:ext cx="5532121" cy="91440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Rectangle 37"/>
          <p:cNvSpPr/>
          <p:nvPr/>
        </p:nvSpPr>
        <p:spPr>
          <a:xfrm>
            <a:off x="6080759" y="5769864"/>
            <a:ext cx="73153" cy="914401"/>
          </a:xfrm>
          <a:prstGeom prst="rect">
            <a:avLst/>
          </a:prstGeom>
          <a:solidFill>
            <a:srgbClr val="1B5E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TextBox 38"/>
          <p:cNvSpPr txBox="1"/>
          <p:nvPr/>
        </p:nvSpPr>
        <p:spPr>
          <a:xfrm>
            <a:off x="6309360" y="5806440"/>
            <a:ext cx="33832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Cold Brew Concentrate</a:t>
            </a:r>
          </a:p>
        </p:txBody>
      </p:sp>
      <p:sp>
        <p:nvSpPr>
          <p:cNvPr id="402" name="TextBox 39"/>
          <p:cNvSpPr txBox="1"/>
          <p:nvPr/>
        </p:nvSpPr>
        <p:spPr>
          <a:xfrm>
            <a:off x="6309360" y="6071615"/>
            <a:ext cx="33832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1B5E20"/>
                </a:solidFill>
              </a:defRPr>
            </a:lvl1pPr>
          </a:lstStyle>
          <a:p>
            <a:pPr/>
            <a:r>
              <a:t>HoReCa / Foodservice</a:t>
            </a:r>
          </a:p>
        </p:txBody>
      </p:sp>
      <p:sp>
        <p:nvSpPr>
          <p:cNvPr id="403" name="TextBox 40"/>
          <p:cNvSpPr txBox="1"/>
          <p:nvPr/>
        </p:nvSpPr>
        <p:spPr>
          <a:xfrm>
            <a:off x="6309360" y="6272784"/>
            <a:ext cx="512064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1A1A1A"/>
                </a:solidFill>
              </a:defRPr>
            </a:lvl1pPr>
          </a:lstStyle>
          <a:p>
            <a:pPr/>
            <a:r>
              <a:t>•  Professional-grade cold brew for HoReCa behind-bar use</a:t>
            </a:r>
          </a:p>
        </p:txBody>
      </p:sp>
      <p:sp>
        <p:nvSpPr>
          <p:cNvPr id="404" name="TextBox 41"/>
          <p:cNvSpPr txBox="1"/>
          <p:nvPr/>
        </p:nvSpPr>
        <p:spPr>
          <a:xfrm>
            <a:off x="6309360" y="6446520"/>
            <a:ext cx="512064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•  Allows coffee cocktail, over-ice, and café menu flexibility</a:t>
            </a:r>
          </a:p>
        </p:txBody>
      </p:sp>
      <p:sp>
        <p:nvSpPr>
          <p:cNvPr id="405" name="Rectangle 42"/>
          <p:cNvSpPr/>
          <p:nvPr/>
        </p:nvSpPr>
        <p:spPr>
          <a:xfrm>
            <a:off x="320040" y="6492240"/>
            <a:ext cx="11430001" cy="34747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TextBox 43"/>
          <p:cNvSpPr txBox="1"/>
          <p:nvPr/>
        </p:nvSpPr>
        <p:spPr>
          <a:xfrm>
            <a:off x="502919" y="6519671"/>
            <a:ext cx="1106424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FFFFFF"/>
                </a:solidFill>
              </a:defRPr>
            </a:lvl1pPr>
          </a:lstStyle>
          <a:p>
            <a:pPr/>
            <a:r>
              <a:t>Portfolio principle: BREADTH by format (whole bean → capsule → RTD → pod → machine), UNITY by blend (single Arabica always). No flavoured coffees. No origin sub-brands. Consistency = pricing power.</a:t>
            </a:r>
          </a:p>
        </p:txBody>
      </p:sp>
      <p:pic>
        <p:nvPicPr>
          <p:cNvPr id="407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75500" y="1152144"/>
            <a:ext cx="2856001" cy="16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TextBox 12"/>
          <p:cNvSpPr txBox="1"/>
          <p:nvPr/>
        </p:nvSpPr>
        <p:spPr>
          <a:xfrm>
            <a:off x="316320" y="2880144"/>
            <a:ext cx="2764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Classico</a:t>
            </a:r>
          </a:p>
        </p:txBody>
      </p:sp>
      <p:sp>
        <p:nvSpPr>
          <p:cNvPr id="409" name="TextBox 13"/>
          <p:cNvSpPr txBox="1"/>
          <p:nvPr/>
        </p:nvSpPr>
        <p:spPr>
          <a:xfrm>
            <a:off x="316320" y="3078144"/>
            <a:ext cx="2764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8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Blend 100% Arábica</a:t>
            </a:r>
          </a:p>
          <a:p>
            <a:pPr>
              <a:defRPr sz="8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Compatível ESE 44mm</a:t>
            </a:r>
          </a:p>
        </p:txBody>
      </p:sp>
      <p:pic>
        <p:nvPicPr>
          <p:cNvPr id="410" name="Picture 20" descr="Picture 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745" y="1048040"/>
            <a:ext cx="1374001" cy="162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11" name="TextBox 23"/>
          <p:cNvSpPr txBox="1"/>
          <p:nvPr/>
        </p:nvSpPr>
        <p:spPr>
          <a:xfrm>
            <a:off x="3157465" y="2880144"/>
            <a:ext cx="1282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Stick Pack</a:t>
            </a:r>
          </a:p>
        </p:txBody>
      </p:sp>
      <p:pic>
        <p:nvPicPr>
          <p:cNvPr id="412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977539" y="1252979"/>
            <a:ext cx="2115001" cy="1440001"/>
          </a:xfrm>
          <a:prstGeom prst="rect">
            <a:avLst/>
          </a:prstGeom>
          <a:ln w="12700">
            <a:miter lim="400000"/>
          </a:ln>
        </p:spPr>
      </p:pic>
      <p:sp>
        <p:nvSpPr>
          <p:cNvPr id="413" name="TextBox 12"/>
          <p:cNvSpPr txBox="1"/>
          <p:nvPr/>
        </p:nvSpPr>
        <p:spPr>
          <a:xfrm>
            <a:off x="5023260" y="2880144"/>
            <a:ext cx="2023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Classico</a:t>
            </a:r>
          </a:p>
        </p:txBody>
      </p:sp>
      <p:sp>
        <p:nvSpPr>
          <p:cNvPr id="414" name="TextBox 13"/>
          <p:cNvSpPr txBox="1"/>
          <p:nvPr/>
        </p:nvSpPr>
        <p:spPr>
          <a:xfrm>
            <a:off x="5023260" y="3076112"/>
            <a:ext cx="2023561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125g · 18 cápsulas</a:t>
            </a:r>
          </a:p>
        </p:txBody>
      </p:sp>
      <p:sp>
        <p:nvSpPr>
          <p:cNvPr id="415" name="TextBox 10"/>
          <p:cNvSpPr txBox="1"/>
          <p:nvPr/>
        </p:nvSpPr>
        <p:spPr>
          <a:xfrm>
            <a:off x="7302589" y="2880144"/>
            <a:ext cx="2764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Cold Brew Concentrate</a:t>
            </a:r>
          </a:p>
        </p:txBody>
      </p:sp>
      <p:sp>
        <p:nvSpPr>
          <p:cNvPr id="416" name="TextBox 11"/>
          <p:cNvSpPr txBox="1"/>
          <p:nvPr/>
        </p:nvSpPr>
        <p:spPr>
          <a:xfrm>
            <a:off x="7302589" y="3078144"/>
            <a:ext cx="27645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8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250ml · Alta concentração</a:t>
            </a:r>
          </a:p>
          <a:p>
            <a:pPr>
              <a:defRPr sz="8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Serve 4–6 drinques por lata</a:t>
            </a:r>
          </a:p>
        </p:txBody>
      </p:sp>
      <p:pic>
        <p:nvPicPr>
          <p:cNvPr id="417" name="Image" descr="Image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506248" y="1487480"/>
            <a:ext cx="1082714" cy="1136848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TextBox 16"/>
          <p:cNvSpPr txBox="1"/>
          <p:nvPr/>
        </p:nvSpPr>
        <p:spPr>
          <a:xfrm>
            <a:off x="9588091" y="3106420"/>
            <a:ext cx="211500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PVP: ~€ 349</a:t>
            </a:r>
          </a:p>
          <a:p>
            <a:pPr>
              <a:defRPr sz="900">
                <a:solidFill>
                  <a:srgbClr val="555555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pPr>
            <a:r>
              <a:t>Ideal: home top-tier &amp; gifting</a:t>
            </a:r>
          </a:p>
        </p:txBody>
      </p:sp>
      <p:pic>
        <p:nvPicPr>
          <p:cNvPr id="419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702404" y="1217319"/>
            <a:ext cx="1335720" cy="1489650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TextBox 10"/>
          <p:cNvSpPr txBox="1"/>
          <p:nvPr/>
        </p:nvSpPr>
        <p:spPr>
          <a:xfrm>
            <a:off x="9568088" y="2874263"/>
            <a:ext cx="2764561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iperEspresso + moagem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423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US Market GTM Strategy</a:t>
            </a:r>
          </a:p>
        </p:txBody>
      </p:sp>
      <p:sp>
        <p:nvSpPr>
          <p:cNvPr id="425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Priority market · 4× growth · €154M Americas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8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07 · US MARKET GTM STRATEGY</a:t>
            </a:r>
          </a:p>
        </p:txBody>
      </p:sp>
      <p:sp>
        <p:nvSpPr>
          <p:cNvPr id="429" name="Rectangle 3"/>
          <p:cNvSpPr/>
          <p:nvPr/>
        </p:nvSpPr>
        <p:spPr>
          <a:xfrm>
            <a:off x="327659" y="850391"/>
            <a:ext cx="11245792" cy="566929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TextBox 4"/>
          <p:cNvSpPr txBox="1"/>
          <p:nvPr/>
        </p:nvSpPr>
        <p:spPr>
          <a:xfrm>
            <a:off x="548639" y="886967"/>
            <a:ext cx="1106424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A1A1A"/>
                </a:solidFill>
              </a:defRPr>
            </a:lvl1pPr>
          </a:lstStyle>
          <a:p>
            <a:pPr/>
            <a:r>
              <a:t>US = Priority Expansion Market  ·  Rhône Capital 20% stake  ·  Cristian Arcangeli VP Marketing/Digital US  ·  €154M Americas 2025  ·  +20.1% US growth (constant FX)  ·  4× category growth rate</a:t>
            </a:r>
          </a:p>
        </p:txBody>
      </p:sp>
      <p:sp>
        <p:nvSpPr>
          <p:cNvPr id="431" name="Rectangle 5"/>
          <p:cNvSpPr/>
          <p:nvPr/>
        </p:nvSpPr>
        <p:spPr>
          <a:xfrm>
            <a:off x="320039" y="1508760"/>
            <a:ext cx="5532122" cy="217627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2" name="Rectangle 6"/>
          <p:cNvSpPr/>
          <p:nvPr/>
        </p:nvSpPr>
        <p:spPr>
          <a:xfrm>
            <a:off x="320039" y="1508760"/>
            <a:ext cx="5532122" cy="457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TextBox 7"/>
          <p:cNvSpPr txBox="1"/>
          <p:nvPr/>
        </p:nvSpPr>
        <p:spPr>
          <a:xfrm>
            <a:off x="457198" y="1627123"/>
            <a:ext cx="365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34" name="TextBox 8"/>
          <p:cNvSpPr txBox="1"/>
          <p:nvPr/>
        </p:nvSpPr>
        <p:spPr>
          <a:xfrm>
            <a:off x="868680" y="1616455"/>
            <a:ext cx="36118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Amazon Retail Media Networks</a:t>
            </a:r>
          </a:p>
        </p:txBody>
      </p:sp>
      <p:sp>
        <p:nvSpPr>
          <p:cNvPr id="435" name="Rectangle 9"/>
          <p:cNvSpPr/>
          <p:nvPr/>
        </p:nvSpPr>
        <p:spPr>
          <a:xfrm>
            <a:off x="4572000" y="1600200"/>
            <a:ext cx="1188720" cy="27432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10"/>
          <p:cNvSpPr txBox="1"/>
          <p:nvPr/>
        </p:nvSpPr>
        <p:spPr>
          <a:xfrm>
            <a:off x="4617720" y="1600200"/>
            <a:ext cx="10972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E-COMMERCE</a:t>
            </a:r>
          </a:p>
        </p:txBody>
      </p:sp>
      <p:sp>
        <p:nvSpPr>
          <p:cNvPr id="437" name="TextBox 11"/>
          <p:cNvSpPr txBox="1"/>
          <p:nvPr/>
        </p:nvSpPr>
        <p:spPr>
          <a:xfrm>
            <a:off x="502919" y="2039111"/>
            <a:ext cx="5166361" cy="730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Prime Video as upper-funnel storytelling → targets affluent demographics. Seamlessly connects brand awareness to DTC purchase. Agency: Tinuiti.</a:t>
            </a:r>
          </a:p>
          <a:p>
            <a:pPr>
              <a:defRPr sz="1000">
                <a:solidFill>
                  <a:srgbClr val="1A1A1A"/>
                </a:solidFill>
              </a:defRPr>
            </a:pP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★ Amazon Ads Partner Award (Seasonal Sales, Americas) · +35% Q4 revenue · +21% conversions</a:t>
            </a:r>
          </a:p>
        </p:txBody>
      </p:sp>
      <p:sp>
        <p:nvSpPr>
          <p:cNvPr id="438" name="Rectangle 12"/>
          <p:cNvSpPr/>
          <p:nvPr/>
        </p:nvSpPr>
        <p:spPr>
          <a:xfrm>
            <a:off x="6080759" y="1508760"/>
            <a:ext cx="5532121" cy="217627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Rectangle 13"/>
          <p:cNvSpPr/>
          <p:nvPr/>
        </p:nvSpPr>
        <p:spPr>
          <a:xfrm>
            <a:off x="6080759" y="1508760"/>
            <a:ext cx="5532121" cy="457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14"/>
          <p:cNvSpPr txBox="1"/>
          <p:nvPr/>
        </p:nvSpPr>
        <p:spPr>
          <a:xfrm>
            <a:off x="6217918" y="1627123"/>
            <a:ext cx="365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1" name="TextBox 15"/>
          <p:cNvSpPr txBox="1"/>
          <p:nvPr/>
        </p:nvSpPr>
        <p:spPr>
          <a:xfrm>
            <a:off x="6629398" y="1616455"/>
            <a:ext cx="36118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United Airlines RTD Cold Brew</a:t>
            </a:r>
          </a:p>
        </p:txBody>
      </p:sp>
      <p:sp>
        <p:nvSpPr>
          <p:cNvPr id="442" name="Rectangle 16"/>
          <p:cNvSpPr/>
          <p:nvPr/>
        </p:nvSpPr>
        <p:spPr>
          <a:xfrm>
            <a:off x="10332719" y="1600200"/>
            <a:ext cx="1188721" cy="27432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17"/>
          <p:cNvSpPr txBox="1"/>
          <p:nvPr/>
        </p:nvSpPr>
        <p:spPr>
          <a:xfrm>
            <a:off x="10378439" y="1600200"/>
            <a:ext cx="10972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SAMPLING</a:t>
            </a:r>
          </a:p>
        </p:txBody>
      </p:sp>
      <p:sp>
        <p:nvSpPr>
          <p:cNvPr id="444" name="TextBox 18"/>
          <p:cNvSpPr txBox="1"/>
          <p:nvPr/>
        </p:nvSpPr>
        <p:spPr>
          <a:xfrm>
            <a:off x="6263640" y="2039111"/>
            <a:ext cx="5166360" cy="88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Jul 2024: RTD Cold Brew served complimentary in premium cabins = subsidised high-income sampling.</a:t>
            </a:r>
          </a:p>
          <a:p>
            <a:pPr>
              <a:defRPr sz="1000">
                <a:solidFill>
                  <a:srgbClr val="1A1A1A"/>
                </a:solidFill>
              </a:defRPr>
            </a:pP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Only major US airline with premium cold brew on most flights. Captive audience of high-NPS frequent flyers pre-qualified by income.</a:t>
            </a:r>
          </a:p>
        </p:txBody>
      </p:sp>
      <p:sp>
        <p:nvSpPr>
          <p:cNvPr id="445" name="Rectangle 19"/>
          <p:cNvSpPr/>
          <p:nvPr/>
        </p:nvSpPr>
        <p:spPr>
          <a:xfrm>
            <a:off x="320039" y="3840479"/>
            <a:ext cx="5532122" cy="217627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Rectangle 20"/>
          <p:cNvSpPr/>
          <p:nvPr/>
        </p:nvSpPr>
        <p:spPr>
          <a:xfrm>
            <a:off x="320039" y="3840479"/>
            <a:ext cx="5532122" cy="457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TextBox 21"/>
          <p:cNvSpPr txBox="1"/>
          <p:nvPr/>
        </p:nvSpPr>
        <p:spPr>
          <a:xfrm>
            <a:off x="457198" y="3958842"/>
            <a:ext cx="365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8" name="TextBox 22"/>
          <p:cNvSpPr txBox="1"/>
          <p:nvPr/>
        </p:nvSpPr>
        <p:spPr>
          <a:xfrm>
            <a:off x="868680" y="3948174"/>
            <a:ext cx="361188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Social — "Coffee Break" Series</a:t>
            </a:r>
          </a:p>
        </p:txBody>
      </p:sp>
      <p:sp>
        <p:nvSpPr>
          <p:cNvPr id="449" name="Rectangle 23"/>
          <p:cNvSpPr/>
          <p:nvPr/>
        </p:nvSpPr>
        <p:spPr>
          <a:xfrm>
            <a:off x="4572000" y="3931918"/>
            <a:ext cx="1188720" cy="27432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24"/>
          <p:cNvSpPr txBox="1"/>
          <p:nvPr/>
        </p:nvSpPr>
        <p:spPr>
          <a:xfrm>
            <a:off x="4617720" y="3931918"/>
            <a:ext cx="109728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SOCIAL</a:t>
            </a:r>
          </a:p>
        </p:txBody>
      </p:sp>
      <p:sp>
        <p:nvSpPr>
          <p:cNvPr id="451" name="TextBox 25"/>
          <p:cNvSpPr txBox="1"/>
          <p:nvPr/>
        </p:nvSpPr>
        <p:spPr>
          <a:xfrm>
            <a:off x="502919" y="4370830"/>
            <a:ext cx="5166361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Agency: Inspira Marketing Group (Instagram + TikTok AOR).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'Coffee Break' series bridges European heritage with US coffee culture.</a:t>
            </a:r>
          </a:p>
          <a:p>
            <a:pPr>
              <a:defRPr sz="1000">
                <a:solidFill>
                  <a:srgbClr val="1A1A1A"/>
                </a:solidFill>
              </a:defRPr>
            </a:pP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Target: 25–40 urban professionals defining identity through provenance and taste.</a:t>
            </a:r>
          </a:p>
        </p:txBody>
      </p:sp>
      <p:sp>
        <p:nvSpPr>
          <p:cNvPr id="452" name="Rectangle 26"/>
          <p:cNvSpPr/>
          <p:nvPr/>
        </p:nvSpPr>
        <p:spPr>
          <a:xfrm>
            <a:off x="6080759" y="3840479"/>
            <a:ext cx="5532121" cy="217627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Rectangle 27"/>
          <p:cNvSpPr/>
          <p:nvPr/>
        </p:nvSpPr>
        <p:spPr>
          <a:xfrm>
            <a:off x="6080759" y="3840479"/>
            <a:ext cx="5532121" cy="4572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28"/>
          <p:cNvSpPr txBox="1"/>
          <p:nvPr/>
        </p:nvSpPr>
        <p:spPr>
          <a:xfrm>
            <a:off x="6217918" y="3958842"/>
            <a:ext cx="365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55" name="TextBox 29"/>
          <p:cNvSpPr txBox="1"/>
          <p:nvPr/>
        </p:nvSpPr>
        <p:spPr>
          <a:xfrm>
            <a:off x="6629398" y="3948174"/>
            <a:ext cx="36118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illy Cube — Hudson Yards</a:t>
            </a:r>
          </a:p>
        </p:txBody>
      </p:sp>
      <p:sp>
        <p:nvSpPr>
          <p:cNvPr id="456" name="Rectangle 30"/>
          <p:cNvSpPr/>
          <p:nvPr/>
        </p:nvSpPr>
        <p:spPr>
          <a:xfrm>
            <a:off x="10332719" y="3931918"/>
            <a:ext cx="1188721" cy="27432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TextBox 31"/>
          <p:cNvSpPr txBox="1"/>
          <p:nvPr/>
        </p:nvSpPr>
        <p:spPr>
          <a:xfrm>
            <a:off x="10378439" y="3931918"/>
            <a:ext cx="1097281" cy="186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EXPERIENTIAL</a:t>
            </a:r>
          </a:p>
        </p:txBody>
      </p:sp>
      <p:sp>
        <p:nvSpPr>
          <p:cNvPr id="458" name="TextBox 32"/>
          <p:cNvSpPr txBox="1"/>
          <p:nvPr/>
        </p:nvSpPr>
        <p:spPr>
          <a:xfrm>
            <a:off x="6263640" y="4370830"/>
            <a:ext cx="5166360" cy="723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NYC immersive pop-up at Hudson Yards. Manifested global 'Why We Make It' campaign physically.</a:t>
            </a:r>
          </a:p>
          <a:p>
            <a:pPr>
              <a:defRPr sz="1000">
                <a:solidFill>
                  <a:srgbClr val="1A1A1A"/>
                </a:solidFill>
              </a:defRPr>
            </a:pP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5 stations: Selection → Blending → Roasting → Pressurization → Sip. Premium sampling, brand education, earned media, trade press coverage.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461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Key Activations &amp; Campaigns</a:t>
            </a:r>
          </a:p>
        </p:txBody>
      </p:sp>
      <p:sp>
        <p:nvSpPr>
          <p:cNvPr id="463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Venice Biennale · Hudson Yards · United Airlines · Quality Loves Details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08a · KEY ACTIVATION — VENICE BIENNALE 2026</a:t>
            </a:r>
          </a:p>
        </p:txBody>
      </p:sp>
      <p:pic>
        <p:nvPicPr>
          <p:cNvPr id="46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850391"/>
            <a:ext cx="5394960" cy="3034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468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97879" y="850391"/>
            <a:ext cx="5669281" cy="3188972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Rectangle 5"/>
          <p:cNvSpPr/>
          <p:nvPr/>
        </p:nvSpPr>
        <p:spPr>
          <a:xfrm>
            <a:off x="365760" y="5102352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TextBox 6"/>
          <p:cNvSpPr txBox="1"/>
          <p:nvPr/>
        </p:nvSpPr>
        <p:spPr>
          <a:xfrm>
            <a:off x="411479" y="5184647"/>
            <a:ext cx="11338561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CC0000"/>
                </a:solidFill>
              </a:defRPr>
            </a:lvl1pPr>
          </a:lstStyle>
          <a:p>
            <a:pPr/>
            <a:r>
              <a:t>illy at Venice Biennale Arte 2026 — "In Minor Keys"</a:t>
            </a:r>
          </a:p>
        </p:txBody>
      </p:sp>
      <p:sp>
        <p:nvSpPr>
          <p:cNvPr id="471" name="TextBox 7"/>
          <p:cNvSpPr txBox="1"/>
          <p:nvPr/>
        </p:nvSpPr>
        <p:spPr>
          <a:xfrm>
            <a:off x="411479" y="5610859"/>
            <a:ext cx="11338561" cy="888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Sponsor of 'In Minor Keys' exhibition, curated by Koyo Kouoh — 61st Venice Biennale (2026)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Disrupted digital FOOH trend by PHYSICALLY fabricating giant oversized espresso cups floated on the Venetian waters at Riva Ca' di Dio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Classic illy cup transformed into monumental public art → massive earned media coverage globally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Aligns with Cannes Lions: 'Market Disruption' (E08) + 'Cultural Engagement' (E09)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US debut of Art Collection 'In Minor Keys' at Frieze New York immediately preceded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08b · KEY ACTIVATION — HUDSON YARDS CUBE + UNITED AIRLINES</a:t>
            </a:r>
          </a:p>
        </p:txBody>
      </p:sp>
      <p:pic>
        <p:nvPicPr>
          <p:cNvPr id="47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1028191"/>
            <a:ext cx="5394960" cy="3598397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0" t="0" r="0" b="31172"/>
          <a:stretch>
            <a:fillRect/>
          </a:stretch>
        </p:blipFill>
        <p:spPr>
          <a:xfrm>
            <a:off x="5897879" y="1028191"/>
            <a:ext cx="5669281" cy="3599600"/>
          </a:xfrm>
          <a:prstGeom prst="rect">
            <a:avLst/>
          </a:prstGeom>
          <a:ln w="12700">
            <a:miter lim="400000"/>
          </a:ln>
        </p:spPr>
      </p:pic>
      <p:sp>
        <p:nvSpPr>
          <p:cNvPr id="477" name="Rectangle 5"/>
          <p:cNvSpPr/>
          <p:nvPr/>
        </p:nvSpPr>
        <p:spPr>
          <a:xfrm>
            <a:off x="365760" y="5000752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6"/>
          <p:cNvSpPr txBox="1"/>
          <p:nvPr/>
        </p:nvSpPr>
        <p:spPr>
          <a:xfrm>
            <a:off x="365760" y="5064759"/>
            <a:ext cx="539496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illy Cube — Hudson Yards</a:t>
            </a:r>
          </a:p>
        </p:txBody>
      </p:sp>
      <p:sp>
        <p:nvSpPr>
          <p:cNvPr id="479" name="TextBox 7"/>
          <p:cNvSpPr txBox="1"/>
          <p:nvPr/>
        </p:nvSpPr>
        <p:spPr>
          <a:xfrm>
            <a:off x="5943600" y="5064759"/>
            <a:ext cx="5577840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United Airlines Partnership</a:t>
            </a:r>
          </a:p>
        </p:txBody>
      </p:sp>
      <p:sp>
        <p:nvSpPr>
          <p:cNvPr id="480" name="TextBox 8"/>
          <p:cNvSpPr txBox="1"/>
          <p:nvPr/>
        </p:nvSpPr>
        <p:spPr>
          <a:xfrm>
            <a:off x="365759" y="5448808"/>
            <a:ext cx="5303521" cy="88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NYC Hudson Yards pop-up — high-traffic immersive brand experience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Manifested 'Why We Make It' campaign in physical form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5 stations: Selection / Blending / Roasting / Pressurization / Sip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Premium tastings + brand education + earned media + trade press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Target: affluent NYC consumers + F&amp;B media + hospitality buyers</a:t>
            </a:r>
          </a:p>
        </p:txBody>
      </p:sp>
      <p:sp>
        <p:nvSpPr>
          <p:cNvPr id="481" name="TextBox 9"/>
          <p:cNvSpPr txBox="1"/>
          <p:nvPr/>
        </p:nvSpPr>
        <p:spPr>
          <a:xfrm>
            <a:off x="5943599" y="5448808"/>
            <a:ext cx="5303521" cy="88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Jul 2024: RTD Cold Brew in United premium cabins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Subsidized sampling reaching highest-income frequent travellers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Only major US airline serving premium cold brew on most flights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Builds HoReCa credibility in an aspirational captive context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Complements Amazon digital funnel with physical trial trigger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484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Digital, Social &amp; Campaign Excellence</a:t>
            </a:r>
          </a:p>
        </p:txBody>
      </p:sp>
      <p:sp>
        <p:nvSpPr>
          <p:cNvPr id="486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Amazon · Prime Video · TikTok/Instagram · Cinematic storytelling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9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09 · DIGITAL, SOCIAL &amp; CAMPAIGN EXCELLENCE</a:t>
            </a:r>
          </a:p>
        </p:txBody>
      </p:sp>
      <p:pic>
        <p:nvPicPr>
          <p:cNvPr id="49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0040" y="1269491"/>
            <a:ext cx="4343401" cy="2897049"/>
          </a:xfrm>
          <a:prstGeom prst="rect">
            <a:avLst/>
          </a:prstGeom>
          <a:ln w="12700">
            <a:miter lim="400000"/>
          </a:ln>
        </p:spPr>
      </p:pic>
      <p:sp>
        <p:nvSpPr>
          <p:cNvPr id="491" name="TextBox 4"/>
          <p:cNvSpPr txBox="1"/>
          <p:nvPr/>
        </p:nvSpPr>
        <p:spPr>
          <a:xfrm>
            <a:off x="4937760" y="850391"/>
            <a:ext cx="6766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CC0000"/>
                </a:solidFill>
              </a:defRPr>
            </a:lvl1pPr>
          </a:lstStyle>
          <a:p>
            <a:pPr/>
            <a:r>
              <a:t>"Quality Loves Details" — Global Master Campaign</a:t>
            </a:r>
          </a:p>
        </p:txBody>
      </p:sp>
      <p:sp>
        <p:nvSpPr>
          <p:cNvPr id="492" name="Rectangle 5"/>
          <p:cNvSpPr/>
          <p:nvPr/>
        </p:nvSpPr>
        <p:spPr>
          <a:xfrm>
            <a:off x="4892040" y="1389888"/>
            <a:ext cx="1691641" cy="548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TextBox 6"/>
          <p:cNvSpPr txBox="1"/>
          <p:nvPr/>
        </p:nvSpPr>
        <p:spPr>
          <a:xfrm>
            <a:off x="4983479" y="1435608"/>
            <a:ext cx="1508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C0000"/>
                </a:solidFill>
              </a:defRPr>
            </a:lvl1pPr>
          </a:lstStyle>
          <a:p>
            <a:pPr/>
            <a:r>
              <a:t>Brand Ambassador</a:t>
            </a:r>
          </a:p>
        </p:txBody>
      </p:sp>
      <p:sp>
        <p:nvSpPr>
          <p:cNvPr id="494" name="TextBox 7"/>
          <p:cNvSpPr txBox="1"/>
          <p:nvPr/>
        </p:nvSpPr>
        <p:spPr>
          <a:xfrm>
            <a:off x="6702551" y="1435608"/>
            <a:ext cx="4983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Matilda De Angelis — Italian actress, international recognition</a:t>
            </a:r>
          </a:p>
        </p:txBody>
      </p:sp>
      <p:sp>
        <p:nvSpPr>
          <p:cNvPr id="495" name="Rectangle 8"/>
          <p:cNvSpPr/>
          <p:nvPr/>
        </p:nvSpPr>
        <p:spPr>
          <a:xfrm>
            <a:off x="4892040" y="2048255"/>
            <a:ext cx="1691641" cy="548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6" name="TextBox 9"/>
          <p:cNvSpPr txBox="1"/>
          <p:nvPr/>
        </p:nvSpPr>
        <p:spPr>
          <a:xfrm>
            <a:off x="4983479" y="2093976"/>
            <a:ext cx="1508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C0000"/>
                </a:solidFill>
              </a:defRPr>
            </a:lvl1pPr>
          </a:lstStyle>
          <a:p>
            <a:pPr/>
            <a:r>
              <a:t>Director</a:t>
            </a:r>
          </a:p>
        </p:txBody>
      </p:sp>
      <p:sp>
        <p:nvSpPr>
          <p:cNvPr id="497" name="TextBox 10"/>
          <p:cNvSpPr txBox="1"/>
          <p:nvPr/>
        </p:nvSpPr>
        <p:spPr>
          <a:xfrm>
            <a:off x="6702551" y="2093976"/>
            <a:ext cx="4983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Martin Aamund — Cannes Lions, Epica &amp; Clio award winner → cinematic luxury standard</a:t>
            </a:r>
          </a:p>
        </p:txBody>
      </p:sp>
      <p:sp>
        <p:nvSpPr>
          <p:cNvPr id="498" name="Rectangle 11"/>
          <p:cNvSpPr/>
          <p:nvPr/>
        </p:nvSpPr>
        <p:spPr>
          <a:xfrm>
            <a:off x="4892040" y="2706623"/>
            <a:ext cx="1691641" cy="548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12"/>
          <p:cNvSpPr txBox="1"/>
          <p:nvPr/>
        </p:nvSpPr>
        <p:spPr>
          <a:xfrm>
            <a:off x="4983479" y="2752344"/>
            <a:ext cx="150876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C0000"/>
                </a:solidFill>
              </a:defRPr>
            </a:lvl1pPr>
          </a:lstStyle>
          <a:p>
            <a:pPr/>
            <a:r>
              <a:t>Message</a:t>
            </a:r>
          </a:p>
        </p:txBody>
      </p:sp>
      <p:sp>
        <p:nvSpPr>
          <p:cNvPr id="500" name="TextBox 13"/>
          <p:cNvSpPr txBox="1"/>
          <p:nvPr/>
        </p:nvSpPr>
        <p:spPr>
          <a:xfrm>
            <a:off x="6702551" y="2752344"/>
            <a:ext cx="498348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Supreme Arabica quality emerges from obsessive attention to every detail of the process</a:t>
            </a:r>
          </a:p>
        </p:txBody>
      </p:sp>
      <p:sp>
        <p:nvSpPr>
          <p:cNvPr id="501" name="Rectangle 14"/>
          <p:cNvSpPr/>
          <p:nvPr/>
        </p:nvSpPr>
        <p:spPr>
          <a:xfrm>
            <a:off x="4892040" y="3364991"/>
            <a:ext cx="1691641" cy="548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2" name="TextBox 15"/>
          <p:cNvSpPr txBox="1"/>
          <p:nvPr/>
        </p:nvSpPr>
        <p:spPr>
          <a:xfrm>
            <a:off x="4983479" y="3410711"/>
            <a:ext cx="1508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C0000"/>
                </a:solidFill>
              </a:defRPr>
            </a:lvl1pPr>
          </a:lstStyle>
          <a:p>
            <a:pPr/>
            <a:r>
              <a:t>Distribution</a:t>
            </a:r>
          </a:p>
        </p:txBody>
      </p:sp>
      <p:sp>
        <p:nvSpPr>
          <p:cNvPr id="503" name="TextBox 16"/>
          <p:cNvSpPr txBox="1"/>
          <p:nvPr/>
        </p:nvSpPr>
        <p:spPr>
          <a:xfrm>
            <a:off x="6702551" y="3410711"/>
            <a:ext cx="4983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TV, digital, owned social, HoReCa B2B materials across 40+ markets</a:t>
            </a:r>
          </a:p>
        </p:txBody>
      </p:sp>
      <p:sp>
        <p:nvSpPr>
          <p:cNvPr id="504" name="Rectangle 17"/>
          <p:cNvSpPr/>
          <p:nvPr/>
        </p:nvSpPr>
        <p:spPr>
          <a:xfrm>
            <a:off x="4892040" y="4023359"/>
            <a:ext cx="1691641" cy="54864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TextBox 18"/>
          <p:cNvSpPr txBox="1"/>
          <p:nvPr/>
        </p:nvSpPr>
        <p:spPr>
          <a:xfrm>
            <a:off x="4983479" y="4069079"/>
            <a:ext cx="1508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CC0000"/>
                </a:solidFill>
              </a:defRPr>
            </a:lvl1pPr>
          </a:lstStyle>
          <a:p>
            <a:pPr/>
            <a:r>
              <a:t>Tone</a:t>
            </a:r>
          </a:p>
        </p:txBody>
      </p:sp>
      <p:sp>
        <p:nvSpPr>
          <p:cNvPr id="506" name="TextBox 19"/>
          <p:cNvSpPr txBox="1"/>
          <p:nvPr/>
        </p:nvSpPr>
        <p:spPr>
          <a:xfrm>
            <a:off x="6702551" y="4069079"/>
            <a:ext cx="498348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Aspirational Italian lifestyle — neither nostalgic nor aggressively modern</a:t>
            </a:r>
          </a:p>
        </p:txBody>
      </p:sp>
      <p:sp>
        <p:nvSpPr>
          <p:cNvPr id="507" name="Rectangle 20"/>
          <p:cNvSpPr/>
          <p:nvPr/>
        </p:nvSpPr>
        <p:spPr>
          <a:xfrm>
            <a:off x="365760" y="5029200"/>
            <a:ext cx="11338560" cy="22861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8" name="TextBox 21"/>
          <p:cNvSpPr txBox="1"/>
          <p:nvPr/>
        </p:nvSpPr>
        <p:spPr>
          <a:xfrm>
            <a:off x="411479" y="5120640"/>
            <a:ext cx="113385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">
                <a:solidFill>
                  <a:srgbClr val="1A1A1A"/>
                </a:solidFill>
              </a:defRPr>
            </a:lvl1pPr>
          </a:lstStyle>
          <a:p>
            <a:pPr/>
            <a:r>
              <a:t>Amazon &amp; Digital Strategy</a:t>
            </a:r>
          </a:p>
        </p:txBody>
      </p:sp>
      <p:sp>
        <p:nvSpPr>
          <p:cNvPr id="509" name="TextBox 22"/>
          <p:cNvSpPr txBox="1"/>
          <p:nvPr/>
        </p:nvSpPr>
        <p:spPr>
          <a:xfrm>
            <a:off x="411479" y="5504688"/>
            <a:ext cx="11338561" cy="888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000">
                <a:solidFill>
                  <a:srgbClr val="1A1A1A"/>
                </a:solidFill>
              </a:defRPr>
            </a:pPr>
            <a:r>
              <a:t>•  Prime Video upper-funnel storytelling → brand awareness → DTC checkout in one ecosystem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Tinuiti as performance agency → Amazon Ads Partner Award (Seasonal Sales Strategy, Americas 2025)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Q4 campaign: +35% revenue · +21% conversions — validated full-funnel commerce media model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Instagram + TikTok: Inspira Marketing Group AOR → 'Coffee Break' series targeting 25–40 urban professionals</a:t>
            </a:r>
          </a:p>
          <a:p>
            <a:pPr>
              <a:defRPr sz="1000">
                <a:solidFill>
                  <a:srgbClr val="1A1A1A"/>
                </a:solidFill>
              </a:defRPr>
            </a:pPr>
            <a:r>
              <a:t>•  Content strategy: bridge Italian heritage with US third-wave coffee culture via local creators + brand education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512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Sustainability as Commercial Moat</a:t>
            </a:r>
          </a:p>
        </p:txBody>
      </p:sp>
      <p:sp>
        <p:nvSpPr>
          <p:cNvPr id="514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B Corp · Direct Trade · EIICA · Climate Transition Plan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7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10 · SUSTAINABILITY AS COMMERCIAL MOAT</a:t>
            </a:r>
          </a:p>
        </p:txBody>
      </p:sp>
      <p:sp>
        <p:nvSpPr>
          <p:cNvPr id="518" name="Rectangle 3"/>
          <p:cNvSpPr/>
          <p:nvPr/>
        </p:nvSpPr>
        <p:spPr>
          <a:xfrm>
            <a:off x="320039" y="914400"/>
            <a:ext cx="5532122" cy="242316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9" name="Rectangle 4"/>
          <p:cNvSpPr/>
          <p:nvPr/>
        </p:nvSpPr>
        <p:spPr>
          <a:xfrm>
            <a:off x="320039" y="914400"/>
            <a:ext cx="5532122" cy="530352"/>
          </a:xfrm>
          <a:prstGeom prst="rect">
            <a:avLst/>
          </a:prstGeom>
          <a:solidFill>
            <a:srgbClr val="1B5E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0" name="TextBox 5"/>
          <p:cNvSpPr txBox="1"/>
          <p:nvPr/>
        </p:nvSpPr>
        <p:spPr>
          <a:xfrm>
            <a:off x="475487" y="1082039"/>
            <a:ext cx="52120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Direct Trade Model (since 1991)</a:t>
            </a:r>
          </a:p>
        </p:txBody>
      </p:sp>
      <p:sp>
        <p:nvSpPr>
          <p:cNvPr id="521" name="TextBox 6"/>
          <p:cNvSpPr txBox="1"/>
          <p:nvPr/>
        </p:nvSpPr>
        <p:spPr>
          <a:xfrm>
            <a:off x="502919" y="1536191"/>
            <a:ext cx="516636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Bypasses commodity brokers. Premium prices direct to farmers for quality yields. Secures top 1% Arabica supply with multi-decade farmer loyalty. ESG credential that defends pricing.</a:t>
            </a:r>
          </a:p>
        </p:txBody>
      </p:sp>
      <p:sp>
        <p:nvSpPr>
          <p:cNvPr id="522" name="Rectangle 7"/>
          <p:cNvSpPr/>
          <p:nvPr/>
        </p:nvSpPr>
        <p:spPr>
          <a:xfrm>
            <a:off x="6080759" y="914400"/>
            <a:ext cx="5532121" cy="242316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Rectangle 8"/>
          <p:cNvSpPr/>
          <p:nvPr/>
        </p:nvSpPr>
        <p:spPr>
          <a:xfrm>
            <a:off x="6080759" y="914400"/>
            <a:ext cx="5532121" cy="530352"/>
          </a:xfrm>
          <a:prstGeom prst="rect">
            <a:avLst/>
          </a:prstGeom>
          <a:solidFill>
            <a:srgbClr val="2E7D3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4" name="TextBox 9"/>
          <p:cNvSpPr txBox="1"/>
          <p:nvPr/>
        </p:nvSpPr>
        <p:spPr>
          <a:xfrm>
            <a:off x="6236208" y="1082039"/>
            <a:ext cx="52120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B Corp Certification</a:t>
            </a:r>
          </a:p>
        </p:txBody>
      </p:sp>
      <p:sp>
        <p:nvSpPr>
          <p:cNvPr id="525" name="TextBox 10"/>
          <p:cNvSpPr txBox="1"/>
          <p:nvPr/>
        </p:nvSpPr>
        <p:spPr>
          <a:xfrm>
            <a:off x="6263640" y="1536191"/>
            <a:ext cx="5166360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Originally certified 2021. Recertified 2024: score 90.4 (+9.7 pts). Structural ESG commitment — required for premium US grocery (WFM) and elite HoReCa gatekeepers.</a:t>
            </a:r>
          </a:p>
        </p:txBody>
      </p:sp>
      <p:sp>
        <p:nvSpPr>
          <p:cNvPr id="526" name="Rectangle 11"/>
          <p:cNvSpPr/>
          <p:nvPr/>
        </p:nvSpPr>
        <p:spPr>
          <a:xfrm>
            <a:off x="320039" y="3520440"/>
            <a:ext cx="5532122" cy="242316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Rectangle 12"/>
          <p:cNvSpPr/>
          <p:nvPr/>
        </p:nvSpPr>
        <p:spPr>
          <a:xfrm>
            <a:off x="320039" y="3520440"/>
            <a:ext cx="5532122" cy="530353"/>
          </a:xfrm>
          <a:prstGeom prst="rect">
            <a:avLst/>
          </a:prstGeom>
          <a:solidFill>
            <a:srgbClr val="1B5E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8" name="TextBox 13"/>
          <p:cNvSpPr txBox="1"/>
          <p:nvPr/>
        </p:nvSpPr>
        <p:spPr>
          <a:xfrm>
            <a:off x="475487" y="3688079"/>
            <a:ext cx="52120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Ernesto Illy Int'l Coffee Award</a:t>
            </a:r>
          </a:p>
        </p:txBody>
      </p:sp>
      <p:sp>
        <p:nvSpPr>
          <p:cNvPr id="529" name="TextBox 14"/>
          <p:cNvSpPr txBox="1"/>
          <p:nvPr/>
        </p:nvSpPr>
        <p:spPr>
          <a:xfrm>
            <a:off x="502919" y="4142232"/>
            <a:ext cx="5166361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10th anniversary 2025. Evaluates top 27 producers globally. B2B loyalty lock + regenerative agriculture promotion → climate resilience in the supply chain.</a:t>
            </a:r>
          </a:p>
        </p:txBody>
      </p:sp>
      <p:sp>
        <p:nvSpPr>
          <p:cNvPr id="530" name="Rectangle 15"/>
          <p:cNvSpPr/>
          <p:nvPr/>
        </p:nvSpPr>
        <p:spPr>
          <a:xfrm>
            <a:off x="6080759" y="3520440"/>
            <a:ext cx="5532121" cy="2423161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1" name="Rectangle 16"/>
          <p:cNvSpPr/>
          <p:nvPr/>
        </p:nvSpPr>
        <p:spPr>
          <a:xfrm>
            <a:off x="6080759" y="3520440"/>
            <a:ext cx="5532121" cy="530353"/>
          </a:xfrm>
          <a:prstGeom prst="rect">
            <a:avLst/>
          </a:prstGeom>
          <a:solidFill>
            <a:srgbClr val="33691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2" name="TextBox 17"/>
          <p:cNvSpPr txBox="1"/>
          <p:nvPr/>
        </p:nvSpPr>
        <p:spPr>
          <a:xfrm>
            <a:off x="6236208" y="3688079"/>
            <a:ext cx="521208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Climate Transition Plan 2025</a:t>
            </a:r>
          </a:p>
        </p:txBody>
      </p:sp>
      <p:sp>
        <p:nvSpPr>
          <p:cNvPr id="533" name="TextBox 18"/>
          <p:cNvSpPr txBox="1"/>
          <p:nvPr/>
        </p:nvSpPr>
        <p:spPr>
          <a:xfrm>
            <a:off x="6263640" y="4142232"/>
            <a:ext cx="5166360" cy="393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Published July 2025. Scope 1-3 emissions roadmap. Ahead of EU CSRD mandates. Reduces regulatory risk and differentiates in ESG-screened procurement and investment decisions.</a:t>
            </a:r>
          </a:p>
        </p:txBody>
      </p:sp>
      <p:sp>
        <p:nvSpPr>
          <p:cNvPr id="534" name="TextBox 19"/>
          <p:cNvSpPr txBox="1"/>
          <p:nvPr/>
        </p:nvSpPr>
        <p:spPr>
          <a:xfrm>
            <a:off x="365760" y="6419088"/>
            <a:ext cx="113385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000">
                <a:solidFill>
                  <a:srgbClr val="555555"/>
                </a:solidFill>
              </a:defRPr>
            </a:lvl1pPr>
          </a:lstStyle>
          <a:p>
            <a:pPr/>
            <a:r>
              <a:t>In super-premium: ESG is NOT CSR — it is a commercial requirement. B Corp + Direct Trade + award programs prevent greenwashing accusations, protect pricing power, and are table stakes for elite HoReCa gatekeepers.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537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Results Scorecard</a:t>
            </a:r>
          </a:p>
        </p:txBody>
      </p:sp>
      <p:sp>
        <p:nvSpPr>
          <p:cNvPr id="539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Financial + Brand + Supply + M&amp;A metrics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11 · RESULTS SCORECARD</a:t>
            </a:r>
          </a:p>
        </p:txBody>
      </p:sp>
      <p:sp>
        <p:nvSpPr>
          <p:cNvPr id="543" name="Rectangle 3"/>
          <p:cNvSpPr/>
          <p:nvPr/>
        </p:nvSpPr>
        <p:spPr>
          <a:xfrm>
            <a:off x="320040" y="822960"/>
            <a:ext cx="1143001" cy="34747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4" name="Rectangle 4"/>
          <p:cNvSpPr/>
          <p:nvPr/>
        </p:nvSpPr>
        <p:spPr>
          <a:xfrm>
            <a:off x="1508760" y="822960"/>
            <a:ext cx="3200401" cy="34747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Rectangle 5"/>
          <p:cNvSpPr/>
          <p:nvPr/>
        </p:nvSpPr>
        <p:spPr>
          <a:xfrm>
            <a:off x="4754879" y="822960"/>
            <a:ext cx="6492242" cy="34747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6" name="Rectangle 6"/>
          <p:cNvSpPr/>
          <p:nvPr/>
        </p:nvSpPr>
        <p:spPr>
          <a:xfrm>
            <a:off x="11292840" y="822960"/>
            <a:ext cx="502920" cy="34747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7" name="TextBox 7"/>
          <p:cNvSpPr txBox="1"/>
          <p:nvPr/>
        </p:nvSpPr>
        <p:spPr>
          <a:xfrm>
            <a:off x="420623" y="850391"/>
            <a:ext cx="3017522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AREA</a:t>
            </a:r>
          </a:p>
        </p:txBody>
      </p:sp>
      <p:sp>
        <p:nvSpPr>
          <p:cNvPr id="548" name="TextBox 8"/>
          <p:cNvSpPr txBox="1"/>
          <p:nvPr/>
        </p:nvSpPr>
        <p:spPr>
          <a:xfrm>
            <a:off x="1609344" y="850391"/>
            <a:ext cx="30175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METRIC</a:t>
            </a:r>
          </a:p>
        </p:txBody>
      </p:sp>
      <p:sp>
        <p:nvSpPr>
          <p:cNvPr id="549" name="TextBox 9"/>
          <p:cNvSpPr txBox="1"/>
          <p:nvPr/>
        </p:nvSpPr>
        <p:spPr>
          <a:xfrm>
            <a:off x="4855464" y="850391"/>
            <a:ext cx="301752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FFFFFF"/>
                </a:solidFill>
              </a:defRPr>
            </a:lvl1pPr>
          </a:lstStyle>
          <a:p>
            <a:pPr/>
            <a:r>
              <a:t>RESULT / DATA</a:t>
            </a:r>
          </a:p>
        </p:txBody>
      </p:sp>
      <p:sp>
        <p:nvSpPr>
          <p:cNvPr id="550" name="Rectangle 10"/>
          <p:cNvSpPr/>
          <p:nvPr/>
        </p:nvSpPr>
        <p:spPr>
          <a:xfrm>
            <a:off x="320039" y="1207008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1" name="Rectangle 11"/>
          <p:cNvSpPr/>
          <p:nvPr/>
        </p:nvSpPr>
        <p:spPr>
          <a:xfrm>
            <a:off x="320040" y="1207008"/>
            <a:ext cx="1143001" cy="374905"/>
          </a:xfrm>
          <a:prstGeom prst="rect">
            <a:avLst/>
          </a:prstGeom>
          <a:solidFill>
            <a:srgbClr val="8B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2" name="TextBox 12"/>
          <p:cNvSpPr txBox="1"/>
          <p:nvPr/>
        </p:nvSpPr>
        <p:spPr>
          <a:xfrm>
            <a:off x="384047" y="1243583"/>
            <a:ext cx="1005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FINANCIAL</a:t>
            </a:r>
          </a:p>
        </p:txBody>
      </p:sp>
      <p:sp>
        <p:nvSpPr>
          <p:cNvPr id="553" name="TextBox 13"/>
          <p:cNvSpPr txBox="1"/>
          <p:nvPr/>
        </p:nvSpPr>
        <p:spPr>
          <a:xfrm>
            <a:off x="1572767" y="1261872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FY2025 Revenue</a:t>
            </a:r>
          </a:p>
        </p:txBody>
      </p:sp>
      <p:sp>
        <p:nvSpPr>
          <p:cNvPr id="554" name="TextBox 14"/>
          <p:cNvSpPr txBox="1"/>
          <p:nvPr/>
        </p:nvSpPr>
        <p:spPr>
          <a:xfrm>
            <a:off x="4818888" y="1261872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€700M (+11.1% YoY)</a:t>
            </a:r>
          </a:p>
        </p:txBody>
      </p:sp>
      <p:sp>
        <p:nvSpPr>
          <p:cNvPr id="555" name="TextBox 15"/>
          <p:cNvSpPr txBox="1"/>
          <p:nvPr/>
        </p:nvSpPr>
        <p:spPr>
          <a:xfrm>
            <a:off x="11356847" y="1243583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56" name="Rectangle 16"/>
          <p:cNvSpPr/>
          <p:nvPr/>
        </p:nvSpPr>
        <p:spPr>
          <a:xfrm>
            <a:off x="320039" y="1600200"/>
            <a:ext cx="11475722" cy="3749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7" name="TextBox 17"/>
          <p:cNvSpPr txBox="1"/>
          <p:nvPr/>
        </p:nvSpPr>
        <p:spPr>
          <a:xfrm>
            <a:off x="1572767" y="1655064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EBITDA</a:t>
            </a:r>
          </a:p>
        </p:txBody>
      </p:sp>
      <p:sp>
        <p:nvSpPr>
          <p:cNvPr id="558" name="TextBox 18"/>
          <p:cNvSpPr txBox="1"/>
          <p:nvPr/>
        </p:nvSpPr>
        <p:spPr>
          <a:xfrm>
            <a:off x="4818888" y="1655064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€90M (–18% — margin squeeze vs. raw material inflation)</a:t>
            </a:r>
          </a:p>
        </p:txBody>
      </p:sp>
      <p:sp>
        <p:nvSpPr>
          <p:cNvPr id="559" name="TextBox 19"/>
          <p:cNvSpPr txBox="1"/>
          <p:nvPr/>
        </p:nvSpPr>
        <p:spPr>
          <a:xfrm>
            <a:off x="11356847" y="1636776"/>
            <a:ext cx="365761" cy="237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CC000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</a:t>
            </a:r>
          </a:p>
        </p:txBody>
      </p:sp>
      <p:sp>
        <p:nvSpPr>
          <p:cNvPr id="560" name="Rectangle 20"/>
          <p:cNvSpPr/>
          <p:nvPr/>
        </p:nvSpPr>
        <p:spPr>
          <a:xfrm>
            <a:off x="320039" y="1993392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1" name="TextBox 21"/>
          <p:cNvSpPr txBox="1"/>
          <p:nvPr/>
        </p:nvSpPr>
        <p:spPr>
          <a:xfrm>
            <a:off x="1572767" y="2048255"/>
            <a:ext cx="30632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Net Profit</a:t>
            </a:r>
          </a:p>
        </p:txBody>
      </p:sp>
      <p:sp>
        <p:nvSpPr>
          <p:cNvPr id="562" name="TextBox 22"/>
          <p:cNvSpPr txBox="1"/>
          <p:nvPr/>
        </p:nvSpPr>
        <p:spPr>
          <a:xfrm>
            <a:off x="4818888" y="2048255"/>
            <a:ext cx="63093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€20M (–39% — strategic investment period)</a:t>
            </a:r>
          </a:p>
        </p:txBody>
      </p:sp>
      <p:sp>
        <p:nvSpPr>
          <p:cNvPr id="563" name="TextBox 23"/>
          <p:cNvSpPr txBox="1"/>
          <p:nvPr/>
        </p:nvSpPr>
        <p:spPr>
          <a:xfrm>
            <a:off x="11356847" y="2029967"/>
            <a:ext cx="365761" cy="237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CC000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⚠</a:t>
            </a:r>
          </a:p>
        </p:txBody>
      </p:sp>
      <p:sp>
        <p:nvSpPr>
          <p:cNvPr id="564" name="Rectangle 24"/>
          <p:cNvSpPr/>
          <p:nvPr/>
        </p:nvSpPr>
        <p:spPr>
          <a:xfrm>
            <a:off x="320039" y="2386583"/>
            <a:ext cx="11475722" cy="3749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5" name="Rectangle 25"/>
          <p:cNvSpPr/>
          <p:nvPr/>
        </p:nvSpPr>
        <p:spPr>
          <a:xfrm>
            <a:off x="320040" y="2386583"/>
            <a:ext cx="1143001" cy="374905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6" name="TextBox 26"/>
          <p:cNvSpPr txBox="1"/>
          <p:nvPr/>
        </p:nvSpPr>
        <p:spPr>
          <a:xfrm>
            <a:off x="384047" y="2423160"/>
            <a:ext cx="10058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US MARKET</a:t>
            </a:r>
          </a:p>
        </p:txBody>
      </p:sp>
      <p:sp>
        <p:nvSpPr>
          <p:cNvPr id="567" name="TextBox 27"/>
          <p:cNvSpPr txBox="1"/>
          <p:nvPr/>
        </p:nvSpPr>
        <p:spPr>
          <a:xfrm>
            <a:off x="1572767" y="2441448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Americas Revenue</a:t>
            </a:r>
          </a:p>
        </p:txBody>
      </p:sp>
      <p:sp>
        <p:nvSpPr>
          <p:cNvPr id="568" name="TextBox 28"/>
          <p:cNvSpPr txBox="1"/>
          <p:nvPr/>
        </p:nvSpPr>
        <p:spPr>
          <a:xfrm>
            <a:off x="4818888" y="2441448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€154M · +20.1% growth (constant FX)</a:t>
            </a:r>
          </a:p>
        </p:txBody>
      </p:sp>
      <p:sp>
        <p:nvSpPr>
          <p:cNvPr id="569" name="TextBox 29"/>
          <p:cNvSpPr txBox="1"/>
          <p:nvPr/>
        </p:nvSpPr>
        <p:spPr>
          <a:xfrm>
            <a:off x="11356847" y="2423160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70" name="Rectangle 30"/>
          <p:cNvSpPr/>
          <p:nvPr/>
        </p:nvSpPr>
        <p:spPr>
          <a:xfrm>
            <a:off x="320039" y="2779776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31"/>
          <p:cNvSpPr txBox="1"/>
          <p:nvPr/>
        </p:nvSpPr>
        <p:spPr>
          <a:xfrm>
            <a:off x="1572767" y="2834639"/>
            <a:ext cx="30632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Amazon Q4 Campaign</a:t>
            </a:r>
          </a:p>
        </p:txBody>
      </p:sp>
      <p:sp>
        <p:nvSpPr>
          <p:cNvPr id="572" name="TextBox 32"/>
          <p:cNvSpPr txBox="1"/>
          <p:nvPr/>
        </p:nvSpPr>
        <p:spPr>
          <a:xfrm>
            <a:off x="4818888" y="2834639"/>
            <a:ext cx="63093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+35% revenue / +21% conversions (Tinuiti)</a:t>
            </a:r>
          </a:p>
        </p:txBody>
      </p:sp>
      <p:sp>
        <p:nvSpPr>
          <p:cNvPr id="573" name="TextBox 33"/>
          <p:cNvSpPr txBox="1"/>
          <p:nvPr/>
        </p:nvSpPr>
        <p:spPr>
          <a:xfrm>
            <a:off x="11356847" y="2816351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74" name="Rectangle 34"/>
          <p:cNvSpPr/>
          <p:nvPr/>
        </p:nvSpPr>
        <p:spPr>
          <a:xfrm>
            <a:off x="320039" y="3172967"/>
            <a:ext cx="11475722" cy="3749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5" name="TextBox 35"/>
          <p:cNvSpPr txBox="1"/>
          <p:nvPr/>
        </p:nvSpPr>
        <p:spPr>
          <a:xfrm>
            <a:off x="1572767" y="3227832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US growth vs. category</a:t>
            </a:r>
          </a:p>
        </p:txBody>
      </p:sp>
      <p:sp>
        <p:nvSpPr>
          <p:cNvPr id="576" name="TextBox 36"/>
          <p:cNvSpPr txBox="1"/>
          <p:nvPr/>
        </p:nvSpPr>
        <p:spPr>
          <a:xfrm>
            <a:off x="4818888" y="3227832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4× category average under premium discipline</a:t>
            </a:r>
          </a:p>
        </p:txBody>
      </p:sp>
      <p:sp>
        <p:nvSpPr>
          <p:cNvPr id="577" name="TextBox 37"/>
          <p:cNvSpPr txBox="1"/>
          <p:nvPr/>
        </p:nvSpPr>
        <p:spPr>
          <a:xfrm>
            <a:off x="11356847" y="3209544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78" name="Rectangle 38"/>
          <p:cNvSpPr/>
          <p:nvPr/>
        </p:nvSpPr>
        <p:spPr>
          <a:xfrm>
            <a:off x="320039" y="3566159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Rectangle 39"/>
          <p:cNvSpPr/>
          <p:nvPr/>
        </p:nvSpPr>
        <p:spPr>
          <a:xfrm>
            <a:off x="320040" y="3566159"/>
            <a:ext cx="1143001" cy="374905"/>
          </a:xfrm>
          <a:prstGeom prst="rect">
            <a:avLst/>
          </a:prstGeom>
          <a:solidFill>
            <a:srgbClr val="99003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0" name="TextBox 40"/>
          <p:cNvSpPr txBox="1"/>
          <p:nvPr/>
        </p:nvSpPr>
        <p:spPr>
          <a:xfrm>
            <a:off x="384047" y="3602735"/>
            <a:ext cx="1005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BRAND</a:t>
            </a:r>
          </a:p>
        </p:txBody>
      </p:sp>
      <p:sp>
        <p:nvSpPr>
          <p:cNvPr id="581" name="TextBox 41"/>
          <p:cNvSpPr txBox="1"/>
          <p:nvPr/>
        </p:nvSpPr>
        <p:spPr>
          <a:xfrm>
            <a:off x="1572767" y="3621023"/>
            <a:ext cx="30632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B Corp Score</a:t>
            </a:r>
          </a:p>
        </p:txBody>
      </p:sp>
      <p:sp>
        <p:nvSpPr>
          <p:cNvPr id="582" name="TextBox 42"/>
          <p:cNvSpPr txBox="1"/>
          <p:nvPr/>
        </p:nvSpPr>
        <p:spPr>
          <a:xfrm>
            <a:off x="4818888" y="3621023"/>
            <a:ext cx="63093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90.4 (2024 recertification, +9.7 pts)</a:t>
            </a:r>
          </a:p>
        </p:txBody>
      </p:sp>
      <p:sp>
        <p:nvSpPr>
          <p:cNvPr id="583" name="TextBox 43"/>
          <p:cNvSpPr txBox="1"/>
          <p:nvPr/>
        </p:nvSpPr>
        <p:spPr>
          <a:xfrm>
            <a:off x="11356847" y="3602735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84" name="Rectangle 44"/>
          <p:cNvSpPr/>
          <p:nvPr/>
        </p:nvSpPr>
        <p:spPr>
          <a:xfrm>
            <a:off x="320039" y="3959352"/>
            <a:ext cx="11475722" cy="3749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5" name="TextBox 45"/>
          <p:cNvSpPr txBox="1"/>
          <p:nvPr/>
        </p:nvSpPr>
        <p:spPr>
          <a:xfrm>
            <a:off x="1572767" y="4014215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Cannes Lions alignment</a:t>
            </a:r>
          </a:p>
        </p:txBody>
      </p:sp>
      <p:sp>
        <p:nvSpPr>
          <p:cNvPr id="586" name="TextBox 46"/>
          <p:cNvSpPr txBox="1"/>
          <p:nvPr/>
        </p:nvSpPr>
        <p:spPr>
          <a:xfrm>
            <a:off x="4818888" y="4014215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Venice Biennale FOOH disruption + Matilda campaign director</a:t>
            </a:r>
          </a:p>
        </p:txBody>
      </p:sp>
      <p:sp>
        <p:nvSpPr>
          <p:cNvPr id="587" name="TextBox 47"/>
          <p:cNvSpPr txBox="1"/>
          <p:nvPr/>
        </p:nvSpPr>
        <p:spPr>
          <a:xfrm>
            <a:off x="11356847" y="3995928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88" name="Rectangle 48"/>
          <p:cNvSpPr/>
          <p:nvPr/>
        </p:nvSpPr>
        <p:spPr>
          <a:xfrm>
            <a:off x="320039" y="4352544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9" name="TextBox 49"/>
          <p:cNvSpPr txBox="1"/>
          <p:nvPr/>
        </p:nvSpPr>
        <p:spPr>
          <a:xfrm>
            <a:off x="1572767" y="4407406"/>
            <a:ext cx="30632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Award recognition</a:t>
            </a:r>
          </a:p>
        </p:txBody>
      </p:sp>
      <p:sp>
        <p:nvSpPr>
          <p:cNvPr id="590" name="TextBox 50"/>
          <p:cNvSpPr txBox="1"/>
          <p:nvPr/>
        </p:nvSpPr>
        <p:spPr>
          <a:xfrm>
            <a:off x="4818888" y="4407406"/>
            <a:ext cx="63093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Amazon Ads Partner Award — Americas Seasonal Sales</a:t>
            </a:r>
          </a:p>
        </p:txBody>
      </p:sp>
      <p:sp>
        <p:nvSpPr>
          <p:cNvPr id="591" name="TextBox 51"/>
          <p:cNvSpPr txBox="1"/>
          <p:nvPr/>
        </p:nvSpPr>
        <p:spPr>
          <a:xfrm>
            <a:off x="11356847" y="4389120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92" name="Rectangle 52"/>
          <p:cNvSpPr/>
          <p:nvPr/>
        </p:nvSpPr>
        <p:spPr>
          <a:xfrm>
            <a:off x="320039" y="4745735"/>
            <a:ext cx="11475722" cy="3749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3" name="Rectangle 53"/>
          <p:cNvSpPr/>
          <p:nvPr/>
        </p:nvSpPr>
        <p:spPr>
          <a:xfrm>
            <a:off x="320040" y="4745735"/>
            <a:ext cx="1143001" cy="374905"/>
          </a:xfrm>
          <a:prstGeom prst="rect">
            <a:avLst/>
          </a:prstGeom>
          <a:solidFill>
            <a:srgbClr val="1B5E2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TextBox 54"/>
          <p:cNvSpPr txBox="1"/>
          <p:nvPr/>
        </p:nvSpPr>
        <p:spPr>
          <a:xfrm>
            <a:off x="384047" y="4782311"/>
            <a:ext cx="10058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SUPPLY</a:t>
            </a:r>
          </a:p>
        </p:txBody>
      </p:sp>
      <p:sp>
        <p:nvSpPr>
          <p:cNvPr id="595" name="TextBox 55"/>
          <p:cNvSpPr txBox="1"/>
          <p:nvPr/>
        </p:nvSpPr>
        <p:spPr>
          <a:xfrm>
            <a:off x="1572767" y="4800600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Direct Trade farmers</a:t>
            </a:r>
          </a:p>
        </p:txBody>
      </p:sp>
      <p:sp>
        <p:nvSpPr>
          <p:cNvPr id="596" name="TextBox 56"/>
          <p:cNvSpPr txBox="1"/>
          <p:nvPr/>
        </p:nvSpPr>
        <p:spPr>
          <a:xfrm>
            <a:off x="4818888" y="4800600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Top 1% Arabica across 9 origins · 30+ year relationships</a:t>
            </a:r>
          </a:p>
        </p:txBody>
      </p:sp>
      <p:sp>
        <p:nvSpPr>
          <p:cNvPr id="597" name="TextBox 57"/>
          <p:cNvSpPr txBox="1"/>
          <p:nvPr/>
        </p:nvSpPr>
        <p:spPr>
          <a:xfrm>
            <a:off x="11356847" y="4782311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598" name="Rectangle 58"/>
          <p:cNvSpPr/>
          <p:nvPr/>
        </p:nvSpPr>
        <p:spPr>
          <a:xfrm>
            <a:off x="320039" y="5138928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TextBox 59"/>
          <p:cNvSpPr txBox="1"/>
          <p:nvPr/>
        </p:nvSpPr>
        <p:spPr>
          <a:xfrm>
            <a:off x="1572767" y="5193791"/>
            <a:ext cx="306324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EIICA (2025, 10th yr)</a:t>
            </a:r>
          </a:p>
        </p:txBody>
      </p:sp>
      <p:sp>
        <p:nvSpPr>
          <p:cNvPr id="600" name="TextBox 60"/>
          <p:cNvSpPr txBox="1"/>
          <p:nvPr/>
        </p:nvSpPr>
        <p:spPr>
          <a:xfrm>
            <a:off x="4818888" y="5193791"/>
            <a:ext cx="63093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Top 27 producers evaluated globally · regenerative ag</a:t>
            </a:r>
          </a:p>
        </p:txBody>
      </p:sp>
      <p:sp>
        <p:nvSpPr>
          <p:cNvPr id="601" name="TextBox 61"/>
          <p:cNvSpPr txBox="1"/>
          <p:nvPr/>
        </p:nvSpPr>
        <p:spPr>
          <a:xfrm>
            <a:off x="11356847" y="5175503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602" name="Rectangle 62"/>
          <p:cNvSpPr/>
          <p:nvPr/>
        </p:nvSpPr>
        <p:spPr>
          <a:xfrm>
            <a:off x="320039" y="5532120"/>
            <a:ext cx="11475722" cy="3749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3" name="Rectangle 63"/>
          <p:cNvSpPr/>
          <p:nvPr/>
        </p:nvSpPr>
        <p:spPr>
          <a:xfrm>
            <a:off x="320040" y="5532120"/>
            <a:ext cx="1143001" cy="374905"/>
          </a:xfrm>
          <a:prstGeom prst="rect">
            <a:avLst/>
          </a:prstGeom>
          <a:solidFill>
            <a:srgbClr val="1A2A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4" name="TextBox 64"/>
          <p:cNvSpPr txBox="1"/>
          <p:nvPr/>
        </p:nvSpPr>
        <p:spPr>
          <a:xfrm>
            <a:off x="384047" y="5568696"/>
            <a:ext cx="10058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M&amp;A</a:t>
            </a:r>
          </a:p>
        </p:txBody>
      </p:sp>
      <p:sp>
        <p:nvSpPr>
          <p:cNvPr id="605" name="TextBox 65"/>
          <p:cNvSpPr txBox="1"/>
          <p:nvPr/>
        </p:nvSpPr>
        <p:spPr>
          <a:xfrm>
            <a:off x="1572767" y="5586983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Capitani acquisition</a:t>
            </a:r>
          </a:p>
        </p:txBody>
      </p:sp>
      <p:sp>
        <p:nvSpPr>
          <p:cNvPr id="606" name="TextBox 66"/>
          <p:cNvSpPr txBox="1"/>
          <p:nvPr/>
        </p:nvSpPr>
        <p:spPr>
          <a:xfrm>
            <a:off x="4818888" y="5586983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80% stake — internalises home + professional machine hardware</a:t>
            </a:r>
          </a:p>
        </p:txBody>
      </p:sp>
      <p:sp>
        <p:nvSpPr>
          <p:cNvPr id="607" name="TextBox 67"/>
          <p:cNvSpPr txBox="1"/>
          <p:nvPr/>
        </p:nvSpPr>
        <p:spPr>
          <a:xfrm>
            <a:off x="11356847" y="5568696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  <p:sp>
        <p:nvSpPr>
          <p:cNvPr id="608" name="Rectangle 68"/>
          <p:cNvSpPr/>
          <p:nvPr/>
        </p:nvSpPr>
        <p:spPr>
          <a:xfrm>
            <a:off x="320039" y="5925311"/>
            <a:ext cx="11475722" cy="37490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9" name="TextBox 69"/>
          <p:cNvSpPr txBox="1"/>
          <p:nvPr/>
        </p:nvSpPr>
        <p:spPr>
          <a:xfrm>
            <a:off x="1572767" y="5980176"/>
            <a:ext cx="306324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Thalwil Ag acquisition</a:t>
            </a:r>
          </a:p>
        </p:txBody>
      </p:sp>
      <p:sp>
        <p:nvSpPr>
          <p:cNvPr id="610" name="TextBox 70"/>
          <p:cNvSpPr txBox="1"/>
          <p:nvPr/>
        </p:nvSpPr>
        <p:spPr>
          <a:xfrm>
            <a:off x="4818888" y="5980176"/>
            <a:ext cx="6309360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1A1A1A"/>
                </a:solidFill>
              </a:defRPr>
            </a:lvl1pPr>
          </a:lstStyle>
          <a:p>
            <a:pPr/>
            <a:r>
              <a:t>100% — internalises Swiss B2B distribution infrastructure</a:t>
            </a:r>
          </a:p>
        </p:txBody>
      </p:sp>
      <p:sp>
        <p:nvSpPr>
          <p:cNvPr id="611" name="TextBox 71"/>
          <p:cNvSpPr txBox="1"/>
          <p:nvPr/>
        </p:nvSpPr>
        <p:spPr>
          <a:xfrm>
            <a:off x="11356847" y="5961888"/>
            <a:ext cx="365761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1B5E2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✅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614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Key Articles &amp; Sources</a:t>
            </a:r>
          </a:p>
        </p:txBody>
      </p:sp>
      <p:sp>
        <p:nvSpPr>
          <p:cNvPr id="616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12 primary sources cited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12 · KEY ARTICLES &amp; SOURCES</a:t>
            </a:r>
          </a:p>
        </p:txBody>
      </p:sp>
      <p:sp>
        <p:nvSpPr>
          <p:cNvPr id="620" name="Rectangle 3"/>
          <p:cNvSpPr/>
          <p:nvPr/>
        </p:nvSpPr>
        <p:spPr>
          <a:xfrm>
            <a:off x="320039" y="868680"/>
            <a:ext cx="5577842" cy="896112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Rectangle 4"/>
          <p:cNvSpPr/>
          <p:nvPr/>
        </p:nvSpPr>
        <p:spPr>
          <a:xfrm>
            <a:off x="320040" y="868680"/>
            <a:ext cx="73153" cy="89611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2" name="TextBox 5"/>
          <p:cNvSpPr txBox="1"/>
          <p:nvPr/>
        </p:nvSpPr>
        <p:spPr>
          <a:xfrm>
            <a:off x="548639" y="896111"/>
            <a:ext cx="5212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Annual Report 2025</a:t>
            </a:r>
          </a:p>
        </p:txBody>
      </p:sp>
      <p:sp>
        <p:nvSpPr>
          <p:cNvPr id="623" name="TextBox 6"/>
          <p:cNvSpPr txBox="1"/>
          <p:nvPr/>
        </p:nvSpPr>
        <p:spPr>
          <a:xfrm>
            <a:off x="548639" y="1161288"/>
            <a:ext cx="521208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illy.com — illy_Annual Report 2025_EN.pdf</a:t>
            </a:r>
          </a:p>
        </p:txBody>
      </p:sp>
      <p:sp>
        <p:nvSpPr>
          <p:cNvPr id="624" name="TextBox 7"/>
          <p:cNvSpPr txBox="1"/>
          <p:nvPr/>
        </p:nvSpPr>
        <p:spPr>
          <a:xfrm>
            <a:off x="548639" y="1371600"/>
            <a:ext cx="521208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Primary financial source: channel split, geographic data, revenue growth.</a:t>
            </a:r>
          </a:p>
        </p:txBody>
      </p:sp>
      <p:sp>
        <p:nvSpPr>
          <p:cNvPr id="625" name="Rectangle 8"/>
          <p:cNvSpPr/>
          <p:nvPr/>
        </p:nvSpPr>
        <p:spPr>
          <a:xfrm>
            <a:off x="6217920" y="868680"/>
            <a:ext cx="5577841" cy="896112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Rectangle 9"/>
          <p:cNvSpPr/>
          <p:nvPr/>
        </p:nvSpPr>
        <p:spPr>
          <a:xfrm>
            <a:off x="6217920" y="868680"/>
            <a:ext cx="73153" cy="89611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TextBox 10"/>
          <p:cNvSpPr txBox="1"/>
          <p:nvPr/>
        </p:nvSpPr>
        <p:spPr>
          <a:xfrm>
            <a:off x="6446520" y="896111"/>
            <a:ext cx="521208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4th Straight Year of Growth</a:t>
            </a:r>
          </a:p>
        </p:txBody>
      </p:sp>
      <p:sp>
        <p:nvSpPr>
          <p:cNvPr id="628" name="TextBox 11"/>
          <p:cNvSpPr txBox="1"/>
          <p:nvPr/>
        </p:nvSpPr>
        <p:spPr>
          <a:xfrm>
            <a:off x="6446520" y="1161288"/>
            <a:ext cx="521208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gcrmag.com — Global Coffee Report</a:t>
            </a:r>
          </a:p>
        </p:txBody>
      </p:sp>
      <p:sp>
        <p:nvSpPr>
          <p:cNvPr id="629" name="TextBox 12"/>
          <p:cNvSpPr txBox="1"/>
          <p:nvPr/>
        </p:nvSpPr>
        <p:spPr>
          <a:xfrm>
            <a:off x="6446520" y="1371600"/>
            <a:ext cx="521208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EBITDA/profit compression, M&amp;A (Capitani + Thalwil Ag), Rhône Capital.</a:t>
            </a:r>
          </a:p>
        </p:txBody>
      </p:sp>
      <p:sp>
        <p:nvSpPr>
          <p:cNvPr id="630" name="Rectangle 13"/>
          <p:cNvSpPr/>
          <p:nvPr/>
        </p:nvSpPr>
        <p:spPr>
          <a:xfrm>
            <a:off x="320039" y="1856232"/>
            <a:ext cx="5577842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1" name="Rectangle 14"/>
          <p:cNvSpPr/>
          <p:nvPr/>
        </p:nvSpPr>
        <p:spPr>
          <a:xfrm>
            <a:off x="320040" y="1856232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TextBox 15"/>
          <p:cNvSpPr txBox="1"/>
          <p:nvPr/>
        </p:nvSpPr>
        <p:spPr>
          <a:xfrm>
            <a:off x="548639" y="1883664"/>
            <a:ext cx="5212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Quality Loves Details Launch</a:t>
            </a:r>
          </a:p>
        </p:txBody>
      </p:sp>
      <p:sp>
        <p:nvSpPr>
          <p:cNvPr id="633" name="TextBox 16"/>
          <p:cNvSpPr txBox="1"/>
          <p:nvPr/>
        </p:nvSpPr>
        <p:spPr>
          <a:xfrm>
            <a:off x="548639" y="2148839"/>
            <a:ext cx="5212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PR Newswire — Matilda De Angelis campaign</a:t>
            </a:r>
          </a:p>
        </p:txBody>
      </p:sp>
      <p:sp>
        <p:nvSpPr>
          <p:cNvPr id="634" name="TextBox 17"/>
          <p:cNvSpPr txBox="1"/>
          <p:nvPr/>
        </p:nvSpPr>
        <p:spPr>
          <a:xfrm>
            <a:off x="548639" y="2359151"/>
            <a:ext cx="5212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Campaign strategy, director credentials, Università del Caffè stats.</a:t>
            </a:r>
          </a:p>
        </p:txBody>
      </p:sp>
      <p:sp>
        <p:nvSpPr>
          <p:cNvPr id="635" name="Rectangle 18"/>
          <p:cNvSpPr/>
          <p:nvPr/>
        </p:nvSpPr>
        <p:spPr>
          <a:xfrm>
            <a:off x="6217920" y="1856232"/>
            <a:ext cx="5577841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Rectangle 19"/>
          <p:cNvSpPr/>
          <p:nvPr/>
        </p:nvSpPr>
        <p:spPr>
          <a:xfrm>
            <a:off x="6217920" y="1856232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7" name="TextBox 20"/>
          <p:cNvSpPr txBox="1"/>
          <p:nvPr/>
        </p:nvSpPr>
        <p:spPr>
          <a:xfrm>
            <a:off x="6446520" y="1883664"/>
            <a:ext cx="52120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How Illy Grew 4× by Owning Premium</a:t>
            </a:r>
          </a:p>
        </p:txBody>
      </p:sp>
      <p:sp>
        <p:nvSpPr>
          <p:cNvPr id="638" name="TextBox 21"/>
          <p:cNvSpPr txBox="1"/>
          <p:nvPr/>
        </p:nvSpPr>
        <p:spPr>
          <a:xfrm>
            <a:off x="6446520" y="2148839"/>
            <a:ext cx="521208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YouTube — Cristian Arcangeli VP Marketing US</a:t>
            </a:r>
          </a:p>
        </p:txBody>
      </p:sp>
      <p:sp>
        <p:nvSpPr>
          <p:cNvPr id="639" name="TextBox 22"/>
          <p:cNvSpPr txBox="1"/>
          <p:nvPr/>
        </p:nvSpPr>
        <p:spPr>
          <a:xfrm>
            <a:off x="6446520" y="2359151"/>
            <a:ext cx="521208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4× growth methodology, Amazon strategy, premium positioning discipline.</a:t>
            </a:r>
          </a:p>
        </p:txBody>
      </p:sp>
      <p:sp>
        <p:nvSpPr>
          <p:cNvPr id="640" name="Rectangle 23"/>
          <p:cNvSpPr/>
          <p:nvPr/>
        </p:nvSpPr>
        <p:spPr>
          <a:xfrm>
            <a:off x="320039" y="2843783"/>
            <a:ext cx="5577842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1" name="Rectangle 24"/>
          <p:cNvSpPr/>
          <p:nvPr/>
        </p:nvSpPr>
        <p:spPr>
          <a:xfrm>
            <a:off x="320040" y="2843783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2" name="TextBox 25"/>
          <p:cNvSpPr txBox="1"/>
          <p:nvPr/>
        </p:nvSpPr>
        <p:spPr>
          <a:xfrm>
            <a:off x="548639" y="2871216"/>
            <a:ext cx="5212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United Airlines RTD Cold Brew</a:t>
            </a:r>
          </a:p>
        </p:txBody>
      </p:sp>
      <p:sp>
        <p:nvSpPr>
          <p:cNvPr id="643" name="TextBox 26"/>
          <p:cNvSpPr txBox="1"/>
          <p:nvPr/>
        </p:nvSpPr>
        <p:spPr>
          <a:xfrm>
            <a:off x="548639" y="3136392"/>
            <a:ext cx="521208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worldcoffeeportal.com — Jul 2024</a:t>
            </a:r>
          </a:p>
        </p:txBody>
      </p:sp>
      <p:sp>
        <p:nvSpPr>
          <p:cNvPr id="644" name="TextBox 27"/>
          <p:cNvSpPr txBox="1"/>
          <p:nvPr/>
        </p:nvSpPr>
        <p:spPr>
          <a:xfrm>
            <a:off x="548639" y="3346703"/>
            <a:ext cx="5212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In-flight sampling strategy, premium cabin targeting, only major US airline.</a:t>
            </a:r>
          </a:p>
        </p:txBody>
      </p:sp>
      <p:sp>
        <p:nvSpPr>
          <p:cNvPr id="645" name="Rectangle 28"/>
          <p:cNvSpPr/>
          <p:nvPr/>
        </p:nvSpPr>
        <p:spPr>
          <a:xfrm>
            <a:off x="6217920" y="2843783"/>
            <a:ext cx="5577841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Rectangle 29"/>
          <p:cNvSpPr/>
          <p:nvPr/>
        </p:nvSpPr>
        <p:spPr>
          <a:xfrm>
            <a:off x="6217920" y="2843783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TextBox 30"/>
          <p:cNvSpPr txBox="1"/>
          <p:nvPr/>
        </p:nvSpPr>
        <p:spPr>
          <a:xfrm>
            <a:off x="6446520" y="2871216"/>
            <a:ext cx="52120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Inspira Marketing Group AOR</a:t>
            </a:r>
          </a:p>
        </p:txBody>
      </p:sp>
      <p:sp>
        <p:nvSpPr>
          <p:cNvPr id="648" name="TextBox 31"/>
          <p:cNvSpPr txBox="1"/>
          <p:nvPr/>
        </p:nvSpPr>
        <p:spPr>
          <a:xfrm>
            <a:off x="6446520" y="3136392"/>
            <a:ext cx="521208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inspiramarketing.com — 2024</a:t>
            </a:r>
          </a:p>
        </p:txBody>
      </p:sp>
      <p:sp>
        <p:nvSpPr>
          <p:cNvPr id="649" name="TextBox 32"/>
          <p:cNvSpPr txBox="1"/>
          <p:nvPr/>
        </p:nvSpPr>
        <p:spPr>
          <a:xfrm>
            <a:off x="6446520" y="3346703"/>
            <a:ext cx="521208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Instagram + TikTok AOR, 'Coffee Break' series, US social strategy.</a:t>
            </a:r>
          </a:p>
        </p:txBody>
      </p:sp>
      <p:sp>
        <p:nvSpPr>
          <p:cNvPr id="650" name="Rectangle 33"/>
          <p:cNvSpPr/>
          <p:nvPr/>
        </p:nvSpPr>
        <p:spPr>
          <a:xfrm>
            <a:off x="320039" y="3831335"/>
            <a:ext cx="5577842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1" name="Rectangle 34"/>
          <p:cNvSpPr/>
          <p:nvPr/>
        </p:nvSpPr>
        <p:spPr>
          <a:xfrm>
            <a:off x="320040" y="3831335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TextBox 35"/>
          <p:cNvSpPr txBox="1"/>
          <p:nvPr/>
        </p:nvSpPr>
        <p:spPr>
          <a:xfrm>
            <a:off x="548639" y="3858767"/>
            <a:ext cx="5212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illy Cube Hudson Yards</a:t>
            </a:r>
          </a:p>
        </p:txBody>
      </p:sp>
      <p:sp>
        <p:nvSpPr>
          <p:cNvPr id="653" name="TextBox 36"/>
          <p:cNvSpPr txBox="1"/>
          <p:nvPr/>
        </p:nvSpPr>
        <p:spPr>
          <a:xfrm>
            <a:off x="548639" y="4123944"/>
            <a:ext cx="521208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PR Newswire — 2025</a:t>
            </a:r>
          </a:p>
        </p:txBody>
      </p:sp>
      <p:sp>
        <p:nvSpPr>
          <p:cNvPr id="654" name="TextBox 37"/>
          <p:cNvSpPr txBox="1"/>
          <p:nvPr/>
        </p:nvSpPr>
        <p:spPr>
          <a:xfrm>
            <a:off x="548639" y="4334255"/>
            <a:ext cx="5212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'Why We Make It' experiential, 5 manufacturing pillars, NYC activation.</a:t>
            </a:r>
          </a:p>
        </p:txBody>
      </p:sp>
      <p:sp>
        <p:nvSpPr>
          <p:cNvPr id="655" name="Rectangle 38"/>
          <p:cNvSpPr/>
          <p:nvPr/>
        </p:nvSpPr>
        <p:spPr>
          <a:xfrm>
            <a:off x="6217920" y="3831335"/>
            <a:ext cx="5577841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Rectangle 39"/>
          <p:cNvSpPr/>
          <p:nvPr/>
        </p:nvSpPr>
        <p:spPr>
          <a:xfrm>
            <a:off x="6217920" y="3831335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7" name="TextBox 40"/>
          <p:cNvSpPr txBox="1"/>
          <p:nvPr/>
        </p:nvSpPr>
        <p:spPr>
          <a:xfrm>
            <a:off x="6446520" y="3858767"/>
            <a:ext cx="521208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Tinuiti Wrapped 2025</a:t>
            </a:r>
          </a:p>
        </p:txBody>
      </p:sp>
      <p:sp>
        <p:nvSpPr>
          <p:cNvPr id="658" name="TextBox 41"/>
          <p:cNvSpPr txBox="1"/>
          <p:nvPr/>
        </p:nvSpPr>
        <p:spPr>
          <a:xfrm>
            <a:off x="6446520" y="4123944"/>
            <a:ext cx="521208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tinuiti.com — Amazon Ads Partner Award</a:t>
            </a:r>
          </a:p>
        </p:txBody>
      </p:sp>
      <p:sp>
        <p:nvSpPr>
          <p:cNvPr id="659" name="TextBox 42"/>
          <p:cNvSpPr txBox="1"/>
          <p:nvPr/>
        </p:nvSpPr>
        <p:spPr>
          <a:xfrm>
            <a:off x="6446520" y="4334255"/>
            <a:ext cx="521208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+35% Q4 revenue, +21% conversions — commerce media result validated.</a:t>
            </a:r>
          </a:p>
        </p:txBody>
      </p:sp>
      <p:sp>
        <p:nvSpPr>
          <p:cNvPr id="660" name="Rectangle 43"/>
          <p:cNvSpPr/>
          <p:nvPr/>
        </p:nvSpPr>
        <p:spPr>
          <a:xfrm>
            <a:off x="320039" y="4818888"/>
            <a:ext cx="5577842" cy="896112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1" name="Rectangle 44"/>
          <p:cNvSpPr/>
          <p:nvPr/>
        </p:nvSpPr>
        <p:spPr>
          <a:xfrm>
            <a:off x="320040" y="4818888"/>
            <a:ext cx="73153" cy="89611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2" name="TextBox 45"/>
          <p:cNvSpPr txBox="1"/>
          <p:nvPr/>
        </p:nvSpPr>
        <p:spPr>
          <a:xfrm>
            <a:off x="548639" y="4846320"/>
            <a:ext cx="52120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Venice Biennale Floating Cups</a:t>
            </a:r>
          </a:p>
        </p:txBody>
      </p:sp>
      <p:sp>
        <p:nvSpPr>
          <p:cNvPr id="663" name="TextBox 46"/>
          <p:cNvSpPr txBox="1"/>
          <p:nvPr/>
        </p:nvSpPr>
        <p:spPr>
          <a:xfrm>
            <a:off x="548639" y="5111496"/>
            <a:ext cx="521208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famouscampaigns.com — May 2026</a:t>
            </a:r>
          </a:p>
        </p:txBody>
      </p:sp>
      <p:sp>
        <p:nvSpPr>
          <p:cNvPr id="664" name="TextBox 47"/>
          <p:cNvSpPr txBox="1"/>
          <p:nvPr/>
        </p:nvSpPr>
        <p:spPr>
          <a:xfrm>
            <a:off x="548639" y="5321808"/>
            <a:ext cx="521208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Physical FOOH disruption, earned media, Cannes Lions Brand Experience.</a:t>
            </a:r>
          </a:p>
        </p:txBody>
      </p:sp>
      <p:sp>
        <p:nvSpPr>
          <p:cNvPr id="665" name="Rectangle 48"/>
          <p:cNvSpPr/>
          <p:nvPr/>
        </p:nvSpPr>
        <p:spPr>
          <a:xfrm>
            <a:off x="6217920" y="4818888"/>
            <a:ext cx="5577841" cy="896112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6" name="Rectangle 49"/>
          <p:cNvSpPr/>
          <p:nvPr/>
        </p:nvSpPr>
        <p:spPr>
          <a:xfrm>
            <a:off x="6217920" y="4818888"/>
            <a:ext cx="73153" cy="89611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TextBox 50"/>
          <p:cNvSpPr txBox="1"/>
          <p:nvPr/>
        </p:nvSpPr>
        <p:spPr>
          <a:xfrm>
            <a:off x="6446520" y="4846320"/>
            <a:ext cx="5212080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Art Collection 'In Minor Keys' Frieze</a:t>
            </a:r>
          </a:p>
        </p:txBody>
      </p:sp>
      <p:sp>
        <p:nvSpPr>
          <p:cNvPr id="668" name="TextBox 51"/>
          <p:cNvSpPr txBox="1"/>
          <p:nvPr/>
        </p:nvSpPr>
        <p:spPr>
          <a:xfrm>
            <a:off x="6446520" y="5111496"/>
            <a:ext cx="521208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PR Newswire — May 2026</a:t>
            </a:r>
          </a:p>
        </p:txBody>
      </p:sp>
      <p:sp>
        <p:nvSpPr>
          <p:cNvPr id="669" name="TextBox 52"/>
          <p:cNvSpPr txBox="1"/>
          <p:nvPr/>
        </p:nvSpPr>
        <p:spPr>
          <a:xfrm>
            <a:off x="6446520" y="5321808"/>
            <a:ext cx="5212080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US debut, Koyo Kouoh curation, Frieze New York luxury art context.</a:t>
            </a:r>
          </a:p>
        </p:txBody>
      </p:sp>
      <p:sp>
        <p:nvSpPr>
          <p:cNvPr id="670" name="Rectangle 53"/>
          <p:cNvSpPr/>
          <p:nvPr/>
        </p:nvSpPr>
        <p:spPr>
          <a:xfrm>
            <a:off x="320039" y="5806440"/>
            <a:ext cx="5577842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Rectangle 54"/>
          <p:cNvSpPr/>
          <p:nvPr/>
        </p:nvSpPr>
        <p:spPr>
          <a:xfrm>
            <a:off x="320040" y="5806440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TextBox 55"/>
          <p:cNvSpPr txBox="1"/>
          <p:nvPr/>
        </p:nvSpPr>
        <p:spPr>
          <a:xfrm>
            <a:off x="548639" y="5833871"/>
            <a:ext cx="521208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Ernesto Illy Award 2025</a:t>
            </a:r>
          </a:p>
        </p:txBody>
      </p:sp>
      <p:sp>
        <p:nvSpPr>
          <p:cNvPr id="673" name="TextBox 56"/>
          <p:cNvSpPr txBox="1"/>
          <p:nvPr/>
        </p:nvSpPr>
        <p:spPr>
          <a:xfrm>
            <a:off x="548639" y="6099047"/>
            <a:ext cx="5212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PR Newswire — 10th Anniversary</a:t>
            </a:r>
          </a:p>
        </p:txBody>
      </p:sp>
      <p:sp>
        <p:nvSpPr>
          <p:cNvPr id="674" name="TextBox 57"/>
          <p:cNvSpPr txBox="1"/>
          <p:nvPr/>
        </p:nvSpPr>
        <p:spPr>
          <a:xfrm>
            <a:off x="548639" y="6309359"/>
            <a:ext cx="5212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Top 27 producers, regenerative agriculture, B2B supply chain loyalty.</a:t>
            </a:r>
          </a:p>
        </p:txBody>
      </p:sp>
      <p:sp>
        <p:nvSpPr>
          <p:cNvPr id="675" name="Rectangle 58"/>
          <p:cNvSpPr/>
          <p:nvPr/>
        </p:nvSpPr>
        <p:spPr>
          <a:xfrm>
            <a:off x="6217920" y="5806440"/>
            <a:ext cx="5577841" cy="896113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Rectangle 59"/>
          <p:cNvSpPr/>
          <p:nvPr/>
        </p:nvSpPr>
        <p:spPr>
          <a:xfrm>
            <a:off x="6217920" y="5806440"/>
            <a:ext cx="73153" cy="896113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7" name="TextBox 60"/>
          <p:cNvSpPr txBox="1"/>
          <p:nvPr/>
        </p:nvSpPr>
        <p:spPr>
          <a:xfrm>
            <a:off x="6446520" y="5833871"/>
            <a:ext cx="5212080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">
                <a:solidFill>
                  <a:srgbClr val="1A1A1A"/>
                </a:solidFill>
              </a:defRPr>
            </a:lvl1pPr>
          </a:lstStyle>
          <a:p>
            <a:pPr/>
            <a:r>
              <a:t>Climate Transition Plan</a:t>
            </a:r>
          </a:p>
        </p:txBody>
      </p:sp>
      <p:sp>
        <p:nvSpPr>
          <p:cNvPr id="678" name="TextBox 61"/>
          <p:cNvSpPr txBox="1"/>
          <p:nvPr/>
        </p:nvSpPr>
        <p:spPr>
          <a:xfrm>
            <a:off x="6446520" y="6099047"/>
            <a:ext cx="521208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CC0000"/>
                </a:solidFill>
              </a:defRPr>
            </a:lvl1pPr>
          </a:lstStyle>
          <a:p>
            <a:pPr/>
            <a:r>
              <a:t>illy.com — CTP ENG July 2025</a:t>
            </a:r>
          </a:p>
        </p:txBody>
      </p:sp>
      <p:sp>
        <p:nvSpPr>
          <p:cNvPr id="679" name="TextBox 62"/>
          <p:cNvSpPr txBox="1"/>
          <p:nvPr/>
        </p:nvSpPr>
        <p:spPr>
          <a:xfrm>
            <a:off x="6446520" y="6309359"/>
            <a:ext cx="521208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555555"/>
                </a:solidFill>
              </a:defRPr>
            </a:lvl1pPr>
          </a:lstStyle>
          <a:p>
            <a:pPr/>
            <a:r>
              <a:t>Scope 1-3 roadmap, CSRD preparation, ESG as commercial differentiator.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TextBox 1"/>
          <p:cNvSpPr txBox="1"/>
          <p:nvPr/>
        </p:nvSpPr>
        <p:spPr>
          <a:xfrm>
            <a:off x="502919" y="1645920"/>
            <a:ext cx="2651762" cy="1248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000">
                <a:solidFill>
                  <a:srgbClr val="FF9999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682" name="Rectangle 2"/>
          <p:cNvSpPr/>
          <p:nvPr/>
        </p:nvSpPr>
        <p:spPr>
          <a:xfrm>
            <a:off x="365760" y="3566159"/>
            <a:ext cx="11338560" cy="228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3" name="TextBox 3"/>
          <p:cNvSpPr txBox="1"/>
          <p:nvPr/>
        </p:nvSpPr>
        <p:spPr>
          <a:xfrm>
            <a:off x="502919" y="3749038"/>
            <a:ext cx="1115568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Lessons for Orfeu</a:t>
            </a:r>
          </a:p>
        </p:txBody>
      </p:sp>
      <p:sp>
        <p:nvSpPr>
          <p:cNvPr id="684" name="TextBox 4"/>
          <p:cNvSpPr txBox="1"/>
          <p:nvPr/>
        </p:nvSpPr>
        <p:spPr>
          <a:xfrm>
            <a:off x="502919" y="4754879"/>
            <a:ext cx="1115568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>
                <a:solidFill>
                  <a:srgbClr val="FFCCCC"/>
                </a:solidFill>
              </a:defRPr>
            </a:lvl1pPr>
          </a:lstStyle>
          <a:p>
            <a:pPr/>
            <a:r>
              <a:t>5 strategic implications for US market entry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Rectangle 1"/>
          <p:cNvSpPr/>
          <p:nvPr/>
        </p:nvSpPr>
        <p:spPr>
          <a:xfrm>
            <a:off x="-1" y="-1"/>
            <a:ext cx="12188954" cy="777242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7" name="TextBox 2"/>
          <p:cNvSpPr txBox="1"/>
          <p:nvPr/>
        </p:nvSpPr>
        <p:spPr>
          <a:xfrm>
            <a:off x="411479" y="164592"/>
            <a:ext cx="113385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13 · LESSONS FOR ORFEU</a:t>
            </a:r>
          </a:p>
        </p:txBody>
      </p:sp>
      <p:sp>
        <p:nvSpPr>
          <p:cNvPr id="688" name="Rectangle 3"/>
          <p:cNvSpPr/>
          <p:nvPr/>
        </p:nvSpPr>
        <p:spPr>
          <a:xfrm>
            <a:off x="320040" y="868680"/>
            <a:ext cx="11430001" cy="1024129"/>
          </a:xfrm>
          <a:prstGeom prst="rect">
            <a:avLst/>
          </a:prstGeom>
          <a:solidFill>
            <a:srgbClr val="2A2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9" name="Rectangle 4"/>
          <p:cNvSpPr/>
          <p:nvPr/>
        </p:nvSpPr>
        <p:spPr>
          <a:xfrm>
            <a:off x="320040" y="868680"/>
            <a:ext cx="658369" cy="102412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0" name="TextBox 5"/>
          <p:cNvSpPr txBox="1"/>
          <p:nvPr/>
        </p:nvSpPr>
        <p:spPr>
          <a:xfrm>
            <a:off x="365760" y="1124711"/>
            <a:ext cx="56692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L1</a:t>
            </a:r>
          </a:p>
        </p:txBody>
      </p:sp>
      <p:sp>
        <p:nvSpPr>
          <p:cNvPr id="691" name="TextBox 6"/>
          <p:cNvSpPr txBox="1"/>
          <p:nvPr/>
        </p:nvSpPr>
        <p:spPr>
          <a:xfrm>
            <a:off x="1115567" y="914400"/>
            <a:ext cx="10424161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Premium Discipline Prevents Commoditization</a:t>
            </a:r>
          </a:p>
        </p:txBody>
      </p:sp>
      <p:sp>
        <p:nvSpPr>
          <p:cNvPr id="692" name="TextBox 7"/>
          <p:cNvSpPr txBox="1"/>
          <p:nvPr/>
        </p:nvSpPr>
        <p:spPr>
          <a:xfrm>
            <a:off x="1115567" y="1271016"/>
            <a:ext cx="104241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5F5F5"/>
                </a:solidFill>
              </a:defRPr>
            </a:lvl1pPr>
          </a:lstStyle>
          <a:p>
            <a:pPr/>
            <a:r>
              <a:t>illy held 100% Arabica, single blend, no grocery discounting — even when it constrained volume. Result: 4× US growth rate vs. category. Orfeu: US entry price could be fixed high and defended. Channel selection IS the pricing decision.</a:t>
            </a:r>
          </a:p>
        </p:txBody>
      </p:sp>
      <p:sp>
        <p:nvSpPr>
          <p:cNvPr id="693" name="Rectangle 8"/>
          <p:cNvSpPr/>
          <p:nvPr/>
        </p:nvSpPr>
        <p:spPr>
          <a:xfrm>
            <a:off x="320040" y="1984248"/>
            <a:ext cx="11430001" cy="1024129"/>
          </a:xfrm>
          <a:prstGeom prst="rect">
            <a:avLst/>
          </a:prstGeom>
          <a:solidFill>
            <a:srgbClr val="2A2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4" name="Rectangle 9"/>
          <p:cNvSpPr/>
          <p:nvPr/>
        </p:nvSpPr>
        <p:spPr>
          <a:xfrm>
            <a:off x="320040" y="1984248"/>
            <a:ext cx="658369" cy="102412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5" name="TextBox 10"/>
          <p:cNvSpPr txBox="1"/>
          <p:nvPr/>
        </p:nvSpPr>
        <p:spPr>
          <a:xfrm>
            <a:off x="365760" y="2240279"/>
            <a:ext cx="56692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L2</a:t>
            </a:r>
          </a:p>
        </p:txBody>
      </p:sp>
      <p:sp>
        <p:nvSpPr>
          <p:cNvPr id="696" name="TextBox 11"/>
          <p:cNvSpPr txBox="1"/>
          <p:nvPr/>
        </p:nvSpPr>
        <p:spPr>
          <a:xfrm>
            <a:off x="1115567" y="2029966"/>
            <a:ext cx="10424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Subsidized Sampling in the Right Context</a:t>
            </a:r>
          </a:p>
        </p:txBody>
      </p:sp>
      <p:sp>
        <p:nvSpPr>
          <p:cNvPr id="697" name="TextBox 12"/>
          <p:cNvSpPr txBox="1"/>
          <p:nvPr/>
        </p:nvSpPr>
        <p:spPr>
          <a:xfrm>
            <a:off x="1115567" y="2386583"/>
            <a:ext cx="104241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5F5F5"/>
                </a:solidFill>
              </a:defRPr>
            </a:lvl1pPr>
          </a:lstStyle>
          <a:p>
            <a:pPr/>
            <a:r>
              <a:t>United Airlines = free cold brew to high-income travelers = highest-quality sampling money can buy. Orfeu: prioritize occasions that pre-qualify affluence and taste-sophistication (premium airline lounges, specialty food festivals, Whole Foods sampling events).</a:t>
            </a:r>
          </a:p>
        </p:txBody>
      </p:sp>
      <p:sp>
        <p:nvSpPr>
          <p:cNvPr id="698" name="Rectangle 13"/>
          <p:cNvSpPr/>
          <p:nvPr/>
        </p:nvSpPr>
        <p:spPr>
          <a:xfrm>
            <a:off x="320040" y="3099815"/>
            <a:ext cx="11430001" cy="1024129"/>
          </a:xfrm>
          <a:prstGeom prst="rect">
            <a:avLst/>
          </a:prstGeom>
          <a:solidFill>
            <a:srgbClr val="2A2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9" name="Rectangle 14"/>
          <p:cNvSpPr/>
          <p:nvPr/>
        </p:nvSpPr>
        <p:spPr>
          <a:xfrm>
            <a:off x="320040" y="3099815"/>
            <a:ext cx="658369" cy="102412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0" name="TextBox 15"/>
          <p:cNvSpPr txBox="1"/>
          <p:nvPr/>
        </p:nvSpPr>
        <p:spPr>
          <a:xfrm>
            <a:off x="365760" y="3355847"/>
            <a:ext cx="56692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L3</a:t>
            </a:r>
          </a:p>
        </p:txBody>
      </p:sp>
      <p:sp>
        <p:nvSpPr>
          <p:cNvPr id="701" name="TextBox 16"/>
          <p:cNvSpPr txBox="1"/>
          <p:nvPr/>
        </p:nvSpPr>
        <p:spPr>
          <a:xfrm>
            <a:off x="1115567" y="3145534"/>
            <a:ext cx="10424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Art + Culture as Brand Moat</a:t>
            </a:r>
          </a:p>
        </p:txBody>
      </p:sp>
      <p:sp>
        <p:nvSpPr>
          <p:cNvPr id="702" name="TextBox 17"/>
          <p:cNvSpPr txBox="1"/>
          <p:nvPr/>
        </p:nvSpPr>
        <p:spPr>
          <a:xfrm>
            <a:off x="1115567" y="3502150"/>
            <a:ext cx="10424161" cy="438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5F5F5"/>
                </a:solidFill>
              </a:defRPr>
            </a:lvl1pPr>
          </a:lstStyle>
          <a:p>
            <a:pPr/>
            <a:r>
              <a:t>30-year Art Collection + Venice Biennale = brand equity advertising cannot replicate. Orfeu: Brazilian craft narrative (terroir, specialty process, origin story) could be the equivalent cultural moat. Embed in US press + specialty coffee trade from day one. Will be able to compete globally with Illy in Art?</a:t>
            </a:r>
          </a:p>
        </p:txBody>
      </p:sp>
      <p:sp>
        <p:nvSpPr>
          <p:cNvPr id="703" name="Rectangle 18"/>
          <p:cNvSpPr/>
          <p:nvPr/>
        </p:nvSpPr>
        <p:spPr>
          <a:xfrm>
            <a:off x="320040" y="4215384"/>
            <a:ext cx="11430001" cy="1024129"/>
          </a:xfrm>
          <a:prstGeom prst="rect">
            <a:avLst/>
          </a:prstGeom>
          <a:solidFill>
            <a:srgbClr val="2A2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4" name="Rectangle 19"/>
          <p:cNvSpPr/>
          <p:nvPr/>
        </p:nvSpPr>
        <p:spPr>
          <a:xfrm>
            <a:off x="320040" y="4215384"/>
            <a:ext cx="658369" cy="102412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5" name="TextBox 20"/>
          <p:cNvSpPr txBox="1"/>
          <p:nvPr/>
        </p:nvSpPr>
        <p:spPr>
          <a:xfrm>
            <a:off x="365760" y="4471415"/>
            <a:ext cx="56692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L4</a:t>
            </a:r>
          </a:p>
        </p:txBody>
      </p:sp>
      <p:sp>
        <p:nvSpPr>
          <p:cNvPr id="706" name="TextBox 21"/>
          <p:cNvSpPr txBox="1"/>
          <p:nvPr/>
        </p:nvSpPr>
        <p:spPr>
          <a:xfrm>
            <a:off x="1115567" y="4261103"/>
            <a:ext cx="10424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Amazon is Brand-Building, Not Just Sales</a:t>
            </a:r>
          </a:p>
        </p:txBody>
      </p:sp>
      <p:sp>
        <p:nvSpPr>
          <p:cNvPr id="707" name="TextBox 22"/>
          <p:cNvSpPr txBox="1"/>
          <p:nvPr/>
        </p:nvSpPr>
        <p:spPr>
          <a:xfrm>
            <a:off x="1115567" y="4617720"/>
            <a:ext cx="104241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5F5F5"/>
                </a:solidFill>
              </a:defRPr>
            </a:lvl1pPr>
          </a:lstStyle>
          <a:p>
            <a:pPr/>
            <a:r>
              <a:t>Prime Video storytelling + performance commerce = full funnel. +35% Q4 / +21% conversions. Orfeu: Amazon entry must include brand content investment. Budget for Retail Media Network spend from launch — product listing alone will not build premium positioning. Attention to the US cost of acquisition,</a:t>
            </a:r>
          </a:p>
        </p:txBody>
      </p:sp>
      <p:sp>
        <p:nvSpPr>
          <p:cNvPr id="708" name="Rectangle 23"/>
          <p:cNvSpPr/>
          <p:nvPr/>
        </p:nvSpPr>
        <p:spPr>
          <a:xfrm>
            <a:off x="320040" y="5330952"/>
            <a:ext cx="11430001" cy="1024129"/>
          </a:xfrm>
          <a:prstGeom prst="rect">
            <a:avLst/>
          </a:prstGeom>
          <a:solidFill>
            <a:srgbClr val="2A2A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9" name="Rectangle 24"/>
          <p:cNvSpPr/>
          <p:nvPr/>
        </p:nvSpPr>
        <p:spPr>
          <a:xfrm>
            <a:off x="320040" y="5330952"/>
            <a:ext cx="658369" cy="1024129"/>
          </a:xfrm>
          <a:prstGeom prst="rect">
            <a:avLst/>
          </a:prstGeom>
          <a:solidFill>
            <a:srgbClr val="CC000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0" name="TextBox 25"/>
          <p:cNvSpPr txBox="1"/>
          <p:nvPr/>
        </p:nvSpPr>
        <p:spPr>
          <a:xfrm>
            <a:off x="365760" y="5586984"/>
            <a:ext cx="566929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L5</a:t>
            </a:r>
          </a:p>
        </p:txBody>
      </p:sp>
      <p:sp>
        <p:nvSpPr>
          <p:cNvPr id="711" name="TextBox 26"/>
          <p:cNvSpPr txBox="1"/>
          <p:nvPr/>
        </p:nvSpPr>
        <p:spPr>
          <a:xfrm>
            <a:off x="1115567" y="5376671"/>
            <a:ext cx="104241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CC0000"/>
                </a:solidFill>
              </a:defRPr>
            </a:lvl1pPr>
          </a:lstStyle>
          <a:p>
            <a:pPr/>
            <a:r>
              <a:t>ESG Credentials are US Market Access Requirements</a:t>
            </a:r>
          </a:p>
        </p:txBody>
      </p:sp>
      <p:sp>
        <p:nvSpPr>
          <p:cNvPr id="712" name="TextBox 27"/>
          <p:cNvSpPr txBox="1"/>
          <p:nvPr/>
        </p:nvSpPr>
        <p:spPr>
          <a:xfrm>
            <a:off x="1115567" y="5733288"/>
            <a:ext cx="10424161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F5F5F5"/>
                </a:solidFill>
              </a:defRPr>
            </a:lvl1pPr>
          </a:lstStyle>
          <a:p>
            <a:pPr/>
            <a:r>
              <a:t>B Corp 90.4 + Direct Trade + regenerative agriculture = required credentials for Whole Foods buyers, premium HoReCa, and US media. Orfeu: Brazilian origin traceability + sustainability story is a key US retail conversation.</a:t>
            </a:r>
          </a:p>
        </p:txBody>
      </p:sp>
      <p:sp>
        <p:nvSpPr>
          <p:cNvPr id="713" name="TextBox 28"/>
          <p:cNvSpPr txBox="1"/>
          <p:nvPr/>
        </p:nvSpPr>
        <p:spPr>
          <a:xfrm>
            <a:off x="365760" y="6537959"/>
            <a:ext cx="1133856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800">
                <a:solidFill>
                  <a:srgbClr val="555555"/>
                </a:solidFill>
              </a:defRPr>
            </a:lvl1pPr>
          </a:lstStyle>
          <a:p>
            <a:pPr/>
            <a:r>
              <a:t>Template reusable for: Lavazza  ·  Nespresso  ·  Intelligentsia  ·  Blue Bottle  ·  Stumptown  ·  Counter Culture  ·  Brazilian specialty brands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