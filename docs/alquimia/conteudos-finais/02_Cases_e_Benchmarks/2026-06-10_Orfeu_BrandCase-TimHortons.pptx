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1005">
              <a:alpha val="7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" y="1737360"/>
            <a:ext cx="8449056" cy="54864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901952"/>
            <a:ext cx="844905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TIM HORTONS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2761488"/>
            <a:ext cx="84490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DCC"/>
                </a:solidFill>
              </a:rPr>
              <a:t>Hamilton, Canadá · 1964 · Rede de cafeterias QSR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3200400"/>
            <a:ext cx="84490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AA"/>
                </a:solidFill>
              </a:rPr>
              <a:t>Ângulo Estratégico: Do Canadá para o mundo: como franchising e identidade cultural constroem — e limitam — a expansão internacional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Sumário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97280"/>
            <a:ext cx="256032" cy="29260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11556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11556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Heritage &amp; Milestones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572768"/>
            <a:ext cx="256032" cy="29260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5910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59105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Arquitetura Financeira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2048256"/>
            <a:ext cx="256032" cy="29260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2066543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066543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Brand DNA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2523744"/>
            <a:ext cx="256032" cy="29260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254203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254203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Positioning Framework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2999232"/>
            <a:ext cx="256032" cy="29260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" y="301752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301752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Ho.Re.Ca. Strategy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3474720"/>
            <a:ext cx="256032" cy="29260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" y="349300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349300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Portfólio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1097280"/>
            <a:ext cx="256032" cy="29260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111556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2624" y="111556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Expansão Internacional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572768"/>
            <a:ext cx="256032" cy="29260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15910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92624" y="159105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Marketing &amp; Ativações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2048256"/>
            <a:ext cx="256032" cy="29260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2066543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92624" y="2066543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Digital &amp; Social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2523744"/>
            <a:ext cx="256032" cy="29260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254203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92624" y="254203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Sustentabilidade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40" y="2999232"/>
            <a:ext cx="256032" cy="29260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0" y="301752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92624" y="301752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Scorecard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3474720"/>
            <a:ext cx="256032" cy="29260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349300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92624" y="349300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Lições para a Orfeu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Heritage &amp; Milestones — Tim Hortons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Marcos estruturais e pivôs estratégicos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078992"/>
            <a:ext cx="8449056" cy="457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914400"/>
            <a:ext cx="36576" cy="25603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078992"/>
            <a:ext cx="219456" cy="219456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350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B1F1F"/>
                </a:solidFill>
              </a:rPr>
              <a:t>1964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1627632"/>
            <a:ext cx="1060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Fundação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1975104"/>
            <a:ext cx="106070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Tim Horton, jogador de hóquei, abre a primeira loja em Hamilton, Ontário. Proposta: café acessível, donuts frescos, serviço rápido para o trabalhador canadense.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55648" y="914400"/>
            <a:ext cx="36576" cy="25603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64208" y="1078992"/>
            <a:ext cx="219456" cy="219456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99616" y="13350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B1F1F"/>
                </a:solidFill>
              </a:rPr>
              <a:t>1974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6464" y="1627632"/>
            <a:ext cx="1060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Franquia
Escala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6464" y="1975104"/>
            <a:ext cx="106070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Início do modelo de franquia acelerado. Partnership com Ron Joyce transforma 1 loja em sistema nacional. 1.000 lojas no Canadá até 1991.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9503" y="914400"/>
            <a:ext cx="36576" cy="25603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98063" y="1078992"/>
            <a:ext cx="219456" cy="219456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33472" y="13350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B1F1F"/>
                </a:solidFill>
              </a:rPr>
              <a:t>1995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1627632"/>
            <a:ext cx="1060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IPO &amp;
Wendys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1975104"/>
            <a:ext cx="106070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IPO na bolsa e merger com Wendy's Internacional. Acesso a capital para expansão nos EUA e plataforma operacional de QSR global.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59" y="914400"/>
            <a:ext cx="36576" cy="25603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31920" y="1078992"/>
            <a:ext cx="219456" cy="219456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67327" y="13350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B1F1F"/>
                </a:solidFill>
              </a:rPr>
              <a:t>2009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5" y="1627632"/>
            <a:ext cx="1060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Spinoff
Independente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4175" y="1975104"/>
            <a:ext cx="106070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Spinoff completo do Wendy's. Tim Hortons volta a ser independente com 3.000+ lojas só no Canadá — dominância absoluta do mercado doméstico.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57216" y="914400"/>
            <a:ext cx="36576" cy="25603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5776" y="1078992"/>
            <a:ext cx="219456" cy="219456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01183" y="13350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B1F1F"/>
                </a:solidFill>
              </a:rPr>
              <a:t>2014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1" y="1627632"/>
            <a:ext cx="1060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Burger King
&amp; RBI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28031" y="1975104"/>
            <a:ext cx="106070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Aquisição por US$11.4B pelo Restaurant Brands International (também controlador do Burger King). Ambição declarada: replicar modelo de franquia global do BK.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91072" y="914400"/>
            <a:ext cx="36576" cy="25603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9632" y="1078992"/>
            <a:ext cx="219456" cy="219456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13350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B1F1F"/>
                </a:solidFill>
              </a:rPr>
              <a:t>2019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61888" y="1627632"/>
            <a:ext cx="1060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Expansão
China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61888" y="1975104"/>
            <a:ext cx="106070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Parceria com Cartesian Capital para expansão na China: plano de 1.500 lojas em 10 anos. Execução problemática — expansão mais lenta que o prometido.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24927" y="914400"/>
            <a:ext cx="36576" cy="25603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33488" y="1078992"/>
            <a:ext cx="219456" cy="219456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68895" y="13350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B1F1F"/>
                </a:solidFill>
              </a:rPr>
              <a:t>2022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95743" y="1627632"/>
            <a:ext cx="1060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Refresh
EUA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95743" y="1975104"/>
            <a:ext cx="106070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Tentativa de relançamento da marca nos EUA com novo posicionamento e campanhas. Presença ainda marginal vs. Starbucks e Dunkin.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58784" y="914400"/>
            <a:ext cx="36576" cy="25603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467344" y="1078992"/>
            <a:ext cx="219456" cy="219456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02752" y="133502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B1F1F"/>
                </a:solidFill>
              </a:rPr>
              <a:t>2024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1627632"/>
            <a:ext cx="1060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Expansão
México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1975104"/>
            <a:ext cx="106070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500+ lojas no México em 2024. Foco em LATAM como próximo vetor de crescimento fora do core canadense.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Arquitetura Financeira — Tim Hortons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Arquitetura financeira e estrutura de receitas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78992"/>
            <a:ext cx="2514600" cy="310896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" y="1115568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Métrica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2761488" y="1078992"/>
            <a:ext cx="1325880" cy="310896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16352" y="111556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2022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51376" y="1078992"/>
            <a:ext cx="1325880" cy="310896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11556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2023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41264" y="1078992"/>
            <a:ext cx="1325880" cy="310896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96127" y="111556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31152" y="1078992"/>
            <a:ext cx="1600200" cy="310896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111556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Fonte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26464"/>
            <a:ext cx="251460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" y="1444752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Receita Sistema (vendas lojas)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61488" y="1426464"/>
            <a:ext cx="132588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16352" y="14447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~$6.8B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51376" y="1426464"/>
            <a:ext cx="132588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14447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~$7.2B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41264" y="1426464"/>
            <a:ext cx="132588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96127" y="14447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~$7.6B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31152" y="1426464"/>
            <a:ext cx="160020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86016" y="14447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RBI Annual Report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1737360"/>
            <a:ext cx="25146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4" y="1755648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Receita RBI (royalties + supply)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61488" y="1737360"/>
            <a:ext cx="1325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16352" y="17556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$3.56B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51376" y="1737360"/>
            <a:ext cx="1325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0" y="17556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$3.89B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41264" y="1737360"/>
            <a:ext cx="1325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96127" y="17556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$4.11B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31152" y="1737360"/>
            <a:ext cx="1600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86016" y="175564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RBI Annual Report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2048256"/>
            <a:ext cx="251460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7744" y="2066544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Tim Hortons % da receita RBI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61488" y="2048256"/>
            <a:ext cx="132588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16352" y="206654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~38%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51376" y="2048256"/>
            <a:ext cx="132588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0" y="206654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~37%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41264" y="2048256"/>
            <a:ext cx="132588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96127" y="206654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~36%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31152" y="2048256"/>
            <a:ext cx="160020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86016" y="206654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RBI breakdown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" y="2359152"/>
            <a:ext cx="25146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7744" y="2377440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Lojas globais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61488" y="2359152"/>
            <a:ext cx="1325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16352" y="23774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5.700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51376" y="2359152"/>
            <a:ext cx="1325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06240" y="23774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5.900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41264" y="2359152"/>
            <a:ext cx="13258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96127" y="23774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5.700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31152" y="2359152"/>
            <a:ext cx="16002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86016" y="237744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RBI Report (net closures)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2670048"/>
            <a:ext cx="251460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7744" y="2688336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Canadá vs. Internacional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61488" y="2670048"/>
            <a:ext cx="132588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16352" y="268833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80% / 20%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51376" y="2670048"/>
            <a:ext cx="132588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06240" y="268833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78% / 22%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41264" y="2670048"/>
            <a:ext cx="132588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96127" y="268833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76% / 24%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931152" y="2670048"/>
            <a:ext cx="1600200" cy="2926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986016" y="268833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Estimativa RBI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2880" y="3090672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B1F1F"/>
                </a:solidFill>
              </a:rPr>
              <a:t>Notas Financeiras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" y="3291840"/>
            <a:ext cx="8961120" cy="1097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82880" y="3364992"/>
            <a:ext cx="2103120" cy="15727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4320" y="3419856"/>
            <a:ext cx="193852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Tim Hortons representa ~US$6–8B em vendas do sistema anualmente, mas a concentração no Canadá (80%) é o maior risco estratégico da marca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395728" y="3364992"/>
            <a:ext cx="2103120" cy="15727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487168" y="3419856"/>
            <a:ext cx="193852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Modelo de negócios: franqueado paga royalty de ~3.5% sobre vendas brutas + supply chain markup (~60% das receitas RBI derivam de fornecimento de insumos)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08576" y="3364992"/>
            <a:ext cx="2103120" cy="15727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00016" y="3419856"/>
            <a:ext cx="193852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Tentativa de expansão nos EUA fracassou 3 vezes (1980s, 1995–2009, 2017–presente). Atualmente ~700 lojas no EUA, vs. 36k Starbucks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821424" y="3364992"/>
            <a:ext cx="2103120" cy="15727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912864" y="3419856"/>
            <a:ext cx="193852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Expansão China e México crescendo mas abaixo das metas. RBI reconhece que Tim Hortons é essencialmente uma marca nacional canadense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Brand DNA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Identidade, valores e pilares estratégicos — Tim Hortons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78992"/>
            <a:ext cx="4297680" cy="2962656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133856"/>
            <a:ext cx="4078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MISSÃO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408176"/>
            <a:ext cx="40782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EEEEE"/>
                </a:solidFill>
              </a:rPr>
              <a:t>Oferecer sempre café fresco, comida de qualidade e serviço genuíno — acessível para todos os canadenses, todos os dias.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1883664"/>
            <a:ext cx="4078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VISÃO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121408"/>
            <a:ext cx="4078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EEEEE"/>
                </a:solidFill>
              </a:rPr>
              <a:t>Ser a rede de café e gastronomia QSR mais amada do Canadá e crescer globalmente com a mesma hospitalidade.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2523744"/>
            <a:ext cx="40782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TAGLINE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743200"/>
            <a:ext cx="4078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FFFFFF"/>
                </a:solidFill>
              </a:rPr>
              <a:t>"Always Fresh"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3054096"/>
            <a:ext cx="4078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HERITAGE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3273552"/>
            <a:ext cx="40782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CCCC"/>
                </a:solidFill>
              </a:rPr>
              <a:t>Fundada em 1964 por um ícone do hóquei canadense, Tim Hortons é mais do que uma cafeteria — é um símbolo cultural nacional, presente em cada cidade e vilarejo do Canadá com mais de 5.700 lojas.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078992"/>
            <a:ext cx="4297680" cy="237744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3168" y="1097280"/>
            <a:ext cx="4078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PERSONALIDADE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371600"/>
            <a:ext cx="2084831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2" y="1408176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Autêntico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21424" y="1371600"/>
            <a:ext cx="2084831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94576" y="1408176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Acessível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1773936"/>
            <a:ext cx="2084831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6592" y="1810512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Canadense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21424" y="1773936"/>
            <a:ext cx="2084831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94576" y="1810512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Comunitário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2176272"/>
            <a:ext cx="2084831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36592" y="2212848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Confiável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21424" y="2176272"/>
            <a:ext cx="2084831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94576" y="2212848"/>
            <a:ext cx="1956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Familiar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2651760"/>
            <a:ext cx="4297680" cy="237744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2670048"/>
            <a:ext cx="40782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PILARES ESTRATÉGICOS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2944368"/>
            <a:ext cx="822960" cy="15179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2999232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B1F1F"/>
                </a:solidFill>
              </a:rPr>
              <a:t>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0016" y="3401568"/>
            <a:ext cx="7498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1A1A"/>
                </a:solidFill>
              </a:rPr>
              <a:t>Canadian
Identity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22976" y="2944368"/>
            <a:ext cx="822960" cy="15179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59552" y="2999232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B1F1F"/>
                </a:solidFill>
              </a:rPr>
              <a:t>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59552" y="3401568"/>
            <a:ext cx="7498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1A1A"/>
                </a:solidFill>
              </a:rPr>
              <a:t>Fresh
Coffee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82512" y="2944368"/>
            <a:ext cx="822960" cy="15179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9088" y="2999232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B1F1F"/>
                </a:solidFill>
              </a:rPr>
              <a:t>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9088" y="3401568"/>
            <a:ext cx="7498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1A1A"/>
                </a:solidFill>
              </a:rPr>
              <a:t>Iconic
Timbits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42048" y="2944368"/>
            <a:ext cx="822960" cy="15179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78624" y="2999232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B1F1F"/>
                </a:solidFill>
              </a:rPr>
              <a:t>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78624" y="3401568"/>
            <a:ext cx="7498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1A1A"/>
                </a:solidFill>
              </a:rPr>
              <a:t>Community
Roots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01583" y="2944368"/>
            <a:ext cx="822960" cy="15179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38159" y="2999232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B1F1F"/>
                </a:solidFill>
              </a:rPr>
              <a:t>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59" y="3401568"/>
            <a:ext cx="7498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1A1A"/>
                </a:solidFill>
              </a:rPr>
              <a:t>Fast
Service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Brand Positioning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Estrutura de posicionamento — Tim Hortons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078992"/>
            <a:ext cx="2852928" cy="1664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1078992"/>
            <a:ext cx="2852928" cy="25603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" y="1115568"/>
            <a:ext cx="2706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BRAND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" y="1389888"/>
            <a:ext cx="270662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Tim Hortons é a cafeteria do canadense comum — não premium, não aspiracional, mas genuinamente amada. O equivalente cafeteiro do que a cerveja Molson é para a identidade cultural canadense.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078992"/>
            <a:ext cx="2852928" cy="1664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08960" y="1078992"/>
            <a:ext cx="2852928" cy="25603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82112" y="1115568"/>
            <a:ext cx="2706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CORE CREATIVE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1389888"/>
            <a:ext cx="270662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Tims é parte de quem você é: o café que você toma antes do trabalho, depois do jogo, entre amigos. É ritual nacional.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53328" y="1078992"/>
            <a:ext cx="2852928" cy="1664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53328" y="1078992"/>
            <a:ext cx="2852928" cy="25603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115568"/>
            <a:ext cx="2706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BENEFÍCIOS PRODUTO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389888"/>
            <a:ext cx="270662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Café 100% arábica blend acessível; Timbits (bolinhos fritos icônicos); sanduíches de café da manhã; preço 30–40% menor que Starbucks; drive-thru em 90% das lojas canadenses.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" y="2816352"/>
            <a:ext cx="2852928" cy="1664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4592" y="2816352"/>
            <a:ext cx="2852928" cy="25603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" y="2852928"/>
            <a:ext cx="2706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BENEFÍCIOS EMOCIONAIS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" y="3127248"/>
            <a:ext cx="270662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Sentir-se parte do Canadá; conforto e familiaridade; pertencimento comunitário; nostalgia e continuidade cultural.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2816352"/>
            <a:ext cx="2852928" cy="1664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08960" y="2816352"/>
            <a:ext cx="2852928" cy="25603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82112" y="2852928"/>
            <a:ext cx="2706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RTBs — RAZÕES PARA ACREDITAR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82112" y="3127248"/>
            <a:ext cx="270662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Leader em market share no Canadá (78% dos canadenses visitam ao menos 1×/mês); Timbits como produto icônico sem equivalente; Roll Up The Rim como ritual cultural institucionalizado.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53328" y="2816352"/>
            <a:ext cx="2852928" cy="16642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53328" y="2816352"/>
            <a:ext cx="2852928" cy="25603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2852928"/>
            <a:ext cx="2706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BRAND VALUES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127248"/>
            <a:ext cx="270662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Acessibilidade; canadensidade autêntica; comunidade local; sempre fresco; confiabilidade de rede.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Estratégia Ho.Re.Ca. &amp; Fora do 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Out-of-home e canais B2B — Tim Hortons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042415"/>
            <a:ext cx="8778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Tim Hortons opera essencialmente no QSR (Quick Service Restaurant) — não no foodservice tradicional. Não há estratégia Ho.Re.Ca. clássica: o modelo é de franquia de volume, não de posicionamento B2B.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1481328"/>
            <a:ext cx="8961120" cy="1097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554480"/>
            <a:ext cx="2121408" cy="32552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1554480"/>
            <a:ext cx="2121408" cy="512064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" y="157276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27632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DRIVE-THRU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121408"/>
            <a:ext cx="1975103" cy="2615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Meta: 3 minutos do pedido à entrega</a:t>
            </a:r>
          </a:p>
          <a:p>
            <a:r>
              <a:rPr sz="800">
                <a:solidFill>
                  <a:srgbClr val="1A1A1A"/>
                </a:solidFill>
              </a:rPr>
              <a:t>•  Arquitetura de loja desenhada para throughput</a:t>
            </a:r>
          </a:p>
          <a:p>
            <a:r>
              <a:rPr sz="800">
                <a:solidFill>
                  <a:srgbClr val="1A1A1A"/>
                </a:solidFill>
              </a:rPr>
              <a:t>•  Peak hour: 6h–9h e 11h–14h</a:t>
            </a:r>
          </a:p>
          <a:p>
            <a:r>
              <a:rPr sz="800">
                <a:solidFill>
                  <a:srgbClr val="1A1A1A"/>
                </a:solidFill>
              </a:rPr>
              <a:t>•  Maior concentração de drive-thrus do Canadá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59152" y="1554480"/>
            <a:ext cx="2121408" cy="32552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59152" y="1554480"/>
            <a:ext cx="2121408" cy="512064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14016" y="157276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1627632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CORPORATE /
OFFICE SUPPLY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0592" y="2121408"/>
            <a:ext cx="1975103" cy="2615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Presença em 80% das universidades canadenses</a:t>
            </a:r>
          </a:p>
          <a:p>
            <a:r>
              <a:rPr sz="800">
                <a:solidFill>
                  <a:srgbClr val="1A1A1A"/>
                </a:solidFill>
              </a:rPr>
              <a:t>•  Maquinário de self-serve instalado em acordos multianual</a:t>
            </a:r>
          </a:p>
          <a:p>
            <a:r>
              <a:rPr sz="800">
                <a:solidFill>
                  <a:srgbClr val="1A1A1A"/>
                </a:solidFill>
              </a:rPr>
              <a:t>•  Café enlatado e embalado para consumo doméstico</a:t>
            </a:r>
          </a:p>
          <a:p>
            <a:r>
              <a:rPr sz="800">
                <a:solidFill>
                  <a:srgbClr val="1A1A1A"/>
                </a:solidFill>
              </a:rPr>
              <a:t>•  Canal menos premium, mais de penetração de hábito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35424" y="1554480"/>
            <a:ext cx="2121408" cy="32552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35424" y="1554480"/>
            <a:ext cx="2121408" cy="512064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0288" y="157276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🏟️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10912" y="1627632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EVENTOS &amp;
VENUES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864" y="2121408"/>
            <a:ext cx="1975103" cy="2615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Naming rights e quiosques em Rogers Centre, Bell Centre</a:t>
            </a:r>
          </a:p>
          <a:p>
            <a:r>
              <a:rPr sz="800">
                <a:solidFill>
                  <a:srgbClr val="1A1A1A"/>
                </a:solidFill>
              </a:rPr>
              <a:t>•  Patrocínio oficial da NHL canadense</a:t>
            </a:r>
          </a:p>
          <a:p>
            <a:r>
              <a:rPr sz="800">
                <a:solidFill>
                  <a:srgbClr val="1A1A1A"/>
                </a:solidFill>
              </a:rPr>
              <a:t>•  Presença em todos os estádios CFL</a:t>
            </a:r>
          </a:p>
          <a:p>
            <a:r>
              <a:rPr sz="800">
                <a:solidFill>
                  <a:srgbClr val="1A1A1A"/>
                </a:solidFill>
              </a:rPr>
              <a:t>•  Sinalização co-branded em eventos universitários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11696" y="1554480"/>
            <a:ext cx="2121408" cy="32552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11696" y="1554480"/>
            <a:ext cx="2121408" cy="512064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59" y="157276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✈️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87183" y="1627632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TRAVEL &amp;
AIRPORTS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03136" y="2121408"/>
            <a:ext cx="1975103" cy="2615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80+ lojas em aeroportos canadenses</a:t>
            </a:r>
          </a:p>
          <a:p>
            <a:r>
              <a:rPr sz="800">
                <a:solidFill>
                  <a:srgbClr val="1A1A1A"/>
                </a:solidFill>
              </a:rPr>
              <a:t>•  Service Areas na Hwy 401 e Trans-Canada</a:t>
            </a:r>
          </a:p>
          <a:p>
            <a:r>
              <a:rPr sz="800">
                <a:solidFill>
                  <a:srgbClr val="1A1A1A"/>
                </a:solidFill>
              </a:rPr>
              <a:t>•  Parceria exclusiva em algumas rotas da Air Canada</a:t>
            </a:r>
          </a:p>
          <a:p>
            <a:r>
              <a:rPr sz="800">
                <a:solidFill>
                  <a:srgbClr val="1A1A1A"/>
                </a:solidFill>
              </a:rPr>
              <a:t>•  Estratégia de ocupação de tráfego, não de posicionamento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486460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88888"/>
                </a:solidFill>
              </a:rPr>
              <a:t>Nota: Tim Hortons não tem estratégia Ho.Re.Ca. premium — o modelo é o oposto: máxima penetração, máximo volume, mínimo posicionamento. Lição: isso funciona no Canadá, mas não viaja bem.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Portfólio de Produtos — Tim Hortons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Portfólio de produtos e linhas estratégicas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78992"/>
            <a:ext cx="2139696" cy="395020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78992"/>
            <a:ext cx="2139696" cy="310896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097280"/>
            <a:ext cx="202996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CAFÉ &amp; BEBIDAS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" y="1444752"/>
            <a:ext cx="2029967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148132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</a:rPr>
              <a:t>Original Blend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173736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Blend arábica acessível, torra média suave. Padrão do país. 78% dos pedidos incluem café.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08483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R$8–12 equivalente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" y="2395728"/>
            <a:ext cx="2029967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" y="243230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</a:rPr>
              <a:t>Tim's Dark Roast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268833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Torra escura lançada em 2014 para competir com Starbucks/McDonald's McCafe no tier superior.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03580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Equivalente a US$2.49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" y="3346704"/>
            <a:ext cx="2029967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" y="338328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</a:rPr>
              <a:t>Frozen Beverages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" y="363931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Linha Chill'd e Ice Capps — bebidas geladas sazonais, alta rentabilidade, forte em verão.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98678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~US$3.99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1078992"/>
            <a:ext cx="2139696" cy="395020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77440" y="1078992"/>
            <a:ext cx="2139696" cy="310896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50592" y="1097280"/>
            <a:ext cx="202996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FOOD — ICÔNICOS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32304" y="1444752"/>
            <a:ext cx="2029967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87168" y="148132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</a:rPr>
              <a:t>Timbits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87168" y="173736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Bolinhos de massa frita em 20 sabores — ícone cultural canadense desde 1976. Impossível separar Tims da identidade dos Timbits.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87168" y="208483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Caixa 20un = ~US$4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32304" y="2395728"/>
            <a:ext cx="2029967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87168" y="243230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</a:rPr>
              <a:t>Everything Bagel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87168" y="268833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Bagel com cream cheese — café da manhã padrão de 60%+ dos canadenses que visitam.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87168" y="303580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~US$3.99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32304" y="3346704"/>
            <a:ext cx="2029967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87168" y="338328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</a:rPr>
              <a:t>Grilled Cheese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87168" y="363931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Sanduíche quente acessível — parte da linha Always Fresh. Posicionamento de conforto.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87168" y="398678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~US$4.49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1078992"/>
            <a:ext cx="2139696" cy="395020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1078992"/>
            <a:ext cx="2139696" cy="310896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45152" y="1097280"/>
            <a:ext cx="202996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FOOD — EXPANSÃO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26864" y="1444752"/>
            <a:ext cx="2029967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81728" y="148132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</a:rPr>
              <a:t>Loaded Wraps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1728" y="173736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Linha de wraps lançada em 2022 para capturar o lunch crowd e competir com fast casual.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1728" y="208483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~US$7.99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26864" y="2395728"/>
            <a:ext cx="2029967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81728" y="243230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</a:rPr>
              <a:t>Plant-Based Beyond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81728" y="268833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Parceria com Beyond Meat para burger plant-based. Tentativa de relevância millennial.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81728" y="303580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~US$7.49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26864" y="3346704"/>
            <a:ext cx="2029967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81728" y="338328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</a:rPr>
              <a:t>Croissant Bites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81728" y="363931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Lançamento 2023 de pastéis europeus — tentativa de premiumização discreta do portfólio.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81728" y="398678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~US$5.49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66559" y="1078992"/>
            <a:ext cx="2139696" cy="395020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766559" y="1078992"/>
            <a:ext cx="2139696" cy="310896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39712" y="1097280"/>
            <a:ext cx="202996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MERCH &amp; RETAIL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21423" y="1444752"/>
            <a:ext cx="2029967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76288" y="148132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</a:rPr>
              <a:t>Tim Hortons At Home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76288" y="173736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Café embalado para consumo doméstico: Keurig pods, cápsulas, ground coffee. Canal retail.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76288" y="208483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US$8–12/pacote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21423" y="2395728"/>
            <a:ext cx="2029967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76288" y="243230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</a:rPr>
              <a:t>Mug &amp; Tumblers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76288" y="268833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Canecas e tumblers co-brandados — em especial as edições de Natal e Roll Up The Rim.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76288" y="303580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~US$20–25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21423" y="3346704"/>
            <a:ext cx="2029967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76288" y="338328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</a:rPr>
              <a:t>Heritage Collection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76288" y="363931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Linha de merch nostálgico lançada para os 60 anos (2024). Camisetas, bonés, pins de hóquei.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76288" y="398678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US$25–45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Marketing &amp; Ativações — Tim Hortons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Campanhas e ativações de marca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78992"/>
            <a:ext cx="2121408" cy="3840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78992"/>
            <a:ext cx="2121408" cy="402336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097280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ROLL UP THE RIM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517904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B1F1F"/>
                </a:solidFill>
              </a:rPr>
              <a:t>1986–2020 / Digital 2020+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1773936"/>
            <a:ext cx="2011679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1A1A1A"/>
                </a:solidFill>
              </a:rPr>
              <a:t>•  Programa sazonal de primavera: aba interna do copo com prêmios</a:t>
            </a:r>
          </a:p>
          <a:p>
            <a:r>
              <a:rPr sz="750">
                <a:solidFill>
                  <a:srgbClr val="1A1A1A"/>
                </a:solidFill>
              </a:rPr>
              <a:t>•  35 anos de tradição antes da migração para app digital</a:t>
            </a:r>
          </a:p>
          <a:p>
            <a:r>
              <a:rPr sz="750">
                <a:solidFill>
                  <a:srgbClr val="1A1A1A"/>
                </a:solidFill>
              </a:rPr>
              <a:t>•  Maior promotor single de tráfego de loja da história QSR canadense</a:t>
            </a:r>
          </a:p>
          <a:p>
            <a:r>
              <a:rPr sz="750">
                <a:solidFill>
                  <a:srgbClr val="1A1A1A"/>
                </a:solidFill>
              </a:rPr>
              <a:t>•  Geração de PR e ritual social: 'você ganhou?' virou expressão cultural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4279392"/>
            <a:ext cx="2121408" cy="47548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4315968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Resultado: Incremento de 15–20% em visitas durante o período da promoção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59152" y="1078992"/>
            <a:ext cx="2121408" cy="3840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59152" y="1078992"/>
            <a:ext cx="2121408" cy="402336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32304" y="1097280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SMILE COOKIE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2304" y="1517904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B1F1F"/>
                </a:solidFill>
              </a:rPr>
              <a:t>Anual · Outubro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2304" y="1773936"/>
            <a:ext cx="2011679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1A1A1A"/>
                </a:solidFill>
              </a:rPr>
              <a:t>•  1 semana em que 100% da receita do cookie sorridente vai para caridade local</a:t>
            </a:r>
          </a:p>
          <a:p>
            <a:r>
              <a:rPr sz="750">
                <a:solidFill>
                  <a:srgbClr val="1A1A1A"/>
                </a:solidFill>
              </a:rPr>
              <a:t>•  Cada franqueado escolhe a instituição local beneficiada</a:t>
            </a:r>
          </a:p>
          <a:p>
            <a:r>
              <a:rPr sz="750">
                <a:solidFill>
                  <a:srgbClr val="1A1A1A"/>
                </a:solidFill>
              </a:rPr>
              <a:t>•  Humaniza a franquia ao criar impacto hiperlocal</a:t>
            </a:r>
          </a:p>
          <a:p>
            <a:r>
              <a:rPr sz="750">
                <a:solidFill>
                  <a:srgbClr val="1A1A1A"/>
                </a:solidFill>
              </a:rPr>
              <a:t>•  Geração orgânica de cobertura em mídia local em 500+ cidades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59152" y="4279392"/>
            <a:ext cx="2121408" cy="47548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32304" y="4315968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Resultado: Mais de C$15M arrecadados em caridade local anualmente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35424" y="1078992"/>
            <a:ext cx="2121408" cy="3840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35424" y="1078992"/>
            <a:ext cx="2121408" cy="402336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08576" y="1097280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HOCKEY HERITAGE
CAMPAIGNS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8576" y="1517904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B1F1F"/>
                </a:solidFill>
              </a:rPr>
              <a:t>Décadas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8576" y="1773936"/>
            <a:ext cx="2011679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1A1A1A"/>
                </a:solidFill>
              </a:rPr>
              <a:t>•  Patrocínio da NHL, WHL, OHL e hockey universitário canadense</a:t>
            </a:r>
          </a:p>
          <a:p>
            <a:r>
              <a:rPr sz="750">
                <a:solidFill>
                  <a:srgbClr val="1A1A1A"/>
                </a:solidFill>
              </a:rPr>
              <a:t>•  Tim Hortons patrocina o Timbits Hockey — programa de hóquei infantil</a:t>
            </a:r>
          </a:p>
          <a:p>
            <a:r>
              <a:rPr sz="750">
                <a:solidFill>
                  <a:srgbClr val="1A1A1A"/>
                </a:solidFill>
              </a:rPr>
              <a:t>•  Conexão da marca com a infância canadense: formação de hábito precoce</a:t>
            </a:r>
          </a:p>
          <a:p>
            <a:r>
              <a:rPr sz="750">
                <a:solidFill>
                  <a:srgbClr val="1A1A1A"/>
                </a:solidFill>
              </a:rPr>
              <a:t>•  Campanhas de TV em tons nostálgicos e emocionais durante o playoffs da NHL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35424" y="4279392"/>
            <a:ext cx="2121408" cy="47548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4315968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Resultado: 90%+ de associação espontânea entre Tims e hóquei entre canadenses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11696" y="1078992"/>
            <a:ext cx="2121408" cy="3840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11696" y="1078992"/>
            <a:ext cx="2121408" cy="402336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84848" y="1097280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DARK HOURS
CAMPAIGN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1517904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B1F1F"/>
                </a:solidFill>
              </a:rPr>
              <a:t>2019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1773936"/>
            <a:ext cx="2011679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1A1A1A"/>
                </a:solidFill>
              </a:rPr>
              <a:t>•  Campanha de reposicionamento global para competir no tier specialty</a:t>
            </a:r>
          </a:p>
          <a:p>
            <a:r>
              <a:rPr sz="750">
                <a:solidFill>
                  <a:srgbClr val="1A1A1A"/>
                </a:solidFill>
              </a:rPr>
              <a:t>•  Dark Roast como produto âncora; cinematografia de fazendas de café</a:t>
            </a:r>
          </a:p>
          <a:p>
            <a:r>
              <a:rPr sz="750">
                <a:solidFill>
                  <a:srgbClr val="1A1A1A"/>
                </a:solidFill>
              </a:rPr>
              <a:t>•  Tentativa de capturar o consumidor Starbucks sem alienar o core</a:t>
            </a:r>
          </a:p>
          <a:p>
            <a:r>
              <a:rPr sz="750">
                <a:solidFill>
                  <a:srgbClr val="1A1A1A"/>
                </a:solidFill>
              </a:rPr>
              <a:t>•  Resultado misto — consumidor não associa Tims a specialty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11696" y="4279392"/>
            <a:ext cx="2121408" cy="47548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84848" y="4315968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Resultado: Vendas de Dark Roast cresceram 12% mas core brand não moveu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Digital &amp; Social — Tim Hortons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Estratégia digital, social e campanhas notáveis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042415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B1F1F"/>
                </a:solidFill>
              </a:rPr>
              <a:t>PRESENÇA DIGITAL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316736"/>
            <a:ext cx="2121408" cy="9692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1353312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B1F1F"/>
                </a:solidFill>
              </a:rPr>
              <a:t>INSTAGRAM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609344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@timhortons · 1.1M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1883664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Misto de nostalgia, promoções sazonais e user-generated content. Tom: quente, familiar, sem aspiração.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9152" y="1316736"/>
            <a:ext cx="2121408" cy="9692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32304" y="1353312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B1F1F"/>
                </a:solidFill>
              </a:rPr>
              <a:t>TIKTOK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2304" y="1609344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@timhortons · 800K+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2304" y="1883664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Ativa na plataforma com challenges e conteúdo gerado por fãs. 'Timstok' como movimento orgânico de millennials canadenses saudosistas.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35424" y="1316736"/>
            <a:ext cx="2121408" cy="9692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6" y="1353312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B1F1F"/>
                </a:solidFill>
              </a:rPr>
              <a:t>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1609344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Tim Hortons App · 10M+ downloads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1883664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App de lealdade robusto com Roll Up The Rim digital, ordering, payment. Um dos apps de QSR mais usados no Canadá.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11696" y="1316736"/>
            <a:ext cx="2121408" cy="9692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8" y="1353312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B1F1F"/>
                </a:solidFill>
              </a:rPr>
              <a:t>TWITTER/X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1609344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@TimHortons · 280K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1883664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Ativa em social listening e respostas a fãs. Usado para anúncios de lançamento e PR de crise.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" y="2377440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B1F1F"/>
                </a:solidFill>
              </a:rPr>
              <a:t>CAMPANHAS DIGITAIS NOTÁVEIS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" y="2633472"/>
            <a:ext cx="8961120" cy="1097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2880" y="2706624"/>
            <a:ext cx="2121408" cy="22311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2880" y="2706624"/>
            <a:ext cx="2121408" cy="2743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" y="2724912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TIMMIES CHALLENGE
TIKTOK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" y="3017520"/>
            <a:ext cx="2011679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Challenge viral no TikTok de 'hacks' de bebidas Tims (ex: café + lemonade). Gerou 200M+ views sem custo de produção.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59152" y="2706624"/>
            <a:ext cx="2121408" cy="22311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359152" y="2706624"/>
            <a:ext cx="2121408" cy="2743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32304" y="2724912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ROLL UP TO WIN
DIGITAL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32304" y="3017520"/>
            <a:ext cx="2011679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Migração do Roll Up The Rim físico para digital em 2020. App downloads subiram 200% na primeira edição. Gameification com prizes diários.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35424" y="2706624"/>
            <a:ext cx="2121408" cy="22311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35424" y="2706624"/>
            <a:ext cx="2121408" cy="2743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08576" y="2724912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WELCOME TO TIMS
GLOBAL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08576" y="3017520"/>
            <a:ext cx="2011679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Série de vídeos de 'boas-vindas' para novos países (China, México, UK). Onboarding cultural para consumidores não-canadenses.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11696" y="2706624"/>
            <a:ext cx="2121408" cy="22311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11696" y="2706624"/>
            <a:ext cx="2121408" cy="2743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84848" y="2724912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HOCKEY TWITTER
INTEGRATION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84848" y="3017520"/>
            <a:ext cx="2011679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Real-time content durante jogos da NHL no Twitter/X. Engajamento instantâneo com fãs em finais e playoffs.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Sustentabilidade &amp; ESG — Tim Hortons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Sustentabilidade, ESG e compromissos ambientais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78992"/>
            <a:ext cx="2121408" cy="3840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78992"/>
            <a:ext cx="2121408" cy="512064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" y="1097280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152144"/>
            <a:ext cx="1536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RESPONSIBLE SOURCING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45920"/>
            <a:ext cx="197510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Parceria com Rainforest Alliance desde 2005</a:t>
            </a:r>
          </a:p>
          <a:p>
            <a:r>
              <a:rPr sz="800">
                <a:solidFill>
                  <a:srgbClr val="1A1A1A"/>
                </a:solidFill>
              </a:rPr>
              <a:t>•  Relatório anual de sourcing com dados de fazendas</a:t>
            </a:r>
          </a:p>
          <a:p>
            <a:r>
              <a:rPr sz="800">
                <a:solidFill>
                  <a:srgbClr val="1A1A1A"/>
                </a:solidFill>
              </a:rPr>
              <a:t>•  Prêmio de preço ao produtor acima de commodity</a:t>
            </a:r>
          </a:p>
          <a:p>
            <a:r>
              <a:rPr sz="800">
                <a:solidFill>
                  <a:srgbClr val="1A1A1A"/>
                </a:solidFill>
              </a:rPr>
              <a:t>•  Cocoa e palmito também certificados para food items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9152" y="1078992"/>
            <a:ext cx="2121408" cy="3840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59152" y="1078992"/>
            <a:ext cx="2121408" cy="512064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14016" y="1097280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♻️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1216" y="1152144"/>
            <a:ext cx="1536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PACKAGING CIRCULARITY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0592" y="1645920"/>
            <a:ext cx="197510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Copos de papel certificados FSC em 90% dos mercados</a:t>
            </a:r>
          </a:p>
          <a:p>
            <a:r>
              <a:rPr sz="800">
                <a:solidFill>
                  <a:srgbClr val="1A1A1A"/>
                </a:solidFill>
              </a:rPr>
              <a:t>•  Parceria com TerraCycle para reciclagem de copos</a:t>
            </a:r>
          </a:p>
          <a:p>
            <a:r>
              <a:rPr sz="800">
                <a:solidFill>
                  <a:srgbClr val="1A1A1A"/>
                </a:solidFill>
              </a:rPr>
              <a:t>•  Talheres de plástico eliminados em 2021 no Canadá</a:t>
            </a:r>
          </a:p>
          <a:p>
            <a:r>
              <a:rPr sz="800">
                <a:solidFill>
                  <a:srgbClr val="1A1A1A"/>
                </a:solidFill>
              </a:rPr>
              <a:t>•  Meta: zero desperdício em operações até 2030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35424" y="1078992"/>
            <a:ext cx="2121408" cy="3840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35424" y="1078992"/>
            <a:ext cx="2121408" cy="512064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0288" y="1097280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7488" y="1152144"/>
            <a:ext cx="1536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TIMS FOR GOOD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645920"/>
            <a:ext cx="197510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Tim Hortons Foundation Camps: 24.000 jovens/ano</a:t>
            </a:r>
          </a:p>
          <a:p>
            <a:r>
              <a:rPr sz="800">
                <a:solidFill>
                  <a:srgbClr val="1A1A1A"/>
                </a:solidFill>
              </a:rPr>
              <a:t>•  Timbits Hockey: 200.000 crianças em programas esportivos</a:t>
            </a:r>
          </a:p>
          <a:p>
            <a:r>
              <a:rPr sz="800">
                <a:solidFill>
                  <a:srgbClr val="1A1A1A"/>
                </a:solidFill>
              </a:rPr>
              <a:t>•  Parceria com Settlement Services para refugiados</a:t>
            </a:r>
          </a:p>
          <a:p>
            <a:r>
              <a:rPr sz="800">
                <a:solidFill>
                  <a:srgbClr val="1A1A1A"/>
                </a:solidFill>
              </a:rPr>
              <a:t>•  Smile Cookie arrecada C$15M+/ano para causas locais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11696" y="1078992"/>
            <a:ext cx="2121408" cy="3840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11696" y="1078992"/>
            <a:ext cx="2121408" cy="512064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59" y="1097280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1152144"/>
            <a:ext cx="1536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CLIMATE COMMITMENT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03136" y="1645920"/>
            <a:ext cx="197510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A1A1A"/>
                </a:solidFill>
              </a:rPr>
              <a:t>•  Redução de emissões Scope 1 e 2 em 50% até 2030</a:t>
            </a:r>
          </a:p>
          <a:p>
            <a:r>
              <a:rPr sz="800">
                <a:solidFill>
                  <a:srgbClr val="1A1A1A"/>
                </a:solidFill>
              </a:rPr>
              <a:t>•  EVs para fleet de distribuição logística</a:t>
            </a:r>
          </a:p>
          <a:p>
            <a:r>
              <a:rPr sz="800">
                <a:solidFill>
                  <a:srgbClr val="1A1A1A"/>
                </a:solidFill>
              </a:rPr>
              <a:t>•  Eficiência energética em redesign de lojas</a:t>
            </a:r>
          </a:p>
          <a:p>
            <a:r>
              <a:rPr sz="800">
                <a:solidFill>
                  <a:srgbClr val="1A1A1A"/>
                </a:solidFill>
              </a:rPr>
              <a:t>•  Alinhamento com Paris Agreement via RBI commitment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Scorecard Estratégico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KPIs e posicionamento competitivo — Tim Hortons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78992"/>
            <a:ext cx="2121408" cy="310896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97280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ESCALA &amp; REDE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426464"/>
            <a:ext cx="2121408" cy="82296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1463040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B1F1F"/>
                </a:solidFill>
              </a:rPr>
              <a:t>Lojas globais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1700784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5.700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" y="1993392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2024 — maioria no Canadá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2304288"/>
            <a:ext cx="2121408" cy="82296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2340864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B1F1F"/>
                </a:solidFill>
              </a:rPr>
              <a:t>Market share Canadá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2578608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~40%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2871216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Share de mercado em QSR café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182112"/>
            <a:ext cx="2121408" cy="82296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3218688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B1F1F"/>
                </a:solidFill>
              </a:rPr>
              <a:t>Visitas/mês cdn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" y="345643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78% da população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" y="3749039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Frequência mensal de consumo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4059935"/>
            <a:ext cx="2121408" cy="82296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" y="4096511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B1F1F"/>
                </a:solidFill>
              </a:rPr>
              <a:t>Drive-thrus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" y="4334255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90%+ lojas canadenses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" y="4626864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Vantagem operacional vs. concorrentes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59152" y="1078992"/>
            <a:ext cx="2121408" cy="310896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32304" y="1097280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EXPANSÃO INTERNACIONAL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59152" y="1426464"/>
            <a:ext cx="2121408" cy="82296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32304" y="1463040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B1F1F"/>
                </a:solidFill>
              </a:rPr>
              <a:t>EUA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32304" y="1700784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~650 lojas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32304" y="1993392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Mínimo vs. mercado total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59152" y="2304288"/>
            <a:ext cx="2121408" cy="82296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32304" y="2340864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B1F1F"/>
                </a:solidFill>
              </a:rPr>
              <a:t>China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32304" y="2578608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~900 lojas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32304" y="2871216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Alvo: 1.500 até 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59152" y="3182112"/>
            <a:ext cx="2121408" cy="82296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32304" y="3218688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B1F1F"/>
                </a:solidFill>
              </a:rPr>
              <a:t>México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32304" y="345643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~500 lojas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32304" y="3749039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Crescimento mais rápido fora do core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59152" y="4059935"/>
            <a:ext cx="2121408" cy="82296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32304" y="4096511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B1F1F"/>
                </a:solidFill>
              </a:rPr>
              <a:t>UK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32304" y="4334255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~30 lojas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32304" y="4626864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Presença simbólica, alta base custo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35424" y="1078992"/>
            <a:ext cx="2121408" cy="310896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08576" y="1097280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FINANCEIRO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35424" y="1426464"/>
            <a:ext cx="2121408" cy="82296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08576" y="1463040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B1F1F"/>
                </a:solidFill>
              </a:rPr>
              <a:t>Receita sistema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8576" y="1700784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~$7.6B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08576" y="1993392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Vendas consolidadas da rede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35424" y="2304288"/>
            <a:ext cx="2121408" cy="82296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08576" y="2340864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B1F1F"/>
                </a:solidFill>
              </a:rPr>
              <a:t>% receita RBI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08576" y="2578608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~36%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08576" y="2871216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Segundo maior brand do portfólio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35424" y="3182112"/>
            <a:ext cx="2121408" cy="82296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08576" y="3218688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B1F1F"/>
                </a:solidFill>
              </a:rPr>
              <a:t>Ticket médio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08576" y="345643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~$7–9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08576" y="3749039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Vs. $12–15 Starbucks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35424" y="4059935"/>
            <a:ext cx="2121408" cy="82296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08576" y="4096511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B1F1F"/>
                </a:solidFill>
              </a:rPr>
              <a:t>Royalty rate franqueado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08576" y="4334255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3.5% vendas brutas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08576" y="4626864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Modelo de franchising padrão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11696" y="1078992"/>
            <a:ext cx="2121408" cy="310896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84848" y="1097280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MARCA &amp; PERCEPÇÃO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11696" y="1426464"/>
            <a:ext cx="2121408" cy="82296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84848" y="1463040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B1F1F"/>
                </a:solidFill>
              </a:rPr>
              <a:t>Brand Equity Canadá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84848" y="1700784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#1 QSR café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84848" y="1993392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Source: Leger Marketing 2024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711696" y="2304288"/>
            <a:ext cx="2121408" cy="82296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84848" y="2340864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B1F1F"/>
                </a:solidFill>
              </a:rPr>
              <a:t>Brand Equity EUA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84848" y="2578608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Desconhecido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84848" y="2871216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Sem presença significativa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711696" y="3182112"/>
            <a:ext cx="2121408" cy="82296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784848" y="3218688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B1F1F"/>
                </a:solidFill>
              </a:rPr>
              <a:t>NPS Canadá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84848" y="345643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~68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84848" y="3749039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Alta lealdade doméstica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11696" y="4059935"/>
            <a:ext cx="2121408" cy="82296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84848" y="4096511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B1F1F"/>
                </a:solidFill>
              </a:rPr>
              <a:t>NPS EUA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84848" y="4334255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~22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84848" y="4626864"/>
            <a:ext cx="2011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</a:rPr>
              <a:t>Fraqueza no mercado-alvo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Lições para a Orfeu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Ângulo: Do Canadá para o mundo: franchising e identidade cultural na expansão internacional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078992"/>
            <a:ext cx="2834640" cy="1627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1078992"/>
            <a:ext cx="2834640" cy="2743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" y="1115568"/>
            <a:ext cx="2688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1. Identidade cultural nacional não viaja automaticamente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" y="1408176"/>
            <a:ext cx="268833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Tim Hortons é onipresente no Canadá porque encarna a identidade canadense — o que não existe nos EUA ou em outros países. Para a Orfeu, o 'café brasileiro' como identidade emocional precisa ser construído nos EUA, não assumido. Não é suficiente ser do Brasil: é necessário criar o significado cultural a partir do zero no novo mercado.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078992"/>
            <a:ext cx="2834640" cy="1627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08960" y="1078992"/>
            <a:ext cx="2834640" cy="2743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82112" y="1115568"/>
            <a:ext cx="2688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2. Franchising escala o modelo, mas não o significado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1408176"/>
            <a:ext cx="268833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RBI tentou usar o playbook do Burger King (franquia agressiva + redução de custos) em Tim Hortons. Falhou porque o que torna Tims especial é precisamente o oposto da otimização de franquia — é o toque local, o Smile Cookie, o franqueado que conhece os clientes pelo nome. A Orfeu deve resistir à tentação de escalar prematuramente via franquia antes de solidificar o que a torna especial.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53328" y="1078992"/>
            <a:ext cx="2834640" cy="1627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53328" y="1078992"/>
            <a:ext cx="2834640" cy="2743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115568"/>
            <a:ext cx="2688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3. O tier de preço cria um teto de percepção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408176"/>
            <a:ext cx="268833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Tim Hortons posiciona como o oposto do premium — café acessível para todos. Isso torna virtualmente impossível elevar o preço ou o tier sem quebrar a promessa da marca. Para a Orfeu, o posicionamento premium desde o dia 1 nos EUA é essencial: sair de specialty e tentar descer para commodity é irrecuperável.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" y="2779776"/>
            <a:ext cx="2834640" cy="1627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4592" y="2779776"/>
            <a:ext cx="2834640" cy="2743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" y="2816352"/>
            <a:ext cx="2688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4. Produto icônico como âncora cultural — o equivalente ao 'Timbit'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" y="3108960"/>
            <a:ext cx="268833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Timbits é a prova de que um produto simples pode se tornar um ritual cultural. Para a Orfeu nos EUA, qual é o equivalente — o produto ou ritual que define a visita? O blend paulistano? O coador de pano? A xícara pequena? Essa âncora precisa existir e ser comunicada com insistência.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2779776"/>
            <a:ext cx="2834640" cy="1627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08960" y="2779776"/>
            <a:ext cx="2834640" cy="2743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82112" y="2816352"/>
            <a:ext cx="2688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5. Expansão em mercados com forte QSR saturado é guerra de atrito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82112" y="3108960"/>
            <a:ext cx="268833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Nos EUA, Tim Hortons compete contra Starbucks (38k lojas), Dunkin' (12k), McDonald's McCafé e Peet's. Sem diferenciação clara, é difícil criar razão de visita. A Orfeu deve evitar mercados onde a batalha é de escala — e entrar em nicho premium (specialty urbano) onde o tamanho da rede não é o critério.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53328" y="2779776"/>
            <a:ext cx="2834640" cy="1627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53328" y="2779776"/>
            <a:ext cx="2834640" cy="2743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2816352"/>
            <a:ext cx="26883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6. A parceria estratégica local acelera mais que a expansão orgânica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108960"/>
            <a:ext cx="268833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A tentativa de RBI de expandir Tim Hortons de forma orgânica nos EUA tem sido lenta e cara. A Orfeu pode aprender com isso e priorizar parcerias estratégicas — distribuidor local premium, rede de restaurantes como canal, ou joint venture com um player de café americano já estabelecido — para entrar com credencial imediata.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Fontes e Referências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042415"/>
            <a:ext cx="8778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1. Restaurant Brands International Annual Report 2024 — rbi.com/investors</a:t>
            </a:r>
          </a:p>
          <a:p>
            <a:r>
              <a:rPr sz="850">
                <a:solidFill>
                  <a:srgbClr val="1A1A1A"/>
                </a:solidFill>
              </a:rPr>
              <a:t>•  2. 'Tim Hortons: Canada's coffee giant can't conquer the US' — Globe and Mail, 2023</a:t>
            </a:r>
          </a:p>
          <a:p>
            <a:r>
              <a:rPr sz="850">
                <a:solidFill>
                  <a:srgbClr val="1A1A1A"/>
                </a:solidFill>
              </a:rPr>
              <a:t>•  3. Tim Hortons Foundation — Annual Impact Report 2023</a:t>
            </a:r>
          </a:p>
          <a:p>
            <a:r>
              <a:rPr sz="850">
                <a:solidFill>
                  <a:srgbClr val="1A1A1A"/>
                </a:solidFill>
              </a:rPr>
              <a:t>•  4. Euromonitor: QSR Coffee Market Canada/US 2024</a:t>
            </a:r>
          </a:p>
          <a:p>
            <a:r>
              <a:rPr sz="850">
                <a:solidFill>
                  <a:srgbClr val="1A1A1A"/>
                </a:solidFill>
              </a:rPr>
              <a:t>•  5. 'RBI's Tim Hortons expansion in China: reality vs. ambition' — Reuters, 2023</a:t>
            </a:r>
          </a:p>
          <a:p>
            <a:r>
              <a:rPr sz="850">
                <a:solidFill>
                  <a:srgbClr val="1A1A1A"/>
                </a:solidFill>
              </a:rPr>
              <a:t>•  6. Leger Marketing: Brand Equity QSR Canada 2024</a:t>
            </a:r>
          </a:p>
          <a:p>
            <a:r>
              <a:rPr sz="850">
                <a:solidFill>
                  <a:srgbClr val="1A1A1A"/>
                </a:solidFill>
              </a:rPr>
              <a:t>•  7. 'Roll Up The Rim: 35 years of the most Canadian promotion ever' — CBC, 2021</a:t>
            </a:r>
          </a:p>
          <a:p>
            <a:r>
              <a:rPr sz="850">
                <a:solidFill>
                  <a:srgbClr val="1A1A1A"/>
                </a:solidFill>
              </a:rPr>
              <a:t>•  8. Tim Hortons at 60: Heritage and Forward Strategy — CP24 Business, 2024</a:t>
            </a:r>
          </a:p>
          <a:p>
            <a:r>
              <a:rPr sz="850">
                <a:solidFill>
                  <a:srgbClr val="1A1A1A"/>
                </a:solidFill>
              </a:rPr>
              <a:t>•  9. 'Why Tim Hortons fails in the US' — Harvard Business Review case, 2019</a:t>
            </a:r>
          </a:p>
          <a:p>
            <a:r>
              <a:rPr sz="850">
                <a:solidFill>
                  <a:srgbClr val="1A1A1A"/>
                </a:solidFill>
              </a:rPr>
              <a:t>•  10. Timbits Hockey Program — Tim Hortons Foundation Annual Stats 2023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