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half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half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5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657600" y="960119"/>
            <a:ext cx="1828800" cy="1435609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TextBox 3"/>
          <p:cNvSpPr txBox="1"/>
          <p:nvPr/>
        </p:nvSpPr>
        <p:spPr>
          <a:xfrm>
            <a:off x="914400" y="2743199"/>
            <a:ext cx="7315200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b="1" sz="2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MÉTODOS ORFEU</a:t>
            </a:r>
          </a:p>
        </p:txBody>
      </p:sp>
      <p:sp>
        <p:nvSpPr>
          <p:cNvPr id="97" name="TextBox 4"/>
          <p:cNvSpPr txBox="1"/>
          <p:nvPr/>
        </p:nvSpPr>
        <p:spPr>
          <a:xfrm>
            <a:off x="914400" y="3246120"/>
            <a:ext cx="731520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i="1" sz="1300">
                <a:solidFill>
                  <a:srgbClr val="E8DDC8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Ferramentas de facilitação para reuniões, projetos e workshops</a:t>
            </a:r>
          </a:p>
        </p:txBody>
      </p:sp>
      <p:sp>
        <p:nvSpPr>
          <p:cNvPr id="98" name="TextBox 5"/>
          <p:cNvSpPr txBox="1"/>
          <p:nvPr/>
        </p:nvSpPr>
        <p:spPr>
          <a:xfrm>
            <a:off x="914400" y="4709159"/>
            <a:ext cx="731520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900">
                <a:solidFill>
                  <a:srgbClr val="C9D3C9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19 de agosto de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95554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03" name="Oval 2"/>
          <p:cNvGrpSpPr/>
          <p:nvPr/>
        </p:nvGrpSpPr>
        <p:grpSpPr>
          <a:xfrm>
            <a:off x="8485631" y="219455"/>
            <a:ext cx="502921" cy="502922"/>
            <a:chOff x="0" y="0"/>
            <a:chExt cx="502920" cy="502920"/>
          </a:xfrm>
        </p:grpSpPr>
        <p:sp>
          <p:nvSpPr>
            <p:cNvPr id="101" name="Circle"/>
            <p:cNvSpPr/>
            <p:nvPr/>
          </p:nvSpPr>
          <p:spPr>
            <a:xfrm>
              <a:off x="-1" y="-1"/>
              <a:ext cx="502922" cy="502922"/>
            </a:xfrm>
            <a:prstGeom prst="ellipse">
              <a:avLst/>
            </a:prstGeom>
            <a:solidFill>
              <a:srgbClr val="BA612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02" name="01"/>
            <p:cNvSpPr txBox="1"/>
            <p:nvPr/>
          </p:nvSpPr>
          <p:spPr>
            <a:xfrm>
              <a:off x="139162" y="137159"/>
              <a:ext cx="224595" cy="228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1500">
                  <a:solidFill>
                    <a:srgbClr val="FFFFFF"/>
                  </a:solidFill>
                  <a:latin typeface="Avenir Next LT Pro"/>
                  <a:ea typeface="Avenir Next LT Pro"/>
                  <a:cs typeface="Avenir Next LT Pro"/>
                  <a:sym typeface="Avenir Next LT Pro"/>
                </a:defRPr>
              </a:lvl1pPr>
            </a:lstStyle>
            <a:p>
              <a:pPr/>
              <a:r>
                <a:t>01</a:t>
              </a:r>
            </a:p>
          </p:txBody>
        </p:sp>
      </p:grpSp>
      <p:sp>
        <p:nvSpPr>
          <p:cNvPr id="104" name="TextBox 3"/>
          <p:cNvSpPr txBox="1"/>
          <p:nvPr/>
        </p:nvSpPr>
        <p:spPr>
          <a:xfrm>
            <a:off x="128016" y="1060703"/>
            <a:ext cx="859536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b="1" sz="1000">
                <a:solidFill>
                  <a:srgbClr val="BA6124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MÉTODOS ORFEU</a:t>
            </a:r>
          </a:p>
        </p:txBody>
      </p:sp>
      <p:sp>
        <p:nvSpPr>
          <p:cNvPr id="105" name="TextBox 4"/>
          <p:cNvSpPr txBox="1"/>
          <p:nvPr/>
        </p:nvSpPr>
        <p:spPr>
          <a:xfrm>
            <a:off x="128016" y="1298447"/>
            <a:ext cx="859536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b="1" sz="1900">
                <a:solidFill>
                  <a:srgbClr val="26492D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Atualizações (Share Work In Progress)</a:t>
            </a:r>
          </a:p>
        </p:txBody>
      </p:sp>
      <p:sp>
        <p:nvSpPr>
          <p:cNvPr id="106" name="TextBox 5"/>
          <p:cNvSpPr txBox="1"/>
          <p:nvPr/>
        </p:nvSpPr>
        <p:spPr>
          <a:xfrm>
            <a:off x="128016" y="1682495"/>
            <a:ext cx="859536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i="1" sz="12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Alinhando-nos e prontos para otimizar processos</a:t>
            </a:r>
          </a:p>
        </p:txBody>
      </p:sp>
      <p:sp>
        <p:nvSpPr>
          <p:cNvPr id="107" name="TextBox 6"/>
          <p:cNvSpPr txBox="1"/>
          <p:nvPr/>
        </p:nvSpPr>
        <p:spPr>
          <a:xfrm>
            <a:off x="128015" y="2057399"/>
            <a:ext cx="8887970" cy="12829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000"/>
              </a:spcBef>
              <a:defRPr b="1" sz="1200">
                <a:solidFill>
                  <a:srgbClr val="26492D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Use-o para</a:t>
            </a:r>
          </a:p>
          <a:p>
            <a:pPr>
              <a:lnSpc>
                <a:spcPct val="117999"/>
              </a:lnSpc>
              <a:spcBef>
                <a:spcPts val="800"/>
              </a:spcBef>
              <a:defRPr sz="11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Fornecer às pessoas um resumo do que aconteceu e do que mudou.</a:t>
            </a:r>
          </a:p>
          <a:p>
            <a:pPr>
              <a:spcBef>
                <a:spcPts val="1000"/>
              </a:spcBef>
              <a:defRPr b="1" sz="1200">
                <a:solidFill>
                  <a:srgbClr val="26492D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Isso funciona porque</a:t>
            </a:r>
          </a:p>
          <a:p>
            <a:pPr>
              <a:lnSpc>
                <a:spcPct val="117999"/>
              </a:lnSpc>
              <a:spcBef>
                <a:spcPts val="800"/>
              </a:spcBef>
              <a:defRPr sz="11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Uma boa atualização transmite a essência do nosso trabalho — as informações fundamentais que as pessoas precisam conhecer para pensar e agir em conjunto. Ao fornecer atualizações regulares, ganhamos compreensão e empatia, e alinhamos o que precisa ser feito — ou não feito, ou feito de outra maneira.</a:t>
            </a:r>
          </a:p>
        </p:txBody>
      </p:sp>
      <p:sp>
        <p:nvSpPr>
          <p:cNvPr id="108" name="TextBox 7"/>
          <p:cNvSpPr txBox="1"/>
          <p:nvPr/>
        </p:nvSpPr>
        <p:spPr>
          <a:xfrm>
            <a:off x="128015" y="4892040"/>
            <a:ext cx="8686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i="1" sz="8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Métodos Orfeu · 1/8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95554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13" name="Oval 2"/>
          <p:cNvGrpSpPr/>
          <p:nvPr/>
        </p:nvGrpSpPr>
        <p:grpSpPr>
          <a:xfrm>
            <a:off x="8485631" y="219455"/>
            <a:ext cx="502921" cy="502922"/>
            <a:chOff x="0" y="0"/>
            <a:chExt cx="502920" cy="502920"/>
          </a:xfrm>
        </p:grpSpPr>
        <p:sp>
          <p:nvSpPr>
            <p:cNvPr id="111" name="Circle"/>
            <p:cNvSpPr/>
            <p:nvPr/>
          </p:nvSpPr>
          <p:spPr>
            <a:xfrm>
              <a:off x="-1" y="-1"/>
              <a:ext cx="502922" cy="502922"/>
            </a:xfrm>
            <a:prstGeom prst="ellipse">
              <a:avLst/>
            </a:prstGeom>
            <a:solidFill>
              <a:srgbClr val="BA612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12" name="02"/>
            <p:cNvSpPr txBox="1"/>
            <p:nvPr/>
          </p:nvSpPr>
          <p:spPr>
            <a:xfrm>
              <a:off x="139162" y="137159"/>
              <a:ext cx="224595" cy="228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1500">
                  <a:solidFill>
                    <a:srgbClr val="FFFFFF"/>
                  </a:solidFill>
                  <a:latin typeface="Avenir Next LT Pro"/>
                  <a:ea typeface="Avenir Next LT Pro"/>
                  <a:cs typeface="Avenir Next LT Pro"/>
                  <a:sym typeface="Avenir Next LT Pro"/>
                </a:defRPr>
              </a:lvl1pPr>
            </a:lstStyle>
            <a:p>
              <a:pPr/>
              <a:r>
                <a:t>02</a:t>
              </a:r>
            </a:p>
          </p:txBody>
        </p:sp>
      </p:grpSp>
      <p:sp>
        <p:nvSpPr>
          <p:cNvPr id="114" name="TextBox 3"/>
          <p:cNvSpPr txBox="1"/>
          <p:nvPr/>
        </p:nvSpPr>
        <p:spPr>
          <a:xfrm>
            <a:off x="128016" y="1060703"/>
            <a:ext cx="859536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b="1" sz="1000">
                <a:solidFill>
                  <a:srgbClr val="BA6124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MÉTODOS ORFEU</a:t>
            </a:r>
          </a:p>
        </p:txBody>
      </p:sp>
      <p:sp>
        <p:nvSpPr>
          <p:cNvPr id="115" name="TextBox 4"/>
          <p:cNvSpPr txBox="1"/>
          <p:nvPr/>
        </p:nvSpPr>
        <p:spPr>
          <a:xfrm>
            <a:off x="128016" y="1298447"/>
            <a:ext cx="859536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b="1" sz="1900">
                <a:solidFill>
                  <a:srgbClr val="26492D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ECR — Enraizar, Centralizar, Relaxar</a:t>
            </a:r>
          </a:p>
        </p:txBody>
      </p:sp>
      <p:sp>
        <p:nvSpPr>
          <p:cNvPr id="116" name="TextBox 5"/>
          <p:cNvSpPr txBox="1"/>
          <p:nvPr/>
        </p:nvSpPr>
        <p:spPr>
          <a:xfrm>
            <a:off x="128015" y="1828799"/>
            <a:ext cx="8887970" cy="1868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7999"/>
              </a:lnSpc>
              <a:spcBef>
                <a:spcPts val="800"/>
              </a:spcBef>
              <a:defRPr sz="11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Estar “aqui e agora” é uma habilidade que pode ser aprendida.</a:t>
            </a:r>
          </a:p>
          <a:p>
            <a:pPr>
              <a:spcBef>
                <a:spcPts val="1000"/>
              </a:spcBef>
              <a:defRPr b="1" sz="1200">
                <a:solidFill>
                  <a:srgbClr val="26492D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Pratique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•  Enraizamento — comece apoiando bem os pés no chão, endireitando a coluna, alongando o pescoço e projetando o topo da cabeça para cima.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•  Centralização — balance o corpo de um lado para o outro em movimentos suaves de vai e vem; direcione sua energia e atenção para a respiração, desacelerando e sintonizando-se com o momento presente.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•  Relaxamento — relaxe os ombros, a testa, o maxilar e a língua; deixe que os ossos sustentem o peso do seu corpo.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•  Pode também complementar o ECR com algumas respirações conscientes.</a:t>
            </a:r>
          </a:p>
        </p:txBody>
      </p:sp>
      <p:sp>
        <p:nvSpPr>
          <p:cNvPr id="117" name="TextBox 6"/>
          <p:cNvSpPr txBox="1"/>
          <p:nvPr/>
        </p:nvSpPr>
        <p:spPr>
          <a:xfrm>
            <a:off x="128015" y="4892040"/>
            <a:ext cx="8686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i="1" sz="8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Métodos Orfeu · 2/8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95554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22" name="Oval 2"/>
          <p:cNvGrpSpPr/>
          <p:nvPr/>
        </p:nvGrpSpPr>
        <p:grpSpPr>
          <a:xfrm>
            <a:off x="8485631" y="219455"/>
            <a:ext cx="502921" cy="502922"/>
            <a:chOff x="0" y="0"/>
            <a:chExt cx="502920" cy="502920"/>
          </a:xfrm>
        </p:grpSpPr>
        <p:sp>
          <p:nvSpPr>
            <p:cNvPr id="120" name="Circle"/>
            <p:cNvSpPr/>
            <p:nvPr/>
          </p:nvSpPr>
          <p:spPr>
            <a:xfrm>
              <a:off x="-1" y="-1"/>
              <a:ext cx="502922" cy="502922"/>
            </a:xfrm>
            <a:prstGeom prst="ellipse">
              <a:avLst/>
            </a:prstGeom>
            <a:solidFill>
              <a:srgbClr val="BA612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1" name="03"/>
            <p:cNvSpPr txBox="1"/>
            <p:nvPr/>
          </p:nvSpPr>
          <p:spPr>
            <a:xfrm>
              <a:off x="139162" y="137159"/>
              <a:ext cx="224595" cy="228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1500">
                  <a:solidFill>
                    <a:srgbClr val="FFFFFF"/>
                  </a:solidFill>
                  <a:latin typeface="Avenir Next LT Pro"/>
                  <a:ea typeface="Avenir Next LT Pro"/>
                  <a:cs typeface="Avenir Next LT Pro"/>
                  <a:sym typeface="Avenir Next LT Pro"/>
                </a:defRPr>
              </a:lvl1pPr>
            </a:lstStyle>
            <a:p>
              <a:pPr/>
              <a:r>
                <a:t>03</a:t>
              </a:r>
            </a:p>
          </p:txBody>
        </p:sp>
      </p:grpSp>
      <p:sp>
        <p:nvSpPr>
          <p:cNvPr id="123" name="TextBox 3"/>
          <p:cNvSpPr txBox="1"/>
          <p:nvPr/>
        </p:nvSpPr>
        <p:spPr>
          <a:xfrm>
            <a:off x="128016" y="1060703"/>
            <a:ext cx="859536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b="1" sz="1000">
                <a:solidFill>
                  <a:srgbClr val="BA6124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MÉTODOS ORFEU</a:t>
            </a:r>
          </a:p>
        </p:txBody>
      </p:sp>
      <p:sp>
        <p:nvSpPr>
          <p:cNvPr id="124" name="TextBox 4"/>
          <p:cNvSpPr txBox="1"/>
          <p:nvPr/>
        </p:nvSpPr>
        <p:spPr>
          <a:xfrm>
            <a:off x="128016" y="1298447"/>
            <a:ext cx="859536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b="1" sz="1900">
                <a:solidFill>
                  <a:srgbClr val="26492D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Check-ins e Check-outs</a:t>
            </a:r>
          </a:p>
        </p:txBody>
      </p:sp>
      <p:sp>
        <p:nvSpPr>
          <p:cNvPr id="125" name="TextBox 5"/>
          <p:cNvSpPr txBox="1"/>
          <p:nvPr/>
        </p:nvSpPr>
        <p:spPr>
          <a:xfrm>
            <a:off x="128016" y="1682495"/>
            <a:ext cx="859536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i="1" sz="12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Comece e termine bem a reunião.</a:t>
            </a:r>
          </a:p>
        </p:txBody>
      </p:sp>
      <p:sp>
        <p:nvSpPr>
          <p:cNvPr id="126" name="TextBox 6"/>
          <p:cNvSpPr txBox="1"/>
          <p:nvPr/>
        </p:nvSpPr>
        <p:spPr>
          <a:xfrm>
            <a:off x="128015" y="2057399"/>
            <a:ext cx="8887970" cy="1088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000"/>
              </a:spcBef>
              <a:defRPr b="1" sz="1200">
                <a:solidFill>
                  <a:srgbClr val="26492D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Use-o para</a:t>
            </a:r>
          </a:p>
          <a:p>
            <a:pPr>
              <a:lnSpc>
                <a:spcPct val="117999"/>
              </a:lnSpc>
              <a:spcBef>
                <a:spcPts val="800"/>
              </a:spcBef>
              <a:defRPr sz="11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Desacelerar, estar presente e sintonizar uns com os outros.</a:t>
            </a:r>
          </a:p>
          <a:p>
            <a:pPr>
              <a:spcBef>
                <a:spcPts val="1000"/>
              </a:spcBef>
              <a:defRPr b="1" sz="1200">
                <a:solidFill>
                  <a:srgbClr val="26492D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Isso funciona porque</a:t>
            </a:r>
          </a:p>
          <a:p>
            <a:pPr>
              <a:lnSpc>
                <a:spcPct val="117999"/>
              </a:lnSpc>
              <a:spcBef>
                <a:spcPts val="800"/>
              </a:spcBef>
              <a:defRPr sz="11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Nos ajuda a “chegar de fato” à reunião, a enxergar e nos conectar com todos os presentes. Isso dá voz a todos e melhora a qualidade dos relacionamentos, da conexão e da segurança psicológica necessárias para um excelente trabalho em conjunto.</a:t>
            </a:r>
          </a:p>
        </p:txBody>
      </p:sp>
      <p:sp>
        <p:nvSpPr>
          <p:cNvPr id="127" name="TextBox 7"/>
          <p:cNvSpPr txBox="1"/>
          <p:nvPr/>
        </p:nvSpPr>
        <p:spPr>
          <a:xfrm>
            <a:off x="128015" y="4892040"/>
            <a:ext cx="8686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i="1" sz="8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Métodos Orfeu · 3/8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95554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32" name="Oval 2"/>
          <p:cNvGrpSpPr/>
          <p:nvPr/>
        </p:nvGrpSpPr>
        <p:grpSpPr>
          <a:xfrm>
            <a:off x="8485631" y="219455"/>
            <a:ext cx="502921" cy="502922"/>
            <a:chOff x="0" y="0"/>
            <a:chExt cx="502920" cy="502920"/>
          </a:xfrm>
        </p:grpSpPr>
        <p:sp>
          <p:nvSpPr>
            <p:cNvPr id="130" name="Circle"/>
            <p:cNvSpPr/>
            <p:nvPr/>
          </p:nvSpPr>
          <p:spPr>
            <a:xfrm>
              <a:off x="-1" y="-1"/>
              <a:ext cx="502922" cy="502922"/>
            </a:xfrm>
            <a:prstGeom prst="ellipse">
              <a:avLst/>
            </a:prstGeom>
            <a:solidFill>
              <a:srgbClr val="BA612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1" name="04"/>
            <p:cNvSpPr txBox="1"/>
            <p:nvPr/>
          </p:nvSpPr>
          <p:spPr>
            <a:xfrm>
              <a:off x="139162" y="137159"/>
              <a:ext cx="224595" cy="228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1500">
                  <a:solidFill>
                    <a:srgbClr val="FFFFFF"/>
                  </a:solidFill>
                  <a:latin typeface="Avenir Next LT Pro"/>
                  <a:ea typeface="Avenir Next LT Pro"/>
                  <a:cs typeface="Avenir Next LT Pro"/>
                  <a:sym typeface="Avenir Next LT Pro"/>
                </a:defRPr>
              </a:lvl1pPr>
            </a:lstStyle>
            <a:p>
              <a:pPr/>
              <a:r>
                <a:t>04</a:t>
              </a:r>
            </a:p>
          </p:txBody>
        </p:sp>
      </p:grpSp>
      <p:sp>
        <p:nvSpPr>
          <p:cNvPr id="133" name="TextBox 3"/>
          <p:cNvSpPr txBox="1"/>
          <p:nvPr/>
        </p:nvSpPr>
        <p:spPr>
          <a:xfrm>
            <a:off x="128016" y="1060703"/>
            <a:ext cx="859536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b="1" sz="1000">
                <a:solidFill>
                  <a:srgbClr val="BA6124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MÉTODOS ORFEU</a:t>
            </a:r>
          </a:p>
        </p:txBody>
      </p:sp>
      <p:sp>
        <p:nvSpPr>
          <p:cNvPr id="134" name="TextBox 4"/>
          <p:cNvSpPr txBox="1"/>
          <p:nvPr/>
        </p:nvSpPr>
        <p:spPr>
          <a:xfrm>
            <a:off x="128016" y="1298447"/>
            <a:ext cx="859536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b="1" sz="1900">
                <a:solidFill>
                  <a:srgbClr val="26492D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Feedback BDD — Bom, Difícil, Diferente</a:t>
            </a:r>
          </a:p>
        </p:txBody>
      </p:sp>
      <p:sp>
        <p:nvSpPr>
          <p:cNvPr id="135" name="TextBox 5"/>
          <p:cNvSpPr txBox="1"/>
          <p:nvPr/>
        </p:nvSpPr>
        <p:spPr>
          <a:xfrm>
            <a:off x="128015" y="1828800"/>
            <a:ext cx="8887970" cy="1477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000"/>
              </a:spcBef>
              <a:defRPr b="1" sz="1200">
                <a:solidFill>
                  <a:srgbClr val="26492D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Use-o para</a:t>
            </a:r>
          </a:p>
          <a:p>
            <a:pPr>
              <a:lnSpc>
                <a:spcPct val="117999"/>
              </a:lnSpc>
              <a:spcBef>
                <a:spcPts val="800"/>
              </a:spcBef>
              <a:defRPr sz="11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Despertar novos pensamentos e intensificar e acelerar o processo criativo.</a:t>
            </a:r>
          </a:p>
          <a:p>
            <a:pPr>
              <a:spcBef>
                <a:spcPts val="1000"/>
              </a:spcBef>
              <a:defRPr b="1" sz="1200">
                <a:solidFill>
                  <a:srgbClr val="26492D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Isso funciona porque</a:t>
            </a:r>
          </a:p>
          <a:p>
            <a:pPr>
              <a:lnSpc>
                <a:spcPct val="117999"/>
              </a:lnSpc>
              <a:spcBef>
                <a:spcPts val="800"/>
              </a:spcBef>
              <a:defRPr sz="11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Um feedback claro, preciso e honesto reafirma nossos pontos fortes, valoriza nossos esforços, aumenta nossa autoconsciência e nos oferece a oportunidade de crescer. Ele deve, fundamentalmente, desafiar nossa forma de pensar e nos proporcionar novas perspectivas e possibilidades em nosso trabalho. Começar com o ´Bom´ nos obriga a quebrar a dinâmica enraizada de crítica. A consistência de esperar para trabalhar o diferente ao final, cria um ambiente de segurança e abertura.</a:t>
            </a:r>
          </a:p>
        </p:txBody>
      </p:sp>
      <p:sp>
        <p:nvSpPr>
          <p:cNvPr id="136" name="TextBox 6"/>
          <p:cNvSpPr txBox="1"/>
          <p:nvPr/>
        </p:nvSpPr>
        <p:spPr>
          <a:xfrm>
            <a:off x="128015" y="4892040"/>
            <a:ext cx="8686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i="1" sz="8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Métodos Orfeu · 4/8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95554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41" name="Oval 2"/>
          <p:cNvGrpSpPr/>
          <p:nvPr/>
        </p:nvGrpSpPr>
        <p:grpSpPr>
          <a:xfrm>
            <a:off x="8485631" y="219455"/>
            <a:ext cx="502921" cy="502922"/>
            <a:chOff x="0" y="0"/>
            <a:chExt cx="502920" cy="502920"/>
          </a:xfrm>
        </p:grpSpPr>
        <p:sp>
          <p:nvSpPr>
            <p:cNvPr id="139" name="Circle"/>
            <p:cNvSpPr/>
            <p:nvPr/>
          </p:nvSpPr>
          <p:spPr>
            <a:xfrm>
              <a:off x="-1" y="-1"/>
              <a:ext cx="502922" cy="502922"/>
            </a:xfrm>
            <a:prstGeom prst="ellipse">
              <a:avLst/>
            </a:prstGeom>
            <a:solidFill>
              <a:srgbClr val="BA612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0" name="04"/>
            <p:cNvSpPr txBox="1"/>
            <p:nvPr/>
          </p:nvSpPr>
          <p:spPr>
            <a:xfrm>
              <a:off x="139162" y="137159"/>
              <a:ext cx="224595" cy="228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1500">
                  <a:solidFill>
                    <a:srgbClr val="FFFFFF"/>
                  </a:solidFill>
                  <a:latin typeface="Avenir Next LT Pro"/>
                  <a:ea typeface="Avenir Next LT Pro"/>
                  <a:cs typeface="Avenir Next LT Pro"/>
                  <a:sym typeface="Avenir Next LT Pro"/>
                </a:defRPr>
              </a:lvl1pPr>
            </a:lstStyle>
            <a:p>
              <a:pPr/>
              <a:r>
                <a:t>04</a:t>
              </a:r>
            </a:p>
          </p:txBody>
        </p:sp>
      </p:grpSp>
      <p:sp>
        <p:nvSpPr>
          <p:cNvPr id="142" name="TextBox 3"/>
          <p:cNvSpPr txBox="1"/>
          <p:nvPr/>
        </p:nvSpPr>
        <p:spPr>
          <a:xfrm>
            <a:off x="128016" y="1060703"/>
            <a:ext cx="859536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b="1" sz="1000">
                <a:solidFill>
                  <a:srgbClr val="BA6124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MÉTODOS ORFEU</a:t>
            </a:r>
          </a:p>
        </p:txBody>
      </p:sp>
      <p:sp>
        <p:nvSpPr>
          <p:cNvPr id="143" name="TextBox 4"/>
          <p:cNvSpPr txBox="1"/>
          <p:nvPr/>
        </p:nvSpPr>
        <p:spPr>
          <a:xfrm>
            <a:off x="128016" y="1298447"/>
            <a:ext cx="859536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b="1" sz="1900">
                <a:solidFill>
                  <a:srgbClr val="26492D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Feedback BDD — Como aplicar</a:t>
            </a:r>
          </a:p>
        </p:txBody>
      </p:sp>
      <p:sp>
        <p:nvSpPr>
          <p:cNvPr id="144" name="TextBox 5"/>
          <p:cNvSpPr txBox="1"/>
          <p:nvPr/>
        </p:nvSpPr>
        <p:spPr>
          <a:xfrm>
            <a:off x="128015" y="1828799"/>
            <a:ext cx="8887970" cy="1877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7999"/>
              </a:lnSpc>
              <a:spcBef>
                <a:spcPts val="800"/>
              </a:spcBef>
              <a:defRPr sz="11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Este processo simples de feedback ajuda a construir conversas autênticas e honestas, ao mesmo tempo em que acelera o aprendizado. Ele oferece uma estrutura para analisar qualquer atividade realizada — desde uma avaliação anual de desempenho até o impacto de uma pessoa em uma única reunião.</a:t>
            </a:r>
          </a:p>
          <a:p>
            <a:pPr>
              <a:spcBef>
                <a:spcPts val="1000"/>
              </a:spcBef>
              <a:defRPr b="1" sz="1200">
                <a:solidFill>
                  <a:srgbClr val="26492D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A pessoa que recebe o feedback fala primeiro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•  O que correu bem?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•  O que foi difícil?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•  O que eu faria de diferente?</a:t>
            </a:r>
          </a:p>
          <a:p>
            <a:pPr>
              <a:lnSpc>
                <a:spcPct val="117999"/>
              </a:lnSpc>
              <a:spcBef>
                <a:spcPts val="800"/>
              </a:spcBef>
              <a:defRPr sz="11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Em seguida, a pessoa que dá o feedback faz o mesmo, usando a mesma estrutura.</a:t>
            </a:r>
          </a:p>
        </p:txBody>
      </p:sp>
      <p:sp>
        <p:nvSpPr>
          <p:cNvPr id="145" name="TextBox 6"/>
          <p:cNvSpPr txBox="1"/>
          <p:nvPr/>
        </p:nvSpPr>
        <p:spPr>
          <a:xfrm>
            <a:off x="128015" y="4892040"/>
            <a:ext cx="8686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i="1" sz="8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Métodos Orfeu · 5/8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95554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50" name="Oval 2"/>
          <p:cNvGrpSpPr/>
          <p:nvPr/>
        </p:nvGrpSpPr>
        <p:grpSpPr>
          <a:xfrm>
            <a:off x="8485631" y="219455"/>
            <a:ext cx="502921" cy="502922"/>
            <a:chOff x="0" y="0"/>
            <a:chExt cx="502920" cy="502920"/>
          </a:xfrm>
        </p:grpSpPr>
        <p:sp>
          <p:nvSpPr>
            <p:cNvPr id="148" name="Circle"/>
            <p:cNvSpPr/>
            <p:nvPr/>
          </p:nvSpPr>
          <p:spPr>
            <a:xfrm>
              <a:off x="-1" y="-1"/>
              <a:ext cx="502922" cy="502922"/>
            </a:xfrm>
            <a:prstGeom prst="ellipse">
              <a:avLst/>
            </a:prstGeom>
            <a:solidFill>
              <a:srgbClr val="BA612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9" name="05"/>
            <p:cNvSpPr txBox="1"/>
            <p:nvPr/>
          </p:nvSpPr>
          <p:spPr>
            <a:xfrm>
              <a:off x="139162" y="137159"/>
              <a:ext cx="224595" cy="228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1500">
                  <a:solidFill>
                    <a:srgbClr val="FFFFFF"/>
                  </a:solidFill>
                  <a:latin typeface="Avenir Next LT Pro"/>
                  <a:ea typeface="Avenir Next LT Pro"/>
                  <a:cs typeface="Avenir Next LT Pro"/>
                  <a:sym typeface="Avenir Next LT Pro"/>
                </a:defRPr>
              </a:lvl1pPr>
            </a:lstStyle>
            <a:p>
              <a:pPr/>
              <a:r>
                <a:t>05</a:t>
              </a:r>
            </a:p>
          </p:txBody>
        </p:sp>
      </p:grpSp>
      <p:sp>
        <p:nvSpPr>
          <p:cNvPr id="151" name="TextBox 3"/>
          <p:cNvSpPr txBox="1"/>
          <p:nvPr/>
        </p:nvSpPr>
        <p:spPr>
          <a:xfrm>
            <a:off x="128016" y="1060703"/>
            <a:ext cx="859536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b="1" sz="1000">
                <a:solidFill>
                  <a:srgbClr val="BA6124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MÉTODOS ORFEU</a:t>
            </a:r>
          </a:p>
        </p:txBody>
      </p:sp>
      <p:sp>
        <p:nvSpPr>
          <p:cNvPr id="152" name="TextBox 4"/>
          <p:cNvSpPr txBox="1"/>
          <p:nvPr/>
        </p:nvSpPr>
        <p:spPr>
          <a:xfrm>
            <a:off x="128016" y="1298447"/>
            <a:ext cx="859536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b="1" sz="1900">
                <a:solidFill>
                  <a:srgbClr val="26492D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Conselho Deliberativo</a:t>
            </a:r>
          </a:p>
        </p:txBody>
      </p:sp>
      <p:sp>
        <p:nvSpPr>
          <p:cNvPr id="153" name="TextBox 5"/>
          <p:cNvSpPr txBox="1"/>
          <p:nvPr/>
        </p:nvSpPr>
        <p:spPr>
          <a:xfrm>
            <a:off x="128016" y="1682495"/>
            <a:ext cx="859536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i="1" sz="12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Tomar decisões duradouras.</a:t>
            </a:r>
          </a:p>
        </p:txBody>
      </p:sp>
      <p:sp>
        <p:nvSpPr>
          <p:cNvPr id="154" name="TextBox 6"/>
          <p:cNvSpPr txBox="1"/>
          <p:nvPr/>
        </p:nvSpPr>
        <p:spPr>
          <a:xfrm>
            <a:off x="128015" y="2057399"/>
            <a:ext cx="8887970" cy="12829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000"/>
              </a:spcBef>
              <a:defRPr b="1" sz="1200">
                <a:solidFill>
                  <a:srgbClr val="26492D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Use-o para</a:t>
            </a:r>
          </a:p>
          <a:p>
            <a:pPr>
              <a:lnSpc>
                <a:spcPct val="117999"/>
              </a:lnSpc>
              <a:spcBef>
                <a:spcPts val="800"/>
              </a:spcBef>
              <a:defRPr sz="11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Tomar, juntos, decisões claras e assumir compromissos claros.</a:t>
            </a:r>
          </a:p>
          <a:p>
            <a:pPr>
              <a:spcBef>
                <a:spcPts val="1000"/>
              </a:spcBef>
              <a:defRPr b="1" sz="1200">
                <a:solidFill>
                  <a:srgbClr val="26492D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Isso funciona porque</a:t>
            </a:r>
          </a:p>
          <a:p>
            <a:pPr>
              <a:lnSpc>
                <a:spcPct val="117999"/>
              </a:lnSpc>
              <a:spcBef>
                <a:spcPts val="800"/>
              </a:spcBef>
              <a:defRPr sz="11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Os Conselhos de Decisão esclarecem o que está sendo decidido, o processo a ser utilizado e quem é (ou são) o(s) responsável(is) pela decisão. Ao envolver a equipe em uma troca criativa de pontos de vista, chegamos a um acordo conjunto ou recorremos ao(s) responsável(is) para a definição final.</a:t>
            </a:r>
          </a:p>
        </p:txBody>
      </p:sp>
      <p:sp>
        <p:nvSpPr>
          <p:cNvPr id="155" name="TextBox 7"/>
          <p:cNvSpPr txBox="1"/>
          <p:nvPr/>
        </p:nvSpPr>
        <p:spPr>
          <a:xfrm>
            <a:off x="128015" y="4892040"/>
            <a:ext cx="8686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i="1" sz="8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Métodos Orfeu · 6/8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95554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0" name="Oval 2"/>
          <p:cNvGrpSpPr/>
          <p:nvPr/>
        </p:nvGrpSpPr>
        <p:grpSpPr>
          <a:xfrm>
            <a:off x="8485631" y="219455"/>
            <a:ext cx="502921" cy="502922"/>
            <a:chOff x="0" y="0"/>
            <a:chExt cx="502920" cy="502920"/>
          </a:xfrm>
        </p:grpSpPr>
        <p:sp>
          <p:nvSpPr>
            <p:cNvPr id="158" name="Circle"/>
            <p:cNvSpPr/>
            <p:nvPr/>
          </p:nvSpPr>
          <p:spPr>
            <a:xfrm>
              <a:off x="-1" y="-1"/>
              <a:ext cx="502922" cy="502922"/>
            </a:xfrm>
            <a:prstGeom prst="ellipse">
              <a:avLst/>
            </a:prstGeom>
            <a:solidFill>
              <a:srgbClr val="BA612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59" name="05"/>
            <p:cNvSpPr txBox="1"/>
            <p:nvPr/>
          </p:nvSpPr>
          <p:spPr>
            <a:xfrm>
              <a:off x="139162" y="137159"/>
              <a:ext cx="224595" cy="228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1500">
                  <a:solidFill>
                    <a:srgbClr val="FFFFFF"/>
                  </a:solidFill>
                  <a:latin typeface="Avenir Next LT Pro"/>
                  <a:ea typeface="Avenir Next LT Pro"/>
                  <a:cs typeface="Avenir Next LT Pro"/>
                  <a:sym typeface="Avenir Next LT Pro"/>
                </a:defRPr>
              </a:lvl1pPr>
            </a:lstStyle>
            <a:p>
              <a:pPr/>
              <a:r>
                <a:t>05</a:t>
              </a:r>
            </a:p>
          </p:txBody>
        </p:sp>
      </p:grpSp>
      <p:sp>
        <p:nvSpPr>
          <p:cNvPr id="161" name="TextBox 3"/>
          <p:cNvSpPr txBox="1"/>
          <p:nvPr/>
        </p:nvSpPr>
        <p:spPr>
          <a:xfrm>
            <a:off x="128016" y="1060703"/>
            <a:ext cx="859536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b="1" sz="1000">
                <a:solidFill>
                  <a:srgbClr val="BA6124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MÉTODOS ORFEU</a:t>
            </a:r>
          </a:p>
        </p:txBody>
      </p:sp>
      <p:sp>
        <p:nvSpPr>
          <p:cNvPr id="162" name="TextBox 4"/>
          <p:cNvSpPr txBox="1"/>
          <p:nvPr/>
        </p:nvSpPr>
        <p:spPr>
          <a:xfrm>
            <a:off x="128016" y="1298447"/>
            <a:ext cx="859536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b="1" sz="1900">
                <a:solidFill>
                  <a:srgbClr val="26492D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Conselho Deliberativo — Como aplicar</a:t>
            </a:r>
          </a:p>
        </p:txBody>
      </p:sp>
      <p:sp>
        <p:nvSpPr>
          <p:cNvPr id="163" name="TextBox 5"/>
          <p:cNvSpPr txBox="1"/>
          <p:nvPr/>
        </p:nvSpPr>
        <p:spPr>
          <a:xfrm>
            <a:off x="128015" y="1810511"/>
            <a:ext cx="4343401" cy="227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000"/>
              </a:spcBef>
              <a:defRPr b="1" sz="1100">
                <a:solidFill>
                  <a:srgbClr val="26492D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O que fazer</a:t>
            </a:r>
          </a:p>
          <a:p>
            <a:pPr>
              <a:lnSpc>
                <a:spcPct val="115000"/>
              </a:lnSpc>
              <a:spcBef>
                <a:spcPts val="700"/>
              </a:spcBef>
              <a:defRPr sz="10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1. Esclareça quem toma a decisão.</a:t>
            </a:r>
          </a:p>
          <a:p>
            <a:pPr>
              <a:lnSpc>
                <a:spcPct val="115000"/>
              </a:lnSpc>
              <a:spcBef>
                <a:spcPts val="700"/>
              </a:spcBef>
              <a:defRPr sz="10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2. Faça uma proposta — a pessoa que solicita a decisão apresenta uma proposta clara.</a:t>
            </a:r>
          </a:p>
          <a:p>
            <a:pPr>
              <a:lnSpc>
                <a:spcPct val="115000"/>
              </a:lnSpc>
              <a:spcBef>
                <a:spcPts val="700"/>
              </a:spcBef>
              <a:defRPr sz="10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3. Abra espaço para perguntas de esclarecimento — mantenha-se aberto e evite uma postura defensiva.</a:t>
            </a:r>
          </a:p>
          <a:p>
            <a:pPr>
              <a:lnSpc>
                <a:spcPct val="115000"/>
              </a:lnSpc>
              <a:spcBef>
                <a:spcPts val="700"/>
              </a:spcBef>
              <a:defRPr sz="10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4. Obtenha uma avaliação inicial da equipe: “polegar para cima” significa concordo; “mão aberta” (acenando) significa que ainda estou incerto.</a:t>
            </a:r>
          </a:p>
          <a:p>
            <a:pPr>
              <a:lnSpc>
                <a:spcPct val="115000"/>
              </a:lnSpc>
              <a:spcBef>
                <a:spcPts val="700"/>
              </a:spcBef>
              <a:defRPr sz="10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5. Explore as dúvidas que surgirem — se todos sinalizarem positivamente, siga em frente; caso contrário, ouça quem está incerto e pergunte o que precisa mudar para chegar à concordância.</a:t>
            </a:r>
          </a:p>
        </p:txBody>
      </p:sp>
      <p:sp>
        <p:nvSpPr>
          <p:cNvPr id="164" name="TextBox 6"/>
          <p:cNvSpPr txBox="1"/>
          <p:nvPr/>
        </p:nvSpPr>
        <p:spPr>
          <a:xfrm>
            <a:off x="4617720" y="1810511"/>
            <a:ext cx="4343401" cy="1883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700"/>
              </a:spcBef>
              <a:defRPr sz="10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6. Ajuste a proposta com base no feedback recebido, até se sentir confortável com ela, e reapresente a nova versão.</a:t>
            </a:r>
          </a:p>
          <a:p>
            <a:pPr>
              <a:lnSpc>
                <a:spcPct val="115000"/>
              </a:lnSpc>
              <a:spcBef>
                <a:spcPts val="700"/>
              </a:spcBef>
              <a:defRPr sz="10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7. Repita os passos 4 a 6 até obter posicionamentos claros.</a:t>
            </a:r>
          </a:p>
          <a:p>
            <a:pPr>
              <a:lnSpc>
                <a:spcPct val="115000"/>
              </a:lnSpc>
              <a:spcBef>
                <a:spcPts val="700"/>
              </a:spcBef>
              <a:defRPr sz="10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8. Tome a decisão — avalie as posições do grupo, use essa leitura para embasar a decisão final e garanta o comprometimento de todos.</a:t>
            </a:r>
          </a:p>
          <a:p>
            <a:pPr>
              <a:spcBef>
                <a:spcPts val="1000"/>
              </a:spcBef>
              <a:defRPr b="1" sz="1100">
                <a:solidFill>
                  <a:srgbClr val="26492D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O sucesso acontece quando</a:t>
            </a:r>
          </a:p>
          <a:p>
            <a:pPr>
              <a:lnSpc>
                <a:spcPct val="117999"/>
              </a:lnSpc>
              <a:spcBef>
                <a:spcPts val="800"/>
              </a:spcBef>
              <a:defRPr sz="10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Essa disciplina simples passa a fazer parte da forma como tomamos decisões, economizando tempo. A mudança acontece quando quem decide tem recursos, incentivo e permissão para ir além no processo decisório.</a:t>
            </a:r>
          </a:p>
        </p:txBody>
      </p:sp>
      <p:sp>
        <p:nvSpPr>
          <p:cNvPr id="165" name="TextBox 7"/>
          <p:cNvSpPr txBox="1"/>
          <p:nvPr/>
        </p:nvSpPr>
        <p:spPr>
          <a:xfrm>
            <a:off x="128015" y="4892040"/>
            <a:ext cx="8686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i="1" sz="8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Métodos Orfeu · 7/8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955548"/>
          </a:xfrm>
          <a:prstGeom prst="rect">
            <a:avLst/>
          </a:prstGeom>
          <a:ln w="12700">
            <a:miter lim="400000"/>
          </a:ln>
        </p:spPr>
      </p:pic>
      <p:sp>
        <p:nvSpPr>
          <p:cNvPr id="168" name="TextBox 2"/>
          <p:cNvSpPr txBox="1"/>
          <p:nvPr/>
        </p:nvSpPr>
        <p:spPr>
          <a:xfrm>
            <a:off x="128016" y="1060703"/>
            <a:ext cx="859536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b="1" sz="1000">
                <a:solidFill>
                  <a:srgbClr val="BA6124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MÉTODOS ORFEU</a:t>
            </a:r>
          </a:p>
        </p:txBody>
      </p:sp>
      <p:sp>
        <p:nvSpPr>
          <p:cNvPr id="169" name="TextBox 3"/>
          <p:cNvSpPr txBox="1"/>
          <p:nvPr/>
        </p:nvSpPr>
        <p:spPr>
          <a:xfrm>
            <a:off x="128016" y="1298447"/>
            <a:ext cx="859536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b="1" sz="1900">
                <a:solidFill>
                  <a:srgbClr val="26492D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Como Encaixar no Dia a Dia</a:t>
            </a:r>
          </a:p>
        </p:txBody>
      </p:sp>
      <p:sp>
        <p:nvSpPr>
          <p:cNvPr id="170" name="TextBox 4"/>
          <p:cNvSpPr txBox="1"/>
          <p:nvPr/>
        </p:nvSpPr>
        <p:spPr>
          <a:xfrm>
            <a:off x="128015" y="1700783"/>
            <a:ext cx="888797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i="1" sz="11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Sugestões de uso para os momentos mais comuns do time comercial e de projetos.</a:t>
            </a:r>
          </a:p>
        </p:txBody>
      </p:sp>
      <p:sp>
        <p:nvSpPr>
          <p:cNvPr id="171" name="Rectangle 5"/>
          <p:cNvSpPr/>
          <p:nvPr/>
        </p:nvSpPr>
        <p:spPr>
          <a:xfrm>
            <a:off x="128015" y="2084831"/>
            <a:ext cx="2331722" cy="274321"/>
          </a:xfrm>
          <a:prstGeom prst="rect">
            <a:avLst/>
          </a:prstGeom>
          <a:solidFill>
            <a:srgbClr val="26492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2" name="TextBox 6"/>
          <p:cNvSpPr txBox="1"/>
          <p:nvPr/>
        </p:nvSpPr>
        <p:spPr>
          <a:xfrm>
            <a:off x="201167" y="2121406"/>
            <a:ext cx="218541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b="1" sz="10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Momento</a:t>
            </a:r>
          </a:p>
        </p:txBody>
      </p:sp>
      <p:sp>
        <p:nvSpPr>
          <p:cNvPr id="173" name="Rectangle 7"/>
          <p:cNvSpPr/>
          <p:nvPr/>
        </p:nvSpPr>
        <p:spPr>
          <a:xfrm>
            <a:off x="2459735" y="2084831"/>
            <a:ext cx="2148841" cy="274321"/>
          </a:xfrm>
          <a:prstGeom prst="rect">
            <a:avLst/>
          </a:prstGeom>
          <a:solidFill>
            <a:srgbClr val="26492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" name="TextBox 8"/>
          <p:cNvSpPr txBox="1"/>
          <p:nvPr/>
        </p:nvSpPr>
        <p:spPr>
          <a:xfrm>
            <a:off x="2532888" y="2121406"/>
            <a:ext cx="200253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b="1" sz="10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Métodos recomendados</a:t>
            </a:r>
          </a:p>
        </p:txBody>
      </p:sp>
      <p:sp>
        <p:nvSpPr>
          <p:cNvPr id="175" name="Rectangle 9"/>
          <p:cNvSpPr/>
          <p:nvPr/>
        </p:nvSpPr>
        <p:spPr>
          <a:xfrm>
            <a:off x="4608576" y="2084831"/>
            <a:ext cx="4407409" cy="274321"/>
          </a:xfrm>
          <a:prstGeom prst="rect">
            <a:avLst/>
          </a:prstGeom>
          <a:solidFill>
            <a:srgbClr val="26492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" name="TextBox 10"/>
          <p:cNvSpPr txBox="1"/>
          <p:nvPr/>
        </p:nvSpPr>
        <p:spPr>
          <a:xfrm>
            <a:off x="4681728" y="2121406"/>
            <a:ext cx="4261105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b="1" sz="10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Como aplicar</a:t>
            </a:r>
          </a:p>
        </p:txBody>
      </p:sp>
      <p:sp>
        <p:nvSpPr>
          <p:cNvPr id="177" name="Rectangle 11"/>
          <p:cNvSpPr/>
          <p:nvPr/>
        </p:nvSpPr>
        <p:spPr>
          <a:xfrm>
            <a:off x="128015" y="2359150"/>
            <a:ext cx="2331722" cy="603505"/>
          </a:xfrm>
          <a:prstGeom prst="rect">
            <a:avLst/>
          </a:prstGeom>
          <a:solidFill>
            <a:srgbClr val="F2F1EC"/>
          </a:solidFill>
          <a:ln>
            <a:solidFill>
              <a:srgbClr val="DDDDD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8" name="Rectangle 12"/>
          <p:cNvSpPr/>
          <p:nvPr/>
        </p:nvSpPr>
        <p:spPr>
          <a:xfrm>
            <a:off x="2459735" y="2359150"/>
            <a:ext cx="2148841" cy="603505"/>
          </a:xfrm>
          <a:prstGeom prst="rect">
            <a:avLst/>
          </a:prstGeom>
          <a:solidFill>
            <a:srgbClr val="F2F1EC"/>
          </a:solidFill>
          <a:ln>
            <a:solidFill>
              <a:srgbClr val="DDDDD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9" name="Rectangle 13"/>
          <p:cNvSpPr/>
          <p:nvPr/>
        </p:nvSpPr>
        <p:spPr>
          <a:xfrm>
            <a:off x="4608576" y="2359150"/>
            <a:ext cx="4407409" cy="603505"/>
          </a:xfrm>
          <a:prstGeom prst="rect">
            <a:avLst/>
          </a:prstGeom>
          <a:solidFill>
            <a:srgbClr val="F2F1EC"/>
          </a:solidFill>
          <a:ln>
            <a:solidFill>
              <a:srgbClr val="DDDDD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0" name="TextBox 14"/>
          <p:cNvSpPr txBox="1"/>
          <p:nvPr/>
        </p:nvSpPr>
        <p:spPr>
          <a:xfrm>
            <a:off x="201167" y="2404871"/>
            <a:ext cx="2185418" cy="28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b="1" sz="900">
                <a:solidFill>
                  <a:srgbClr val="26492D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Abertura de reuniões de N1 e desempenho</a:t>
            </a:r>
          </a:p>
        </p:txBody>
      </p:sp>
      <p:sp>
        <p:nvSpPr>
          <p:cNvPr id="181" name="TextBox 15"/>
          <p:cNvSpPr txBox="1"/>
          <p:nvPr/>
        </p:nvSpPr>
        <p:spPr>
          <a:xfrm>
            <a:off x="2532888" y="2404871"/>
            <a:ext cx="20025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800">
                <a:solidFill>
                  <a:srgbClr val="BA6124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Check-in · Atualizações (SWIP)</a:t>
            </a:r>
          </a:p>
        </p:txBody>
      </p:sp>
      <p:sp>
        <p:nvSpPr>
          <p:cNvPr id="182" name="TextBox 16"/>
          <p:cNvSpPr txBox="1"/>
          <p:nvPr/>
        </p:nvSpPr>
        <p:spPr>
          <a:xfrm>
            <a:off x="4681728" y="2404871"/>
            <a:ext cx="4261105" cy="260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8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Comece com um check-in rápido para “chegar” à conversa, seguido de um update objetivo do que mudou desde o último encontro.</a:t>
            </a:r>
          </a:p>
        </p:txBody>
      </p:sp>
      <p:sp>
        <p:nvSpPr>
          <p:cNvPr id="183" name="Rectangle 17"/>
          <p:cNvSpPr/>
          <p:nvPr/>
        </p:nvSpPr>
        <p:spPr>
          <a:xfrm>
            <a:off x="128015" y="2962655"/>
            <a:ext cx="2331722" cy="603505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" name="Rectangle 18"/>
          <p:cNvSpPr/>
          <p:nvPr/>
        </p:nvSpPr>
        <p:spPr>
          <a:xfrm>
            <a:off x="2459735" y="2962655"/>
            <a:ext cx="2148841" cy="603505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" name="Rectangle 19"/>
          <p:cNvSpPr/>
          <p:nvPr/>
        </p:nvSpPr>
        <p:spPr>
          <a:xfrm>
            <a:off x="4608576" y="2962655"/>
            <a:ext cx="4407409" cy="603505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6" name="TextBox 20"/>
          <p:cNvSpPr txBox="1"/>
          <p:nvPr/>
        </p:nvSpPr>
        <p:spPr>
          <a:xfrm>
            <a:off x="201167" y="3008375"/>
            <a:ext cx="2185418" cy="28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b="1" sz="900">
                <a:solidFill>
                  <a:srgbClr val="26492D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Fechamento de reuniões de N1 e desempenho</a:t>
            </a:r>
          </a:p>
        </p:txBody>
      </p:sp>
      <p:sp>
        <p:nvSpPr>
          <p:cNvPr id="187" name="TextBox 21"/>
          <p:cNvSpPr txBox="1"/>
          <p:nvPr/>
        </p:nvSpPr>
        <p:spPr>
          <a:xfrm>
            <a:off x="2532888" y="3008375"/>
            <a:ext cx="20025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800">
                <a:solidFill>
                  <a:srgbClr val="BA6124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Feedback BDD · Check-out</a:t>
            </a:r>
          </a:p>
        </p:txBody>
      </p:sp>
      <p:sp>
        <p:nvSpPr>
          <p:cNvPr id="188" name="TextBox 22"/>
          <p:cNvSpPr txBox="1"/>
          <p:nvPr/>
        </p:nvSpPr>
        <p:spPr>
          <a:xfrm>
            <a:off x="4681728" y="3008375"/>
            <a:ext cx="4261105" cy="260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8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Encerre com Bom / Difícil / Diferente sobre o período avaliado, seguido de um check-out breve para consolidar combinados.</a:t>
            </a:r>
          </a:p>
        </p:txBody>
      </p:sp>
      <p:sp>
        <p:nvSpPr>
          <p:cNvPr id="189" name="Rectangle 23"/>
          <p:cNvSpPr/>
          <p:nvPr/>
        </p:nvSpPr>
        <p:spPr>
          <a:xfrm>
            <a:off x="128015" y="3566159"/>
            <a:ext cx="2331722" cy="603505"/>
          </a:xfrm>
          <a:prstGeom prst="rect">
            <a:avLst/>
          </a:prstGeom>
          <a:solidFill>
            <a:srgbClr val="F2F1EC"/>
          </a:solidFill>
          <a:ln>
            <a:solidFill>
              <a:srgbClr val="DDDDD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0" name="Rectangle 24"/>
          <p:cNvSpPr/>
          <p:nvPr/>
        </p:nvSpPr>
        <p:spPr>
          <a:xfrm>
            <a:off x="2459735" y="3566159"/>
            <a:ext cx="2148841" cy="603505"/>
          </a:xfrm>
          <a:prstGeom prst="rect">
            <a:avLst/>
          </a:prstGeom>
          <a:solidFill>
            <a:srgbClr val="F2F1EC"/>
          </a:solidFill>
          <a:ln>
            <a:solidFill>
              <a:srgbClr val="DDDDD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1" name="Rectangle 25"/>
          <p:cNvSpPr/>
          <p:nvPr/>
        </p:nvSpPr>
        <p:spPr>
          <a:xfrm>
            <a:off x="4608576" y="3566159"/>
            <a:ext cx="4407409" cy="603505"/>
          </a:xfrm>
          <a:prstGeom prst="rect">
            <a:avLst/>
          </a:prstGeom>
          <a:solidFill>
            <a:srgbClr val="F2F1EC"/>
          </a:solidFill>
          <a:ln>
            <a:solidFill>
              <a:srgbClr val="DDDDD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2" name="TextBox 26"/>
          <p:cNvSpPr txBox="1"/>
          <p:nvPr/>
        </p:nvSpPr>
        <p:spPr>
          <a:xfrm>
            <a:off x="201167" y="3611879"/>
            <a:ext cx="2185418" cy="28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b="1" sz="900">
                <a:solidFill>
                  <a:srgbClr val="26492D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Dinâmicas em reuniões de projeto e inovação</a:t>
            </a:r>
          </a:p>
        </p:txBody>
      </p:sp>
      <p:sp>
        <p:nvSpPr>
          <p:cNvPr id="193" name="TextBox 27"/>
          <p:cNvSpPr txBox="1"/>
          <p:nvPr/>
        </p:nvSpPr>
        <p:spPr>
          <a:xfrm>
            <a:off x="2532888" y="3611879"/>
            <a:ext cx="20025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800">
                <a:solidFill>
                  <a:srgbClr val="BA6124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ECR · Conselho Deliberativo</a:t>
            </a:r>
          </a:p>
        </p:txBody>
      </p:sp>
      <p:sp>
        <p:nvSpPr>
          <p:cNvPr id="194" name="TextBox 28"/>
          <p:cNvSpPr txBox="1"/>
          <p:nvPr/>
        </p:nvSpPr>
        <p:spPr>
          <a:xfrm>
            <a:off x="4681728" y="3611879"/>
            <a:ext cx="4261105" cy="260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8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Use o ECR para resetar a energia do grupo antes de sessões de ideação, e o Conselho Deliberativo para destravar decisões coletivas sobre a direção do projeto.</a:t>
            </a:r>
          </a:p>
        </p:txBody>
      </p:sp>
      <p:sp>
        <p:nvSpPr>
          <p:cNvPr id="195" name="Rectangle 29"/>
          <p:cNvSpPr/>
          <p:nvPr/>
        </p:nvSpPr>
        <p:spPr>
          <a:xfrm>
            <a:off x="128015" y="4169662"/>
            <a:ext cx="2331722" cy="603505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" name="Rectangle 30"/>
          <p:cNvSpPr/>
          <p:nvPr/>
        </p:nvSpPr>
        <p:spPr>
          <a:xfrm>
            <a:off x="2459735" y="4169662"/>
            <a:ext cx="2148841" cy="603505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" name="Rectangle 31"/>
          <p:cNvSpPr/>
          <p:nvPr/>
        </p:nvSpPr>
        <p:spPr>
          <a:xfrm>
            <a:off x="4608576" y="4169662"/>
            <a:ext cx="4407409" cy="603505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" name="TextBox 32"/>
          <p:cNvSpPr txBox="1"/>
          <p:nvPr/>
        </p:nvSpPr>
        <p:spPr>
          <a:xfrm>
            <a:off x="201167" y="4215383"/>
            <a:ext cx="218541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b="1" sz="900">
                <a:solidFill>
                  <a:srgbClr val="26492D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Workshops em SP ou na fazenda</a:t>
            </a:r>
          </a:p>
        </p:txBody>
      </p:sp>
      <p:sp>
        <p:nvSpPr>
          <p:cNvPr id="199" name="TextBox 33"/>
          <p:cNvSpPr txBox="1"/>
          <p:nvPr/>
        </p:nvSpPr>
        <p:spPr>
          <a:xfrm>
            <a:off x="2532888" y="4215383"/>
            <a:ext cx="2002536" cy="260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800">
                <a:solidFill>
                  <a:srgbClr val="BA6124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Check-in · ECR · Conselho Deliberativo · Atualizações (SWIP)</a:t>
            </a:r>
          </a:p>
        </p:txBody>
      </p:sp>
      <p:sp>
        <p:nvSpPr>
          <p:cNvPr id="200" name="TextBox 34"/>
          <p:cNvSpPr txBox="1"/>
          <p:nvPr/>
        </p:nvSpPr>
        <p:spPr>
          <a:xfrm>
            <a:off x="4681728" y="4215383"/>
            <a:ext cx="4261105" cy="260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8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Abra o dia com check-in, use o ECR entre blocos para retomar presença, feche decisões por bloco com o Conselho Deliberativo, e sincronize squads em paralelo com updates rápidos.</a:t>
            </a:r>
          </a:p>
        </p:txBody>
      </p:sp>
      <p:sp>
        <p:nvSpPr>
          <p:cNvPr id="201" name="TextBox 35"/>
          <p:cNvSpPr txBox="1"/>
          <p:nvPr/>
        </p:nvSpPr>
        <p:spPr>
          <a:xfrm>
            <a:off x="128015" y="4892040"/>
            <a:ext cx="8686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i="1" sz="8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Métodos Orfeu · 8/8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