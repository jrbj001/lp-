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" cy="51435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45500"/>
            <a:ext cx="9144000" cy="19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2000" y="1285875"/>
            <a:ext cx="8892000" cy="50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C8102E"/>
                </a:solidFill>
                <a:latin typeface="Avenir Next LT Pro"/>
              </a:rPr>
              <a:t>3 Corações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" y="2674620"/>
            <a:ext cx="8892000" cy="30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1A"/>
                </a:solidFill>
                <a:latin typeface="Avenir Next LT Pro"/>
              </a:rPr>
              <a:t>Referências Complementares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" y="3343275"/>
            <a:ext cx="8892000" cy="18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venir Next LT Pro"/>
              </a:rPr>
              <a:t>Portfólio  ·  Rituais  ·  Campanha "Siga o Coração"  ·  Projeto Florada  ·  Exportação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" y="4945500"/>
            <a:ext cx="9144000" cy="19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venir Next LT Pro"/>
              </a:rPr>
              <a:t>Alquemia Consulting  ·  Julho 2026  ·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venir Next LT Pro"/>
              </a:rPr>
              <a:t>Linha Rituais — Portfólio Completo de Cafés Especiais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0"/>
            <a:ext cx="329472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Pontuação 85+  ·  100% Arábica  ·  Rastreabilidade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1080000" cy="72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104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RITUAIS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37144"/>
            <a:ext cx="2115000" cy="18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000" y="2445144"/>
            <a:ext cx="2115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Rituais Chocolate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2643144"/>
            <a:ext cx="2115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85+ pts  ·  Notas de chocolate ao leite, corpo pleno e alta doçura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000" y="537144"/>
            <a:ext cx="2115000" cy="180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03000" y="2445144"/>
            <a:ext cx="2115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Rituais Frutas Secas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3000" y="2643144"/>
            <a:ext cx="2115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85+ pts  ·  Frutas secas e castanhas, acidez cítrica equilibrada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000" y="537144"/>
            <a:ext cx="2115000" cy="180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26000" y="2445144"/>
            <a:ext cx="2115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Rituais Frutas Vermelhas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000" y="2643144"/>
            <a:ext cx="2115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85+ pts  ·  Morango e framboesa, torra média clara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9000" y="537144"/>
            <a:ext cx="2115000" cy="180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49000" y="2445144"/>
            <a:ext cx="2115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Rituais Florada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9000" y="2643144"/>
            <a:ext cx="2115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88+ pts  ·  Microlote feminino, 100% lucro às cafeicultoras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000" y="4729500"/>
            <a:ext cx="8784000" cy="288000"/>
          </a:xfrm>
          <a:prstGeom prst="rect">
            <a:avLst/>
          </a:prstGeom>
          <a:solidFill>
            <a:srgbClr val="FDF0F2"/>
          </a:solidFill>
          <a:ln>
            <a:solidFill>
              <a:srgbClr val="FD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0000" y="4729500"/>
            <a:ext cx="9144" cy="28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00" y="4729500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Rituais entrou no mercado de cafés especiais com rastreabilidade total e embalagem personalizada por produtor — o QR code na embalagem cria conexão direta fazenda→consumidor. Modelo replicável para Orfeu com fazendas parceiras.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3 Corações  ·  Referências Complementares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venir Next LT Pro"/>
              </a:rPr>
              <a:t>Rituais — Conceito, Embalagem &amp; Rastreabilidade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0"/>
            <a:ext cx="329472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Direct Trade · QR Code · Box Pouch 250g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1080000" cy="72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104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RITUAIS · CONCEITO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37144"/>
            <a:ext cx="4338000" cy="180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26000" y="573144"/>
            <a:ext cx="12000" cy="19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2000" y="57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Embalagem personalizada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2000" y="663144"/>
            <a:ext cx="4302000" cy="126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Foto + nome do produtor, fazenda, origem e processo de pós-colheita — cada embalagem é única.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000" y="861144"/>
            <a:ext cx="12000" cy="19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2000" y="861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QR Code de rastreabilidade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2000" y="951144"/>
            <a:ext cx="4302000" cy="126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Acesso à data de produção, lavoura, altitude e perfil sensorial. Primeiro no Brasil em escala.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26000" y="1149144"/>
            <a:ext cx="12000" cy="19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2000" y="1149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Direct Trade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2000" y="1239144"/>
            <a:ext cx="4302000" cy="126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Relação direta entre marca e produtor. Premium pago acima do mercado. Transparência total na cadeia.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000" y="1437144"/>
            <a:ext cx="12000" cy="19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2000" y="1437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Formatos disponíveis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2000" y="1527144"/>
            <a:ext cx="4302000" cy="126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Moído, grão inteiro, cápsulas TRES, drip coffee. Entrada múltipla no consumidor de especialidade.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26000" y="1725144"/>
            <a:ext cx="12000" cy="19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2000" y="1725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Preço sugerido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2000" y="1815144"/>
            <a:ext cx="4302000" cy="126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R$ 24,90 (250g) — posicionamento premiun acessível, ~3× o café tradicional 3C.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" y="4729500"/>
            <a:ext cx="8784000" cy="288000"/>
          </a:xfrm>
          <a:prstGeom prst="rect">
            <a:avLst/>
          </a:prstGeom>
          <a:solidFill>
            <a:srgbClr val="FDF0F2"/>
          </a:solidFill>
          <a:ln>
            <a:solidFill>
              <a:srgbClr val="FD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0000" y="4729500"/>
            <a:ext cx="9144" cy="28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000" y="4729500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a personalização por produtor cria narrativa de especialidade a custo marginal — diferencia no PDV sem alterar o produto. A Orfeu tem a fazenda, os nomes dos produtores e a história. Falta só executar.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3 Corações  ·  Referências Complementares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venir Next LT Pro"/>
              </a:rPr>
              <a:t>Rituais Regiões do Mundo — Edição Limitada Internacional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0"/>
            <a:ext cx="329472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Java, Colômbia, Etiópia, Kenya · 4 origens · 85+ pontos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1080000" cy="72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104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RITUAIS GLOBAL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37144"/>
            <a:ext cx="2856000" cy="16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000" y="226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Conceito de Origem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246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Java (Indonésia), Colômbia, Etiópia, Kenya · Todos 100% Arábica de origem única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000" y="537144"/>
            <a:ext cx="2856000" cy="162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44000" y="226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Identidade de Marca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4000" y="246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Posicionamento premium: "rituais" evoca experiência, não commodity. Prateleira especial.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000" y="537144"/>
            <a:ext cx="2856000" cy="162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08000" y="226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Estratégia de Canal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000" y="246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Lançada na Superminas 2024 · Distribuição seletiva · Expansão em redes premium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2823144"/>
            <a:ext cx="8784000" cy="234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000" y="2823144"/>
            <a:ext cx="9144" cy="234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144" y="2823144"/>
            <a:ext cx="2099214" cy="234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🇮🇩  Java — Indonésia  ·  Notas de especiarias e tabaco defumado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358" y="2823144"/>
            <a:ext cx="2099214" cy="234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🇨🇴  Colômbia  ·  Caramelo e frutas tropicais  ·  Altitude 1.800m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7572" y="2823144"/>
            <a:ext cx="2099214" cy="234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🇪🇹  Etiópia  ·  Jasmin e frutas cítricas  ·  Berço do café Arábica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4786" y="2823144"/>
            <a:ext cx="2099214" cy="234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🇰🇪  Kenya  ·  Groselha preta e acidez marcante  ·  Leilão SL-28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000" y="4729500"/>
            <a:ext cx="8784000" cy="288000"/>
          </a:xfrm>
          <a:prstGeom prst="rect">
            <a:avLst/>
          </a:prstGeom>
          <a:solidFill>
            <a:srgbClr val="FDF0F2"/>
          </a:solidFill>
          <a:ln>
            <a:solidFill>
              <a:srgbClr val="FD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0000" y="4729500"/>
            <a:ext cx="9144" cy="28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4000" y="4729500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extensão para origens globais cria movimento de "curadoria" que legitima a expertise da marca — não compete com o core Brasil, expande o TAM. O consumidor de especialidade quer explorar e aprender.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3 Corações  ·  Referências Complementares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venir Next LT Pro"/>
              </a:rPr>
              <a:t>Campanha "Siga o Coração" — GALERIA.ag ·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0"/>
            <a:ext cx="329472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Simone Mendes + Alok + Alex Atala  ·  TV + Digital + OOH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1080000" cy="72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104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CAMPANHA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37144"/>
            <a:ext cx="4338000" cy="180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26000" y="573144"/>
            <a:ext cx="12000" cy="18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2000" y="57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Conceito criativo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2000" y="66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"3 Corações. O café de quem ama café" — declaração emocional que abandona funcional e abraça afeto.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000" y="843144"/>
            <a:ext cx="12000" cy="18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2000" y="84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Elenco de embaixadores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2000" y="93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Simone Mendes (música popular), Alok (DJ/digital), Alex Atala (chef fine dining). Amplitude de target.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26000" y="1113144"/>
            <a:ext cx="12000" cy="18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2000" y="111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Mídia &amp; Digital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2000" y="120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TV aberta e cable, OOH massivo, TikTok branded missions, stories exclusivos dos embaixadores.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000" y="1383144"/>
            <a:ext cx="12000" cy="18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2000" y="138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Agência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2000" y="147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GALERIA.ag — primeira campanha da parceria. Ruptura com posicionamento anterior.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26000" y="1653144"/>
            <a:ext cx="12000" cy="18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2000" y="165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Assinatura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2000" y="174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"3 Corações. O café de quem ama café" — simples, memorizável, defensável. Emotional territory.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" y="4729500"/>
            <a:ext cx="8784000" cy="288000"/>
          </a:xfrm>
          <a:prstGeom prst="rect">
            <a:avLst/>
          </a:prstGeom>
          <a:solidFill>
            <a:srgbClr val="FDF0F2"/>
          </a:solidFill>
          <a:ln>
            <a:solidFill>
              <a:srgbClr val="FD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0000" y="4729500"/>
            <a:ext cx="9144" cy="28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000" y="4729500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3C usou embaixadores com alcance de 100M+ para democratizar o café especial — mantendo o terroir/qualidade no discurso de Atala. Orfeu tem identidade distinta — não precisa de celebridade, precisa de storytelling de produto tão bom quanto.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3 Corações  ·  Referências Complementares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venir Next LT Pro"/>
              </a:rPr>
              <a:t>Projeto Florada — Marca Social &amp; Valorização da Cafeicultora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0"/>
            <a:ext cx="329472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100% do lucro revertido às produtoras  ·  Concurso Nacional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1080000" cy="72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104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FLORADA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37144"/>
            <a:ext cx="2856000" cy="16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000" y="226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Embalagem Florada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246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Foto da cafeicultora na frente da embalagem
Nome, fazenda e processo de pós-colheita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000" y="537144"/>
            <a:ext cx="2856000" cy="162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44000" y="226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Frente Personalizada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4000" y="246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Cada lote tem embalagem única
Pontuação 88+ · Microlotes raros
Drip Coffee e grão inteiro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000" y="537144"/>
            <a:ext cx="2856000" cy="162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08000" y="226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Concurso Nacional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000" y="246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3C lançou o maior concurso do mundo
focado exclusivamente em
mulheres produtoras (Arábica + Canéfora)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4729500"/>
            <a:ext cx="8784000" cy="288000"/>
          </a:xfrm>
          <a:prstGeom prst="rect">
            <a:avLst/>
          </a:prstGeom>
          <a:solidFill>
            <a:srgbClr val="FDF0F2"/>
          </a:solidFill>
          <a:ln>
            <a:solidFill>
              <a:srgbClr val="FD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000" y="4729500"/>
            <a:ext cx="9144" cy="28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4000" y="4729500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Florada prova que causa social + produto premium são compatíveis — cria halo de marca e justifica preço. Orfeu tem história igualmente rica de sustentabilidade. Onde está a expressão de marca equivalente?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3 Corações  ·  Referências Complementares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venir Next LT Pro"/>
              </a:rPr>
              <a:t>Exportação &amp; Presença Internacional — Lições do Modelo 3C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0"/>
            <a:ext cx="329472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12 países  ·  30+ marcas  ·  Líder em café T&amp;M no Brasil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1080000" cy="72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104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EXPORTAÇÃO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000" y="573144"/>
            <a:ext cx="12000" cy="18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000" y="57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Escala &amp; Distribuição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" y="66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Líder nacional em café T&amp;M · 300.000+ pontos de venda · Presença em todos os estados + 12 países de exportação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843144"/>
            <a:ext cx="12000" cy="18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84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Portfolio de marcas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000" y="93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+30 marcas: 3 Corações, Santa Clara, Pimpinela, Fort, TRES, Iguaçu, Itamaraty. Cada marca = segmento específico.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000" y="1113144"/>
            <a:ext cx="12000" cy="18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000" y="111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Centro Rituais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000" y="120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3C inaugurou Centro de apoio ao produtor de cafés especiais e raros no Sul de MG (2024). Posicionamento vertical.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1383144"/>
            <a:ext cx="12000" cy="18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000" y="138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Mercado de especialidade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000" y="147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Rituais como ponta de lança — especialidade viabilizada por escala industrial. Credibilidade + acessibilidade.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6000" y="573144"/>
            <a:ext cx="12000" cy="180000"/>
          </a:xfrm>
          <a:prstGeom prst="rect">
            <a:avLst/>
          </a:prstGeom>
          <a:solidFill>
            <a:srgbClr val="8C0B20"/>
          </a:solidFill>
          <a:ln>
            <a:solidFill>
              <a:srgbClr val="8C0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2000" y="57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Modelo de exportação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2000" y="66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3C exporta principalmente solúvel e T&amp;M para mercados emergentes. Rituais como vetor de entrada premium.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26000" y="843144"/>
            <a:ext cx="12000" cy="180000"/>
          </a:xfrm>
          <a:prstGeom prst="rect">
            <a:avLst/>
          </a:prstGeom>
          <a:solidFill>
            <a:srgbClr val="8C0B20"/>
          </a:solidFill>
          <a:ln>
            <a:solidFill>
              <a:srgbClr val="8C0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2000" y="84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Posicionamento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2000" y="93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Brasil = origem premium nos mercados externos (como Chile, Portugal, Angola). "Feito do melhor café do mundo".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26000" y="1113144"/>
            <a:ext cx="12000" cy="180000"/>
          </a:xfrm>
          <a:prstGeom prst="rect">
            <a:avLst/>
          </a:prstGeom>
          <a:solidFill>
            <a:srgbClr val="8C0B20"/>
          </a:solidFill>
          <a:ln>
            <a:solidFill>
              <a:srgbClr val="8C0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2000" y="111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Rede de distribuição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2000" y="120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Parceiros distribuidores por país. Sem loja própria no exterior — modelo asset-light de exportação indireta.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26000" y="1383144"/>
            <a:ext cx="12000" cy="180000"/>
          </a:xfrm>
          <a:prstGeom prst="rect">
            <a:avLst/>
          </a:prstGeom>
          <a:solidFill>
            <a:srgbClr val="8C0B20"/>
          </a:solidFill>
          <a:ln>
            <a:solidFill>
              <a:srgbClr val="8C0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2000" y="1383144"/>
            <a:ext cx="4302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Lição #1 — Escala enables premiumization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2000" y="1473144"/>
            <a:ext cx="4302000" cy="10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A escala do volume mainstream subsidia o investimento em Rituais/especialidade. Modelo de portfólio integrado.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000" y="4729500"/>
            <a:ext cx="8784000" cy="288000"/>
          </a:xfrm>
          <a:prstGeom prst="rect">
            <a:avLst/>
          </a:prstGeom>
          <a:solidFill>
            <a:srgbClr val="FDF0F2"/>
          </a:solidFill>
          <a:ln>
            <a:solidFill>
              <a:srgbClr val="FD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0000" y="4729500"/>
            <a:ext cx="9144" cy="28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4000" y="4729500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3C mostra que não é preciso ser pequeno para ter especialidade — escala e premium coexistem com marcas distintas e estratégia de portfólio clara. O erro seria tentar replicar sem a âncora de volume.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3 Corações  ·  Referências Complementares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venir Next LT Pro"/>
              </a:rPr>
              <a:t>Síntese — O que a 3 Corações Nos Ensina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330000"/>
            <a:ext cx="1080000" cy="72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000" y="330000"/>
            <a:ext cx="104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LIÇÕES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000" y="465144"/>
            <a:ext cx="8784000" cy="396000"/>
          </a:xfrm>
          <a:prstGeom prst="rect">
            <a:avLst/>
          </a:prstGeom>
          <a:solidFill>
            <a:srgbClr val="FFFFFF"/>
          </a:solidFill>
          <a:ln w="4572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000" y="465144"/>
            <a:ext cx="9144" cy="396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3144" y="465144"/>
            <a:ext cx="2834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Rituais &amp; Especialidade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6096" y="465144"/>
            <a:ext cx="2834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Embalagem personalizada, QR code, direct trade, 85+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9048" y="465144"/>
            <a:ext cx="2942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Rastreabilidade total com custo marginal baixo — é execução, não investimento. Orfeu tem o produto, falta executar a narrativa.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" y="879144"/>
            <a:ext cx="8784000" cy="396000"/>
          </a:xfrm>
          <a:prstGeom prst="rect">
            <a:avLst/>
          </a:prstGeom>
          <a:solidFill>
            <a:srgbClr val="FFFFFF"/>
          </a:solidFill>
          <a:ln w="4572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000" y="879144"/>
            <a:ext cx="9144" cy="396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144" y="879144"/>
            <a:ext cx="2834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Campanha emocional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6096" y="879144"/>
            <a:ext cx="2834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"Siga o Coração" — Alok, Simone, Atala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9048" y="879144"/>
            <a:ext cx="2942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Café entrou na conversa de afeto e identidade — não mais funcional. Orfeu está onde? A identidade emocional de marca ainda precisa ser construída.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1293144"/>
            <a:ext cx="8784000" cy="396000"/>
          </a:xfrm>
          <a:prstGeom prst="rect">
            <a:avLst/>
          </a:prstGeom>
          <a:solidFill>
            <a:srgbClr val="FFFFFF"/>
          </a:solidFill>
          <a:ln w="4572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000" y="1293144"/>
            <a:ext cx="9144" cy="396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144" y="1293144"/>
            <a:ext cx="2834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Florada — causa 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6096" y="1293144"/>
            <a:ext cx="2834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100% do lucro às cafeicultoras · Microlotes premiados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9048" y="1293144"/>
            <a:ext cx="2942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Causa genuína integrada ao produto cria defensores de marca + margem defensável. Orfeu tem fazenda — qual é a causa?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0000" y="1707144"/>
            <a:ext cx="8784000" cy="396000"/>
          </a:xfrm>
          <a:prstGeom prst="rect">
            <a:avLst/>
          </a:prstGeom>
          <a:solidFill>
            <a:srgbClr val="FFFFFF"/>
          </a:solidFill>
          <a:ln w="4572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0000" y="1707144"/>
            <a:ext cx="9144" cy="396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3144" y="1707144"/>
            <a:ext cx="2834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Exportação asset-light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6096" y="1707144"/>
            <a:ext cx="2834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12 países, distribuidores locais, sem loja própria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9048" y="1707144"/>
            <a:ext cx="2942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Exportação via parceiros evita capex pesado. Rituais é o vetor de entrada premium nos mercados externos. Como Orfeu usa a marca para criar pull?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0000" y="2121144"/>
            <a:ext cx="8784000" cy="396000"/>
          </a:xfrm>
          <a:prstGeom prst="rect">
            <a:avLst/>
          </a:prstGeom>
          <a:solidFill>
            <a:srgbClr val="FFFFFF"/>
          </a:solidFill>
          <a:ln w="4572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0000" y="2121144"/>
            <a:ext cx="9144" cy="396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144" y="2121144"/>
            <a:ext cx="2834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Portfólio como sistema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6096" y="2121144"/>
            <a:ext cx="2834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+30 marcas, cada uma com propósito claro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9048" y="2121144"/>
            <a:ext cx="2942952" cy="396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A diversidade de marcas da 3C cobre o mercado sem canibalizar. Orfeu tem uma única marca — como organizar linhas internas para fazer o mesmo?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3 Corações  ·  Referências Complementares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