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201168"/>
            <a:ext cx="1005840" cy="78977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344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Avenir Next LT Pro"/>
              </a:rPr>
              <a:t>3 CORAÇÕES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48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Avenir Next LT Pro"/>
              </a:rPr>
              <a:t>GRUPO 3CORAÇÕES  ·  SÃO MIGUEL, RN  ·  DESDE 1959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06040"/>
            <a:ext cx="8229600" cy="54864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724912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  <a:latin typeface="Avenir Next LT Pro"/>
              </a:rPr>
              <a:t>Como o maior grupo de café do Brasil gerencia um portfolio multi-marca em múltiplos segmentos
e o que sua jogada premium revela sobre os limites e oportunidades do mercado brasileiro.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Avenir Next LT Pro"/>
              </a:rPr>
              <a:t>Benchmark interno  ·  Alquemia Consulting  ·  Julho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008" y="109728"/>
            <a:ext cx="914400" cy="71797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4592" y="164592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venir Next LT Pro"/>
              </a:rPr>
              <a:t>ÍNDICE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" y="65836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venir Next LT Pro"/>
              </a:rPr>
              <a:t>Estrutura do case — 16 seções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115568"/>
            <a:ext cx="4114800" cy="265176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3464" y="1161288"/>
            <a:ext cx="292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7B1F1F"/>
                </a:solidFill>
                <a:latin typeface="Avenir Next LT Pr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116128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Avenir Next LT Pro"/>
              </a:rPr>
              <a:t>  Herança e marcos históricos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1115568"/>
            <a:ext cx="4114800" cy="265176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64024" y="1161288"/>
            <a:ext cx="292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7B1F1F"/>
                </a:solidFill>
                <a:latin typeface="Avenir Next LT Pro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56632" y="116128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Avenir Next LT Pro"/>
              </a:rPr>
              <a:t>  Arquitetura financeira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1408176"/>
            <a:ext cx="411480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3464" y="1453896"/>
            <a:ext cx="292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7B1F1F"/>
                </a:solidFill>
                <a:latin typeface="Avenir Next LT Pro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" y="1453896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Avenir Next LT Pro"/>
              </a:rPr>
              <a:t>  DNA da marca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9160" y="1408176"/>
            <a:ext cx="411480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64024" y="1453896"/>
            <a:ext cx="292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7B1F1F"/>
                </a:solidFill>
                <a:latin typeface="Avenir Next LT Pro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56632" y="1453896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Avenir Next LT Pro"/>
              </a:rPr>
              <a:t>  Framework de posicionamento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1700784"/>
            <a:ext cx="4114800" cy="265176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3464" y="1746504"/>
            <a:ext cx="292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7B1F1F"/>
                </a:solidFill>
                <a:latin typeface="Avenir Next LT Pro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" y="1746504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Avenir Next LT Pro"/>
              </a:rPr>
              <a:t>  Portfólio de marcas — visão completa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09160" y="1700784"/>
            <a:ext cx="4114800" cy="265176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64024" y="1746504"/>
            <a:ext cx="292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7B1F1F"/>
                </a:solidFill>
                <a:latin typeface="Avenir Next LT Pro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56632" y="1746504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Avenir Next LT Pro"/>
              </a:rPr>
              <a:t>  Portfólio premium — deep dive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1993391"/>
            <a:ext cx="411480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3464" y="2039111"/>
            <a:ext cx="292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7B1F1F"/>
                </a:solidFill>
                <a:latin typeface="Avenir Next LT Pro"/>
              </a:rP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" y="2039111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Avenir Next LT Pro"/>
              </a:rPr>
              <a:t>  Portfólio de produtos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09160" y="1993391"/>
            <a:ext cx="411480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64024" y="2039111"/>
            <a:ext cx="292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7B1F1F"/>
                </a:solidFill>
                <a:latin typeface="Avenir Next LT Pro"/>
              </a:rP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56632" y="2039111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Avenir Next LT Pro"/>
              </a:rPr>
              <a:t>  Estratégia de canais e execução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" y="2286000"/>
            <a:ext cx="4114800" cy="265176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3464" y="2331720"/>
            <a:ext cx="292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7B1F1F"/>
                </a:solidFill>
                <a:latin typeface="Avenir Next LT Pro"/>
              </a:rPr>
              <a:t>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072" y="233172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Avenir Next LT Pro"/>
              </a:rPr>
              <a:t>  Marketing e ativações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09160" y="2286000"/>
            <a:ext cx="4114800" cy="265176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64024" y="2331720"/>
            <a:ext cx="292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7B1F1F"/>
                </a:solidFill>
                <a:latin typeface="Avenir Next LT Pro"/>
              </a:rPr>
              <a:t>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56632" y="233172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Avenir Next LT Pro"/>
              </a:rPr>
              <a:t>  Digital e redes sociais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8600" y="2578608"/>
            <a:ext cx="411480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83464" y="2624328"/>
            <a:ext cx="292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7B1F1F"/>
                </a:solidFill>
                <a:latin typeface="Avenir Next LT Pro"/>
              </a:rPr>
              <a:t>11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6072" y="262432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Avenir Next LT Pro"/>
              </a:rPr>
              <a:t>  Sustentabilidade e ESG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709160" y="2578608"/>
            <a:ext cx="411480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64024" y="2624328"/>
            <a:ext cx="292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7B1F1F"/>
                </a:solidFill>
                <a:latin typeface="Avenir Next LT Pro"/>
              </a:rPr>
              <a:t>12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56632" y="262432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Avenir Next LT Pro"/>
              </a:rPr>
              <a:t>  Scorecard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28600" y="2871215"/>
            <a:ext cx="4114800" cy="265176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83464" y="2916935"/>
            <a:ext cx="292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7B1F1F"/>
                </a:solidFill>
                <a:latin typeface="Avenir Next LT Pro"/>
              </a:rPr>
              <a:t>13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6072" y="2916935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Avenir Next LT Pro"/>
              </a:rPr>
              <a:t>  Fontes e referências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709160" y="2871215"/>
            <a:ext cx="4114800" cy="265176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64024" y="2916935"/>
            <a:ext cx="292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7B1F1F"/>
                </a:solidFill>
                <a:latin typeface="Avenir Next LT Pro"/>
              </a:rPr>
              <a:t>14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56632" y="2916935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Avenir Next LT Pro"/>
              </a:rPr>
              <a:t>  Lições para a Orfeu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8600" y="4709160"/>
            <a:ext cx="8686800" cy="320040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47472" y="4745736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7B1F1F"/>
                </a:solidFill>
                <a:latin typeface="Avenir Next LT Pro"/>
              </a:rPr>
              <a:t>Ângulo estratégico: gerenciamento de portfólio multi-marca × aposta premium em mercado de massa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008" y="109728"/>
            <a:ext cx="914400" cy="71797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4592" y="164592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venir Next LT Pro"/>
              </a:rPr>
              <a:t>HERANÇA E MARCOS HISTÓRICOS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" y="65836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venir Next LT Pro"/>
              </a:rPr>
              <a:t>Da torrefação regional de 1959 ao grupo de R$ 11,8 bi com 30+ marcas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243584"/>
            <a:ext cx="8686800" cy="32004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0377" y="1207008"/>
            <a:ext cx="82296" cy="82296"/>
          </a:xfrm>
          <a:prstGeom prst="ellipse">
            <a:avLst/>
          </a:prstGeom>
          <a:solidFill>
            <a:srgbClr val="7B1F1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1335024"/>
            <a:ext cx="1040130" cy="1691640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" y="1380744"/>
            <a:ext cx="94868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B1F1F"/>
                </a:solidFill>
                <a:latin typeface="Avenir Next LT Pro"/>
              </a:rPr>
              <a:t>1959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" y="1563624"/>
            <a:ext cx="94868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1A1A"/>
                </a:solidFill>
                <a:latin typeface="Avenir Next LT Pro"/>
              </a:rPr>
              <a:t>Fundação em São Miguel, 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" y="1764792"/>
            <a:ext cx="948689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1A1A1A"/>
                </a:solidFill>
                <a:latin typeface="Avenir Next LT Pro"/>
              </a:rPr>
              <a:t>João Alves de Lima inicia vendas de café verde. Em 1961, compra equipamento
de torrefação e lança o Café Nossa Senhora de Fátima — raiz do grupo.</a:t>
            </a:r>
          </a:p>
        </p:txBody>
      </p:sp>
      <p:sp>
        <p:nvSpPr>
          <p:cNvPr id="13" name="Oval 12"/>
          <p:cNvSpPr/>
          <p:nvPr/>
        </p:nvSpPr>
        <p:spPr>
          <a:xfrm>
            <a:off x="1816227" y="1207008"/>
            <a:ext cx="82296" cy="82296"/>
          </a:xfrm>
          <a:prstGeom prst="ellipse">
            <a:avLst/>
          </a:prstGeom>
          <a:solidFill>
            <a:srgbClr val="7B1F1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341882" y="1335024"/>
            <a:ext cx="1040130" cy="16916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7602" y="1380744"/>
            <a:ext cx="94868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B1F1F"/>
                </a:solidFill>
                <a:latin typeface="Avenir Next LT Pro"/>
              </a:rPr>
              <a:t>1984–1985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7602" y="1563624"/>
            <a:ext cx="94868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1A1A"/>
                </a:solidFill>
                <a:latin typeface="Avenir Next LT Pro"/>
              </a:rPr>
              <a:t>Transição de gestão e rebranding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7602" y="1764792"/>
            <a:ext cx="948689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1A1A1A"/>
                </a:solidFill>
                <a:latin typeface="Avenir Next LT Pro"/>
              </a:rPr>
              <a:t>Filhos Pedro, Paulo e Vicente assumem. Produto é relançado como Santa Clara.
Início da modernização industrial e posicionamento regional.</a:t>
            </a:r>
          </a:p>
        </p:txBody>
      </p:sp>
      <p:sp>
        <p:nvSpPr>
          <p:cNvPr id="18" name="Oval 17"/>
          <p:cNvSpPr/>
          <p:nvPr/>
        </p:nvSpPr>
        <p:spPr>
          <a:xfrm>
            <a:off x="2902077" y="1207008"/>
            <a:ext cx="82296" cy="82296"/>
          </a:xfrm>
          <a:prstGeom prst="ellipse">
            <a:avLst/>
          </a:prstGeom>
          <a:solidFill>
            <a:srgbClr val="7B1F1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27732" y="1335024"/>
            <a:ext cx="1040130" cy="16916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73451" y="1380744"/>
            <a:ext cx="94868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B1F1F"/>
                </a:solidFill>
                <a:latin typeface="Avenir Next LT Pro"/>
              </a:rPr>
              <a:t>2000–2003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73451" y="1563624"/>
            <a:ext cx="94868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1A1A"/>
                </a:solidFill>
                <a:latin typeface="Avenir Next LT Pro"/>
              </a:rPr>
              <a:t>Fusão Strauss + expansão 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73451" y="1764792"/>
            <a:ext cx="948689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1A1A1A"/>
                </a:solidFill>
                <a:latin typeface="Avenir Next LT Pro"/>
              </a:rPr>
              <a:t>Strauss-Elite (Israel) adquire Café Três Corações. Santa Clara compra
Pimpinela (Rio de Janeiro) — primeiro passo para alcance nacional.</a:t>
            </a:r>
          </a:p>
        </p:txBody>
      </p:sp>
      <p:sp>
        <p:nvSpPr>
          <p:cNvPr id="23" name="Oval 22"/>
          <p:cNvSpPr/>
          <p:nvPr/>
        </p:nvSpPr>
        <p:spPr>
          <a:xfrm>
            <a:off x="3987927" y="1207008"/>
            <a:ext cx="82296" cy="82296"/>
          </a:xfrm>
          <a:prstGeom prst="ellipse">
            <a:avLst/>
          </a:prstGeom>
          <a:solidFill>
            <a:srgbClr val="7B1F1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513582" y="1335024"/>
            <a:ext cx="1040130" cy="1691640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59301" y="1380744"/>
            <a:ext cx="94868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B1F1F"/>
                </a:solidFill>
                <a:latin typeface="Avenir Next LT Pro"/>
              </a:rPr>
              <a:t>2005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59301" y="1563624"/>
            <a:ext cx="94868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1A1A"/>
                </a:solidFill>
                <a:latin typeface="Avenir Next LT Pro"/>
              </a:rPr>
              <a:t>Joint venture histórica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59301" y="1764792"/>
            <a:ext cx="948689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1A1A1A"/>
                </a:solidFill>
                <a:latin typeface="Avenir Next LT Pro"/>
              </a:rPr>
              <a:t>São Miguel Holding + Strauss criam a JV 50/50 que unifica Santa Clara
e Três Corações sob um único grupo. Base do modelo multi-marca nacional.</a:t>
            </a:r>
          </a:p>
        </p:txBody>
      </p:sp>
      <p:sp>
        <p:nvSpPr>
          <p:cNvPr id="28" name="Oval 27"/>
          <p:cNvSpPr/>
          <p:nvPr/>
        </p:nvSpPr>
        <p:spPr>
          <a:xfrm>
            <a:off x="5073777" y="1207008"/>
            <a:ext cx="82296" cy="82296"/>
          </a:xfrm>
          <a:prstGeom prst="ellipse">
            <a:avLst/>
          </a:prstGeom>
          <a:solidFill>
            <a:srgbClr val="7B1F1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99432" y="1335024"/>
            <a:ext cx="1040130" cy="1691640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45152" y="1380744"/>
            <a:ext cx="94868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B1F1F"/>
                </a:solidFill>
                <a:latin typeface="Avenir Next LT Pro"/>
              </a:rPr>
              <a:t>2009–2010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45152" y="1563624"/>
            <a:ext cx="94868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1A1A"/>
                </a:solidFill>
                <a:latin typeface="Avenir Next LT Pro"/>
              </a:rPr>
              <a:t>Escala nacional + rebranding corporativo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45152" y="1764792"/>
            <a:ext cx="948689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1A1A1A"/>
                </a:solidFill>
                <a:latin typeface="Avenir Next LT Pro"/>
              </a:rPr>
              <a:t>Aquisição das marcas Frisco e Tornado (Unilever). Rebrand para Grupo
3corações. 30+ marcas em operação. Entrada no café solúvel.</a:t>
            </a:r>
          </a:p>
        </p:txBody>
      </p:sp>
      <p:sp>
        <p:nvSpPr>
          <p:cNvPr id="33" name="Oval 32"/>
          <p:cNvSpPr/>
          <p:nvPr/>
        </p:nvSpPr>
        <p:spPr>
          <a:xfrm>
            <a:off x="6159627" y="1207008"/>
            <a:ext cx="82296" cy="82296"/>
          </a:xfrm>
          <a:prstGeom prst="ellipse">
            <a:avLst/>
          </a:prstGeom>
          <a:solidFill>
            <a:srgbClr val="7B1F1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85282" y="1335024"/>
            <a:ext cx="1040130" cy="16916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31002" y="1380744"/>
            <a:ext cx="94868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B1F1F"/>
                </a:solidFill>
                <a:latin typeface="Avenir Next LT Pro"/>
              </a:rPr>
              <a:t>2013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31002" y="1563624"/>
            <a:ext cx="94868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1A1A"/>
                </a:solidFill>
                <a:latin typeface="Avenir Next LT Pro"/>
              </a:rPr>
              <a:t>Lançamento TRES® — ecossistema de cápsulas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31002" y="1764792"/>
            <a:ext cx="948689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1A1A1A"/>
                </a:solidFill>
                <a:latin typeface="Avenir Next LT Pro"/>
              </a:rPr>
              <a:t>Plataforma de máquinas multibebidas com +30 sabores em cápsulas. Primeira
aposta DTC + recorrência. JV com italiana Caffitaly para fábrica no Brasil.</a:t>
            </a:r>
          </a:p>
        </p:txBody>
      </p:sp>
      <p:sp>
        <p:nvSpPr>
          <p:cNvPr id="38" name="Oval 37"/>
          <p:cNvSpPr/>
          <p:nvPr/>
        </p:nvSpPr>
        <p:spPr>
          <a:xfrm>
            <a:off x="7245477" y="1207008"/>
            <a:ext cx="82296" cy="82296"/>
          </a:xfrm>
          <a:prstGeom prst="ellipse">
            <a:avLst/>
          </a:prstGeom>
          <a:solidFill>
            <a:srgbClr val="7B1F1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771132" y="1335024"/>
            <a:ext cx="1040130" cy="16916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16852" y="1380744"/>
            <a:ext cx="94868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B1F1F"/>
                </a:solidFill>
                <a:latin typeface="Avenir Next LT Pro"/>
              </a:rPr>
              <a:t>2016–2020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16852" y="1563624"/>
            <a:ext cx="94868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1A1A"/>
                </a:solidFill>
                <a:latin typeface="Avenir Next LT Pro"/>
              </a:rPr>
              <a:t>Consolidação e diversificação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16852" y="1764792"/>
            <a:ext cx="948689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1A1A1A"/>
                </a:solidFill>
                <a:latin typeface="Avenir Next LT Pro"/>
              </a:rPr>
              <a:t>Aquisição da Cia. Iguaçu (solúvel). JO Olímpicos Rio 2016. Lançamento
Mercafé (DTC e-commerce). JV com Positive Brands (plant-based).</a:t>
            </a:r>
          </a:p>
        </p:txBody>
      </p:sp>
      <p:sp>
        <p:nvSpPr>
          <p:cNvPr id="43" name="Oval 42"/>
          <p:cNvSpPr/>
          <p:nvPr/>
        </p:nvSpPr>
        <p:spPr>
          <a:xfrm>
            <a:off x="8331327" y="1207008"/>
            <a:ext cx="82296" cy="82296"/>
          </a:xfrm>
          <a:prstGeom prst="ellipse">
            <a:avLst/>
          </a:prstGeom>
          <a:solidFill>
            <a:srgbClr val="7B1F1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856981" y="1335024"/>
            <a:ext cx="1040130" cy="1691640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02702" y="1380744"/>
            <a:ext cx="94868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B1F1F"/>
                </a:solidFill>
                <a:latin typeface="Avenir Next LT Pro"/>
              </a:rPr>
              <a:t>2024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02702" y="1563624"/>
            <a:ext cx="94868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1A1A"/>
                </a:solidFill>
                <a:latin typeface="Avenir Next LT Pro"/>
              </a:rPr>
              <a:t>Aposta premium e exportação processada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02702" y="1764792"/>
            <a:ext cx="948689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1A1A1A"/>
                </a:solidFill>
                <a:latin typeface="Avenir Next LT Pro"/>
              </a:rPr>
              <a:t>Inauguração do Centro Rituais de Cafés Especiais 85+ em Varginha, MG.
Meta de 250.000 sacas especiais/ano e exportação de café processado para EUA.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28600" y="4736592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7B1F1F"/>
                </a:solidFill>
                <a:latin typeface="Avenir Next LT Pro"/>
              </a:rPr>
              <a:t>Ângulo: cada aquisição de marca regional amplia capilaridade sem diluir vínculo local — modelo de crescimento por absorção com preservação de identidade.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008" y="109728"/>
            <a:ext cx="914400" cy="71797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4592" y="164592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venir Next LT Pro"/>
              </a:rPr>
              <a:t>ARQUITETURA FINANCEIRA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" y="65836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venir Next LT Pro"/>
              </a:rPr>
              <a:t>R$ 11,8 bilhões de receita bruta (2024)  ·  30%+ de share nacional  ·  Empresa privada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115568"/>
            <a:ext cx="4114800" cy="347472"/>
          </a:xfrm>
          <a:prstGeom prst="rect">
            <a:avLst/>
          </a:prstGeom>
          <a:solidFill>
            <a:srgbClr val="1F4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" y="1170432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venir Next LT Pro"/>
              </a:rPr>
              <a:t>EVOLUÇÃO DE RECEITA BRUTA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463040"/>
            <a:ext cx="4114800" cy="310896"/>
          </a:xfrm>
          <a:prstGeom prst="rect">
            <a:avLst/>
          </a:prstGeom>
          <a:solidFill>
            <a:srgbClr val="CCDD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" y="1527048"/>
            <a:ext cx="429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4A1F"/>
                </a:solidFill>
                <a:latin typeface="Avenir Next LT Pro"/>
              </a:rPr>
              <a:t>Ano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1527048"/>
            <a:ext cx="11612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4A1F"/>
                </a:solidFill>
                <a:latin typeface="Avenir Next LT Pro"/>
              </a:rPr>
              <a:t>Receita bruta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02536" y="1527048"/>
            <a:ext cx="9326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4A1F"/>
                </a:solidFill>
                <a:latin typeface="Avenir Next LT Pro"/>
              </a:rPr>
              <a:t>Crescimento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08376" y="1527048"/>
            <a:ext cx="12984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4A1F"/>
                </a:solidFill>
                <a:latin typeface="Avenir Next LT Pro"/>
              </a:rPr>
              <a:t>Nota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1773936"/>
            <a:ext cx="411480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5176" y="1837944"/>
            <a:ext cx="429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Avenir Next LT Pro"/>
              </a:rPr>
              <a:t>2021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1837944"/>
            <a:ext cx="11612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Avenir Next LT Pro"/>
              </a:rPr>
              <a:t>R$ 7,0 bi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02536" y="1837944"/>
            <a:ext cx="9326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Avenir Next LT Pro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08376" y="1837944"/>
            <a:ext cx="12984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Avenir Next LT Pro"/>
              </a:rPr>
              <a:t>Base pré-recuperação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2084832"/>
            <a:ext cx="4114800" cy="310896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5176" y="2148840"/>
            <a:ext cx="429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Avenir Next LT Pro"/>
              </a:rPr>
              <a:t>2022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" y="2148840"/>
            <a:ext cx="11612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Avenir Next LT Pro"/>
              </a:rPr>
              <a:t>R$ 9,7 bi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02536" y="2148840"/>
            <a:ext cx="9326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Avenir Next LT Pro"/>
              </a:rPr>
              <a:t>+38,6%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08376" y="2148840"/>
            <a:ext cx="12984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Avenir Next LT Pro"/>
              </a:rPr>
              <a:t>Retomada pós-pandemia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" y="2395728"/>
            <a:ext cx="411480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5176" y="2459736"/>
            <a:ext cx="429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Avenir Next LT Pro"/>
              </a:rPr>
              <a:t>2023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" y="2459736"/>
            <a:ext cx="11612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Avenir Next LT Pro"/>
              </a:rPr>
              <a:t>R$ 9,8 bi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02536" y="2459736"/>
            <a:ext cx="9326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Avenir Next LT Pro"/>
              </a:rPr>
              <a:t>+1,0%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08376" y="2459736"/>
            <a:ext cx="12984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Avenir Next LT Pro"/>
              </a:rPr>
              <a:t>Consolidação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" y="2706624"/>
            <a:ext cx="4114800" cy="310896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5176" y="2770632"/>
            <a:ext cx="4297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Avenir Next LT Pro"/>
              </a:rPr>
              <a:t>2024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" y="2770632"/>
            <a:ext cx="11612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Avenir Next LT Pro"/>
              </a:rPr>
              <a:t>R$ 11,8 bi (est.)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02536" y="2770632"/>
            <a:ext cx="9326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Avenir Next LT Pro"/>
              </a:rPr>
              <a:t>+20,4%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08376" y="2770632"/>
            <a:ext cx="12984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Avenir Next LT Pro"/>
              </a:rPr>
              <a:t>Supera meta de R$ 10 bi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80560" y="1115568"/>
            <a:ext cx="4434840" cy="347472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44568" y="1170432"/>
            <a:ext cx="4251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venir Next LT Pro"/>
              </a:rPr>
              <a:t>INDICADORES OPERACIONAIS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80560" y="1481328"/>
            <a:ext cx="2176272" cy="80467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53712" y="1536192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1A1A"/>
                </a:solidFill>
                <a:latin typeface="Avenir Next LT Pro"/>
              </a:rPr>
              <a:t>EBIT (2022)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53712" y="171907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B1F1F"/>
                </a:solidFill>
                <a:latin typeface="Avenir Next LT Pro"/>
              </a:rPr>
              <a:t>R$ 689 milhões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53712" y="197510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Avenir Next LT Pro"/>
              </a:rPr>
              <a:t>Margem ~7,1%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02552" y="1481328"/>
            <a:ext cx="2176272" cy="804672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75704" y="1536192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1A1A"/>
                </a:solidFill>
                <a:latin typeface="Avenir Next LT Pro"/>
              </a:rPr>
              <a:t>Lucro líquido (2022)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75704" y="171907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B1F1F"/>
                </a:solidFill>
                <a:latin typeface="Avenir Next LT Pro"/>
              </a:rPr>
              <a:t>R$ 452 milhões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75704" y="197510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Avenir Next LT Pro"/>
              </a:rPr>
              <a:t>Empresa privada, dados restritos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480560" y="2322576"/>
            <a:ext cx="2176272" cy="80467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53712" y="237744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1A1A"/>
                </a:solidFill>
                <a:latin typeface="Avenir Next LT Pro"/>
              </a:rPr>
              <a:t>Funcionários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53712" y="25603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B1F1F"/>
                </a:solidFill>
                <a:latin typeface="Avenir Next LT Pro"/>
              </a:rPr>
              <a:t>9.286 diretos e terceiros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53712" y="281635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Avenir Next LT Pro"/>
              </a:rPr>
              <a:t>8 fábricas, 27 CDs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702552" y="2322576"/>
            <a:ext cx="2176272" cy="804672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75704" y="237744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A1A1A"/>
                </a:solidFill>
                <a:latin typeface="Avenir Next LT Pro"/>
              </a:rPr>
              <a:t>Exportações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75704" y="25603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B1F1F"/>
                </a:solidFill>
                <a:latin typeface="Avenir Next LT Pro"/>
              </a:rPr>
              <a:t>R$ 600 mi/ano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75704" y="281635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Avenir Next LT Pro"/>
              </a:rPr>
              <a:t>R$ 500 mi em café verde; meta de ampliar processado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28600" y="3200400"/>
            <a:ext cx="8686800" cy="29260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92608" y="324612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A1A"/>
                </a:solidFill>
                <a:latin typeface="Avenir Next LT Pro"/>
              </a:rPr>
              <a:t>MIX DE CANAIS (estimativa de mercado):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651760" y="3227832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B1F1F"/>
                </a:solidFill>
                <a:latin typeface="Avenir Next LT Pro"/>
              </a:rPr>
              <a:t>~55%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651760" y="3410712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Avenir Next LT Pro"/>
              </a:rPr>
              <a:t>Varejo massa (supermercados)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480560" y="3227832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B1F1F"/>
                </a:solidFill>
                <a:latin typeface="Avenir Next LT Pro"/>
              </a:rPr>
              <a:t>~20%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480560" y="3410712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Avenir Next LT Pro"/>
              </a:rPr>
              <a:t>Atacado / C&amp;C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17920" y="3227832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B1F1F"/>
                </a:solidFill>
                <a:latin typeface="Avenir Next LT Pro"/>
              </a:rPr>
              <a:t>~18%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17920" y="3410712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Avenir Next LT Pro"/>
              </a:rPr>
              <a:t>Foodservice B2B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80960" y="3227832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B1F1F"/>
                </a:solidFill>
                <a:latin typeface="Avenir Next LT Pro"/>
              </a:rPr>
              <a:t>~7%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80960" y="3410712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Avenir Next LT Pro"/>
              </a:rPr>
              <a:t>DTC / e-commerce (Mercafé)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28600" y="3547872"/>
            <a:ext cx="8686800" cy="493776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92608" y="3584448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B1F1F"/>
                </a:solidFill>
                <a:latin typeface="Avenir Next LT Pro"/>
              </a:rPr>
              <a:t>POSIÇÃO GEOGRÁFICA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92608" y="3767328"/>
            <a:ext cx="8503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Avenir Next LT Pro"/>
              </a:rPr>
              <a:t>Brasil: 30%+ de market share nacional em café torrado e moído  ·  Vice-líder em café solúvel  ·  60% do segmento de cafés especiais
400.000+ pontos de venda  ·  Exportações para América Latina e EUA  ·  Presença em 17+ países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28600" y="4114800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888888"/>
                </a:solidFill>
                <a:latin typeface="Avenir Next LT Pro"/>
              </a:rPr>
              <a:t>Fontes: InfoMoney, AgFeed, Istoé Dinheiro, 3coracoes.com.br  |  Dados de empresa privada — estimativas de mercado quando indicado.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008" y="109728"/>
            <a:ext cx="914400" cy="71797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4592" y="164592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venir Next LT Pro"/>
              </a:rPr>
              <a:t>DNA DA MARCA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" y="65836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venir Next LT Pro"/>
              </a:rPr>
              <a:t>Missão · Visão · Tagline · Pilares estratégicos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115568"/>
            <a:ext cx="3200400" cy="502920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" y="1143000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Avenir Next LT Pro"/>
              </a:rPr>
              <a:t>MISSÃO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1353312"/>
            <a:ext cx="3017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Avenir Next LT Pro"/>
              </a:rPr>
              <a:t>Conectar pessoas ao prazer do café através de marcas que representam a identidade e os sabores de cada região do Brasil.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828800"/>
            <a:ext cx="3200400" cy="502920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" y="1856231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B1F1F"/>
                </a:solidFill>
                <a:latin typeface="Avenir Next LT Pro"/>
              </a:rPr>
              <a:t>VISÃO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" y="2066543"/>
            <a:ext cx="3017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Avenir Next LT Pro"/>
              </a:rPr>
              <a:t>Ser o maior e mais relevante grupo de café do mundo, liderando o mercado brasileiro e expandindo o café especial brasileiro globalmente.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2414016"/>
            <a:ext cx="3200400" cy="4114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" y="2441448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4A1F"/>
                </a:solidFill>
                <a:latin typeface="Avenir Next LT Pro"/>
              </a:rPr>
              <a:t>TAGLINE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" y="2633472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4A1F"/>
                </a:solidFill>
                <a:latin typeface="Avenir Next LT Pro"/>
              </a:rPr>
              <a:t>"Nós Amamos Café" / "Sabor que Apaixona"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2907792"/>
            <a:ext cx="3200400" cy="38404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" y="2935224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4A1F"/>
                </a:solidFill>
                <a:latin typeface="Avenir Next LT Pro"/>
              </a:rPr>
              <a:t>HERANÇA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" y="3127248"/>
            <a:ext cx="30175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Avenir Next LT Pro"/>
              </a:rPr>
              <a:t>66 anos. Nasceu no Nordeste, cresceu absorvendo o Brasil inteiro, marca a marca.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66160" y="1115568"/>
            <a:ext cx="5349240" cy="3200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30168" y="1161288"/>
            <a:ext cx="5166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venir Next LT Pro"/>
              </a:rPr>
              <a:t>TRAÇOS DE PERSONALIDADE DA MARCA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66160" y="1481328"/>
            <a:ext cx="2606040" cy="658368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39312" y="1536192"/>
            <a:ext cx="24597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B1F1F"/>
                </a:solidFill>
                <a:latin typeface="Avenir Next LT Pro"/>
              </a:rPr>
              <a:t>Brasileiro de raiz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39312" y="1737360"/>
            <a:ext cx="24597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Avenir Next LT Pro"/>
              </a:rPr>
              <a:t>Identidade construída na diversidade regional — sem tentar parecer europeu.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81928" y="1481328"/>
            <a:ext cx="2606040" cy="65836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1536192"/>
            <a:ext cx="24597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B1F1F"/>
                </a:solidFill>
                <a:latin typeface="Avenir Next LT Pro"/>
              </a:rPr>
              <a:t>Democrático e capilar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1737360"/>
            <a:ext cx="24597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Avenir Next LT Pro"/>
              </a:rPr>
              <a:t>Está no carrinho de compras de todas as classes sociais; presente em 400k+ PDVs.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66160" y="2203704"/>
            <a:ext cx="2606040" cy="658368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39312" y="2258568"/>
            <a:ext cx="24597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B1F1F"/>
                </a:solidFill>
                <a:latin typeface="Avenir Next LT Pro"/>
              </a:rPr>
              <a:t>Inovador pragmático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39312" y="2459736"/>
            <a:ext cx="24597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Avenir Next LT Pro"/>
              </a:rPr>
              <a:t>Lança TRES, Mercafé e Rituais — mas sempre ancorado em volume de massa.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81928" y="2203704"/>
            <a:ext cx="2606040" cy="65836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80" y="2258568"/>
            <a:ext cx="24597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B1F1F"/>
                </a:solidFill>
                <a:latin typeface="Avenir Next LT Pro"/>
              </a:rPr>
              <a:t>Confiável e consistente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2459736"/>
            <a:ext cx="24597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Avenir Next LT Pro"/>
              </a:rPr>
              <a:t>30%+ de market share conquistado por décadas de presença e qualidade estável.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66160" y="2926080"/>
            <a:ext cx="2606040" cy="658368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39312" y="2980944"/>
            <a:ext cx="24597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B1F1F"/>
                </a:solidFill>
                <a:latin typeface="Avenir Next LT Pro"/>
              </a:rPr>
              <a:t>Ambicioso no premium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39312" y="3182112"/>
            <a:ext cx="24597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Avenir Next LT Pro"/>
              </a:rPr>
              <a:t>Entra no segmento 85+ points via Rituais sem abrir mão do portfólio core.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81928" y="2926080"/>
            <a:ext cx="2606040" cy="65836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5080" y="2980944"/>
            <a:ext cx="24597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B1F1F"/>
                </a:solidFill>
                <a:latin typeface="Avenir Next LT Pro"/>
              </a:rPr>
              <a:t>Parceiro da cadeia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3182112"/>
            <a:ext cx="24597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Avenir Next LT Pro"/>
              </a:rPr>
              <a:t>Compra acima do preço de mercado, treina produtores, apoia comunidades.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8600" y="3383280"/>
            <a:ext cx="8686800" cy="292608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2608" y="342900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venir Next LT Pro"/>
              </a:rPr>
              <a:t>5 PILARES ESTRATÉGICOS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8600" y="3685032"/>
            <a:ext cx="1700784" cy="129844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83464" y="3730752"/>
            <a:ext cx="162763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7B1F1F"/>
                </a:solidFill>
                <a:latin typeface="Avenir Next LT Pro"/>
              </a:rPr>
              <a:t>Escala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3464" y="3950208"/>
            <a:ext cx="1627631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Avenir Next LT Pro"/>
              </a:rPr>
              <a:t>30%+ share via
capilaridade logística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965960" y="3685032"/>
            <a:ext cx="1700784" cy="1298448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020824" y="3730752"/>
            <a:ext cx="162763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7B1F1F"/>
                </a:solidFill>
                <a:latin typeface="Avenir Next LT Pro"/>
              </a:rPr>
              <a:t>Portfólio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20824" y="3950208"/>
            <a:ext cx="1627631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Avenir Next LT Pro"/>
              </a:rPr>
              <a:t>30+ marcas =
30+ segmentos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703320" y="3685032"/>
            <a:ext cx="1700784" cy="129844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58183" y="3730752"/>
            <a:ext cx="162763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7B1F1F"/>
                </a:solidFill>
                <a:latin typeface="Avenir Next LT Pro"/>
              </a:rPr>
              <a:t>Recorrência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758183" y="3950208"/>
            <a:ext cx="1627631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Avenir Next LT Pro"/>
              </a:rPr>
              <a:t>TRES: vende máq.
+ margem na cápsula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40679" y="3685032"/>
            <a:ext cx="1700784" cy="1298448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95543" y="3730752"/>
            <a:ext cx="162763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7B1F1F"/>
                </a:solidFill>
                <a:latin typeface="Avenir Next LT Pro"/>
              </a:rPr>
              <a:t>Premium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95543" y="3950208"/>
            <a:ext cx="1627631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Avenir Next LT Pro"/>
              </a:rPr>
              <a:t>Rituais 85+ →
mercado especial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178040" y="3685032"/>
            <a:ext cx="1700784" cy="129844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232903" y="3730752"/>
            <a:ext cx="162763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7B1F1F"/>
                </a:solidFill>
                <a:latin typeface="Avenir Next LT Pro"/>
              </a:rPr>
              <a:t>DTC/Export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32903" y="3950208"/>
            <a:ext cx="1627631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Avenir Next LT Pro"/>
              </a:rPr>
              <a:t>Mercafé + EUA =
fuga da commoditização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008" y="109728"/>
            <a:ext cx="914400" cy="71797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4592" y="164592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venir Next LT Pro"/>
              </a:rPr>
              <a:t>FRAMEWORK DE POSICIONAMENTO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" y="65836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venir Next LT Pro"/>
              </a:rPr>
              <a:t>Brand statement · Benefícios · RTBs · Valores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115568"/>
            <a:ext cx="8686800" cy="594360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" y="114300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venir Next LT Pro"/>
              </a:rPr>
              <a:t>BRAND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1325880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Avenir Next LT Pro"/>
              </a:rPr>
              <a:t>"Para qualquer brasileiro, em qualquer momento do dia, o Grupo 3corações é o maior sistema de café do país — porque une a profundidade das raízes regionais com a escala industrial que garante qualidade e acesso de Norte a Sul."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764792"/>
            <a:ext cx="8686800" cy="4114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" y="179222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4A1F"/>
                </a:solidFill>
                <a:latin typeface="Avenir Next LT Pro"/>
              </a:rPr>
              <a:t>IDEIA CRIATIVA CENTRAL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" y="1984248"/>
            <a:ext cx="8412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Avenir Next LT Pro"/>
              </a:rPr>
              <a:t>O café é identidade brasileira — e nenhuma empresa conhece mais sobre como os brasileiros amam café do que o grupo que acompanhou esse amor por 66 anos, de São Miguel do Oeste a São Paulo.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2231136"/>
            <a:ext cx="2130552" cy="274320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3464" y="2267712"/>
            <a:ext cx="20208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Avenir Next LT Pro"/>
              </a:rPr>
              <a:t>BENEFÍCIOS DO PRODUTO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2505456"/>
            <a:ext cx="2130552" cy="2423160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3464" y="2560320"/>
            <a:ext cx="2020824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1A1A1A"/>
                </a:solidFill>
                <a:latin typeface="Avenir Next LT Pro"/>
              </a:rPr>
              <a:t>• 40+ sabores e formatos de café
• Cobertura geográfica total (Norte a Sul)
• Portfólio 3-tier: tradicional, gourmet e especial
• Máquina TRES: 30+ bebidas em cápsula
• Café solúvel Iguaçu (vice-líder)
• Rituais 85+: pontuação SCA certificada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14016" y="2231136"/>
            <a:ext cx="2130552" cy="274320"/>
          </a:xfrm>
          <a:prstGeom prst="rect">
            <a:avLst/>
          </a:prstGeom>
          <a:solidFill>
            <a:srgbClr val="1F4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68880" y="2267712"/>
            <a:ext cx="20208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Avenir Next LT Pro"/>
              </a:rPr>
              <a:t>BENEFÍCIOS EMOCIONAIS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14016" y="2505456"/>
            <a:ext cx="2130552" cy="24231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68880" y="2560320"/>
            <a:ext cx="2020824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1A1A1A"/>
                </a:solidFill>
                <a:latin typeface="Avenir Next LT Pro"/>
              </a:rPr>
              <a:t>• Sabor da memória regional — Pimpinela, Santa Clara
• Orgulho de beber o café mais brasileiro
• Status no premium sem abandonar o familiar
• Ritual diário elevado (Rituais, cápsulas gourmet)
• Conexão com produtores — Florada, Tribos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99432" y="2231136"/>
            <a:ext cx="2130552" cy="274320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54296" y="2267712"/>
            <a:ext cx="20208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Avenir Next LT Pro"/>
              </a:rPr>
              <a:t>RTBs (PROOF POINTS)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99432" y="2505456"/>
            <a:ext cx="2130552" cy="2423160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54296" y="2560320"/>
            <a:ext cx="2020824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1A1A1A"/>
                </a:solidFill>
                <a:latin typeface="Avenir Next LT Pro"/>
              </a:rPr>
              <a:t>• #1 em café torrado e moído no Brasil
• 400.000+ pontos de venda ativos
• 9 fábricas, 27 centros de distribuição
• Certificações: Rainforest Alliance, BSCA, ABIC
• JV com Strauss (Israel) — know-how global
• Centro Rituais 85+ em Varginha, MG (2024)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84848" y="2231136"/>
            <a:ext cx="2130552" cy="274320"/>
          </a:xfrm>
          <a:prstGeom prst="rect">
            <a:avLst/>
          </a:prstGeom>
          <a:solidFill>
            <a:srgbClr val="1F4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39712" y="2267712"/>
            <a:ext cx="20208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Avenir Next LT Pro"/>
              </a:rPr>
              <a:t>VALORES DE MARCA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84848" y="2505456"/>
            <a:ext cx="2130552" cy="24231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39712" y="2560320"/>
            <a:ext cx="2020824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1A1A1A"/>
                </a:solidFill>
                <a:latin typeface="Avenir Next LT Pro"/>
              </a:rPr>
              <a:t>• Brasilidade autêntica
• Democratização do café de qualidade
• Inovação com propósito
• Parceria com o campo
• Responsabilidade social e ambiental
• Excelência operacional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008" y="109728"/>
            <a:ext cx="914400" cy="71797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4592" y="164592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venir Next LT Pro"/>
              </a:rPr>
              <a:t>PORTFÓLIO DE MARCAS — VISÃO COMPLETA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" y="65836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venir Next LT Pro"/>
              </a:rPr>
              <a:t>30+ marcas organizadas por segmento, posicionamento e canal de origem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115568"/>
            <a:ext cx="8686800" cy="256032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" y="1152144"/>
            <a:ext cx="8503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venir Next LT Pro"/>
              </a:rPr>
              <a:t>A. MARCAS DE CAFÉ — NACIONAIS E PRINCIPAIS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399032"/>
            <a:ext cx="1417320" cy="868680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" y="1435608"/>
            <a:ext cx="1307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B1F1F"/>
                </a:solidFill>
                <a:latin typeface="Avenir Next LT Pro"/>
              </a:rPr>
              <a:t>3 Corações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" y="1636776"/>
            <a:ext cx="1307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Avenir Next LT Pro"/>
              </a:rPr>
              <a:t>Nacional / Premium médio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" y="1920240"/>
            <a:ext cx="1307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1F4A1F"/>
                </a:solidFill>
                <a:latin typeface="Avenir Next LT Pro"/>
              </a:rPr>
              <a:t>Canal: Varejo, foodservice, DTC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64208" y="1399032"/>
            <a:ext cx="1417320" cy="8686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19072" y="1435608"/>
            <a:ext cx="1307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B1F1F"/>
                </a:solidFill>
                <a:latin typeface="Avenir Next LT Pro"/>
              </a:rPr>
              <a:t>Santa Clara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19072" y="1636776"/>
            <a:ext cx="1307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Avenir Next LT Pro"/>
              </a:rPr>
              <a:t>Norte/Nordeste — #1 regional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19072" y="1920240"/>
            <a:ext cx="1307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1F4A1F"/>
                </a:solidFill>
                <a:latin typeface="Avenir Next LT Pro"/>
              </a:rPr>
              <a:t>Canal: Varejo local e nacional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99816" y="1399032"/>
            <a:ext cx="1417320" cy="868680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54680" y="1435608"/>
            <a:ext cx="1307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B1F1F"/>
                </a:solidFill>
                <a:latin typeface="Avenir Next LT Pro"/>
              </a:rPr>
              <a:t>Pimpinela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80" y="1636776"/>
            <a:ext cx="1307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Avenir Next LT Pro"/>
              </a:rPr>
              <a:t>Sudeste (Rio de Janeiro)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54680" y="1920240"/>
            <a:ext cx="1307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1F4A1F"/>
                </a:solidFill>
                <a:latin typeface="Avenir Next LT Pro"/>
              </a:rPr>
              <a:t>Canal: Varejo SE, foodservice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35424" y="1399032"/>
            <a:ext cx="1417320" cy="8686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90288" y="1435608"/>
            <a:ext cx="1307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B1F1F"/>
                </a:solidFill>
                <a:latin typeface="Avenir Next LT Pro"/>
              </a:rPr>
              <a:t>Iguaçu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0288" y="1636776"/>
            <a:ext cx="1307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Avenir Next LT Pro"/>
              </a:rPr>
              <a:t>Paraná / Sul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0288" y="1920240"/>
            <a:ext cx="1307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1F4A1F"/>
                </a:solidFill>
                <a:latin typeface="Avenir Next LT Pro"/>
              </a:rPr>
              <a:t>Canal: Varejo, solúvel, foodservice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71032" y="1399032"/>
            <a:ext cx="1417320" cy="868680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25896" y="1435608"/>
            <a:ext cx="1307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B1F1F"/>
                </a:solidFill>
                <a:latin typeface="Avenir Next LT Pro"/>
              </a:rPr>
              <a:t>Caboclo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25896" y="1636776"/>
            <a:ext cx="1307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Avenir Next LT Pro"/>
              </a:rPr>
              <a:t>Nacional — segmento econômico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25896" y="1920240"/>
            <a:ext cx="1307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1F4A1F"/>
                </a:solidFill>
                <a:latin typeface="Avenir Next LT Pro"/>
              </a:rPr>
              <a:t>Canal: Varejo massa, C&amp;C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06640" y="1399032"/>
            <a:ext cx="1417320" cy="8686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61504" y="1435608"/>
            <a:ext cx="1307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B1F1F"/>
                </a:solidFill>
                <a:latin typeface="Avenir Next LT Pro"/>
              </a:rPr>
              <a:t>Café do Ponto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61504" y="1636776"/>
            <a:ext cx="1307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Avenir Next LT Pro"/>
              </a:rPr>
              <a:t>Nacional — tradicional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61504" y="1920240"/>
            <a:ext cx="1307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1F4A1F"/>
                </a:solidFill>
                <a:latin typeface="Avenir Next LT Pro"/>
              </a:rPr>
              <a:t>Canal: Varejo, redes de padaria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" y="2313432"/>
            <a:ext cx="8686800" cy="256032"/>
          </a:xfrm>
          <a:prstGeom prst="rect">
            <a:avLst/>
          </a:prstGeom>
          <a:solidFill>
            <a:srgbClr val="1F4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2608" y="2350008"/>
            <a:ext cx="8503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venir Next LT Pro"/>
              </a:rPr>
              <a:t>B. MARCAS REGIONAIS DE CAFÉ (seleto)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8600" y="2587752"/>
            <a:ext cx="704088" cy="475488"/>
          </a:xfrm>
          <a:prstGeom prst="rect">
            <a:avLst/>
          </a:prstGeom>
          <a:solidFill>
            <a:srgbClr val="F0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65176" y="2615184"/>
            <a:ext cx="6309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F4A1F"/>
                </a:solidFill>
                <a:latin typeface="Avenir Next LT Pro"/>
              </a:rPr>
              <a:t>Letícia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5176" y="2779776"/>
            <a:ext cx="630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1A1A1A"/>
                </a:solidFill>
                <a:latin typeface="Avenir Next LT Pro"/>
              </a:rPr>
              <a:t>Minas Gerais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50976" y="2587752"/>
            <a:ext cx="704088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7552" y="2615184"/>
            <a:ext cx="6309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F4A1F"/>
                </a:solidFill>
                <a:latin typeface="Avenir Next LT Pro"/>
              </a:rPr>
              <a:t>Itamaraty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7552" y="2779776"/>
            <a:ext cx="630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1A1A1A"/>
                </a:solidFill>
                <a:latin typeface="Avenir Next LT Pro"/>
              </a:rPr>
              <a:t>Paraná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673352" y="2587752"/>
            <a:ext cx="704088" cy="475488"/>
          </a:xfrm>
          <a:prstGeom prst="rect">
            <a:avLst/>
          </a:prstGeom>
          <a:solidFill>
            <a:srgbClr val="F0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709928" y="2615184"/>
            <a:ext cx="6309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F4A1F"/>
                </a:solidFill>
                <a:latin typeface="Avenir Next LT Pro"/>
              </a:rPr>
              <a:t>Fino Grão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709928" y="2779776"/>
            <a:ext cx="630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1A1A1A"/>
                </a:solidFill>
                <a:latin typeface="Avenir Next LT Pro"/>
              </a:rPr>
              <a:t>Sul/Sudeste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395728" y="2587752"/>
            <a:ext cx="704088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432304" y="2615184"/>
            <a:ext cx="6309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F4A1F"/>
                </a:solidFill>
                <a:latin typeface="Avenir Next LT Pro"/>
              </a:rPr>
              <a:t>Kimimo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32304" y="2779776"/>
            <a:ext cx="630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1A1A1A"/>
                </a:solidFill>
                <a:latin typeface="Avenir Next LT Pro"/>
              </a:rPr>
              <a:t>Nordeste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118104" y="2587752"/>
            <a:ext cx="704088" cy="475488"/>
          </a:xfrm>
          <a:prstGeom prst="rect">
            <a:avLst/>
          </a:prstGeom>
          <a:solidFill>
            <a:srgbClr val="F0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154680" y="2615184"/>
            <a:ext cx="6309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F4A1F"/>
                </a:solidFill>
                <a:latin typeface="Avenir Next LT Pro"/>
              </a:rPr>
              <a:t>Café Manaus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154680" y="2779776"/>
            <a:ext cx="630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1A1A1A"/>
                </a:solidFill>
                <a:latin typeface="Avenir Next LT Pro"/>
              </a:rPr>
              <a:t>Amazônia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840480" y="2587752"/>
            <a:ext cx="704088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877056" y="2615184"/>
            <a:ext cx="6309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F4A1F"/>
                </a:solidFill>
                <a:latin typeface="Avenir Next LT Pro"/>
              </a:rPr>
              <a:t>Bandeira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77056" y="2779776"/>
            <a:ext cx="630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1A1A1A"/>
                </a:solidFill>
                <a:latin typeface="Avenir Next LT Pro"/>
              </a:rPr>
              <a:t>Centro-Oeste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62856" y="2587752"/>
            <a:ext cx="704088" cy="475488"/>
          </a:xfrm>
          <a:prstGeom prst="rect">
            <a:avLst/>
          </a:prstGeom>
          <a:solidFill>
            <a:srgbClr val="F0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99432" y="2615184"/>
            <a:ext cx="6309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F4A1F"/>
                </a:solidFill>
                <a:latin typeface="Avenir Next LT Pro"/>
              </a:rPr>
              <a:t>Fort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99432" y="2779776"/>
            <a:ext cx="630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1A1A1A"/>
                </a:solidFill>
                <a:latin typeface="Avenir Next LT Pro"/>
              </a:rPr>
              <a:t>Nordeste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85232" y="2587752"/>
            <a:ext cx="704088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321808" y="2615184"/>
            <a:ext cx="6309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F4A1F"/>
                </a:solidFill>
                <a:latin typeface="Avenir Next LT Pro"/>
              </a:rPr>
              <a:t>Cirol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321808" y="2779776"/>
            <a:ext cx="630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1A1A1A"/>
                </a:solidFill>
                <a:latin typeface="Avenir Next LT Pro"/>
              </a:rPr>
              <a:t>Sul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007608" y="2587752"/>
            <a:ext cx="704088" cy="475488"/>
          </a:xfrm>
          <a:prstGeom prst="rect">
            <a:avLst/>
          </a:prstGeom>
          <a:solidFill>
            <a:srgbClr val="F0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044184" y="2615184"/>
            <a:ext cx="6309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F4A1F"/>
                </a:solidFill>
                <a:latin typeface="Avenir Next LT Pro"/>
              </a:rPr>
              <a:t>Cruzeiro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044184" y="2779776"/>
            <a:ext cx="630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1A1A1A"/>
                </a:solidFill>
                <a:latin typeface="Avenir Next LT Pro"/>
              </a:rPr>
              <a:t>Nacional (solúvel)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729984" y="2587752"/>
            <a:ext cx="704088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766560" y="2615184"/>
            <a:ext cx="6309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F4A1F"/>
                </a:solidFill>
                <a:latin typeface="Avenir Next LT Pro"/>
              </a:rPr>
              <a:t>Café Amigo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766560" y="2779776"/>
            <a:ext cx="630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1A1A1A"/>
                </a:solidFill>
                <a:latin typeface="Avenir Next LT Pro"/>
              </a:rPr>
              <a:t>Nacional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452360" y="2587752"/>
            <a:ext cx="704088" cy="475488"/>
          </a:xfrm>
          <a:prstGeom prst="rect">
            <a:avLst/>
          </a:prstGeom>
          <a:solidFill>
            <a:srgbClr val="F0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488936" y="2615184"/>
            <a:ext cx="6309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F4A1F"/>
                </a:solidFill>
                <a:latin typeface="Avenir Next LT Pro"/>
              </a:rPr>
              <a:t>Betânia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488936" y="2779776"/>
            <a:ext cx="630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1A1A1A"/>
                </a:solidFill>
                <a:latin typeface="Avenir Next LT Pro"/>
              </a:rPr>
              <a:t>Nordeste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174736" y="2587752"/>
            <a:ext cx="704088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211312" y="2615184"/>
            <a:ext cx="6309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F4A1F"/>
                </a:solidFill>
                <a:latin typeface="Avenir Next LT Pro"/>
              </a:rPr>
              <a:t>3 Fazendas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211312" y="2779776"/>
            <a:ext cx="630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1A1A1A"/>
                </a:solidFill>
                <a:latin typeface="Avenir Next LT Pro"/>
              </a:rPr>
              <a:t>Minas Gerais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28600" y="3108960"/>
            <a:ext cx="8686800" cy="256032"/>
          </a:xfrm>
          <a:prstGeom prst="rect">
            <a:avLst/>
          </a:prstGeom>
          <a:solidFill>
            <a:srgbClr val="6D4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92608" y="3145536"/>
            <a:ext cx="8503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venir Next LT Pro"/>
              </a:rPr>
              <a:t>C. MARCAS FORA DO CAFÉ — BEBIDAS, ACHOCOLATADOS, PLANT-BASED E OUTROS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28600" y="3383280"/>
            <a:ext cx="1042415" cy="1371600"/>
          </a:xfrm>
          <a:prstGeom prst="rect">
            <a:avLst/>
          </a:prstGeom>
          <a:solidFill>
            <a:srgbClr val="FB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74320" y="3419856"/>
            <a:ext cx="95097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D4C2A"/>
                </a:solidFill>
                <a:latin typeface="Avenir Next LT Pro"/>
              </a:rPr>
              <a:t>TRES®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74320" y="3621024"/>
            <a:ext cx="950975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Avenir Next LT Pro"/>
              </a:rPr>
              <a:t>Máquinas multibebidas
+ cápsulas (café, chá,
chocolate, frutas)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307592" y="3383280"/>
            <a:ext cx="1042415" cy="13716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353312" y="3419856"/>
            <a:ext cx="95097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D4C2A"/>
                </a:solidFill>
                <a:latin typeface="Avenir Next LT Pro"/>
              </a:rPr>
              <a:t>Chocolatto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353312" y="3621024"/>
            <a:ext cx="950975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Avenir Next LT Pro"/>
              </a:rPr>
              <a:t>Achocolatado em pó
— sabor Minas Gerais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386584" y="3383280"/>
            <a:ext cx="1042415" cy="1371600"/>
          </a:xfrm>
          <a:prstGeom prst="rect">
            <a:avLst/>
          </a:prstGeom>
          <a:solidFill>
            <a:srgbClr val="FB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432303" y="3419856"/>
            <a:ext cx="95097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D4C2A"/>
                </a:solidFill>
                <a:latin typeface="Avenir Next LT Pro"/>
              </a:rPr>
              <a:t>Frisco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432303" y="3621024"/>
            <a:ext cx="950975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Avenir Next LT Pro"/>
              </a:rPr>
              <a:t>Suco em pó
19 sabores
(ex-Unilever)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465576" y="3383280"/>
            <a:ext cx="1042415" cy="13716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511296" y="3419856"/>
            <a:ext cx="95097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D4C2A"/>
                </a:solidFill>
                <a:latin typeface="Avenir Next LT Pro"/>
              </a:rPr>
              <a:t>Tornado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511296" y="3621024"/>
            <a:ext cx="950975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Avenir Next LT Pro"/>
              </a:rPr>
              <a:t>Bebida em pó
14 sabores
(ex-Unilever)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544568" y="3383280"/>
            <a:ext cx="1042415" cy="1371600"/>
          </a:xfrm>
          <a:prstGeom prst="rect">
            <a:avLst/>
          </a:prstGeom>
          <a:solidFill>
            <a:srgbClr val="FB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590288" y="3419856"/>
            <a:ext cx="95097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D4C2A"/>
                </a:solidFill>
                <a:latin typeface="Avenir Next LT Pro"/>
              </a:rPr>
              <a:t>Dona Clara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590288" y="3621024"/>
            <a:ext cx="950975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Avenir Next LT Pro"/>
              </a:rPr>
              <a:t>Derivados de milho
(fubá, amido, canjica)
Nordeste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623559" y="3383280"/>
            <a:ext cx="1042415" cy="13716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669279" y="3419856"/>
            <a:ext cx="95097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D4C2A"/>
                </a:solidFill>
                <a:latin typeface="Avenir Next LT Pro"/>
              </a:rPr>
              <a:t>Claramil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669279" y="3621024"/>
            <a:ext cx="950975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Avenir Next LT Pro"/>
              </a:rPr>
              <a:t>Flocos e amido
de milho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702552" y="3383280"/>
            <a:ext cx="1042415" cy="1371600"/>
          </a:xfrm>
          <a:prstGeom prst="rect">
            <a:avLst/>
          </a:prstGeom>
          <a:solidFill>
            <a:srgbClr val="FB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748272" y="3419856"/>
            <a:ext cx="95097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D4C2A"/>
                </a:solidFill>
                <a:latin typeface="Avenir Next LT Pro"/>
              </a:rPr>
              <a:t>A Tal da Castanha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748272" y="3621024"/>
            <a:ext cx="950975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Avenir Next LT Pro"/>
              </a:rPr>
              <a:t>Plant-based — leite
de castanha (JV
Positive Brands)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781544" y="3383280"/>
            <a:ext cx="1042415" cy="13716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827264" y="3419856"/>
            <a:ext cx="95097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D4C2A"/>
                </a:solidFill>
                <a:latin typeface="Avenir Next LT Pro"/>
              </a:rPr>
              <a:t>Jungle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827264" y="3621024"/>
            <a:ext cx="950975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Avenir Next LT Pro"/>
              </a:rPr>
              <a:t>Bebidas
funcionais
(JV Positive)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28600" y="4818888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888888"/>
                </a:solidFill>
                <a:latin typeface="Avenir Next LT Pro"/>
              </a:rPr>
              <a:t>Nota: Café Pelé não faz parte do portfólio 3corações — é marca da D.E Master Blenders. Melitta opera independentemente no Brasil.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008" y="109728"/>
            <a:ext cx="914400" cy="71797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4592" y="164592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venir Next LT Pro"/>
              </a:rPr>
              <a:t>PORTFÓLIO PREMIUM —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" y="65836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venir Next LT Pro"/>
              </a:rPr>
              <a:t>Todas as linhas, SKUs e sub-marcas com posicionamento premium — preço, canal, claims de qualidade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115568"/>
            <a:ext cx="8686800" cy="274320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" y="1161288"/>
            <a:ext cx="8503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venir Next LT Pro"/>
              </a:rPr>
              <a:t>LINHA RITUAIS 85+ — CARRO-CHEFE DO PREMIUM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426464"/>
            <a:ext cx="1188720" cy="1389888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" y="1463040"/>
            <a:ext cx="1078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B1F1F"/>
                </a:solidFill>
                <a:latin typeface="Avenir Next LT Pro"/>
              </a:rPr>
              <a:t>Rituais
Chocolate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" y="1783080"/>
            <a:ext cx="10789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Avenir Next LT Pro"/>
              </a:rPr>
              <a:t>Torra média · 100%
Arábica · notas de
chocolate ao leite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2779776"/>
            <a:ext cx="1188720" cy="292608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" y="2816352"/>
            <a:ext cx="1078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Avenir Next LT Pro"/>
              </a:rPr>
              <a:t>R$ 25–36
250g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81328" y="1426464"/>
            <a:ext cx="1188720" cy="1389888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36192" y="1463040"/>
            <a:ext cx="1078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B1F1F"/>
                </a:solidFill>
                <a:latin typeface="Avenir Next LT Pro"/>
              </a:rPr>
              <a:t>Rituais
Frutas Secas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36192" y="1783080"/>
            <a:ext cx="10789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Avenir Next LT Pro"/>
              </a:rPr>
              <a:t>Torra clara · 100%
Arábica · frutas
secas e caramelo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81328" y="2779776"/>
            <a:ext cx="1188720" cy="292608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36192" y="2816352"/>
            <a:ext cx="1078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Avenir Next LT Pro"/>
              </a:rPr>
              <a:t>R$ 25–36
250g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34056" y="1426464"/>
            <a:ext cx="1188720" cy="1389888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1463040"/>
            <a:ext cx="1078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B1F1F"/>
                </a:solidFill>
                <a:latin typeface="Avenir Next LT Pro"/>
              </a:rPr>
              <a:t>Rituais
Frutas Vermelhas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1783080"/>
            <a:ext cx="10789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Avenir Next LT Pro"/>
              </a:rPr>
              <a:t>Torra clara · acidez
marcante · frutas
vermelhas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34056" y="2779776"/>
            <a:ext cx="1188720" cy="292608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88920" y="2816352"/>
            <a:ext cx="1078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Avenir Next LT Pro"/>
              </a:rPr>
              <a:t>R$ 25–36
250g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86784" y="1426464"/>
            <a:ext cx="1188720" cy="1389888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41648" y="1463040"/>
            <a:ext cx="1078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B1F1F"/>
                </a:solidFill>
                <a:latin typeface="Avenir Next LT Pro"/>
              </a:rPr>
              <a:t>Rituais
Exótico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41648" y="1783080"/>
            <a:ext cx="10789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Avenir Next LT Pro"/>
              </a:rPr>
              <a:t>Torra clara ·
processamento
fermentado · exótico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86784" y="2779776"/>
            <a:ext cx="1188720" cy="292608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41648" y="2816352"/>
            <a:ext cx="1078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Avenir Next LT Pro"/>
              </a:rPr>
              <a:t>R$ 25–36
250g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39512" y="1426464"/>
            <a:ext cx="1188720" cy="1389888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94376" y="1463040"/>
            <a:ext cx="1078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B1F1F"/>
                </a:solidFill>
                <a:latin typeface="Avenir Next LT Pro"/>
              </a:rPr>
              <a:t>Rituais Florada
(Microlote)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94376" y="1783080"/>
            <a:ext cx="10789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Avenir Next LT Pro"/>
              </a:rPr>
              <a:t>Produzido por
mulheres · 90+pts
SCA · 100% lucro
produtora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39512" y="2779776"/>
            <a:ext cx="1188720" cy="292608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94376" y="2816352"/>
            <a:ext cx="1078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Avenir Next LT Pro"/>
              </a:rPr>
              <a:t>R$ 35–45
250g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92240" y="1426464"/>
            <a:ext cx="1188720" cy="1389888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47104" y="1463040"/>
            <a:ext cx="1078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B1F1F"/>
                </a:solidFill>
                <a:latin typeface="Avenir Next LT Pro"/>
              </a:rPr>
              <a:t>ID Coffee
(Alex Atala)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47104" y="1783080"/>
            <a:ext cx="10789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Avenir Next LT Pro"/>
              </a:rPr>
              <a:t>Fazenda Sequoia,
MG · edição limitada
· floral e frutado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92240" y="2779776"/>
            <a:ext cx="1188720" cy="292608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47104" y="2816352"/>
            <a:ext cx="1078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Avenir Next LT Pro"/>
              </a:rPr>
              <a:t>Premium
(edição ltda.)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44968" y="1426464"/>
            <a:ext cx="1188720" cy="1389888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99832" y="1463040"/>
            <a:ext cx="1078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B1F1F"/>
                </a:solidFill>
                <a:latin typeface="Avenir Next LT Pro"/>
              </a:rPr>
              <a:t>Rituais
Regiões do Mundo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99832" y="1783080"/>
            <a:ext cx="10789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Avenir Next LT Pro"/>
              </a:rPr>
              <a:t>Etiópia · Colômbia
· Kenya · Java ·
edição limitada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744968" y="2779776"/>
            <a:ext cx="1188720" cy="292608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99832" y="2816352"/>
            <a:ext cx="1078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Avenir Next LT Pro"/>
              </a:rPr>
              <a:t>R$ 35–50
250g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28600" y="3108960"/>
            <a:ext cx="8686800" cy="25603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92608" y="314553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F4A1F"/>
                </a:solidFill>
                <a:latin typeface="Avenir Next LT Pro"/>
              </a:rPr>
              <a:t>CERTIFICAÇÕES RITUAIS: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03120" y="3145536"/>
            <a:ext cx="6583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Avenir Next LT Pro"/>
              </a:rPr>
              <a:t>SCA 85+  ·  BSCA (Rastreabilidade Brasileira)  ·  ABIC Gourmet  ·  Rainforest Alliance  ·  Orgânico (linhas selecionadas)  ·  Verificação Coffee Verified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28600" y="3410712"/>
            <a:ext cx="8686800" cy="256032"/>
          </a:xfrm>
          <a:prstGeom prst="rect">
            <a:avLst/>
          </a:prstGeom>
          <a:solidFill>
            <a:srgbClr val="1F4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92608" y="3447288"/>
            <a:ext cx="8503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venir Next LT Pro"/>
              </a:rPr>
              <a:t>OUTRAS LINHAS PREMIUM E GOURMET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8600" y="3694176"/>
            <a:ext cx="1664208" cy="126187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83464" y="373075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4A1F"/>
                </a:solidFill>
                <a:latin typeface="Avenir Next LT Pro"/>
              </a:rPr>
              <a:t>3 Corações
Gourmet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83464" y="4005072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Avenir Next LT Pro"/>
              </a:rPr>
              <a:t>Grão Nobre 100%
Arábica · torra
especial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83464" y="4389120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B1F1F"/>
                </a:solidFill>
                <a:latin typeface="Avenir Next LT Pro"/>
              </a:rPr>
              <a:t>~R$ 18–25
250/500g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83464" y="459028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1F4A1F"/>
                </a:solidFill>
                <a:latin typeface="Avenir Next LT Pro"/>
              </a:rPr>
              <a:t>Canal: Varejo massa
e premium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947672" y="3694176"/>
            <a:ext cx="1664208" cy="1261872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02536" y="373075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4A1F"/>
                </a:solidFill>
                <a:latin typeface="Avenir Next LT Pro"/>
              </a:rPr>
              <a:t>3 Corações
Espresso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02536" y="4005072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Avenir Next LT Pro"/>
              </a:rPr>
              <a:t>Blend italiano
esp. cápsulas
TRES compatíveis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02536" y="4389120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B1F1F"/>
                </a:solidFill>
                <a:latin typeface="Avenir Next LT Pro"/>
              </a:rPr>
              <a:t>~R$ 22–32
caixa 10 cáps.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002536" y="459028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1F4A1F"/>
                </a:solidFill>
                <a:latin typeface="Avenir Next LT Pro"/>
              </a:rPr>
              <a:t>Canal: TRES +
online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66744" y="3694176"/>
            <a:ext cx="1664208" cy="126187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721607" y="373075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4A1F"/>
                </a:solidFill>
                <a:latin typeface="Avenir Next LT Pro"/>
              </a:rPr>
              <a:t>Santa Clara
Seleto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721607" y="4005072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Avenir Next LT Pro"/>
              </a:rPr>
              <a:t>Grão selecionado
Nordeste · 100%
Arábica regional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721607" y="4389120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B1F1F"/>
                </a:solidFill>
                <a:latin typeface="Avenir Next LT Pro"/>
              </a:rPr>
              <a:t>~R$ 15–22
250g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721607" y="459028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1F4A1F"/>
                </a:solidFill>
                <a:latin typeface="Avenir Next LT Pro"/>
              </a:rPr>
              <a:t>Canal: Varejo N/NE
foodservice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385816" y="3694176"/>
            <a:ext cx="1664208" cy="1261872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40680" y="373075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4A1F"/>
                </a:solidFill>
                <a:latin typeface="Avenir Next LT Pro"/>
              </a:rPr>
              <a:t>Iguaçu Premium
Solúvel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40680" y="4005072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Avenir Next LT Pro"/>
              </a:rPr>
              <a:t>Solúvel freeze-dry
alta dissolução
e aroma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440680" y="4389120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B1F1F"/>
                </a:solidFill>
                <a:latin typeface="Avenir Next LT Pro"/>
              </a:rPr>
              <a:t>~R$ 28–40
200g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40680" y="459028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1F4A1F"/>
                </a:solidFill>
                <a:latin typeface="Avenir Next LT Pro"/>
              </a:rPr>
              <a:t>Canal: Varejo,
foodservice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104888" y="3694176"/>
            <a:ext cx="1664208" cy="126187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159752" y="373075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4A1F"/>
                </a:solidFill>
                <a:latin typeface="Avenir Next LT Pro"/>
              </a:rPr>
              <a:t>Mercafé
Cafés Especiais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159752" y="4005072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Avenir Next LT Pro"/>
              </a:rPr>
              <a:t>SKUs exclusivos
DTC · single origin
· microlotes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159752" y="4389120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B1F1F"/>
                </a:solidFill>
                <a:latin typeface="Avenir Next LT Pro"/>
              </a:rPr>
              <a:t>Variável
R$ 30–80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159752" y="459028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1F4A1F"/>
                </a:solidFill>
                <a:latin typeface="Avenir Next LT Pro"/>
              </a:rPr>
              <a:t>Canal: E-commerce
Mercafé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28600" y="4846320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777777"/>
                </a:solidFill>
                <a:latin typeface="Avenir Next LT Pro"/>
              </a:rPr>
              <a:t>Centro Rituais inaugurado em Varginha (MG) em maio/2024. Meta: 250.000 sacas especiais/ano. Investimento de R$ 200 mi/ano em embalagem e logística.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008" y="109728"/>
            <a:ext cx="914400" cy="71797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4592" y="164592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venir Next LT Pro"/>
              </a:rPr>
              <a:t>PORTFÓLIO DE PRODUTOS — CATEGORIAS PRINCIPAIS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" y="65836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venir Next LT Pro"/>
              </a:rPr>
              <a:t>Mapa de 4 categorias × 3 produtos representativos com posicionamento e formato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115568"/>
            <a:ext cx="2130552" cy="274320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3464" y="1152144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Avenir Next LT Pro"/>
              </a:rPr>
              <a:t>CAFÉ TORRADO E MOÍDO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426464"/>
            <a:ext cx="2130552" cy="1152144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" y="1472184"/>
            <a:ext cx="20208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B1F1F"/>
                </a:solidFill>
                <a:latin typeface="Avenir Next LT Pro"/>
              </a:rPr>
              <a:t>3 Corações
Tradicional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" y="1746504"/>
            <a:ext cx="202082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Avenir Next LT Pro"/>
              </a:rPr>
              <a:t>Blend arábica/conilon · torra
médio-escura · 500g/1kg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2203704"/>
            <a:ext cx="2130552" cy="347472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" y="2240280"/>
            <a:ext cx="2020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Avenir Next LT Pro"/>
              </a:rPr>
              <a:t>Segmento C/D/E · varejo massa · R$ 8–18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2615184"/>
            <a:ext cx="2130552" cy="1152144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464" y="2660904"/>
            <a:ext cx="20208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B1F1F"/>
                </a:solidFill>
                <a:latin typeface="Avenir Next LT Pro"/>
              </a:rPr>
              <a:t>3 Corações Gourmet
100% Arábica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" y="2935224"/>
            <a:ext cx="202082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Avenir Next LT Pro"/>
              </a:rPr>
              <a:t>Arábica selecionado · embalagem
premium · 250/500g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3392424"/>
            <a:ext cx="2130552" cy="347472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3464" y="3429000"/>
            <a:ext cx="2020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Avenir Next LT Pro"/>
              </a:rPr>
              <a:t>Segmento B/C · varejo premium · R$ 18–28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3803904"/>
            <a:ext cx="2130552" cy="1152144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3464" y="3849624"/>
            <a:ext cx="20208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B1F1F"/>
                </a:solidFill>
                <a:latin typeface="Avenir Next LT Pro"/>
              </a:rPr>
              <a:t>Rituais 85+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" y="4123944"/>
            <a:ext cx="202082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Avenir Next LT Pro"/>
              </a:rPr>
              <a:t>100% arábica certificado SCA ·
microlotes · 250g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4581144"/>
            <a:ext cx="2130552" cy="347472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3464" y="4617720"/>
            <a:ext cx="2020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Avenir Next LT Pro"/>
              </a:rPr>
              <a:t>Segmento A/B · DTC + varejo gourmet · R$ 25–50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14016" y="1115568"/>
            <a:ext cx="2130552" cy="274320"/>
          </a:xfrm>
          <a:prstGeom prst="rect">
            <a:avLst/>
          </a:prstGeom>
          <a:solidFill>
            <a:srgbClr val="1F4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80" y="1152144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Avenir Next LT Pro"/>
              </a:rPr>
              <a:t>CÁPSULAS E SISTEMA TRES®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14016" y="1426464"/>
            <a:ext cx="2130552" cy="1152144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68880" y="1472184"/>
            <a:ext cx="20208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4A1F"/>
                </a:solidFill>
                <a:latin typeface="Avenir Next LT Pro"/>
              </a:rPr>
              <a:t>Cápsula Espresso
3 Corações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68880" y="1746504"/>
            <a:ext cx="202082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Avenir Next LT Pro"/>
              </a:rPr>
              <a:t>Compatível TRES · 10 cáps. ·
40+ sabores disponíveis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14016" y="2203704"/>
            <a:ext cx="2130552" cy="347472"/>
          </a:xfrm>
          <a:prstGeom prst="rect">
            <a:avLst/>
          </a:prstGeom>
          <a:solidFill>
            <a:srgbClr val="1F4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68880" y="2240280"/>
            <a:ext cx="2020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Avenir Next LT Pro"/>
              </a:rPr>
              <a:t>Canal DTC + varejo · R$ 22–35/cx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414016" y="2615184"/>
            <a:ext cx="2130552" cy="1152144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468880" y="2660904"/>
            <a:ext cx="20208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4A1F"/>
                </a:solidFill>
                <a:latin typeface="Avenir Next LT Pro"/>
              </a:rPr>
              <a:t>Cápsula Cappuccino
Cremoso TRES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68880" y="2935224"/>
            <a:ext cx="202082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Avenir Next LT Pro"/>
              </a:rPr>
              <a:t>Bebida láctea em cápsula ·
criado diretamente na máquina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414016" y="3392424"/>
            <a:ext cx="2130552" cy="347472"/>
          </a:xfrm>
          <a:prstGeom prst="rect">
            <a:avLst/>
          </a:prstGeom>
          <a:solidFill>
            <a:srgbClr val="1F4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68880" y="3429000"/>
            <a:ext cx="2020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Avenir Next LT Pro"/>
              </a:rPr>
              <a:t>Foodservice + home · R$ 28–38/cx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414016" y="3803904"/>
            <a:ext cx="2130552" cy="1152144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468880" y="3849624"/>
            <a:ext cx="20208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4A1F"/>
                </a:solidFill>
                <a:latin typeface="Avenir Next LT Pro"/>
              </a:rPr>
              <a:t>Máquina TRES
(hardware)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68880" y="4123944"/>
            <a:ext cx="202082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Avenir Next LT Pro"/>
              </a:rPr>
              <a:t>Máquina multibebidas · modelo
de razor &amp; blades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414016" y="4581144"/>
            <a:ext cx="2130552" cy="347472"/>
          </a:xfrm>
          <a:prstGeom prst="rect">
            <a:avLst/>
          </a:prstGeom>
          <a:solidFill>
            <a:srgbClr val="1F4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468880" y="4617720"/>
            <a:ext cx="2020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Avenir Next LT Pro"/>
              </a:rPr>
              <a:t>Vendida a preço acessível ·
recorrência na cápsula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99432" y="1115568"/>
            <a:ext cx="2130552" cy="274320"/>
          </a:xfrm>
          <a:prstGeom prst="rect">
            <a:avLst/>
          </a:prstGeom>
          <a:solidFill>
            <a:srgbClr val="6D4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54296" y="1152144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Avenir Next LT Pro"/>
              </a:rPr>
              <a:t>CAFÉ SOLÚVEL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9432" y="1426464"/>
            <a:ext cx="2130552" cy="1152144"/>
          </a:xfrm>
          <a:prstGeom prst="rect">
            <a:avLst/>
          </a:prstGeom>
          <a:solidFill>
            <a:srgbClr val="FB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54296" y="1472184"/>
            <a:ext cx="20208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D4C2A"/>
                </a:solidFill>
                <a:latin typeface="Avenir Next LT Pro"/>
              </a:rPr>
              <a:t>Iguaçu Tradicional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54296" y="1746504"/>
            <a:ext cx="202082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Avenir Next LT Pro"/>
              </a:rPr>
              <a:t>Solúvel spray-dry · 200/500g ·
vice-líder nacional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9432" y="2203704"/>
            <a:ext cx="2130552" cy="347472"/>
          </a:xfrm>
          <a:prstGeom prst="rect">
            <a:avLst/>
          </a:prstGeom>
          <a:solidFill>
            <a:srgbClr val="6D4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654296" y="2240280"/>
            <a:ext cx="2020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Avenir Next LT Pro"/>
              </a:rPr>
              <a:t>Varejo massa · R$ 12–30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99432" y="2615184"/>
            <a:ext cx="2130552" cy="1152144"/>
          </a:xfrm>
          <a:prstGeom prst="rect">
            <a:avLst/>
          </a:prstGeom>
          <a:solidFill>
            <a:srgbClr val="FB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654296" y="2660904"/>
            <a:ext cx="20208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D4C2A"/>
                </a:solidFill>
                <a:latin typeface="Avenir Next LT Pro"/>
              </a:rPr>
              <a:t>Iguaçu Premium
Freeze-dry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54296" y="2935224"/>
            <a:ext cx="202082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Avenir Next LT Pro"/>
              </a:rPr>
              <a:t>Liofilizado · alta dissolução ·
aroma preservado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99432" y="3392424"/>
            <a:ext cx="2130552" cy="347472"/>
          </a:xfrm>
          <a:prstGeom prst="rect">
            <a:avLst/>
          </a:prstGeom>
          <a:solidFill>
            <a:srgbClr val="6D4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654296" y="3429000"/>
            <a:ext cx="2020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Avenir Next LT Pro"/>
              </a:rPr>
              <a:t>Varejo e foodservice · R$ 28–45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99432" y="3803904"/>
            <a:ext cx="2130552" cy="1152144"/>
          </a:xfrm>
          <a:prstGeom prst="rect">
            <a:avLst/>
          </a:prstGeom>
          <a:solidFill>
            <a:srgbClr val="FB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654296" y="3849624"/>
            <a:ext cx="20208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D4C2A"/>
                </a:solidFill>
                <a:latin typeface="Avenir Next LT Pro"/>
              </a:rPr>
              <a:t>Cruzeiro Solúvel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54296" y="4123944"/>
            <a:ext cx="202082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Avenir Next LT Pro"/>
              </a:rPr>
              <a:t>Blend econômico ·
amplamente distribuído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99432" y="4581144"/>
            <a:ext cx="2130552" cy="347472"/>
          </a:xfrm>
          <a:prstGeom prst="rect">
            <a:avLst/>
          </a:prstGeom>
          <a:solidFill>
            <a:srgbClr val="6D4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654296" y="4617720"/>
            <a:ext cx="2020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Avenir Next LT Pro"/>
              </a:rPr>
              <a:t>Canal C&amp;C e varejo · R$ 10–20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784848" y="1115568"/>
            <a:ext cx="2130552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839712" y="1152144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Avenir Next LT Pro"/>
              </a:rPr>
              <a:t>BEBIDAS E ADJACÊNCIAS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784848" y="1426464"/>
            <a:ext cx="2130552" cy="1152144"/>
          </a:xfrm>
          <a:prstGeom prst="rect">
            <a:avLst/>
          </a:prstGeom>
          <a:solidFill>
            <a:srgbClr val="E3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839712" y="1472184"/>
            <a:ext cx="20208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3A5C"/>
                </a:solidFill>
                <a:latin typeface="Avenir Next LT Pro"/>
              </a:rPr>
              <a:t>Chocolatto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39712" y="1746504"/>
            <a:ext cx="202082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Avenir Next LT Pro"/>
              </a:rPr>
              <a:t>Achocolatado em pó ·
forma de preparo quente/frio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784848" y="2203704"/>
            <a:ext cx="2130552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839712" y="2240280"/>
            <a:ext cx="2020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Avenir Next LT Pro"/>
              </a:rPr>
              <a:t>Varejo massa · R$ 8–16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784848" y="2615184"/>
            <a:ext cx="2130552" cy="1152144"/>
          </a:xfrm>
          <a:prstGeom prst="rect">
            <a:avLst/>
          </a:prstGeom>
          <a:solidFill>
            <a:srgbClr val="E3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839712" y="2660904"/>
            <a:ext cx="20208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3A5C"/>
                </a:solidFill>
                <a:latin typeface="Avenir Next LT Pro"/>
              </a:rPr>
              <a:t>Frisco / Tornado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39712" y="2935224"/>
            <a:ext cx="202082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Avenir Next LT Pro"/>
              </a:rPr>
              <a:t>Suco em pó · 19 e 14 sabores ·
herdado da Unilever (2009)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784848" y="3392424"/>
            <a:ext cx="2130552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839712" y="3429000"/>
            <a:ext cx="2020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Avenir Next LT Pro"/>
              </a:rPr>
              <a:t>Varejo / C&amp;C · R$ 3–8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784848" y="3803904"/>
            <a:ext cx="2130552" cy="1152144"/>
          </a:xfrm>
          <a:prstGeom prst="rect">
            <a:avLst/>
          </a:prstGeom>
          <a:solidFill>
            <a:srgbClr val="E3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839712" y="3849624"/>
            <a:ext cx="20208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3A5C"/>
                </a:solidFill>
                <a:latin typeface="Avenir Next LT Pro"/>
              </a:rPr>
              <a:t>A Tal da Castanha
(plant-based)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839712" y="4123944"/>
            <a:ext cx="202082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Avenir Next LT Pro"/>
              </a:rPr>
              <a:t>Leite vegetal de castanha ·
JV com Positive Brands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784848" y="4581144"/>
            <a:ext cx="2130552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839712" y="4617720"/>
            <a:ext cx="2020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Avenir Next LT Pro"/>
              </a:rPr>
              <a:t>Varejo premium · foodservice ·
R$ 18–28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008" y="109728"/>
            <a:ext cx="914400" cy="71797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4592" y="164592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venir Next LT Pro"/>
              </a:rPr>
              <a:t>ESTRATÉGIA DE CANAIS E EXECUÇÃO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" y="65836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venir Next LT Pro"/>
              </a:rPr>
              <a:t>Como cada marca e linha é distribuída — varejo massa, foodservice, B2B corporativo, DTC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115568"/>
            <a:ext cx="2103120" cy="475488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" y="1152144"/>
            <a:ext cx="19568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venir Next LT Pro"/>
              </a:rPr>
              <a:t>VAREJO
MASSA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" y="1371600"/>
            <a:ext cx="19568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DDAA"/>
                </a:solidFill>
                <a:latin typeface="Avenir Next LT Pro"/>
              </a:rPr>
              <a:t>~55% receita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609344"/>
            <a:ext cx="2103120" cy="2176272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" y="1664208"/>
            <a:ext cx="1956815" cy="2084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Avenir Next LT Pro"/>
              </a:rPr>
              <a:t>3 Corações, Caboclo,
Santa Clara, Iguaçu,
Cruzeiro, Pimpinela,
regionais
400.000+ PDVs
GPS+NF monitoring
pricing por cluster
regional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95727" y="1115568"/>
            <a:ext cx="2103120" cy="475488"/>
          </a:xfrm>
          <a:prstGeom prst="rect">
            <a:avLst/>
          </a:prstGeom>
          <a:solidFill>
            <a:srgbClr val="1F4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79" y="1152144"/>
            <a:ext cx="19568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venir Next LT Pro"/>
              </a:rPr>
              <a:t>ATACADO
C&amp;C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79" y="1371600"/>
            <a:ext cx="19568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DDAA"/>
                </a:solidFill>
                <a:latin typeface="Avenir Next LT Pro"/>
              </a:rPr>
              <a:t>~20% receita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95727" y="1609344"/>
            <a:ext cx="2103120" cy="217627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68879" y="1664208"/>
            <a:ext cx="1956815" cy="2084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Avenir Next LT Pro"/>
              </a:rPr>
              <a:t>Portfólio econômico
e tradicional
(Caboclo, Fort,
Cruzeiro, Frisco)
Cliente final:
bares, lanchonetes,
hotéis de trânsito,
panificação
independente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62855" y="1115568"/>
            <a:ext cx="2103120" cy="475488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36007" y="1152144"/>
            <a:ext cx="19568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venir Next LT Pro"/>
              </a:rPr>
              <a:t>FOODSERVICE
B2B (3C PRO)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6007" y="1371600"/>
            <a:ext cx="19568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DDAA"/>
                </a:solidFill>
                <a:latin typeface="Avenir Next LT Pro"/>
              </a:rPr>
              <a:t>~18% receita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62855" y="1609344"/>
            <a:ext cx="2103120" cy="2176272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36007" y="1664208"/>
            <a:ext cx="1956815" cy="2084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Avenir Next LT Pro"/>
              </a:rPr>
              <a:t>Linha 3C Pro: hotéis,
aeroportos, clínicas,
escritórios, redes
de restaurantes
30.000+ clientes
Atendimento via
force de vendas
especializada +
máquinas La Cimbali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29983" y="1115568"/>
            <a:ext cx="2103120" cy="475488"/>
          </a:xfrm>
          <a:prstGeom prst="rect">
            <a:avLst/>
          </a:prstGeom>
          <a:solidFill>
            <a:srgbClr val="1F4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1152144"/>
            <a:ext cx="19568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venir Next LT Pro"/>
              </a:rPr>
              <a:t>DTC /
E-COMMERCE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03136" y="1371600"/>
            <a:ext cx="19568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DDAA"/>
                </a:solidFill>
                <a:latin typeface="Avenir Next LT Pro"/>
              </a:rPr>
              <a:t>~7% receita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29983" y="1609344"/>
            <a:ext cx="2103120" cy="217627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03136" y="1664208"/>
            <a:ext cx="1956815" cy="2084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Avenir Next LT Pro"/>
              </a:rPr>
              <a:t>Mercafé.com.br:
loja própria, cafés
raros, microlotes,
cápsulas TRES
TRES plataforma:
recorrência de
cápsulas + máquinas
(modelo razor &amp; blades)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" y="3822191"/>
            <a:ext cx="8686800" cy="2560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2608" y="3858768"/>
            <a:ext cx="8503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venir Next LT Pro"/>
              </a:rPr>
              <a:t>TÁTICAS DE DIFERENCIAÇÃO POR CANAL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" y="4105656"/>
            <a:ext cx="2103120" cy="9144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1752" y="4142232"/>
            <a:ext cx="19568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F4A1F"/>
                </a:solidFill>
                <a:latin typeface="Avenir Next LT Pro"/>
              </a:rPr>
              <a:t>Monitoramento
de sell-out em tempo real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1752" y="4416552"/>
            <a:ext cx="195681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Avenir Next LT Pro"/>
              </a:rPr>
              <a:t>Leitura de cupons fiscais
por CPF → reposição
antecipada, zero ruptura
de gôndola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95727" y="4105656"/>
            <a:ext cx="2103120" cy="914400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68879" y="4142232"/>
            <a:ext cx="19568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B1F1F"/>
                </a:solidFill>
                <a:latin typeface="Avenir Next LT Pro"/>
              </a:rPr>
              <a:t>Marcas regionais
como escudo de margem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68879" y="4416552"/>
            <a:ext cx="195681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Avenir Next LT Pro"/>
              </a:rPr>
              <a:t>Produto local mantém
preço diferenciado;
grupo não compete
consigo mesmo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62855" y="4105656"/>
            <a:ext cx="2103120" cy="9144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36007" y="4142232"/>
            <a:ext cx="19568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F4A1F"/>
                </a:solidFill>
                <a:latin typeface="Avenir Next LT Pro"/>
              </a:rPr>
              <a:t>B2B 3C Pro:
solução completa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36007" y="4416552"/>
            <a:ext cx="195681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Avenir Next LT Pro"/>
              </a:rPr>
              <a:t>Equipamento + produto
+ treinamento de barista
+ suporte técnico +
marketing co-op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729983" y="4105656"/>
            <a:ext cx="2103120" cy="914400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03136" y="4142232"/>
            <a:ext cx="19568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7B1F1F"/>
                </a:solidFill>
                <a:latin typeface="Avenir Next LT Pro"/>
              </a:rPr>
              <a:t>TRES como plataforma
de fidelização DTC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03136" y="4416552"/>
            <a:ext cx="195681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Avenir Next LT Pro"/>
              </a:rPr>
              <a:t>Máquina cria lock-in;
cápsulas com margem
de 60%+; base de
clientes recorrente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008" y="109728"/>
            <a:ext cx="914400" cy="71797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4592" y="164592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venir Next LT Pro"/>
              </a:rPr>
              <a:t>MARKETING E ATIVAÇÕES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" y="65836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venir Next LT Pro"/>
              </a:rPr>
              <a:t>Campanhas de amor à marca · ativações culturais · marketing B2B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115568"/>
            <a:ext cx="2130552" cy="347472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3464" y="1143000"/>
            <a:ext cx="20208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venir Next LT Pro"/>
              </a:rPr>
              <a:t>Nós Amamos Café
(2020)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481328"/>
            <a:ext cx="2130552" cy="2011680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" y="1517904"/>
            <a:ext cx="2020824" cy="1956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Avenir Next LT Pro"/>
              </a:rPr>
              <a:t>Campanha nacional de brand love com
DJ Alok, Alex Atala e Denilson.
Música de 1990 reimaginada como
hino. Veículos: TV aberta, digital,
social media, revista.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3511296"/>
            <a:ext cx="2130552" cy="804672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" y="3538728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Avenir Next LT Pro"/>
              </a:rPr>
              <a:t>Resultado / aprendizado: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" y="3721608"/>
            <a:ext cx="20208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Avenir Next LT Pro"/>
              </a:rPr>
              <a:t>Posicionamento: love brand. Lançamento
simultâneo do Mercafé (DTC).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4334256"/>
            <a:ext cx="2130552" cy="2560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464" y="4361688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CCCCCC"/>
                </a:solidFill>
                <a:latin typeface="Avenir Next LT Pro"/>
              </a:rPr>
              <a:t>Agência/Origem: MullenLowe Brasil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14016" y="1115568"/>
            <a:ext cx="2130552" cy="347472"/>
          </a:xfrm>
          <a:prstGeom prst="rect">
            <a:avLst/>
          </a:prstGeom>
          <a:solidFill>
            <a:srgbClr val="1F4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80" y="1143000"/>
            <a:ext cx="20208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venir Next LT Pro"/>
              </a:rPr>
              <a:t>Rock in Rio
"We Are Café" (2022)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14016" y="1481328"/>
            <a:ext cx="2130552" cy="20116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68880" y="1517904"/>
            <a:ext cx="2020824" cy="1956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Avenir Next LT Pro"/>
              </a:rPr>
              <a:t>Ativação experiencial: District Rock,
Rota 85 (seminários de café especial),
VIP espresso bar. Linha comemorativa
exclusiva no Mercafé: We Are Espresso,
Cappuccino, Pingado, Cafezin.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14016" y="3511296"/>
            <a:ext cx="2130552" cy="804672"/>
          </a:xfrm>
          <a:prstGeom prst="rect">
            <a:avLst/>
          </a:prstGeom>
          <a:solidFill>
            <a:srgbClr val="1F4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80" y="3538728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Avenir Next LT Pro"/>
              </a:rPr>
              <a:t>Resultado / aprendizado: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3721608"/>
            <a:ext cx="20208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Avenir Next LT Pro"/>
              </a:rPr>
              <a:t>Geração de conteúdo orgânico;
gôndola física + virtual (DTC).
Mercado de música = público premium.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14016" y="4334256"/>
            <a:ext cx="2130552" cy="2560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68880" y="4361688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CCCCCC"/>
                </a:solidFill>
                <a:latin typeface="Avenir Next LT Pro"/>
              </a:rPr>
              <a:t>Agência/Origem: Ativação direta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99432" y="1115568"/>
            <a:ext cx="2130552" cy="347472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54296" y="1143000"/>
            <a:ext cx="20208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venir Next LT Pro"/>
              </a:rPr>
              <a:t>Projeto Florada
(2018–present)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99432" y="1481328"/>
            <a:ext cx="2130552" cy="2011680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54296" y="1517904"/>
            <a:ext cx="2020824" cy="1956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Avenir Next LT Pro"/>
              </a:rPr>
              <a:t>Plataforma de gênero: cafeicultoras
femininas em competição de microlotes.
2.500+ participantes. 190 ton compradas.
Prêmio da ONU. 100% do lucro retorna
às produtoras.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99432" y="3511296"/>
            <a:ext cx="2130552" cy="804672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54296" y="3538728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Avenir Next LT Pro"/>
              </a:rPr>
              <a:t>Resultado / aprendizado: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54296" y="3721608"/>
            <a:ext cx="20208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Avenir Next LT Pro"/>
              </a:rPr>
              <a:t>Constrói RTB de sustentabilidade
social; diferencia a linha Rituais
Florada com narrativa autêntica.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99432" y="4334256"/>
            <a:ext cx="2130552" cy="2560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54296" y="4361688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CCCCCC"/>
                </a:solidFill>
                <a:latin typeface="Avenir Next LT Pro"/>
              </a:rPr>
              <a:t>Agência/Origem: Iniciativa própria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84848" y="1115568"/>
            <a:ext cx="2130552" cy="347472"/>
          </a:xfrm>
          <a:prstGeom prst="rect">
            <a:avLst/>
          </a:prstGeom>
          <a:solidFill>
            <a:srgbClr val="1F4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39712" y="1143000"/>
            <a:ext cx="20208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venir Next LT Pro"/>
              </a:rPr>
              <a:t>Campanha
Santa Clara &amp; Pimpinela
(2022–2023)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84848" y="1481328"/>
            <a:ext cx="2130552" cy="20116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39712" y="1517904"/>
            <a:ext cx="2020824" cy="1956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Avenir Next LT Pro"/>
              </a:rPr>
              <a:t>Campanhas regionais separadas:
Santa Clara no Nordeste; Pimpinela
no Rio de Janeiro. Identidade local
reforçada sem diluir pertencimento
ao grupo.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784848" y="3511296"/>
            <a:ext cx="2130552" cy="804672"/>
          </a:xfrm>
          <a:prstGeom prst="rect">
            <a:avLst/>
          </a:prstGeom>
          <a:solidFill>
            <a:srgbClr val="1F4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39712" y="3538728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Avenir Next LT Pro"/>
              </a:rPr>
              <a:t>Resultado / aprendizado: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39712" y="3721608"/>
            <a:ext cx="20208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Avenir Next LT Pro"/>
              </a:rPr>
              <a:t>Estratégia multi-marca: cada marca
fala com seu consumidor regional
sem que o grupo apareça à frente.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784848" y="4334256"/>
            <a:ext cx="2130552" cy="2560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39712" y="4361688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CCCCCC"/>
                </a:solidFill>
                <a:latin typeface="Avenir Next LT Pro"/>
              </a:rPr>
              <a:t>Agência/Origem: Grupo 3corações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28600" y="4645152"/>
            <a:ext cx="8686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777777"/>
                </a:solidFill>
                <a:latin typeface="Avenir Next LT Pro"/>
              </a:rPr>
              <a:t>Linha Beatles ("All You Need Is Coffee") também lançada como ativação musical. Parceria B2B Omelete Company como case de "In Company" para 3C Pro.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008" y="109728"/>
            <a:ext cx="914400" cy="71797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4592" y="164592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venir Next LT Pro"/>
              </a:rPr>
              <a:t>DIGITAL E REDES SOCIAIS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" y="65836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venir Next LT Pro"/>
              </a:rPr>
              <a:t>Mercafé DTC · Plataforma TRES · Cafeína Open · Redes sociais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115568"/>
            <a:ext cx="2130552" cy="402336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3464" y="1152144"/>
            <a:ext cx="20208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venir Next LT Pro"/>
              </a:rPr>
              <a:t>Instagram
@cafe3coracoes /
@mercafe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536192"/>
            <a:ext cx="2130552" cy="1572768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" y="1572768"/>
            <a:ext cx="2020824" cy="1499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Avenir Next LT Pro"/>
              </a:rPr>
              <a:t>~281K+ seguidores
(Mercafé oficial)
Conteúdo: receitas,
café especial, bastidores,
ativações culturais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14016" y="1115568"/>
            <a:ext cx="2130552" cy="402336"/>
          </a:xfrm>
          <a:prstGeom prst="rect">
            <a:avLst/>
          </a:prstGeom>
          <a:solidFill>
            <a:srgbClr val="1F4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1152144"/>
            <a:ext cx="20208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venir Next LT Pro"/>
              </a:rPr>
              <a:t>YouTube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14016" y="1536192"/>
            <a:ext cx="2130552" cy="157276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68880" y="1572768"/>
            <a:ext cx="2020824" cy="1499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Avenir Next LT Pro"/>
              </a:rPr>
              <a:t>Canal de tutoriais
de preparo · receitas
com TRES · barismo
para consumidor
e profissional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99432" y="1115568"/>
            <a:ext cx="2130552" cy="402336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54296" y="1152144"/>
            <a:ext cx="20208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venir Next LT Pro"/>
              </a:rPr>
              <a:t>Mercafé.com.br
(DTC próprio)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99432" y="1536192"/>
            <a:ext cx="2130552" cy="1572768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54296" y="1572768"/>
            <a:ext cx="2020824" cy="1499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Avenir Next LT Pro"/>
              </a:rPr>
              <a:t>E-commerce lançado 2020 ·
cafés raros, microlotes,
acessórios, máquinas TRES ·
cápsulas por assinatura ·
conteúdo editorial sobre café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84848" y="1115568"/>
            <a:ext cx="2130552" cy="402336"/>
          </a:xfrm>
          <a:prstGeom prst="rect">
            <a:avLst/>
          </a:prstGeom>
          <a:solidFill>
            <a:srgbClr val="1F4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39712" y="1152144"/>
            <a:ext cx="20208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venir Next LT Pro"/>
              </a:rPr>
              <a:t>TRES Connect
(app/ecossistema)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84848" y="1536192"/>
            <a:ext cx="2130552" cy="157276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39712" y="1572768"/>
            <a:ext cx="2020824" cy="1499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Avenir Next LT Pro"/>
              </a:rPr>
              <a:t>App de gestão de
máquina · pedido
de cápsulas · receitas ·
programa de reciclagem
de cápsulas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3145536"/>
            <a:ext cx="8686800" cy="2560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2608" y="3182112"/>
            <a:ext cx="8503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venir Next LT Pro"/>
              </a:rPr>
              <a:t>CAMPANHAS DIGITAIS NOTÁVEIS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3429000"/>
            <a:ext cx="2130552" cy="148132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3464" y="3465576"/>
            <a:ext cx="20208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4A1F"/>
                </a:solidFill>
                <a:latin typeface="Avenir Next LT Pro"/>
              </a:rPr>
              <a:t>Meme do Café
(2022)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464" y="3739896"/>
            <a:ext cx="202082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Avenir Next LT Pro"/>
              </a:rPr>
              <a:t>Conteúdo viral com
memes de café em
temáticas brasileiras;
ativação no Instagram
com UGC incentivado.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14016" y="3429000"/>
            <a:ext cx="2130552" cy="1481328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68880" y="3465576"/>
            <a:ext cx="20208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B1F1F"/>
                </a:solidFill>
                <a:latin typeface="Avenir Next LT Pro"/>
              </a:rPr>
              <a:t>Cafeína Open
(2023–2024)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68880" y="3739896"/>
            <a:ext cx="202082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Avenir Next LT Pro"/>
              </a:rPr>
              <a:t>Open innovation: 300
startups selecionadas
em 2 ciclos; 14 soluções
implementadas. Tech:
cápsulas recicláveis.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99432" y="3429000"/>
            <a:ext cx="2130552" cy="148132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54296" y="3465576"/>
            <a:ext cx="20208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4A1F"/>
                </a:solidFill>
                <a:latin typeface="Avenir Next LT Pro"/>
              </a:rPr>
              <a:t>Mercafé
Rock in Rio (2022)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54296" y="3739896"/>
            <a:ext cx="202082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Avenir Next LT Pro"/>
              </a:rPr>
              <a:t>Gôndola virtual no
e-commerce durante
festival; produtos
exclusivos; geração
de conteúdo orgânico.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84848" y="3429000"/>
            <a:ext cx="2130552" cy="1481328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39712" y="3465576"/>
            <a:ext cx="20208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7B1F1F"/>
                </a:solidFill>
                <a:latin typeface="Avenir Next LT Pro"/>
              </a:rPr>
              <a:t>Rituais
Lançamento DTC (2023)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39712" y="3739896"/>
            <a:ext cx="202082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Avenir Next LT Pro"/>
              </a:rPr>
              <a:t>Lançamento exclusivo
pelo Mercafé antes
de chegar ao varejo;
criação de escassez;
beta-testers de café.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8600" y="4937760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777777"/>
                </a:solidFill>
                <a:latin typeface="Avenir Next LT Pro"/>
              </a:rPr>
              <a:t>Programa Cafeína Ideias (interno): 14 ideias implementadas em 2023 gerando R$ 1,5 mi/ano. Meta 2024: triplicar impacto.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008" y="109728"/>
            <a:ext cx="914400" cy="71797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4592" y="164592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venir Next LT Pro"/>
              </a:rPr>
              <a:t>SUSTENTABILIDADE E ESG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" y="65836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venir Next LT Pro"/>
              </a:rPr>
              <a:t>Rainforest Alliance · Projeto Florada · Projeto Tribos · Reciclagem de cápsulas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115568"/>
            <a:ext cx="2130552" cy="347472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3464" y="1143000"/>
            <a:ext cx="20208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venir Next LT Pro"/>
              </a:rPr>
              <a:t>Rainforest Alliance
(desde 2013)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481328"/>
            <a:ext cx="2130552" cy="2029968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" y="1517904"/>
            <a:ext cx="2020824" cy="1956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Avenir Next LT Pro"/>
              </a:rPr>
              <a:t>Parceria central de certificação desde 2013.
137 toneladas de café certificado vendidas/mês.
60+ fazendas no Sul de Minas e Mogiana.
Protocolo: gestão de resíduos, reciclagem,
otimização de água, combate a trabalho escravo
e infantil.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3529584"/>
            <a:ext cx="2130552" cy="731520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" y="3557016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Avenir Next LT Pro"/>
              </a:rPr>
              <a:t>Impacto estratégico: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" y="3739896"/>
            <a:ext cx="20208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Avenir Next LT Pro"/>
              </a:rPr>
              <a:t>Diferenciador para a linha Rituais e para
exportação para mercados exigentes (EUA, Europa).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14016" y="1115568"/>
            <a:ext cx="2130552" cy="347472"/>
          </a:xfrm>
          <a:prstGeom prst="rect">
            <a:avLst/>
          </a:prstGeom>
          <a:solidFill>
            <a:srgbClr val="1F4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68880" y="1143000"/>
            <a:ext cx="20208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venir Next LT Pro"/>
              </a:rPr>
              <a:t>Projeto Florada
(2018–present)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14016" y="1481328"/>
            <a:ext cx="2130552" cy="202996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80" y="1517904"/>
            <a:ext cx="2020824" cy="1956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Avenir Next LT Pro"/>
              </a:rPr>
              <a:t>Plataforma de empoderamento de cafeicultoras.
2.500+ participantes desde o início.
190 toneladas de microlotes compradas.
Prêmio ONU reconhece impacto social.
100% do lucro da linha Rituais Florada
retorna às produtoras.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14016" y="3529584"/>
            <a:ext cx="2130552" cy="731520"/>
          </a:xfrm>
          <a:prstGeom prst="rect">
            <a:avLst/>
          </a:prstGeom>
          <a:solidFill>
            <a:srgbClr val="1F4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68880" y="3557016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Avenir Next LT Pro"/>
              </a:rPr>
              <a:t>Impacto estratégico: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3739896"/>
            <a:ext cx="20208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Avenir Next LT Pro"/>
              </a:rPr>
              <a:t>Cria RTB de ESG com credibilidade genuína;
fortalece a narrativa do café especial.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99432" y="1115568"/>
            <a:ext cx="2130552" cy="347472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54296" y="1143000"/>
            <a:ext cx="20208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venir Next LT Pro"/>
              </a:rPr>
              <a:t>Projeto Tribos
(Amazônia indígena)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99432" y="1481328"/>
            <a:ext cx="2130552" cy="2029968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54296" y="1517904"/>
            <a:ext cx="2020824" cy="1956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Avenir Next LT Pro"/>
              </a:rPr>
              <a:t>Cultivo de Robusta Amazônico por 132
famílias indígenas em 28 aldeias de Rondônia.
Compatível com conservação da floresta.
Investimento em infraestrutura: varanda de
secagem suspensa para melhorar pós-colheita.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99432" y="3529584"/>
            <a:ext cx="2130552" cy="731520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54296" y="3557016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Avenir Next LT Pro"/>
              </a:rPr>
              <a:t>Impacto estratégico: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54296" y="3739896"/>
            <a:ext cx="20208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Avenir Next LT Pro"/>
              </a:rPr>
              <a:t>Única rastreabilidade indígena no portfólio;
fortalece narrativa de origem e diversidade.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84848" y="1115568"/>
            <a:ext cx="2130552" cy="347472"/>
          </a:xfrm>
          <a:prstGeom prst="rect">
            <a:avLst/>
          </a:prstGeom>
          <a:solidFill>
            <a:srgbClr val="1F4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39712" y="1143000"/>
            <a:ext cx="20208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venir Next LT Pro"/>
              </a:rPr>
              <a:t>Reciclagem de
Cápsulas TRES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84848" y="1481328"/>
            <a:ext cx="2130552" cy="202996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39712" y="1517904"/>
            <a:ext cx="2020824" cy="1956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Avenir Next LT Pro"/>
              </a:rPr>
              <a:t>Programa de coleta e reciclagem de cápsulas
TRES em parceria com startups (Cafeína Open).
Foco em economia circular e ESG do
ecossistema de cápsulas.
Recomendação: ampliar pontos de coleta em PDVs.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84848" y="3529584"/>
            <a:ext cx="2130552" cy="731520"/>
          </a:xfrm>
          <a:prstGeom prst="rect">
            <a:avLst/>
          </a:prstGeom>
          <a:solidFill>
            <a:srgbClr val="1F4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39712" y="3557016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Avenir Next LT Pro"/>
              </a:rPr>
              <a:t>Impacto estratégico: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39712" y="3739896"/>
            <a:ext cx="20208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Avenir Next LT Pro"/>
              </a:rPr>
              <a:t>Resposta ao passivo ambiental das cápsulas;
elimina objeção de sustentabilidade no canal DTC.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8600" y="4297680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777777"/>
                </a:solidFill>
                <a:latin typeface="Avenir Next LT Pro"/>
              </a:rPr>
              <a:t>Nota: a 3corações não publica relatório ESG formal acessível publicamente. Dados consolidados via Rainforest Alliance e imprensa especializada.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8600" y="4498848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777777"/>
                </a:solidFill>
                <a:latin typeface="Avenir Next LT Pro"/>
              </a:rPr>
              <a:t>Produção de máscaras com filtros de papel durante COVID-19; distribuição de cestas básicas e equipamentos respiratórios em todo o Brasil.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008" y="109728"/>
            <a:ext cx="914400" cy="71797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4592" y="164592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venir Next LT Pro"/>
              </a:rPr>
              <a:t>SCORECARD — KPIs CHAVE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" y="65836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venir Next LT Pro"/>
              </a:rPr>
              <a:t>Escala · Premium · Canais · Inovação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115568"/>
            <a:ext cx="2130552" cy="274320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3464" y="1152144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Avenir Next LT Pro"/>
              </a:rPr>
              <a:t>ESCALA E MERCADO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417320"/>
            <a:ext cx="2130552" cy="909828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" y="1453896"/>
            <a:ext cx="20208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B1F1F"/>
                </a:solidFill>
                <a:latin typeface="Avenir Next LT Pro"/>
              </a:rPr>
              <a:t>#1 Café T&amp;M Brasil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" y="1801368"/>
            <a:ext cx="202082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Avenir Next LT Pro"/>
              </a:rPr>
              <a:t>Maior grupo de café
torrado e moído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2363724"/>
            <a:ext cx="2130552" cy="909828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" y="2400300"/>
            <a:ext cx="20208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B1F1F"/>
                </a:solidFill>
                <a:latin typeface="Avenir Next LT Pro"/>
              </a:rPr>
              <a:t>30%+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" y="2747772"/>
            <a:ext cx="202082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Avenir Next LT Pro"/>
              </a:rPr>
              <a:t>Market share
nacional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3310128"/>
            <a:ext cx="2130552" cy="909828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3464" y="3346704"/>
            <a:ext cx="20208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B1F1F"/>
                </a:solidFill>
                <a:latin typeface="Avenir Next LT Pro"/>
              </a:rPr>
              <a:t>400.000+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" y="3694176"/>
            <a:ext cx="202082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Avenir Next LT Pro"/>
              </a:rPr>
              <a:t>Pontos de venda
ativos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4256531"/>
            <a:ext cx="2130552" cy="909828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3464" y="4293107"/>
            <a:ext cx="20208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B1F1F"/>
                </a:solidFill>
                <a:latin typeface="Avenir Next LT Pro"/>
              </a:rPr>
              <a:t>R$ 11,8 bi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" y="4640579"/>
            <a:ext cx="202082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Avenir Next LT Pro"/>
              </a:rPr>
              <a:t>Receita bruta 2024
(estimativa)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14016" y="1115568"/>
            <a:ext cx="2130552" cy="274320"/>
          </a:xfrm>
          <a:prstGeom prst="rect">
            <a:avLst/>
          </a:prstGeom>
          <a:solidFill>
            <a:srgbClr val="1F4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68880" y="1152144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Avenir Next LT Pro"/>
              </a:rPr>
              <a:t>PORTFÓLIO E PREMIUM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14016" y="1417320"/>
            <a:ext cx="2130552" cy="90982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68880" y="1453896"/>
            <a:ext cx="20208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4A1F"/>
                </a:solidFill>
                <a:latin typeface="Avenir Next LT Pro"/>
              </a:rPr>
              <a:t>30+ marcas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1801368"/>
            <a:ext cx="202082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Avenir Next LT Pro"/>
              </a:rPr>
              <a:t>Portfolio multi-marca
em 1 grupo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14016" y="2363724"/>
            <a:ext cx="2130552" cy="90982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68880" y="2400300"/>
            <a:ext cx="20208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4A1F"/>
                </a:solidFill>
                <a:latin typeface="Avenir Next LT Pro"/>
              </a:rPr>
              <a:t>60%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68880" y="2747772"/>
            <a:ext cx="202082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Avenir Next LT Pro"/>
              </a:rPr>
              <a:t>Share segmento
cafés especiais BR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14016" y="3310128"/>
            <a:ext cx="2130552" cy="90982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68880" y="3346704"/>
            <a:ext cx="20208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4A1F"/>
                </a:solidFill>
                <a:latin typeface="Avenir Next LT Pro"/>
              </a:rPr>
              <a:t>250.000 sacas/ano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68880" y="3694176"/>
            <a:ext cx="202082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Avenir Next LT Pro"/>
              </a:rPr>
              <a:t>Meta Rituais 85+
(Centro Varginha)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414016" y="4256531"/>
            <a:ext cx="2130552" cy="90982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68880" y="4293107"/>
            <a:ext cx="20208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4A1F"/>
                </a:solidFill>
                <a:latin typeface="Avenir Next LT Pro"/>
              </a:rPr>
              <a:t>85+ SCA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68880" y="4640579"/>
            <a:ext cx="202082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Avenir Next LT Pro"/>
              </a:rPr>
              <a:t>Pontuação mínima
da linha Rituais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99432" y="1115568"/>
            <a:ext cx="2130552" cy="274320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54296" y="1152144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Avenir Next LT Pro"/>
              </a:rPr>
              <a:t>CANAL E LOGÍSTICA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9432" y="1417320"/>
            <a:ext cx="2130552" cy="909828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54296" y="1453896"/>
            <a:ext cx="20208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B1F1F"/>
                </a:solidFill>
                <a:latin typeface="Avenir Next LT Pro"/>
              </a:rPr>
              <a:t>9 fábricas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54296" y="1801368"/>
            <a:ext cx="202082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Avenir Next LT Pro"/>
              </a:rPr>
              <a:t>Plantas industriais
em operação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9432" y="2363724"/>
            <a:ext cx="2130552" cy="909828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54296" y="2400300"/>
            <a:ext cx="20208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B1F1F"/>
                </a:solidFill>
                <a:latin typeface="Avenir Next LT Pro"/>
              </a:rPr>
              <a:t>27 CDs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54296" y="2747772"/>
            <a:ext cx="202082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Avenir Next LT Pro"/>
              </a:rPr>
              <a:t>Centros de distribuição
em todo o Brasil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9432" y="3310128"/>
            <a:ext cx="2130552" cy="909828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54296" y="3346704"/>
            <a:ext cx="20208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B1F1F"/>
                </a:solidFill>
                <a:latin typeface="Avenir Next LT Pro"/>
              </a:rPr>
              <a:t>30.000+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54296" y="3694176"/>
            <a:ext cx="202082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Avenir Next LT Pro"/>
              </a:rPr>
              <a:t>Clientes B2B
(3C Pro foodservice)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9432" y="4256531"/>
            <a:ext cx="2130552" cy="909828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654296" y="4293107"/>
            <a:ext cx="20208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B1F1F"/>
                </a:solidFill>
                <a:latin typeface="Avenir Next LT Pro"/>
              </a:rPr>
              <a:t>Real-time NF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54296" y="4640579"/>
            <a:ext cx="202082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Avenir Next LT Pro"/>
              </a:rPr>
              <a:t>Monitoramento de
sell-out por cupom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784848" y="1115568"/>
            <a:ext cx="2130552" cy="274320"/>
          </a:xfrm>
          <a:prstGeom prst="rect">
            <a:avLst/>
          </a:prstGeom>
          <a:solidFill>
            <a:srgbClr val="1F4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39712" y="1152144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Avenir Next LT Pro"/>
              </a:rPr>
              <a:t>INOVAÇÃO E ESG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784848" y="1417320"/>
            <a:ext cx="2130552" cy="90982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39712" y="1453896"/>
            <a:ext cx="20208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4A1F"/>
                </a:solidFill>
                <a:latin typeface="Avenir Next LT Pro"/>
              </a:rPr>
              <a:t>R$ 200 mi/ano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39712" y="1801368"/>
            <a:ext cx="202082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Avenir Next LT Pro"/>
              </a:rPr>
              <a:t>Investimento em
embalagem + logística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784848" y="2363724"/>
            <a:ext cx="2130552" cy="90982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839712" y="2400300"/>
            <a:ext cx="20208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4A1F"/>
                </a:solidFill>
                <a:latin typeface="Avenir Next LT Pro"/>
              </a:rPr>
              <a:t>300 startups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39712" y="2747772"/>
            <a:ext cx="202082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Avenir Next LT Pro"/>
              </a:rPr>
              <a:t>Cafeína Open
(2 ciclos de open innov.)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784848" y="3310128"/>
            <a:ext cx="2130552" cy="90982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839712" y="3346704"/>
            <a:ext cx="20208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4A1F"/>
                </a:solidFill>
                <a:latin typeface="Avenir Next LT Pro"/>
              </a:rPr>
              <a:t>137 ton/mês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39712" y="3694176"/>
            <a:ext cx="202082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Avenir Next LT Pro"/>
              </a:rPr>
              <a:t>Café certificado
Rainforest Alliance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784848" y="4256531"/>
            <a:ext cx="2130552" cy="90982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839712" y="4293107"/>
            <a:ext cx="20208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4A1F"/>
                </a:solidFill>
                <a:latin typeface="Avenir Next LT Pro"/>
              </a:rPr>
              <a:t>2.500+ produtoras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39712" y="4640579"/>
            <a:ext cx="202082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Avenir Next LT Pro"/>
              </a:rPr>
              <a:t>Projeto Florada
(mulheres cafeicultoras)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008" y="109728"/>
            <a:ext cx="914400" cy="71797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4592" y="164592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venir Next LT Pro"/>
              </a:rPr>
              <a:t>FONTES E REFERÊNCIAS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" y="65836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venir Next LT Pro"/>
              </a:rPr>
              <a:t>Pesquisa realizada em junho–julho de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152144"/>
            <a:ext cx="4370832" cy="25603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3464" y="1188720"/>
            <a:ext cx="42611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Avenir Next LT Pro"/>
              </a:rPr>
              <a:t>1.  Grupo 3corações — Nossa História. https://www.3coracoes.com.br/en/nossa-historia/ (2026)</a:t>
            </a:r>
          </a:p>
        </p:txBody>
      </p:sp>
      <p:sp>
        <p:nvSpPr>
          <p:cNvPr id="9" name="Rectangle 8"/>
          <p:cNvSpPr/>
          <p:nvPr/>
        </p:nvSpPr>
        <p:spPr>
          <a:xfrm>
            <a:off x="4636008" y="1152144"/>
            <a:ext cx="4370832" cy="25603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90872" y="1188720"/>
            <a:ext cx="42611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Avenir Next LT Pro"/>
              </a:rPr>
              <a:t>2.  Grupo 3corações — Nossas Marcas. https://www.3coracoes.com.br/en/nossas-marcas/ (2026)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1426464"/>
            <a:ext cx="437083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" y="1463040"/>
            <a:ext cx="42611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Avenir Next LT Pro"/>
              </a:rPr>
              <a:t>3.  Wikipedia — Três Corações (empresa). https://pt.wikipedia.org/wiki/Tr%C3%AAs_Cora%C3%A7%C3%B5es_(empresa)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36008" y="1426464"/>
            <a:ext cx="437083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90872" y="1463040"/>
            <a:ext cx="42611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Avenir Next LT Pro"/>
              </a:rPr>
              <a:t>4.  Istoé Dinheiro — "Com cafés especiais, 3 Corações se consolida na liderança". 2024.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1700784"/>
            <a:ext cx="4370832" cy="25603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3464" y="1737360"/>
            <a:ext cx="42611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Avenir Next LT Pro"/>
              </a:rPr>
              <a:t>5.  AgFeed — "A estratégia do Grupo 3corações para disputar a liga mundial de cafés". 2024.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36008" y="1700784"/>
            <a:ext cx="4370832" cy="25603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90872" y="1737360"/>
            <a:ext cx="42611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Avenir Next LT Pro"/>
              </a:rPr>
              <a:t>6.  FoodBiz Brasil — "3 Corações: o segredo logístico por trás do domínio no café". 2024.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1975104"/>
            <a:ext cx="437083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3464" y="2011680"/>
            <a:ext cx="42611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Avenir Next LT Pro"/>
              </a:rPr>
              <a:t>7.  InfoMoney — "Além do cafezinho: Grupo 3corações aposta em inovação aberta para faturar R$ 10 bi". 2024.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36008" y="1975104"/>
            <a:ext cx="437083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90872" y="2011680"/>
            <a:ext cx="42611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Avenir Next LT Pro"/>
              </a:rPr>
              <a:t>8.  CPG Click — "R$ 10 billion in revenue, 30% of national market". 2024.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2249424"/>
            <a:ext cx="4370832" cy="25603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3464" y="2286000"/>
            <a:ext cx="42611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Avenir Next LT Pro"/>
              </a:rPr>
              <a:t>9.  Rainforest Alliance — "3 Corações: o efeito cascata da sustentabilidade". 2024.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36008" y="2249424"/>
            <a:ext cx="4370832" cy="25603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90872" y="2286000"/>
            <a:ext cx="42611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Avenir Next LT Pro"/>
              </a:rPr>
              <a:t>10. 3C Pro (B2B) — Quem somos. https://www.3cpro.com.br/quem-somos/ (2026)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" y="2523744"/>
            <a:ext cx="437083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3464" y="2560320"/>
            <a:ext cx="42611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Avenir Next LT Pro"/>
              </a:rPr>
              <a:t>11. Mercafé — Cafés Especiais. https://www.mercafe.com.br/cafes/especiais (2026)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36008" y="2523744"/>
            <a:ext cx="437083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90872" y="2560320"/>
            <a:ext cx="42611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Avenir Next LT Pro"/>
              </a:rPr>
              <a:t>12. Café 3 Corações — Rituais. https://www.cafe3coracoes.com.br/nossos-produtos/cafes-raros-premiados/rituais/ (2026)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" y="2798063"/>
            <a:ext cx="4370832" cy="25603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3464" y="2834639"/>
            <a:ext cx="42611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Avenir Next LT Pro"/>
              </a:rPr>
              <a:t>13. Grupo 3corações — "Café 3 Corações lança Rituais". Press release. 2023.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36008" y="2798063"/>
            <a:ext cx="4370832" cy="25603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90872" y="2834639"/>
            <a:ext cx="42611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Avenir Next LT Pro"/>
              </a:rPr>
              <a:t>14. Grupo 3corações — "Rock in Rio: We Are Café". https://www.3coracoes.com.br/ (2022)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8600" y="3072384"/>
            <a:ext cx="437083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83464" y="3108960"/>
            <a:ext cx="42611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Avenir Next LT Pro"/>
              </a:rPr>
              <a:t>15. Grupo 3corações — "Nós Amamos Café" (campanha). 2020.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36008" y="3072384"/>
            <a:ext cx="437083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90872" y="3108960"/>
            <a:ext cx="42611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Avenir Next LT Pro"/>
              </a:rPr>
              <a:t>16. Rede OPA — "Grupo 3 Corações". https://redeopa.com/2024/11/06/grupo-3-coracoes/ (2024)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8600" y="3346704"/>
            <a:ext cx="4370832" cy="25603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83464" y="3383280"/>
            <a:ext cx="42611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Avenir Next LT Pro"/>
              </a:rPr>
              <a:t>17. FDC — Practical Community in Business Model CASE TRÊS CORAÇÕES (2017)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36008" y="3346704"/>
            <a:ext cx="4370832" cy="25603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90872" y="3383280"/>
            <a:ext cx="42611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Avenir Next LT Pro"/>
              </a:rPr>
              <a:t>18. Grandes Nomes da Propaganda — "Café 3 Corações lança campanha inspirada nos Beatles". 2022.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28600" y="4846320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888888"/>
                </a:solidFill>
                <a:latin typeface="Avenir Next LT Pro"/>
              </a:rPr>
              <a:t>Case compilado por Case Builder Agent | Alquemia Consulting | Julho 2026. Dados de empresa privada — indicadores financeiros são estimativas de mercado quando não confirmados.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008" y="109728"/>
            <a:ext cx="914400" cy="71797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4592" y="164592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venir Next LT Pro"/>
              </a:rPr>
              <a:t>LIÇÕES PARA A ORFEU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" y="65836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venir Next LT Pro"/>
              </a:rPr>
              <a:t>6 lições estruturadas em torno do ângulo: portfólio multi-marca × aposta premium × execução de canal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115568"/>
            <a:ext cx="8686800" cy="384048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" y="1152144"/>
            <a:ext cx="8503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FFFFFF"/>
                </a:solidFill>
                <a:latin typeface="Avenir Next LT Pro"/>
              </a:rPr>
              <a:t>Ângulo estratégico: como o maior grupo de café do Brasil gerencia um portfólio multi-marca em múltiplos segmentos
e o que sua jogada premium revela sobre os limites e oportunidades do mercado brasileiro.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554480"/>
            <a:ext cx="2743200" cy="1508760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554480"/>
            <a:ext cx="2743200" cy="329184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" y="1600200"/>
            <a:ext cx="25968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Avenir Next LT Pro"/>
              </a:rPr>
              <a:t>01  O premium no mercado de massa exige
uma sub-marca separada — não uma extensão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" y="1920240"/>
            <a:ext cx="259689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Avenir Next LT Pro"/>
              </a:rPr>
              <a:t>A 3corações não tentou premiumizar a marca 3 Corações. Criou a Rituais como uma linha autônoma com certificações, narrativa de origem, preço separado e canal exclusivo (DTC + gourmet). Para a Orfeu, isso confirma: ser 100% premium não é limitação — é vantagem. Tentar ser premium e popular ao mesmo tempo desfoca os dois.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54096" y="1554480"/>
            <a:ext cx="2743200" cy="15087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54096" y="1554480"/>
            <a:ext cx="2743200" cy="329184"/>
          </a:xfrm>
          <a:prstGeom prst="rect">
            <a:avLst/>
          </a:prstGeom>
          <a:solidFill>
            <a:srgbClr val="1F4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27248" y="1600200"/>
            <a:ext cx="25968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Avenir Next LT Pro"/>
              </a:rPr>
              <a:t>02  Logística é o verdadeiro moat — não a marca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27248" y="1920240"/>
            <a:ext cx="259689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Avenir Next LT Pro"/>
              </a:rPr>
              <a:t>A 3corações tem 30%+ de share não porque sua marca é a mais amada, mas porque tem 9 fábricas, 27 CDs, 400k PDVs e monitoramento de sell-out em tempo real. A Orfeu vende premium — mas o caminho para escala no Ho.Re.Ca. e B2B passa por ter a mesma certeza de disponibilidade que a 3corações entrega no varejo.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79592" y="1554480"/>
            <a:ext cx="2743200" cy="1508760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879592" y="1554480"/>
            <a:ext cx="2743200" cy="329184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52744" y="1600200"/>
            <a:ext cx="25968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Avenir Next LT Pro"/>
              </a:rPr>
              <a:t>03  O modelo TRES prova: hardware + recorrência
é o modelo de negócio mais eficiente do café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52744" y="1920240"/>
            <a:ext cx="259689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Avenir Next LT Pro"/>
              </a:rPr>
              <a:t>Vendendo máquinas a preço de custo e concentrando margem nas cápsulas, a TRES criou um motor de receita recorrente de alta previsibilidade. A Orfeu tem oportunidade similar com o modelo B2B por assinatura (café especial + equipamento comodato + treinamento) — lock-in sem subsidiar hardware.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3127248"/>
            <a:ext cx="2743200" cy="15087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28600" y="3127248"/>
            <a:ext cx="2743200" cy="329184"/>
          </a:xfrm>
          <a:prstGeom prst="rect">
            <a:avLst/>
          </a:prstGeom>
          <a:solidFill>
            <a:srgbClr val="1F4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1752" y="3172968"/>
            <a:ext cx="25968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Avenir Next LT Pro"/>
              </a:rPr>
              <a:t>04  Marcas regionais são ativos — mas precisam
de gestão ativa para não virar commodity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" y="3493008"/>
            <a:ext cx="259689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Avenir Next LT Pro"/>
              </a:rPr>
              <a:t>O grupo absorve marcas regionais mantendo sua identidade — o que preserva conexão emocional local. O risco: com 30+ marcas, nenhuma tem investimento suficiente de marketing. A Orfeu, com uma única marca, pode criar profundidade que o grupo nunca conseguirá em nenhuma de suas 30 marcas individualmente.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54096" y="3127248"/>
            <a:ext cx="2743200" cy="1508760"/>
          </a:xfrm>
          <a:prstGeom prst="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54096" y="3127248"/>
            <a:ext cx="2743200" cy="329184"/>
          </a:xfrm>
          <a:prstGeom prst="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27248" y="3172968"/>
            <a:ext cx="25968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Avenir Next LT Pro"/>
              </a:rPr>
              <a:t>05  ESG credível requer rastreabilidade — não só
certificação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27248" y="3493008"/>
            <a:ext cx="259689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Avenir Next LT Pro"/>
              </a:rPr>
              <a:t>Projeto Florada (190 ton compradas, 2.500 produtoras), Projeto Tribos (132 famílias indígenas) e Rituais (Coffee Verified por produtor) criam RTBs inarredáveis. A Orfeu já tem essa história — precisa torná-la verificável e exportável, com dados de impacto que o consumidor premium americano exige.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79592" y="3127248"/>
            <a:ext cx="2743200" cy="15087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879592" y="3127248"/>
            <a:ext cx="2743200" cy="329184"/>
          </a:xfrm>
          <a:prstGeom prst="rect">
            <a:avLst/>
          </a:prstGeom>
          <a:solidFill>
            <a:srgbClr val="1F4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52744" y="3172968"/>
            <a:ext cx="25968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Avenir Next LT Pro"/>
              </a:rPr>
              <a:t>06  Exportar produto processado é a próxima
fronteira — e a 3corações já chegou lá primeiro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52744" y="3493008"/>
            <a:ext cx="259689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Avenir Next LT Pro"/>
              </a:rPr>
              <a:t>R$ 500 mi em exportações — mas 83% em café verde (commodity). A empresa agora investe em exportar Rituais torrado para os EUA. A Orfeu, como marca 100% premium, não compete com commodity. Mas precisa entrar nos EUA antes que a 3corações colonize o shelf do café especial brasileiro com escala industrial que a Orfeu não tem.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