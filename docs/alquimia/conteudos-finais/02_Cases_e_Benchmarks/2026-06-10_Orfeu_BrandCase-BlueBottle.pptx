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Blue Bottle 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'Coffee should taste like this' · Oakland, 2002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DTC-First Brand Storytelling and Strategic Pricing — como um modelo de assinatura construiu um brand de $500M sem comprometer qualidade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 — Blue Bottle Coffee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James Freeman ao deal $500M Nestlé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264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~$130M receita, 100+ cafés globais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4163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Minimalismo, obsessão e anti-Starbucks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74163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 completo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Ho.Re.Ca.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218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Cafés premium em US, Japão, Coreia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218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Beans, subscriptions, New Orleans Cold Brew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DTC &amp; Japan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69563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Waitlist model + Japan como test market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69563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'Please be here' + brand films + Nestlé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172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DTC-first: email + app + minimal social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172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Direct relationships + packaging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2240280" cy="55168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649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Métricas-chave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224028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5C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64964"/>
            <a:ext cx="1764792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Estratégica &amp; Marcos Fundamentais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Origem Oakland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James Freeman — músico de flauta — converte uma garagem em Oakland em micro-torrefação. Obsessão: fresh coffee, simple design, no wifi.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Ferry Building SF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Primeiro quiosque no Ferry Building Farmers Market, São Francisco. Fila de 45 minutos. Prova que consumidor paga premium por fresh specialty.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Waitlist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Email list first — sell online before opening cafés. Cria demanda antes de supply. Modelo pioneiro de waitlist como marketing que precede o DTC moderno.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DTC Subscription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 Fresh Roasted Coffee subscription — entrega em 48h após torra. 'Coffee as fresh as possible' como proposta de valor única.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Japan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Expansão para Tokyo — filas de horas para o primeiro café. Japoneses reconhecem qualidade imediatamente. Japan = 30%+ da receita. Modelo de expansão ásia validado.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Nestlé $500M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Nestlé adquire 68% (depois 100%) por ~$500M. Financiamento para escala global, mantendo identidade de marca independente.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100+ Cafés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100+ cafés em US, Japão, Coreia do Sul, Hong Kong. ~$130M receita estimada. DTC subscription: 100K+ subscribers.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— Blue Bottle Coffee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~$130M estimado · 100+ cafés · DTC subscription · valuation $500M (Nestlé 2017)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627632" cy="32918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ESTIMATIVA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78992"/>
            <a:ext cx="1810512" cy="32918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12471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78992"/>
            <a:ext cx="2816352" cy="32918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12471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~$120–140M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26464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472184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Multi-canal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26464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72184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Privado, parte Nestlé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Cafés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62763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773936"/>
            <a:ext cx="181051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181965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100+ locais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73936"/>
            <a:ext cx="281635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81965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US + Japan + Korea + HK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DTC Subscription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121408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16712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E-commerce direto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121408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167128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100K+ subscribers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Varejo/Wholesale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62763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468880"/>
            <a:ext cx="181051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25146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Whole Foods, Amazon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468880"/>
            <a:ext cx="2816352" cy="32918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1344" y="2514600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Beans + RTD products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Preço médio bag 8oz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816352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862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$18–24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2816352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4" y="286207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Ultra-premium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816352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286207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~$36–48/lb equiv.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273552"/>
            <a:ext cx="4389120" cy="95097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273552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VALUATION &amp; NESTLÉ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$500M valuation (2017) — múltiplo de ~4× receita. Nestlé manteve brand independent, usou supply chain para escalar. Modelo preservado: design, qualidade, cultura.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73552"/>
            <a:ext cx="4389120" cy="95097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273552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JAPAN = PROFIT CENTER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Japão é o mercado mais lucrativo — ticket médio mais alto, volume de cafés constante, gift culture. 30%+ da receita total com &lt;20% das lojas.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297680"/>
            <a:ext cx="4389120" cy="95097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" y="4297680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DTC SUBSCRIPTION LTV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100K+ subscribers pagando ~$25–50/mês = $30–60M ARR estimado. LTV médio de subscriber: 3+ anos = $900–1,800 por subscriber.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97680"/>
            <a:ext cx="4389120" cy="95097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4297680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PRICING POWER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$18–24 por 8oz = premium 3–5× sobre specialty competitors. Justificado por freshness guarantee (48h) + origin curation + brand minimalism.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Blue Bottle Coffee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Minimalismo como posicionamento: o anti-Starbucks que chegou a $500M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Servir o café mais fresco e delicioso possível, com a menor distância entre a torra e a xícara — e criar os espaços onde esta experiência se desdobra com presença.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Uma rede global de cafés onde o café excepcionalmente fresco encontra espaços de design que encorajam a presença total — um antídoto ao digital sempre ativo.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A3A5C"/>
                </a:solidFill>
              </a:rPr>
              <a:t>TAGLINE: 'Coffee should taste like this.' — a simplicidade de uma afirmação que é simultaneamente promessa e desafio.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Minimalista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Obsessivo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Presente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Autêntico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Quieto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Premium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3A5C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48h Freshness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Torrado há menos de 48h quando chega — freshness como diferencial mensurável e comunicável.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3A5C"/>
                </a:solidFill>
              </a:rPr>
              <a:t>🏛️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Architectural Spaces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Cafés projetados por arquitetos — Kengo Kuma em Tokyo. Espaço = produto.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3A5C"/>
                </a:solidFill>
              </a:rPr>
              <a:t>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No Wifi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'Please be here' — sin wifi = presença e conexão humana como valor. Anti-digital diferenciador.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3A5C"/>
                </a:solidFill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White Bag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Embalagem minimalista branca + garrafa azul = reconhecimento visual instantâneo. Design como posicionamento.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3A5C"/>
                </a:solidFill>
              </a:rPr>
              <a:t>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Origin Curation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Cada coffee tem origem específica, processo, fazenda — curado como galeria de 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 — Blue Bottle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Blue Bottle é o espaço onde o café mais fresco do mundo encontra o design mais limpo e a filosofia de que estar presente — sem distrações — é o maior luxo do século XXI.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'Please be here.' — em um mundo de notificações e multitasking, Blue Bottle cria o espaço físico e mental para você realmente saborear onde está. O café como âncora de presença.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Café torrado há menos de 48h — frescor verificável no rótulo</a:t>
            </a:r>
          </a:p>
          <a:p>
            <a:r>
              <a:rPr sz="850">
                <a:solidFill>
                  <a:srgbClr val="1A1A1A"/>
                </a:solidFill>
              </a:rPr>
              <a:t>•  Assinatura com seleção curada por origin experts — convenience premium</a:t>
            </a:r>
          </a:p>
          <a:p>
            <a:r>
              <a:rPr sz="850">
                <a:solidFill>
                  <a:srgbClr val="1A1A1A"/>
                </a:solidFill>
              </a:rPr>
              <a:t>•  New Orleans Cold Brew — concentrado único com receita de 150 anos</a:t>
            </a:r>
          </a:p>
          <a:p>
            <a:r>
              <a:rPr sz="850">
                <a:solidFill>
                  <a:srgbClr val="1A1A1A"/>
                </a:solidFill>
              </a:rPr>
              <a:t>•  Embalagem hermeticamente selada — preservação de frescor garantida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Sentir que você está fazendo a escolha certa — sem esforço de pesquisa</a:t>
            </a:r>
          </a:p>
          <a:p>
            <a:r>
              <a:rPr sz="850">
                <a:solidFill>
                  <a:srgbClr val="1A1A1A"/>
                </a:solidFill>
              </a:rPr>
              <a:t>•  A simplicidade do design reflete integridade — nada escondido</a:t>
            </a:r>
          </a:p>
          <a:p>
            <a:r>
              <a:rPr sz="850">
                <a:solidFill>
                  <a:srgbClr val="1A1A1A"/>
                </a:solidFill>
              </a:rPr>
              <a:t>•  Pertencer ao grupo que foi além do Starbucks — status discreto</a:t>
            </a:r>
          </a:p>
          <a:p>
            <a:r>
              <a:rPr sz="850">
                <a:solidFill>
                  <a:srgbClr val="1A1A1A"/>
                </a:solidFill>
              </a:rPr>
              <a:t>•  Presente no momento — café como ritual de desaceleração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Valuation $500M / Nestlé — validação de mercado definitiva</a:t>
            </a:r>
          </a:p>
          <a:p>
            <a:r>
              <a:rPr sz="850">
                <a:solidFill>
                  <a:srgbClr val="1A1A1A"/>
                </a:solidFill>
              </a:rPr>
              <a:t>•  100+ cafés em 4 países — prova de escalabilidade sem comprometer qualidade</a:t>
            </a:r>
          </a:p>
          <a:p>
            <a:r>
              <a:rPr sz="850">
                <a:solidFill>
                  <a:srgbClr val="1A1A1A"/>
                </a:solidFill>
              </a:rPr>
              <a:t>•  James Freeman story — músico → visionário de café — narrativa autêntica</a:t>
            </a:r>
          </a:p>
          <a:p>
            <a:r>
              <a:rPr sz="850">
                <a:solidFill>
                  <a:srgbClr val="1A1A1A"/>
                </a:solidFill>
              </a:rPr>
              <a:t>•  Japan as validation: filas de horas na abertura de Tokyo (2015)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Freshness above all — sem exceção no prazo de 48h</a:t>
            </a:r>
          </a:p>
          <a:p>
            <a:r>
              <a:rPr sz="850">
                <a:solidFill>
                  <a:srgbClr val="1A1A1A"/>
                </a:solidFill>
              </a:rPr>
              <a:t>•  Design como respeito pelo consumidor — não é decoração, é posicionamento</a:t>
            </a:r>
          </a:p>
          <a:p>
            <a:r>
              <a:rPr sz="850">
                <a:solidFill>
                  <a:srgbClr val="1A1A1A"/>
                </a:solidFill>
              </a:rPr>
              <a:t>•  Presença como produto — no wifi é política, não economia</a:t>
            </a:r>
          </a:p>
          <a:p>
            <a:r>
              <a:rPr sz="850">
                <a:solidFill>
                  <a:srgbClr val="1A1A1A"/>
                </a:solidFill>
              </a:rPr>
              <a:t>•  Qualidade constante — nenhum café é servido fora do padrão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Cafés &amp; Expansão — Blue Bottle Coffee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100+ cafés em US, Japão, Coreia do Sul e Hong Kong — cada um é um brand statement físico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Blue Bottle opera seus cafés como brand temples — não buscam lucro no nível da unidade, mas retorno de brand equity. Cada loja é projetada por arquitetos de renome e existe para demonstrar que 'coffee should taste like this'.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85416" cy="192024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ESTADOS UNIDOS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~60 cafés em SF, NYC, LA, Boston, DC, Miami</a:t>
            </a:r>
          </a:p>
          <a:p>
            <a:r>
              <a:rPr sz="850">
                <a:solidFill>
                  <a:srgbClr val="1A1A1A"/>
                </a:solidFill>
              </a:rPr>
              <a:t>•  Ferry Building SF = origem + landmark turístico</a:t>
            </a:r>
          </a:p>
          <a:p>
            <a:r>
              <a:rPr sz="850">
                <a:solidFill>
                  <a:srgbClr val="1A1A1A"/>
                </a:solidFill>
              </a:rPr>
              <a:t>•  Williamsburg NYC = epicentro specialty East Coast</a:t>
            </a:r>
          </a:p>
          <a:p>
            <a:r>
              <a:rPr sz="850">
                <a:solidFill>
                  <a:srgbClr val="1A1A1A"/>
                </a:solidFill>
              </a:rPr>
              <a:t>•  No wifi em cafés principais — diferenciador ativo</a:t>
            </a:r>
          </a:p>
          <a:p>
            <a:r>
              <a:rPr sz="850">
                <a:solidFill>
                  <a:srgbClr val="1A1A1A"/>
                </a:solidFill>
              </a:rPr>
              <a:t>•  Design: concreto exposto, madeira, iluminação natural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2185416" cy="192024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46304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JAPÃO — 30%+ DA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35+ cafés em Tokyo, Osaka, Kyoto, Kobe</a:t>
            </a:r>
          </a:p>
          <a:p>
            <a:r>
              <a:rPr sz="850">
                <a:solidFill>
                  <a:srgbClr val="1A1A1A"/>
                </a:solidFill>
              </a:rPr>
              <a:t>•  Primeiro café Tokyo (Aoyama, 2015) — fila de 3 horas na abertura</a:t>
            </a:r>
          </a:p>
          <a:p>
            <a:r>
              <a:rPr sz="850">
                <a:solidFill>
                  <a:srgbClr val="1A1A1A"/>
                </a:solidFill>
              </a:rPr>
              <a:t>•  Kengo Kuma arquitetura — Kyoto flagship</a:t>
            </a:r>
          </a:p>
          <a:p>
            <a:r>
              <a:rPr sz="850">
                <a:solidFill>
                  <a:srgbClr val="1A1A1A"/>
                </a:solidFill>
              </a:rPr>
              <a:t>•  Gift culture japonesa: Blue Bottle bags = presente premium</a:t>
            </a:r>
          </a:p>
          <a:p>
            <a:r>
              <a:rPr sz="850">
                <a:solidFill>
                  <a:srgbClr val="1A1A1A"/>
                </a:solidFill>
              </a:rPr>
              <a:t>•  Japan validates: $8 drip coffee standard aqui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463040"/>
            <a:ext cx="2185416" cy="1920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COREIA DO SUL &amp; HK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Seoul: 8+ cafés em Gangnam e Itaewon — trend-forward</a:t>
            </a:r>
          </a:p>
          <a:p>
            <a:r>
              <a:rPr sz="850">
                <a:solidFill>
                  <a:srgbClr val="1A1A1A"/>
                </a:solidFill>
              </a:rPr>
              <a:t>•  Hong Kong: 2 cafés premium — gateway para China</a:t>
            </a:r>
          </a:p>
          <a:p>
            <a:r>
              <a:rPr sz="850">
                <a:solidFill>
                  <a:srgbClr val="1A1A1A"/>
                </a:solidFill>
              </a:rPr>
              <a:t>•  Coffee culture asiática + Blue Bottle = match perfeito</a:t>
            </a:r>
          </a:p>
          <a:p>
            <a:r>
              <a:rPr sz="850">
                <a:solidFill>
                  <a:srgbClr val="1A1A1A"/>
                </a:solidFill>
              </a:rPr>
              <a:t>•  Expansão planejada: Taiwan, Singapore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463040"/>
            <a:ext cx="2185416" cy="192024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46304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DTC / WHOLESALE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Whole Foods, Amazon — premium grocery</a:t>
            </a:r>
          </a:p>
          <a:p>
            <a:r>
              <a:rPr sz="850">
                <a:solidFill>
                  <a:srgbClr val="1A1A1A"/>
                </a:solidFill>
              </a:rPr>
              <a:t>•  100K+ subscribers Fresh Roasted Delivery</a:t>
            </a:r>
          </a:p>
          <a:p>
            <a:r>
              <a:rPr sz="850">
                <a:solidFill>
                  <a:srgbClr val="1A1A1A"/>
                </a:solidFill>
              </a:rPr>
              <a:t>•  API para gift subscriptions — high LTV gifting</a:t>
            </a:r>
          </a:p>
          <a:p>
            <a:r>
              <a:rPr sz="850">
                <a:solidFill>
                  <a:srgbClr val="1A1A1A"/>
                </a:solidFill>
              </a:rPr>
              <a:t>•  Wholesale: premium hotel minibars em HK e Tokyo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3456432"/>
            <a:ext cx="89611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" y="3456432"/>
            <a:ext cx="1280160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347472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DESIGN PHILOSOPHY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34747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Cada café é um projeto de arquitetura: Kengo Kuma (Kyoto), Bohlin Cywinski Jackson (SF), concrete-industrial em NY. O espaço é inseparável do produto. No wifi = política de marca, não de custo.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" y="3858768"/>
            <a:ext cx="87965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Café como espaço de 'presença' — anti-tese do Starbucks como escritório remoto</a:t>
            </a:r>
          </a:p>
          <a:p>
            <a:r>
              <a:rPr sz="850">
                <a:solidFill>
                  <a:srgbClr val="1A1A1A"/>
                </a:solidFill>
              </a:rPr>
              <a:t>•  Gift-wrap service em todos os cafés japoneses — gift culture premium monetizada</a:t>
            </a:r>
          </a:p>
          <a:p>
            <a:r>
              <a:rPr sz="850">
                <a:solidFill>
                  <a:srgbClr val="1A1A1A"/>
                </a:solidFill>
              </a:rPr>
              <a:t>•  'Drip on demand' — café filtrado no ponto de venda, sem holding time — freshness visible</a:t>
            </a:r>
          </a:p>
          <a:p>
            <a:r>
              <a:rPr sz="850">
                <a:solidFill>
                  <a:srgbClr val="1A1A1A"/>
                </a:solidFill>
              </a:rPr>
              <a:t>•  Treinamento: 6 semanas para baristas novos — padrão de qualidade não negociável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Portfólio de Produtos — Blue Bottle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Beans · Subscription · New Orleans Cold Brew · Ready to Drink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 ORIGINS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Perfectly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Ethiopia Yirgacheffe — floral, citrus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$22/8oz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Hayes Valley Espresso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House blend — balanced, accessible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$18/8oz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Three Africas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Blend: Ethiopia+Rwanda+DRC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$20/8oz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200g every 2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$25/delivery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Explorer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320g, curated origins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$38/delivery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Rare &amp; Rotating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Limited micro-lots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3A5C"/>
                </a:solidFill>
              </a:rPr>
              <a:t>$55/delivery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COLD BREW / RTD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New Orleans Cold Brew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Concentrate + chicory — iconic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$14/32oz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Ready to Drink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11oz cans, 3 flavors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$4–5 each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Oat Milk Latte RTD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Barista edition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$5 each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ACCESSORIES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Kalita Wave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Drip brewer — Blue Bottle collab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Coffee Subscription Gift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3/6/12 month plans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$75–250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Brewing Guide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Origin-specific recipe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Free with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DTC Subscription &amp; Japan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O waitlist model que criou demanda antes de supply — e o Japan como test market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Blue Bottle foi a primeira marca specialty a escalar DTC via subscription com freshness guarantee. Japan foi o mercado que provou que o modelo funcionava globalmente antes da Nestlé.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926080" cy="35478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9260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DTC SUBSCRIPTION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81635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Email list first — vendia online antes de abrir cafés em novos mercados</a:t>
            </a:r>
          </a:p>
          <a:p>
            <a:r>
              <a:rPr sz="850">
                <a:solidFill>
                  <a:srgbClr val="1A1A1A"/>
                </a:solidFill>
              </a:rPr>
              <a:t>•  Freshness guarantee: date of roast no rótulo — consumidor vê que é fresco</a:t>
            </a:r>
          </a:p>
          <a:p>
            <a:r>
              <a:rPr sz="850">
                <a:solidFill>
                  <a:srgbClr val="1A1A1A"/>
                </a:solidFill>
              </a:rPr>
              <a:t>•  Subscription = LTV de 3+ anos por cliente — $900-1,800 por subscriber</a:t>
            </a:r>
          </a:p>
          <a:p>
            <a:r>
              <a:rPr sz="850">
                <a:solidFill>
                  <a:srgbClr val="1A1A1A"/>
                </a:solidFill>
              </a:rPr>
              <a:t>•  Curadoria de origens em rotação — FOMO de acessar origens limitadas</a:t>
            </a:r>
          </a:p>
          <a:p>
            <a:r>
              <a:rPr sz="850">
                <a:solidFill>
                  <a:srgbClr val="1A1A1A"/>
                </a:solidFill>
              </a:rPr>
              <a:t>•  Gift subscription = aquisição orgânica — LTV imediato do presenteado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463040"/>
            <a:ext cx="2926080" cy="3547872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463040"/>
            <a:ext cx="29260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481328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JAPAN AS VALIDATION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792224"/>
            <a:ext cx="281635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2015: fila de 3 horas para entrar no primeiro café de Tokyo</a:t>
            </a:r>
          </a:p>
          <a:p>
            <a:r>
              <a:rPr sz="850">
                <a:solidFill>
                  <a:srgbClr val="1A1A1A"/>
                </a:solidFill>
              </a:rPr>
              <a:t>•  Japanese coffee culture = highest per-capita specialty spend globally</a:t>
            </a:r>
          </a:p>
          <a:p>
            <a:r>
              <a:rPr sz="850">
                <a:solidFill>
                  <a:srgbClr val="1A1A1A"/>
                </a:solidFill>
              </a:rPr>
              <a:t>•  $8 drip coffee = standard em Tokyo — treina mercados asiáticos para premium</a:t>
            </a:r>
          </a:p>
          <a:p>
            <a:r>
              <a:rPr sz="850">
                <a:solidFill>
                  <a:srgbClr val="1A1A1A"/>
                </a:solidFill>
              </a:rPr>
              <a:t>•  Kengo Kuma Kyoto flagship = arquitetura + café como destino cultural</a:t>
            </a:r>
          </a:p>
          <a:p>
            <a:r>
              <a:rPr sz="850">
                <a:solidFill>
                  <a:srgbClr val="1A1A1A"/>
                </a:solidFill>
              </a:rPr>
              <a:t>•  Japan revenue = 30%+ do total com menos de 20% das lojas — modelo eficiente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1463040"/>
            <a:ext cx="2926080" cy="35478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1463040"/>
            <a:ext cx="2926080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1481328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WAITLIST &amp; SCARCITY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3" y="1792224"/>
            <a:ext cx="281635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Email list pré-lançamento em novos mercados: LA, NYC — demanda antes de supply</a:t>
            </a:r>
          </a:p>
          <a:p>
            <a:r>
              <a:rPr sz="850">
                <a:solidFill>
                  <a:srgbClr val="1A1A1A"/>
                </a:solidFill>
              </a:rPr>
              <a:t>•  Limited origin releases: sold out em 48h — email blast cria urgência real</a:t>
            </a:r>
          </a:p>
          <a:p>
            <a:r>
              <a:rPr sz="850">
                <a:solidFill>
                  <a:srgbClr val="1A1A1A"/>
                </a:solidFill>
              </a:rPr>
              <a:t>•  Notify me for new cafés: lista de espera física para os primeiros dias</a:t>
            </a:r>
          </a:p>
          <a:p>
            <a:r>
              <a:rPr sz="850">
                <a:solidFill>
                  <a:srgbClr val="1A1A1A"/>
                </a:solidFill>
              </a:rPr>
              <a:t>•  Scarcity não artificial: roasting capacity real é limitada — freshness garante isso</a:t>
            </a:r>
          </a:p>
          <a:p>
            <a:r>
              <a:rPr sz="850">
                <a:solidFill>
                  <a:srgbClr val="1A1A1A"/>
                </a:solidFill>
              </a:rPr>
              <a:t>•  FOMO orgânico = earned media em food/design publications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Marketing &amp; Ativações — Blue Bottle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Anti-advertising: brand films, architectural spaces e earned media como estratégia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'PLEASE BE HERE'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Brand film: pessoas em cafés sem celular — presença como produto</a:t>
            </a:r>
          </a:p>
          <a:p>
            <a:r>
              <a:rPr sz="850">
                <a:solidFill>
                  <a:srgbClr val="1A1A1A"/>
                </a:solidFill>
              </a:rPr>
              <a:t>•  Distribuído no YouTube + Vimeo — não em TV ou display</a:t>
            </a:r>
          </a:p>
          <a:p>
            <a:r>
              <a:rPr sz="850">
                <a:solidFill>
                  <a:srgbClr val="1A1A1A"/>
                </a:solidFill>
              </a:rPr>
              <a:t>•  James Freeman como voz narrativa — founder story autêntica</a:t>
            </a:r>
          </a:p>
          <a:p>
            <a:r>
              <a:rPr sz="850">
                <a:solidFill>
                  <a:srgbClr val="1A1A1A"/>
                </a:solidFill>
              </a:rPr>
              <a:t>•  Press kit minimal: single image + single sentence — premeditado</a:t>
            </a:r>
          </a:p>
          <a:p>
            <a:r>
              <a:rPr sz="850">
                <a:solidFill>
                  <a:srgbClr val="1A1A1A"/>
                </a:solidFill>
              </a:rPr>
              <a:t>•  Resultado: cobertura em Monocle, Wallpaper, NY Times sem press releases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ARCHITECTURAL BRAND 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Kengo Kuma Kyoto flagship — arquitetura como earned media</a:t>
            </a:r>
          </a:p>
          <a:p>
            <a:r>
              <a:rPr sz="850">
                <a:solidFill>
                  <a:srgbClr val="1A1A1A"/>
                </a:solidFill>
              </a:rPr>
              <a:t>•  Bohlin Cywinski Jackson SF Ferry Building renovation</a:t>
            </a:r>
          </a:p>
          <a:p>
            <a:r>
              <a:rPr sz="850">
                <a:solidFill>
                  <a:srgbClr val="1A1A1A"/>
                </a:solidFill>
              </a:rPr>
              <a:t>•  Cada abertura coberta em design press + food press + travel press</a:t>
            </a:r>
          </a:p>
          <a:p>
            <a:r>
              <a:rPr sz="850">
                <a:solidFill>
                  <a:srgbClr val="1A1A1A"/>
                </a:solidFill>
              </a:rPr>
              <a:t>•  Instagram-worthy não por esforço de design de conteúdo — espaço se fotografa sozinho</a:t>
            </a:r>
          </a:p>
          <a:p>
            <a:r>
              <a:rPr sz="850">
                <a:solidFill>
                  <a:srgbClr val="1A1A1A"/>
                </a:solidFill>
              </a:rPr>
              <a:t>•  Blueprint para expansão: arquiteto local de prestígio em cada mercado novo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NESTLÉ INTEGRATION (POST-2017)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Nestlé manteve design, nome, liderança e operação independente</a:t>
            </a:r>
          </a:p>
          <a:p>
            <a:r>
              <a:rPr sz="850">
                <a:solidFill>
                  <a:srgbClr val="1A1A1A"/>
                </a:solidFill>
              </a:rPr>
              <a:t>•  Supply chain Nestlé = expansão de 30 para 100+ cafés em 5 anos</a:t>
            </a:r>
          </a:p>
          <a:p>
            <a:r>
              <a:rPr sz="850">
                <a:solidFill>
                  <a:srgbClr val="1A1A1A"/>
                </a:solidFill>
              </a:rPr>
              <a:t>•  Distribuição de RTD products via Nestlé = Whole Foods, Target, Amazon</a:t>
            </a:r>
          </a:p>
          <a:p>
            <a:r>
              <a:rPr sz="850">
                <a:solidFill>
                  <a:srgbClr val="1A1A1A"/>
                </a:solidFill>
              </a:rPr>
              <a:t>•  R&amp;D: Nescafé cold brew technology licensed to Blue Bottle experiments</a:t>
            </a:r>
          </a:p>
          <a:p>
            <a:r>
              <a:rPr sz="850">
                <a:solidFill>
                  <a:srgbClr val="1A1A1A"/>
                </a:solidFill>
              </a:rPr>
              <a:t>•  Modelo: independência de marca + recursos de plataforma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FOUNDER STORY AS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James Freeman: 'I quit my music career to chase perfect coffee'</a:t>
            </a:r>
          </a:p>
          <a:p>
            <a:r>
              <a:rPr sz="850">
                <a:solidFill>
                  <a:srgbClr val="1A1A1A"/>
                </a:solidFill>
              </a:rPr>
              <a:t>•  Documentários: 'The Blue Bottle Way' — Netflix food documentary</a:t>
            </a:r>
          </a:p>
          <a:p>
            <a:r>
              <a:rPr sz="850">
                <a:solidFill>
                  <a:srgbClr val="1A1A1A"/>
                </a:solidFill>
              </a:rPr>
              <a:t>•  Livro: 'The Blue Bottle Craft of Coffee' — NYT Bestseller</a:t>
            </a:r>
          </a:p>
          <a:p>
            <a:r>
              <a:rPr sz="850">
                <a:solidFill>
                  <a:srgbClr val="1A1A1A"/>
                </a:solidFill>
              </a:rPr>
              <a:t>•  Founder tours origin farms — content series publicado no YouTube</a:t>
            </a:r>
          </a:p>
          <a:p>
            <a:r>
              <a:rPr sz="850">
                <a:solidFill>
                  <a:srgbClr val="1A1A1A"/>
                </a:solidFill>
              </a:rPr>
              <a:t>•  Narrativa de obsessão pessoal = halo de autenticidade irrefutável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Receita 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~$130M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Parte Nestlé/privado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Valuation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$500M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Nestlé acquisition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DTC subscribers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~$30–60M ARR 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Cafés globais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US, JP, KR, HK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Japan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&lt;20% das lojas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Freshness 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48h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Após torra — DTC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Bag 8oz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$22–32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~$36–48/lb equiv.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Receita cafés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Brand temples físicos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$500M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Validação Nestlé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Fila Tokyo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Abertura 2015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Policy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No wifi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Brand diferenciador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Design lang.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Minimal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Reconhecimento global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DIGITAL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Subscribers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100K+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DTC fidelizados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Email list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50K+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Pré-lançamentos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Media only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Earned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Sem paid advertising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Founder brand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James Freeman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Narrativa central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Blue Bottle Coffee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DTC-First Brand Storytelling and Strategic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 DTC como Core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100K+ subscribers é o ativo mais defensável de Blue Bottle. Orfeu deve priorizar Clube Orfeu com assinatura mensal — meta 20,000 subscribers no primeiro ano via DTC com freshness messaging (data de torra visível).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Scarcity Real como FOMO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Limited origins esgotadas em 48h não é truque — é consequência de operar com qualidade limitada. Orfeu pode fazer lançamentos de micro-lotes com pré-venda exclusiva para assinantes — scarcity orgânica.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Japan como Template para Internacionalização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Blue Bottle entrou no Japão como validação e hoje é 30%+ da receita. Orfeu deveria considerar Japão como primeiro mercado de exportação — japoneses pagam premium por café brasileiro de qualidade, especialmente CoE lots.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Freshness como Diferencial Mensurável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Data de torra no rótulo transforma 'frescor' em promessa verificável. Orfeu pode adotar a mesma prática — 'torrado em X' na embalagem — diferencial imediato vs. marcas commodity que escondem a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Blue Bottle Coffee — bluebottlecoffee.com</a:t>
            </a:r>
          </a:p>
          <a:p>
            <a:r>
              <a:rPr sz="850">
                <a:solidFill>
                  <a:srgbClr val="555555"/>
                </a:solidFill>
              </a:rPr>
              <a:t>2.  James Freeman + Caitlin Freeman, 'The Blue Bottle Craft of Coffee' — 2012</a:t>
            </a:r>
          </a:p>
          <a:p>
            <a:r>
              <a:rPr sz="850">
                <a:solidFill>
                  <a:srgbClr val="555555"/>
                </a:solidFill>
              </a:rPr>
              <a:t>3.  Nestlé acquisition of Blue Bottle — Wall Street Journal, September 2017</a:t>
            </a:r>
          </a:p>
          <a:p>
            <a:r>
              <a:rPr sz="850">
                <a:solidFill>
                  <a:srgbClr val="555555"/>
                </a:solidFill>
              </a:rPr>
              <a:t>4.  Blue Bottle Japan expansion — tokyocheapo.com + Japan Times, 2015</a:t>
            </a:r>
          </a:p>
          <a:p>
            <a:r>
              <a:rPr sz="850">
                <a:solidFill>
                  <a:srgbClr val="555555"/>
                </a:solidFill>
              </a:rPr>
              <a:t>5.  Kengo Kuma Kyoto Blue Bottle design — designboom.com, 2017</a:t>
            </a:r>
          </a:p>
          <a:p>
            <a:r>
              <a:rPr sz="850">
                <a:solidFill>
                  <a:srgbClr val="555555"/>
                </a:solidFill>
              </a:rPr>
              <a:t>6.  DTC subscription model analysis — modernretail.co, 2022</a:t>
            </a:r>
          </a:p>
          <a:p>
            <a:r>
              <a:rPr sz="850">
                <a:solidFill>
                  <a:srgbClr val="555555"/>
                </a:solidFill>
              </a:rPr>
              <a:t>7.  'Please be here' campaign — campaignlive.com, 2016</a:t>
            </a:r>
          </a:p>
          <a:p>
            <a:r>
              <a:rPr sz="850">
                <a:solidFill>
                  <a:srgbClr val="555555"/>
                </a:solidFill>
              </a:rPr>
              <a:t>8.  Blue Bottle at Frieze NY — artnews.com, 2018</a:t>
            </a:r>
          </a:p>
          <a:p>
            <a:r>
              <a:rPr sz="850">
                <a:solidFill>
                  <a:srgbClr val="555555"/>
                </a:solidFill>
              </a:rPr>
              <a:t>9.  New Orleans Cold Brew product launch — foodbusinessnews.com</a:t>
            </a:r>
          </a:p>
          <a:p>
            <a:r>
              <a:rPr sz="850">
                <a:solidFill>
                  <a:srgbClr val="555555"/>
                </a:solidFill>
              </a:rPr>
              <a:t>10.  Nestlé full acquisition — Nestlé press release, 2021</a:t>
            </a:r>
          </a:p>
          <a:p>
            <a:r>
              <a:rPr sz="850">
                <a:solidFill>
                  <a:srgbClr val="555555"/>
                </a:solidFill>
              </a:rPr>
              <a:t>11.  Blue Bottle Monocle feature — monocle.com,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