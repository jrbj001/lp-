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20040"/>
            <a:ext cx="1097280" cy="861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0000"/>
                </a:solidFill>
              </a:rPr>
              <a:t>CASE DE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9339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Nespresso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5292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What else? · A Nestlé company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3310128"/>
            <a:ext cx="896112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1985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DTC Premium Subscriptions and the Capsule Market — como a Nespresso criou um ecossistema de €6.7B ao redor de um único formato de entrega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Estrutura do Case — Nespresso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78992"/>
            <a:ext cx="4389120" cy="5516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329184" cy="5516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" y="11719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1704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Trajetória &amp; Inovação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4447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De 1986 ao ecossistema global de cápsula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59" y="10789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1078992"/>
            <a:ext cx="329184" cy="5516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11719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1496" y="11704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Financeiros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14447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€6.7B em receita e estrutura de canal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726691"/>
            <a:ext cx="4389120" cy="5516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1726691"/>
            <a:ext cx="329184" cy="5516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18196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18181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Brand DNA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2092451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Luxo acessível: posicionamento e personalidade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59" y="17266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59" y="1726691"/>
            <a:ext cx="329184" cy="5516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5736" y="18196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18181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Positioning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2092451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Statement, benefícios, RTBs e valores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374392"/>
            <a:ext cx="4389120" cy="5516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" y="2374392"/>
            <a:ext cx="329184" cy="5516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" y="24673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24658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Ho.Re.Ca. &amp; B2B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7401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Nespresso Professional e canal fora-de-casa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59" y="23743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59" y="2374392"/>
            <a:ext cx="329184" cy="5516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5736" y="24673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11496" y="24658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Portfólio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1496" y="27401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Original Line, Vertuo, Limited Editions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" y="3022091"/>
            <a:ext cx="4389120" cy="5516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" y="3022091"/>
            <a:ext cx="329184" cy="5516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" y="31150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" y="31135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DTC &amp; Subscription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" y="3387851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Club Nespresso: 30M membros, modelo de receita recorrente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59" y="30220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59" y="3022091"/>
            <a:ext cx="329184" cy="5516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45736" y="31150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1496" y="31135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Ativações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1496" y="3387851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George Clooney + boutiques + brand films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3669792"/>
            <a:ext cx="4389120" cy="5516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" y="3669792"/>
            <a:ext cx="329184" cy="5516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8016" y="37627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" y="37612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Digital &amp; E-commerce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" y="40355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Omnichannel: boutique + app + web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59" y="36697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09159" y="3669792"/>
            <a:ext cx="329184" cy="5516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45736" y="37627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11496" y="37612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Sustentabilidade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11496" y="40355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AAA program + reciclagem de alumínio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" y="4317492"/>
            <a:ext cx="4389120" cy="5516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40" y="4317492"/>
            <a:ext cx="329184" cy="5516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" y="44104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" y="44089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Scorecard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" y="46832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Métricas-chave de performance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59" y="43174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09159" y="4317492"/>
            <a:ext cx="329184" cy="5516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45736" y="44104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11496" y="4408932"/>
            <a:ext cx="3913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Lições para Orfeu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1496" y="4683252"/>
            <a:ext cx="3913631" cy="11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Insights aplicáveis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Trajetória &amp; Inovação — Nespresso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De patente rejeitada à maior marca premium individual de café do mundo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24128"/>
            <a:ext cx="896112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4934" y="1005840"/>
            <a:ext cx="73152" cy="2011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1207008"/>
            <a:ext cx="1028700" cy="3566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1243584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1976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572768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Patente Original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920240"/>
            <a:ext cx="9738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Eric Favre (Nestlé) arquiva a patente do sistema de pressurização por cápsula — rejeitada internamente por 10 anos como 'nicho pequeno demais'.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5074" y="1005840"/>
            <a:ext cx="73152" cy="2011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57300" y="1207008"/>
            <a:ext cx="1028700" cy="356616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4732" y="1243584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1986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4732" y="1572768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Lançamento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4732" y="1920240"/>
            <a:ext cx="9738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Nespresso lançada — primeiros clientes B2B (escritórios e restaurantes). Conceito de clube exclusivo desde o início.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5214" y="1005840"/>
            <a:ext cx="73152" cy="2011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40" y="1207008"/>
            <a:ext cx="1028700" cy="3566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04872" y="1243584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1991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04872" y="1572768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Club Nespresso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04872" y="1920240"/>
            <a:ext cx="9738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Criação do Club Nespresso — modelo DTC pioneiro. Pedidos por telefone, entrega direta. 20 anos antes do e-commerce ser mainstream.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5354" y="1005840"/>
            <a:ext cx="73152" cy="2011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97580" y="1207008"/>
            <a:ext cx="1028700" cy="356616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5012" y="1243584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2000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5012" y="1572768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Boutiques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5012" y="1920240"/>
            <a:ext cx="9738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Primeira Nespresso Boutique em Paris. Transforma a compra de café em experiência de luxo — referência de retail premium.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95494" y="1005840"/>
            <a:ext cx="73152" cy="2011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7720" y="1207008"/>
            <a:ext cx="1028700" cy="3566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2" y="1243584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2006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1572768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George Clooney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1920240"/>
            <a:ext cx="9738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'What else?' — início de uma das parcerias de ambassador mais longevas da publicidade global. ~$40M/ano, 20 anos de contrato.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5633" y="1005840"/>
            <a:ext cx="73152" cy="2011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37859" y="1207008"/>
            <a:ext cx="1028700" cy="356616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5292" y="1243584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2012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5292" y="1572768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Patent Cliff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5292" y="1920240"/>
            <a:ext cx="9738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Expiração das patentes principais. Avalanche de compatíveis (Lavazza, Aldi, Starbucks). Nespresso responde com Vertuo — novo sistema incompatível.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35774" y="1005840"/>
            <a:ext cx="73152" cy="2011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0" y="1207008"/>
            <a:ext cx="1028700" cy="3566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85432" y="1243584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2014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432" y="1572768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Vertuo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85432" y="1920240"/>
            <a:ext cx="9738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Lançamento do Vertuo — sistema de centrifusion com barcode para americanos (cup sizes maiores). Reinventa o lock-in.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55914" y="1005840"/>
            <a:ext cx="73152" cy="2011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78140" y="1207008"/>
            <a:ext cx="1028700" cy="356616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5572" y="1243584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5572" y="1572768"/>
            <a:ext cx="9738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€6.7B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5572" y="1920240"/>
            <a:ext cx="9738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850+ boutiques. 30M membros do Club. Nespresso Professional em 30,000+ negócios. Lider global em café premium de cápsula.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Arquitetura Financeira &amp; Métricas Globais — Nespresso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€6.7B em receita: estrutura de canal DTC-first e geografias de crescimento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2542032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" y="1124712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78992"/>
            <a:ext cx="1536192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6624" y="112471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FY 2022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78992"/>
            <a:ext cx="1536192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3" y="112471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FY 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078992"/>
            <a:ext cx="1536192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15583" y="112471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FY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078992"/>
            <a:ext cx="1536192" cy="3291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0064" y="112471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TREND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" y="1426464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" y="1472184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Receita Total (Nestlé reportado)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426464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6624" y="1472184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~€5.8B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426464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61103" y="1472184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~€6.3B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1426464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5583" y="1472184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~€6.7B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1426464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0064" y="1472184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+6.3%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1773936"/>
            <a:ext cx="2542032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" y="1819656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Boutiques Globais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1773936"/>
            <a:ext cx="1536192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1819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~800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1773936"/>
            <a:ext cx="1536192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61103" y="1819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~840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1773936"/>
            <a:ext cx="1536192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15583" y="1819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~850+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1773936"/>
            <a:ext cx="1536192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0064" y="1819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Estável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" y="2121408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304" y="2167128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Membros Club Nespresso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2121408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6624" y="2167128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~28M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2121408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2167128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~29M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2121408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15583" y="2167128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~30M+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2121408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0064" y="2167128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+3.5%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" y="2468880"/>
            <a:ext cx="2542032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304" y="2514600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Países de Presença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2468880"/>
            <a:ext cx="1536192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6624" y="251460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81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2468880"/>
            <a:ext cx="1536192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251460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81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468880"/>
            <a:ext cx="1536192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15583" y="251460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81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0" y="2468880"/>
            <a:ext cx="1536192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0064" y="251460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Global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" y="2816352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6304" y="2862072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B2B (Nespresso Professional)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1760" y="2816352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6624" y="286207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25,000+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06240" y="2816352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61103" y="286207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28,000+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60720" y="2816352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15583" y="286207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30,000+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0" y="2816352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0064" y="286207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+7.5%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255264"/>
            <a:ext cx="4389120" cy="9875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1440" y="3255264"/>
            <a:ext cx="438912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2880" y="327355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CANAL DTC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3566160"/>
            <a:ext cx="4206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80%+ das vendas via canais diretos: boutiques (30%), e-commerce/app (35%), telefone/assinatura (15%). Modelo pioneiro de DTC premium.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17720" y="3255264"/>
            <a:ext cx="4389120" cy="9875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17720" y="3255264"/>
            <a:ext cx="438912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09159" y="327355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CAPSULAS vs. MÁQUINAS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09159" y="3566160"/>
            <a:ext cx="4206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Cápsulas = 85%+ da receita. Máquinas são quase comodato (margens baixas). Modelo de razor-and-blades: máquina barata, consumível premium.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" y="4306824"/>
            <a:ext cx="4389120" cy="9875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440" y="4306824"/>
            <a:ext cx="438912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2880" y="432511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PREÇOS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2880" y="4617720"/>
            <a:ext cx="4206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€0.35–0.80/cápsula = €35–80/kg equivalente. 8–15× o preço de café commodity. Premium justificado por conveniência + experiência.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17720" y="4306824"/>
            <a:ext cx="4389120" cy="9875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617720" y="4306824"/>
            <a:ext cx="438912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09159" y="432511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VERTUO vs. ORIGINAL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09159" y="4617720"/>
            <a:ext cx="4206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Original Line (compatíveis existem) = maior volume. Vertuo (sistema fechado) = crescimento mais alto — EUA e mercados emergentes.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Brand DNA — Nespresso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Luxo acessível: a intersecção entre conveniência e sofisticação premium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4370832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MISSÃO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280160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Oferecer a xícara de espresso perfeita em casa, com a conveniência que o cotidiano moderno exige — sem abrir mão da qualidade de boutique.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53712" y="1051560"/>
            <a:ext cx="4572000" cy="47548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VISÃO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280160"/>
            <a:ext cx="44074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Ser a referência global em café premium de cápsula — crescendo o ecossistema DTC com sustentabilidade e inovação contínua de produto.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" y="1591056"/>
            <a:ext cx="8942832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609344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1A1A1A"/>
                </a:solidFill>
              </a:rPr>
              <a:t>TAGLINE: 'What else?' — a arrogância elegante que transforma o café em lifestyle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609344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George Clooney — 20 anos, ~$40M/ano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2011680"/>
            <a:ext cx="142646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</a:rPr>
              <a:t>Sofisticado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72768" y="2011680"/>
            <a:ext cx="142646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</a:rPr>
              <a:t>Conveniente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4096" y="2011680"/>
            <a:ext cx="142646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</a:rPr>
              <a:t>Exclusivo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5424" y="2011680"/>
            <a:ext cx="142646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</a:rPr>
              <a:t>Sustentável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16752" y="2011680"/>
            <a:ext cx="142646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1616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</a:rPr>
              <a:t>Tecnológico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0" y="2011680"/>
            <a:ext cx="142646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</a:rPr>
              <a:t>Premium Acessível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" y="2487168"/>
            <a:ext cx="1737360" cy="2542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" y="256032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</a:rPr>
              <a:t>⚙️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" y="303580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</a:rPr>
              <a:t>Cápsula Hermética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" y="3310128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Alumínio pressurizado — preserva aroma por 12 meses. Engineering da cápsula como diferencial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83664" y="2487168"/>
            <a:ext cx="1737360" cy="2542032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83664" y="256032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</a:rPr>
              <a:t>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303580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</a:rPr>
              <a:t>Boutique Retail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38528" y="3310128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850+ lojas premium — café como experiência de compra de luxo. Apple Store do café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75888" y="2487168"/>
            <a:ext cx="1737360" cy="2542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75888" y="256032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</a:rPr>
              <a:t>♻️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0752" y="303580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</a:rPr>
              <a:t>Reciclab. Alumínio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3310128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AAA program + 100K+ pontos de reciclagem. Alumínio infinitamente reciclável como equity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68112" y="2487168"/>
            <a:ext cx="1737360" cy="2542032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68112" y="256032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</a:rPr>
              <a:t>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22976" y="303580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</a:rPr>
              <a:t>Club Nespresso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22976" y="3310128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30M membros — DTC subscription, edições limitadas, acesso antecipado, programa de pontos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0336" y="2487168"/>
            <a:ext cx="1737360" cy="2542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0336" y="256032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</a:rPr>
              <a:t>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03580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</a:rPr>
              <a:t>AAA Sourcing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3310128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Programa de quality sourcing em 12 países com Rainforest Alliance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Brand Positioning Framework — Nespresso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Arquitetura de posicionamento: do ecossistema de cápsula ao lifestyle premium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43891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438912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BRAND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371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A1A"/>
                </a:solidFill>
              </a:rPr>
              <a:t>Nespresso é o sistema de café premium que transforma qualquer ambiente em uma boutique — entregando a xícara perfeita com a conveniência que o consumidor moderno exige, sustentada por um ecossistema proprietário de máquina, cápsula e clube exclusivo.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051560"/>
            <a:ext cx="43891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051560"/>
            <a:ext cx="438912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CORE CREATIVE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1371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A1A"/>
                </a:solidFill>
              </a:rPr>
              <a:t>'What else?' — a perfeição como standard mínimo. Quando sua xícara de espresso é genuinamente boa, por que aceitar menos? Nespresso faz da exigência do consumidor a base do posicionamento.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1975104"/>
            <a:ext cx="4389120" cy="13533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" y="1975104"/>
            <a:ext cx="438912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20025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DO PRODUTO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2286000"/>
            <a:ext cx="422452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Espresso de qualidade de boutique em 25 segundos, em casa</a:t>
            </a:r>
          </a:p>
          <a:p>
            <a:r>
              <a:rPr sz="850">
                <a:solidFill>
                  <a:srgbClr val="1A1A1A"/>
                </a:solidFill>
              </a:rPr>
              <a:t>•  30+ variedades permanentes + 12+ Limited Editions/ano</a:t>
            </a:r>
          </a:p>
          <a:p>
            <a:r>
              <a:rPr sz="850">
                <a:solidFill>
                  <a:srgbClr val="1A1A1A"/>
                </a:solidFill>
              </a:rPr>
              <a:t>•  Sistema hermético de alumínio: 12 meses de freshness garantido</a:t>
            </a:r>
          </a:p>
          <a:p>
            <a:r>
              <a:rPr sz="850">
                <a:solidFill>
                  <a:srgbClr val="1A1A1A"/>
                </a:solidFill>
              </a:rPr>
              <a:t>•  Compatibilidade com 700M+ máquinas Original Line instaladas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1975104"/>
            <a:ext cx="4389120" cy="1353312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1975104"/>
            <a:ext cx="4389120" cy="256032"/>
          </a:xfrm>
          <a:prstGeom prst="rect">
            <a:avLst/>
          </a:prstGeom>
          <a:solidFill>
            <a:srgbClr val="A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20025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EMOCIONAIS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2286000"/>
            <a:ext cx="422452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Sentir-se sofisticado no cotidiano — o pequeno luxo diário</a:t>
            </a:r>
          </a:p>
          <a:p>
            <a:r>
              <a:rPr sz="850">
                <a:solidFill>
                  <a:srgbClr val="1A1A1A"/>
                </a:solidFill>
              </a:rPr>
              <a:t>•  Fazer parte do Club: exclusividade sem esnobismo</a:t>
            </a:r>
          </a:p>
          <a:p>
            <a:r>
              <a:rPr sz="850">
                <a:solidFill>
                  <a:srgbClr val="1A1A1A"/>
                </a:solidFill>
              </a:rPr>
              <a:t>•  Ritual matinal transformado em momento de prazer curado</a:t>
            </a:r>
          </a:p>
          <a:p>
            <a:r>
              <a:rPr sz="850">
                <a:solidFill>
                  <a:srgbClr val="1A1A1A"/>
                </a:solidFill>
              </a:rPr>
              <a:t>•  Status social: a máquina Nespresso visível na bancada da cozinha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" y="3392424"/>
            <a:ext cx="4389120" cy="1353312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" y="3392424"/>
            <a:ext cx="4389120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REASONS TO BELIEVE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" y="3703320"/>
            <a:ext cx="422452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George Clooney ambassador — 20 anos de credibilidade pop-culture</a:t>
            </a:r>
          </a:p>
          <a:p>
            <a:r>
              <a:rPr sz="850">
                <a:solidFill>
                  <a:srgbClr val="1A1A1A"/>
                </a:solidFill>
              </a:rPr>
              <a:t>•  850+ boutiques premium — experiência de compra de luxo</a:t>
            </a:r>
          </a:p>
          <a:p>
            <a:r>
              <a:rPr sz="850">
                <a:solidFill>
                  <a:srgbClr val="1A1A1A"/>
                </a:solidFill>
              </a:rPr>
              <a:t>•  Alumínio 100% reciclável — programa AAA Rainforest Alliance</a:t>
            </a:r>
          </a:p>
          <a:p>
            <a:r>
              <a:rPr sz="850">
                <a:solidFill>
                  <a:srgbClr val="1A1A1A"/>
                </a:solidFill>
              </a:rPr>
              <a:t>•  Club Nespresso: 30M membros, edições limitadas, serviço personalizado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3392424"/>
            <a:ext cx="4389120" cy="13533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3392424"/>
            <a:ext cx="4389120" cy="25603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BRAND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3703320"/>
            <a:ext cx="422452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Perfeição como padrão — não exceção</a:t>
            </a:r>
          </a:p>
          <a:p>
            <a:r>
              <a:rPr sz="850">
                <a:solidFill>
                  <a:srgbClr val="1A1A1A"/>
                </a:solidFill>
              </a:rPr>
              <a:t>•  Sustentabilidade como responsabilidade — não marketing</a:t>
            </a:r>
          </a:p>
          <a:p>
            <a:r>
              <a:rPr sz="850">
                <a:solidFill>
                  <a:srgbClr val="1A1A1A"/>
                </a:solidFill>
              </a:rPr>
              <a:t>•  Inovação a serviço da conveniência</a:t>
            </a:r>
          </a:p>
          <a:p>
            <a:r>
              <a:rPr sz="850">
                <a:solidFill>
                  <a:srgbClr val="1A1A1A"/>
                </a:solidFill>
              </a:rPr>
              <a:t>•  Exclusividade democrática — premium acessível, não elitista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Ho.Re.Ca. &amp; B2B — Nespresso Professional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30,000+ negócios: de hotéis 5★ a escritórios corporativos e restaurantes Michelin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89611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088136"/>
            <a:ext cx="8732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Nespresso Professional é a divisão B2B que serve 30,000+ negócios — máquinas de alto volume, serviço gerenciado e suporte técnico incluídos no contrato de fornecimento.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1463040"/>
            <a:ext cx="2185416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1463040"/>
            <a:ext cx="2185416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148132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HOTÉIS 5★ &amp; RESORTS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1792224"/>
            <a:ext cx="213055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Presente em Four Seasons, Ritz-Carlton, Marriott Luxury</a:t>
            </a:r>
          </a:p>
          <a:p>
            <a:r>
              <a:rPr sz="800">
                <a:solidFill>
                  <a:srgbClr val="1A1A1A"/>
                </a:solidFill>
              </a:rPr>
              <a:t>•  Máquinas AGUILA 440 e ZENIUS Professional</a:t>
            </a:r>
          </a:p>
          <a:p>
            <a:r>
              <a:rPr sz="800">
                <a:solidFill>
                  <a:srgbClr val="1A1A1A"/>
                </a:solidFill>
              </a:rPr>
              <a:t>•  Programa de qualidade: baristas treinados Nespresso</a:t>
            </a:r>
          </a:p>
          <a:p>
            <a:r>
              <a:rPr sz="800">
                <a:solidFill>
                  <a:srgbClr val="1A1A1A"/>
                </a:solidFill>
              </a:rPr>
              <a:t>•  Cápsulas branded para in-room (Nespresso x Hotel)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463040"/>
            <a:ext cx="2185416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1463040"/>
            <a:ext cx="2185416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04872" y="148132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RESTAURANTES MICHELIN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6584" y="1792224"/>
            <a:ext cx="213055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300+ restaurantes Michelin estrela servindo Nespresso</a:t>
            </a:r>
          </a:p>
          <a:p>
            <a:r>
              <a:rPr sz="800">
                <a:solidFill>
                  <a:srgbClr val="1A1A1A"/>
                </a:solidFill>
              </a:rPr>
              <a:t>•  Digestivo de prestígio pós-refeição</a:t>
            </a:r>
          </a:p>
          <a:p>
            <a:r>
              <a:rPr sz="800">
                <a:solidFill>
                  <a:srgbClr val="1A1A1A"/>
                </a:solidFill>
              </a:rPr>
              <a:t>•  Menu de café de 10+ variedades — sommelier de café</a:t>
            </a:r>
          </a:p>
          <a:p>
            <a:r>
              <a:rPr sz="800">
                <a:solidFill>
                  <a:srgbClr val="1A1A1A"/>
                </a:solidFill>
              </a:rPr>
              <a:t>•  Presence em restaurantes de Alain Ducasse, etc.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463040"/>
            <a:ext cx="2185416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463040"/>
            <a:ext cx="2185416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48132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ESCRITÓRIOS CORPORATIVOS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1792224"/>
            <a:ext cx="213055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Nespresso Professional Business Solutions</a:t>
            </a:r>
          </a:p>
          <a:p>
            <a:r>
              <a:rPr sz="800">
                <a:solidFill>
                  <a:srgbClr val="1A1A1A"/>
                </a:solidFill>
              </a:rPr>
              <a:t>•  Contratos corporativos: Google, Microsoft, Deloitte</a:t>
            </a:r>
          </a:p>
          <a:p>
            <a:r>
              <a:rPr sz="800">
                <a:solidFill>
                  <a:srgbClr val="1A1A1A"/>
                </a:solidFill>
              </a:rPr>
              <a:t>•  Máquinas comodato + consumo por assinatura</a:t>
            </a:r>
          </a:p>
          <a:p>
            <a:r>
              <a:rPr sz="800">
                <a:solidFill>
                  <a:srgbClr val="1A1A1A"/>
                </a:solidFill>
              </a:rPr>
              <a:t>•  Fleet management: manutenção, reabastecimento, dados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1463040"/>
            <a:ext cx="2185416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2280" y="1463040"/>
            <a:ext cx="2185416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2" y="148132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BOUTIQUES PRÓPRIAS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144" y="1792224"/>
            <a:ext cx="2130552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850+ Boutiques globais — o canal mais aspiracional</a:t>
            </a:r>
          </a:p>
          <a:p>
            <a:r>
              <a:rPr sz="800">
                <a:solidFill>
                  <a:srgbClr val="1A1A1A"/>
                </a:solidFill>
              </a:rPr>
              <a:t>•  Design de interiores premium: mármore, iluminação curada</a:t>
            </a:r>
          </a:p>
          <a:p>
            <a:r>
              <a:rPr sz="800">
                <a:solidFill>
                  <a:srgbClr val="1A1A1A"/>
                </a:solidFill>
              </a:rPr>
              <a:t>•  Baristas treinados — degustação gratuita de edições limitadas</a:t>
            </a:r>
          </a:p>
          <a:p>
            <a:r>
              <a:rPr sz="800">
                <a:solidFill>
                  <a:srgbClr val="1A1A1A"/>
                </a:solidFill>
              </a:rPr>
              <a:t>•  Upsell de acessórios: aeroccino, xícaras, embrulhos gift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3456432"/>
            <a:ext cx="89611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" y="3456432"/>
            <a:ext cx="1645920" cy="3474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347472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NESPRESSO PROF.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474720"/>
            <a:ext cx="7205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Máquinas: AGUILA 440 (escritório alto volume) · ZENIUS (restaurante) · MOMENTO (café/lounge) · DIAMOND — todas com conectividade IoT para monitoramento remoto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" y="3858768"/>
            <a:ext cx="879652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30,000+ negócios B2B servidos globalmente</a:t>
            </a:r>
          </a:p>
          <a:p>
            <a:r>
              <a:rPr sz="850">
                <a:solidFill>
                  <a:srgbClr val="1A1A1A"/>
                </a:solidFill>
              </a:rPr>
              <a:t>•  Contrato inclui: máquina comodato + manutenção + suporte + treinamento</a:t>
            </a:r>
          </a:p>
          <a:p>
            <a:r>
              <a:rPr sz="850">
                <a:solidFill>
                  <a:srgbClr val="1A1A1A"/>
                </a:solidFill>
              </a:rPr>
              <a:t>•  Dados de consumo via IoT permitem reabastecimento automático</a:t>
            </a:r>
          </a:p>
          <a:p>
            <a:r>
              <a:rPr sz="850">
                <a:solidFill>
                  <a:srgbClr val="1A1A1A"/>
                </a:solidFill>
              </a:rPr>
              <a:t>•  Vertuo Professional para mercados onde cup sizes maiores (EUA, Austrália)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Portfólio de Produtos — Nespresso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Original Line · Vertuo · Limited Editions · Acessórios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ORIGINAL 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Ristretto Decaffeinato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719072"/>
            <a:ext cx="1984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Intensity 9 — dark roast, low acid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204825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€0.42/cáps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" y="2395728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32304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Ispirazione Italiana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706624"/>
            <a:ext cx="1984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Intensities 5–13 — range completo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303580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€0.42–0.46/cáps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" y="338328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341985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Master Origins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694176"/>
            <a:ext cx="1984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Single-origin premium — Colombia, India, Nicaragua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023360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€0.52/cáps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1051560"/>
            <a:ext cx="2185416" cy="292608"/>
          </a:xfrm>
          <a:prstGeom prst="rect">
            <a:avLst/>
          </a:prstGeom>
          <a:solidFill>
            <a:srgbClr val="A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VERTUO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8658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144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0000"/>
                </a:solidFill>
              </a:rPr>
              <a:t>Altissio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1448" y="1719072"/>
            <a:ext cx="1984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Espresso strength — 40ml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41448" y="204825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0000"/>
                </a:solidFill>
              </a:rPr>
              <a:t>€0.46/cáps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86584" y="2395728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41448" y="2432304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0000"/>
                </a:solidFill>
              </a:rPr>
              <a:t>Gran Lungo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1448" y="2706624"/>
            <a:ext cx="1984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200ml — americano style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1448" y="303580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0000"/>
                </a:solidFill>
              </a:rPr>
              <a:t>€0.46/cáps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6584" y="338328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41448" y="341985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0000"/>
                </a:solidFill>
              </a:rPr>
              <a:t>Barista Creations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41448" y="3694176"/>
            <a:ext cx="1984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Oat, almond milk pairings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1448" y="4023360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0000"/>
                </a:solidFill>
              </a:rPr>
              <a:t>€0.46/cáps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1051560"/>
            <a:ext cx="2185416" cy="29260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LIMITED EDITIONS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2686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Festive Collection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1719072"/>
            <a:ext cx="1984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Q4 seasonal — gift focus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204825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€0.55–0.68/cáps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26864" y="2395728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1728" y="2432304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World Explorations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1728" y="2706624"/>
            <a:ext cx="1984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Origin stories — limited run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8" y="303580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€0.58–0.72/cáps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26864" y="338328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1728" y="341985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Master Origin Rare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3694176"/>
            <a:ext cx="1984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CoE-grade lots — ultra-premium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81728" y="4023360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€0.72–0.80/cáps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2280" y="1051560"/>
            <a:ext cx="2185416" cy="29260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ACESSÓRIOS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6714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200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Aeroccino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22008" y="1719072"/>
            <a:ext cx="1984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Milk frother — standard bundled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22008" y="204825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€49–79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67144" y="2395728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22008" y="2432304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Cups &amp; Mugs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22008" y="2706624"/>
            <a:ext cx="1984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Branded ceramic + glass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22008" y="303580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€12–45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67144" y="338328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22008" y="341985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Gift Sets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22008" y="3694176"/>
            <a:ext cx="1984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Holiday packaging — Club exclusive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22008" y="4023360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€35–120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DTC &amp; Club Nespresso — O Modelo de Receita Recorrente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30 milhões de membros: como a Nespresso transformou café em serviço de assinatura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89611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088136"/>
            <a:ext cx="8732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Club Nespresso é o maior programa de fidelidade DTC do mercado de café. Criado em 1986 — 35 anos antes do 'DTC' virar tendência. O Club é a vantagem competitiva mais difícil de replicar.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1463040"/>
            <a:ext cx="2157984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536192"/>
            <a:ext cx="19933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02996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Membros do Club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463040"/>
            <a:ext cx="2157984" cy="1005840"/>
          </a:xfrm>
          <a:prstGeom prst="rect">
            <a:avLst/>
          </a:prstGeom>
          <a:solidFill>
            <a:srgbClr val="A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536192"/>
            <a:ext cx="19933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€0.35–0.80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02996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Preço por cápsula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463040"/>
            <a:ext cx="2157984" cy="100584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536192"/>
            <a:ext cx="19933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80%+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02996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Receita via DTC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63040"/>
            <a:ext cx="2157984" cy="100584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1536192"/>
            <a:ext cx="19933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35%+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02996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Recompra recorrente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" y="2560320"/>
            <a:ext cx="896112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" y="2697480"/>
            <a:ext cx="2932176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" y="2697480"/>
            <a:ext cx="2932176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" y="2715768"/>
            <a:ext cx="2859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JORNADA DO MEMBRO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" y="2999232"/>
            <a:ext cx="28773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1. Compra a máquina (entry point — margem baixa)</a:t>
            </a:r>
          </a:p>
          <a:p>
            <a:r>
              <a:rPr sz="800">
                <a:solidFill>
                  <a:srgbClr val="1A1A1A"/>
                </a:solidFill>
              </a:rPr>
              <a:t>•  2. Cadastro no Club obrigatório para ativar garantia</a:t>
            </a:r>
          </a:p>
          <a:p>
            <a:r>
              <a:rPr sz="800">
                <a:solidFill>
                  <a:srgbClr val="1A1A1A"/>
                </a:solidFill>
              </a:rPr>
              <a:t>•  3. Primeiro pedido online: 50 cápsulas mínimo</a:t>
            </a:r>
          </a:p>
          <a:p>
            <a:r>
              <a:rPr sz="800">
                <a:solidFill>
                  <a:srgbClr val="1A1A1A"/>
                </a:solidFill>
              </a:rPr>
              <a:t>•  4. Email personalizado com recomendações por perfil de gosto</a:t>
            </a:r>
          </a:p>
          <a:p>
            <a:r>
              <a:rPr sz="800">
                <a:solidFill>
                  <a:srgbClr val="1A1A1A"/>
                </a:solidFill>
              </a:rPr>
              <a:t>•  5. Edições Limitadas só para membros — FOMO ativado</a:t>
            </a:r>
          </a:p>
          <a:p>
            <a:r>
              <a:rPr sz="800">
                <a:solidFill>
                  <a:srgbClr val="1A1A1A"/>
                </a:solidFill>
              </a:rPr>
              <a:t>•  6. Points program: acumulam para acessórios, experiências</a:t>
            </a:r>
          </a:p>
          <a:p>
            <a:r>
              <a:rPr sz="800">
                <a:solidFill>
                  <a:srgbClr val="1A1A1A"/>
                </a:solidFill>
              </a:rPr>
              <a:t>•  7. Reciclagem via Club: saco de retorno incluído em todo pedido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78480" y="2697480"/>
            <a:ext cx="2932176" cy="228600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78480" y="2697480"/>
            <a:ext cx="2932176" cy="256032"/>
          </a:xfrm>
          <a:prstGeom prst="rect">
            <a:avLst/>
          </a:prstGeom>
          <a:solidFill>
            <a:srgbClr val="A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1632" y="2715768"/>
            <a:ext cx="2859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DADOS &amp; PERSONALIZAÇÃO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33344" y="2999232"/>
            <a:ext cx="28773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Nespresso conhece: intensidade preferida, horário de consumo, frequência</a:t>
            </a:r>
          </a:p>
          <a:p>
            <a:r>
              <a:rPr sz="800">
                <a:solidFill>
                  <a:srgbClr val="1A1A1A"/>
                </a:solidFill>
              </a:rPr>
              <a:t>•  Machine data (IoT em modelos novos): uso real por cápsula</a:t>
            </a:r>
          </a:p>
          <a:p>
            <a:r>
              <a:rPr sz="800">
                <a:solidFill>
                  <a:srgbClr val="1A1A1A"/>
                </a:solidFill>
              </a:rPr>
              <a:t>•  Recommendations engine: 'você gosta de Ristretto — experimente Master Origin Peru'</a:t>
            </a:r>
          </a:p>
          <a:p>
            <a:r>
              <a:rPr sz="800">
                <a:solidFill>
                  <a:srgbClr val="1A1A1A"/>
                </a:solidFill>
              </a:rPr>
              <a:t>•  Seasonal campaigns: antes do Natal, oferta gift pack baseada em histórico</a:t>
            </a:r>
          </a:p>
          <a:p>
            <a:r>
              <a:rPr sz="800">
                <a:solidFill>
                  <a:srgbClr val="1A1A1A"/>
                </a:solidFill>
              </a:rPr>
              <a:t>•  Limite de estoque artificial em edições = urgência + conversão imediata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520" y="2697480"/>
            <a:ext cx="2932176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65520" y="2697480"/>
            <a:ext cx="2932176" cy="25603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38672" y="2715768"/>
            <a:ext cx="2859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ECONOMICS DO MODELO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0384" y="2999232"/>
            <a:ext cx="28773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LTV médio estimado: €800–1,200 por membro ativo (10 anos)</a:t>
            </a:r>
          </a:p>
          <a:p>
            <a:r>
              <a:rPr sz="800">
                <a:solidFill>
                  <a:srgbClr val="1A1A1A"/>
                </a:solidFill>
              </a:rPr>
              <a:t>•  Máquina paga em 100–150 cápsulas de uso (payback rápido)</a:t>
            </a:r>
          </a:p>
          <a:p>
            <a:r>
              <a:rPr sz="800">
                <a:solidFill>
                  <a:srgbClr val="1A1A1A"/>
                </a:solidFill>
              </a:rPr>
              <a:t>•  Capsule gross margin ~65–75% — contra ~20% no café commodity</a:t>
            </a:r>
          </a:p>
          <a:p>
            <a:r>
              <a:rPr sz="800">
                <a:solidFill>
                  <a:srgbClr val="1A1A1A"/>
                </a:solidFill>
              </a:rPr>
              <a:t>•  Churn baixo: 85%+ dos membros recompram dentro de 90 dias</a:t>
            </a:r>
          </a:p>
          <a:p>
            <a:r>
              <a:rPr sz="800">
                <a:solidFill>
                  <a:srgbClr val="1A1A1A"/>
                </a:solidFill>
              </a:rPr>
              <a:t>•  80%+ receita DTC = sem intermediários = margem mantida integralmente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Marketing &amp; Ativações — Nespresso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George Clooney · Boutiques · Brand Films · Sustainability Activations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George Clooney — 'What else?'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371600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2006–2025+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" y="1609344"/>
            <a:ext cx="2130552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20 anos de parceria — ambassador mais longevo do mercado de café</a:t>
            </a:r>
          </a:p>
          <a:p>
            <a:r>
              <a:rPr sz="800">
                <a:solidFill>
                  <a:srgbClr val="1A1A1A"/>
                </a:solidFill>
              </a:rPr>
              <a:t>•  ~$40M/ano estimado — alinhamento total com posicionamento premium</a:t>
            </a:r>
          </a:p>
          <a:p>
            <a:r>
              <a:rPr sz="800">
                <a:solidFill>
                  <a:srgbClr val="1A1A1A"/>
                </a:solidFill>
              </a:rPr>
              <a:t>•  Campanha em 81 países simultaneamente</a:t>
            </a:r>
          </a:p>
          <a:p>
            <a:r>
              <a:rPr sz="800">
                <a:solidFill>
                  <a:srgbClr val="1A1A1A"/>
                </a:solidFill>
              </a:rPr>
              <a:t>•  Personagem 'George' = alter-ego masculino aspiracional da marca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3877056"/>
            <a:ext cx="8961120" cy="109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</a:rPr>
              <a:t>▶ +800% brand recognition em mercados anglófonos pós-lançamento do ambassador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A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Boutiques como Brand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371600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0000"/>
                </a:solidFill>
              </a:rPr>
              <a:t>2000–2025+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6584" y="1609344"/>
            <a:ext cx="2130552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850+ boutiques premium globalmente — flagship em Paris, NY, Tokyo</a:t>
            </a:r>
          </a:p>
          <a:p>
            <a:r>
              <a:rPr sz="800">
                <a:solidFill>
                  <a:srgbClr val="1A1A1A"/>
                </a:solidFill>
              </a:rPr>
              <a:t>•  Design assinado: mármore + iluminação de joalheria + barista theater</a:t>
            </a:r>
          </a:p>
          <a:p>
            <a:r>
              <a:rPr sz="800">
                <a:solidFill>
                  <a:srgbClr val="1A1A1A"/>
                </a:solidFill>
              </a:rPr>
              <a:t>•  'Coffee Connoisseur Program': masterclasses gratuitas nas boutiques</a:t>
            </a:r>
          </a:p>
          <a:p>
            <a:r>
              <a:rPr sz="800">
                <a:solidFill>
                  <a:srgbClr val="1A1A1A"/>
                </a:solidFill>
              </a:rPr>
              <a:t>•  Boutiques como showroom de inovação — lançamentos exclusivos para membros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" y="3877056"/>
            <a:ext cx="8961120" cy="10972"/>
          </a:xfrm>
          <a:prstGeom prst="rect">
            <a:avLst/>
          </a:prstGeom>
          <a:solidFill>
            <a:srgbClr val="A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658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0000"/>
                </a:solidFill>
              </a:rPr>
              <a:t>▶ &gt;30% das vendas via boutiques — NPS &gt; 85 nos canais físicos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Limited Editions — FOMO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1371600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4A1F"/>
                </a:solidFill>
              </a:rPr>
              <a:t>Ongoing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1609344"/>
            <a:ext cx="2130552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12+ edições limitadas por ano — alinhadas com sazonalidade e eventos</a:t>
            </a:r>
          </a:p>
          <a:p>
            <a:r>
              <a:rPr sz="800">
                <a:solidFill>
                  <a:srgbClr val="1A1A1A"/>
                </a:solidFill>
              </a:rPr>
              <a:t>•  Embalagens colaborativas com designers (Barber &amp; Osgerby, Atelier Oï)</a:t>
            </a:r>
          </a:p>
          <a:p>
            <a:r>
              <a:rPr sz="800">
                <a:solidFill>
                  <a:srgbClr val="1A1A1A"/>
                </a:solidFill>
              </a:rPr>
              <a:t>•  Pré-venda exclusiva para membros Club — 48h antes do público geral</a:t>
            </a:r>
          </a:p>
          <a:p>
            <a:r>
              <a:rPr sz="800">
                <a:solidFill>
                  <a:srgbClr val="1A1A1A"/>
                </a:solidFill>
              </a:rPr>
              <a:t>•  Sold out garantido em 72h em edições mais desejadas — urgência real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3877056"/>
            <a:ext cx="8961120" cy="109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▶ +45% conversão em semanas de lançamento de edições limitadas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Recycling as Brand Equity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1371600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6A18"/>
                </a:solidFill>
              </a:rPr>
              <a:t>2014–2025+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67144" y="1609344"/>
            <a:ext cx="2130552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100,000+ pontos de coleta de cápsulas globalmente</a:t>
            </a:r>
          </a:p>
          <a:p>
            <a:r>
              <a:rPr sz="800">
                <a:solidFill>
                  <a:srgbClr val="1A1A1A"/>
                </a:solidFill>
              </a:rPr>
              <a:t>•  'Ecolaboration' — plano de sustentabilidade integral da cadeia</a:t>
            </a:r>
          </a:p>
          <a:p>
            <a:r>
              <a:rPr sz="800">
                <a:solidFill>
                  <a:srgbClr val="1A1A1A"/>
                </a:solidFill>
              </a:rPr>
              <a:t>•  Cada cápsula devolvida = café -&gt; compostagem, alumínio -&gt; reciclagem</a:t>
            </a:r>
          </a:p>
          <a:p>
            <a:r>
              <a:rPr sz="800">
                <a:solidFill>
                  <a:srgbClr val="1A1A1A"/>
                </a:solidFill>
              </a:rPr>
              <a:t>•  Comunicação: 'seu café ajuda a crescer plantas' — circular economy narrative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" y="3877056"/>
            <a:ext cx="8961120" cy="1097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6714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▶ 2024: 35%+ das cápsulas recicladas — meta 50% em 2030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Estratégia Digital &amp; E-commerce — Nespresso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Omnichannel premium: boutique + app + e-commerce + DTC = 80% das vendas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18470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353312"/>
            <a:ext cx="2112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</a:rPr>
              <a:t>1.6M seg.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719072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Lifestyle premium: cafés, receitas, origem — visual coerente e aspiracional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1847088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051560"/>
            <a:ext cx="2185416" cy="256032"/>
          </a:xfrm>
          <a:prstGeom prst="rect">
            <a:avLst/>
          </a:prstGeom>
          <a:solidFill>
            <a:srgbClr val="A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487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YouTube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1353312"/>
            <a:ext cx="2112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00000"/>
                </a:solidFill>
              </a:rPr>
              <a:t>120M+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1719072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Brand films George Clooney + origin documentaries + machine tutorials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051560"/>
            <a:ext cx="2185416" cy="18470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051560"/>
            <a:ext cx="2185416" cy="25603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App Nespresso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1353312"/>
            <a:ext cx="2112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A1F"/>
                </a:solidFill>
              </a:rPr>
              <a:t>50M+ downloads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1719072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Pedidos, rastreamento, reciclag., pontos Club — o DTC hub principal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1051560"/>
            <a:ext cx="2185416" cy="184708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12280" y="1051560"/>
            <a:ext cx="2185416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E-commerce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1353312"/>
            <a:ext cx="2112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6A18"/>
                </a:solidFill>
              </a:rPr>
              <a:t>35% da receita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2" y="1719072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First-party DTC — dados de consumo + recommendations engine ativo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2980944"/>
            <a:ext cx="896112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" y="303580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6A18"/>
                </a:solidFill>
              </a:rPr>
              <a:t>ESTRATÉGIAS DIGITAIS NOTÁVEIS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" y="3310128"/>
            <a:ext cx="4389120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" y="3310128"/>
            <a:ext cx="292608" cy="7498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3364992"/>
            <a:ext cx="3913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Amazon Premium Positioning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3639312"/>
            <a:ext cx="3913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Nespresso usa Amazon Ads para manter premium positioning — não compete em price — investe em brand store + A+ content educativo. Resultado: top-3 coffee brand na Amazon por value (não volume).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3310128"/>
            <a:ext cx="4389120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17720" y="3310128"/>
            <a:ext cx="292608" cy="7498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1768" y="3364992"/>
            <a:ext cx="3913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App-First DTC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1768" y="3639312"/>
            <a:ext cx="3913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App Nespresso = canal principal em 30+ países. Push notifications para edições limitadas geram 60%+ de sell-through em 48h. IoT integration: máquina nova conectada ao app em 2 minutos.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" y="4151376"/>
            <a:ext cx="4389120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" y="4151376"/>
            <a:ext cx="292608" cy="7498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206240"/>
            <a:ext cx="3913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George Clooney Digital Amplification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4480560"/>
            <a:ext cx="3913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Cada novo filme do ambassador lançado no YouTube antes da TV — Club members recebem preview 48h antes. Amplificação orgânica por fãs estimada em 200M+ reach adicional.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4151376"/>
            <a:ext cx="4389120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17720" y="4151376"/>
            <a:ext cx="292608" cy="7498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01768" y="4206240"/>
            <a:ext cx="3913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Sustainability Content Hub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01768" y="4480560"/>
            <a:ext cx="3913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'The Positive Cup' — hub de conteúdo ESG no site e YouTube: fazendas parceiras, processo de reciclagem, impacto medido. Reduz percepção negativa de 'alumínio = desperdício'.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Sustentabilidade &amp; ESG — Nespresso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AAA Sustainable Quality Program · Reciclagem de Alumínio · The Positive Cup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AAA SUSTAINABLE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389888"/>
            <a:ext cx="2112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1A"/>
                </a:solidFill>
              </a:rPr>
              <a:t>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" y="1920240"/>
            <a:ext cx="213055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Parceria com Rainforest Alliance desde 2003</a:t>
            </a:r>
          </a:p>
          <a:p>
            <a:r>
              <a:rPr sz="850">
                <a:solidFill>
                  <a:srgbClr val="1A1A1A"/>
                </a:solidFill>
              </a:rPr>
              <a:t>•  70,000+ agricultores em 12 países certificados</a:t>
            </a:r>
          </a:p>
          <a:p>
            <a:r>
              <a:rPr sz="850">
                <a:solidFill>
                  <a:srgbClr val="1A1A1A"/>
                </a:solidFill>
              </a:rPr>
              <a:t>•  Treinamento agronômico + assistência técnica incluída</a:t>
            </a:r>
          </a:p>
          <a:p>
            <a:r>
              <a:rPr sz="850">
                <a:solidFill>
                  <a:srgbClr val="1A1A1A"/>
                </a:solidFill>
              </a:rPr>
              <a:t>•  Prêmio financeiro por qualidade — acima do mercado</a:t>
            </a:r>
          </a:p>
          <a:p>
            <a:r>
              <a:rPr sz="850">
                <a:solidFill>
                  <a:srgbClr val="1A1A1A"/>
                </a:solidFill>
              </a:rPr>
              <a:t>•  Meta: 100% de café AAA-certified até 2030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051560"/>
            <a:ext cx="2185416" cy="292608"/>
          </a:xfrm>
          <a:prstGeom prst="rect">
            <a:avLst/>
          </a:prstGeom>
          <a:solidFill>
            <a:srgbClr val="A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RECICLAGEM ALUMÍNIO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1389888"/>
            <a:ext cx="2112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00000"/>
                </a:solidFill>
              </a:rPr>
              <a:t>♻️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6584" y="1920240"/>
            <a:ext cx="213055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Alumínio é 100% reciclável infinitamente</a:t>
            </a:r>
          </a:p>
          <a:p>
            <a:r>
              <a:rPr sz="850">
                <a:solidFill>
                  <a:srgbClr val="1A1A1A"/>
                </a:solidFill>
              </a:rPr>
              <a:t>•  100,000+ pontos de coleta globalmente</a:t>
            </a:r>
          </a:p>
          <a:p>
            <a:r>
              <a:rPr sz="850">
                <a:solidFill>
                  <a:srgbClr val="1A1A1A"/>
                </a:solidFill>
              </a:rPr>
              <a:t>•  Programa de saco de retorno por correio em 81 países</a:t>
            </a:r>
          </a:p>
          <a:p>
            <a:r>
              <a:rPr sz="850">
                <a:solidFill>
                  <a:srgbClr val="1A1A1A"/>
                </a:solidFill>
              </a:rPr>
              <a:t>•  2024: 35%+ de cápsulas coletadas e recicladas</a:t>
            </a:r>
          </a:p>
          <a:p>
            <a:r>
              <a:rPr sz="850">
                <a:solidFill>
                  <a:srgbClr val="1A1A1A"/>
                </a:solidFill>
              </a:rPr>
              <a:t>•  Meta: 50% de reciclagem até 2030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051560"/>
            <a:ext cx="2185416" cy="29260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 POSITIVE CUP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1389888"/>
            <a:ext cx="2112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F4A1F"/>
                </a:solidFill>
              </a:rPr>
              <a:t>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20240"/>
            <a:ext cx="213055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Framework ESG: sourcing + production + end-of-life</a:t>
            </a:r>
          </a:p>
          <a:p>
            <a:r>
              <a:rPr sz="850">
                <a:solidFill>
                  <a:srgbClr val="1A1A1A"/>
                </a:solidFill>
              </a:rPr>
              <a:t>•  Net Positive Impact: mais do que compensar o CO2 emitido</a:t>
            </a:r>
          </a:p>
          <a:p>
            <a:r>
              <a:rPr sz="850">
                <a:solidFill>
                  <a:srgbClr val="1A1A1A"/>
                </a:solidFill>
              </a:rPr>
              <a:t>•  Carbono: 100% energias renováveis nas fábricas</a:t>
            </a:r>
          </a:p>
          <a:p>
            <a:r>
              <a:rPr sz="850">
                <a:solidFill>
                  <a:srgbClr val="1A1A1A"/>
                </a:solidFill>
              </a:rPr>
              <a:t>•  Biodiversidade: 5M árvores plantadas até 2022</a:t>
            </a:r>
          </a:p>
          <a:p>
            <a:r>
              <a:rPr sz="850">
                <a:solidFill>
                  <a:srgbClr val="1A1A1A"/>
                </a:solidFill>
              </a:rPr>
              <a:t>•  Água: redução 45% no uso por kg de café (vs 2009)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12280" y="1051560"/>
            <a:ext cx="2185416" cy="29260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INNOVATION FOR CIRCULARITY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1389888"/>
            <a:ext cx="2112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06A18"/>
                </a:solidFill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144" y="1920240"/>
            <a:ext cx="213055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Máquinas com 60%+ de plástico reciclado (novos modelos)</a:t>
            </a:r>
          </a:p>
          <a:p>
            <a:r>
              <a:rPr sz="850">
                <a:solidFill>
                  <a:srgbClr val="1A1A1A"/>
                </a:solidFill>
              </a:rPr>
              <a:t>•  Bioplástico em embalagens de transporte</a:t>
            </a:r>
          </a:p>
          <a:p>
            <a:r>
              <a:rPr sz="850">
                <a:solidFill>
                  <a:srgbClr val="1A1A1A"/>
                </a:solidFill>
              </a:rPr>
              <a:t>•  Parceria MIT/ETH Zurich: pesquisa de cápsula compostável</a:t>
            </a:r>
          </a:p>
          <a:p>
            <a:r>
              <a:rPr sz="850">
                <a:solidFill>
                  <a:srgbClr val="1A1A1A"/>
                </a:solidFill>
              </a:rPr>
              <a:t>•  Piloto: cápsula de papel compostável (Lausanne, 2024)</a:t>
            </a:r>
          </a:p>
          <a:p>
            <a:r>
              <a:rPr sz="850">
                <a:solidFill>
                  <a:srgbClr val="1A1A1A"/>
                </a:solidFill>
              </a:rPr>
              <a:t>•  Packaging: 80% reciclado/reciclável nos sacos de edição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Scorecard — Nespresso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Métricas de performance: financeiro, canal, digital e sustentabilidade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FINANCEIRO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" y="138988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144475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Receita FY24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84708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€6.7B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2066543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Nestlé Business Unit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" y="239572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245059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EBIT 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285292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~€1.3B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307238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~20% margem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" y="340156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345643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Club Members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38587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30M+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407822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DTC base ativa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" y="440740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446227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Receita DTC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486460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80%+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508406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Direto ao consumidor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0487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CANAL &amp; PRODUTO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86584" y="138988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144475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Boutiques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184708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850+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2066543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Flagship retail premium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6584" y="239572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3160" y="245059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B2B Accounts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285292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30K+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307238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Nespresso Professional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86584" y="340156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23160" y="345643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SKUs perm.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38587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407822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Original + Vertuo combined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86584" y="440740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23160" y="446227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Limited Eds/ano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486460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12+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508406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FOMO + sazonalidade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515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DIGITAL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26864" y="138988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63440" y="144475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App downloads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184708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50M+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2066543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DTC hub primário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26864" y="239572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63440" y="245059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E-comm share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285292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35%+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307238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Crescendo vs. boutique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26864" y="340156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63440" y="345643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Instagram seg.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8587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1.6M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407822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Lifestyle aspiration feed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26864" y="440740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63440" y="446227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Tax reciclagem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486460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45%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63440" y="508406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Meta 50% em 2030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1069848"/>
            <a:ext cx="2112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BRAND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67144" y="138988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03720" y="144475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Clooney partner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184708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20 anos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03720" y="2066543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Ambassador mais longevo café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67144" y="239572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03720" y="245059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Países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3720" y="285292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81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03720" y="307238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Presença global consistente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67144" y="340156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03720" y="345643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Boutique NPS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03720" y="38587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NPS 85+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03720" y="407822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Melhor canal experiencial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867144" y="4407408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03720" y="4462272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Preço equiv.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03720" y="486460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€35–80/kg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3720" y="508406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10× commodity — premium lock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Lições para a Orfeu — Nespresso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DTC Premium Subscriptions and the Capsule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896112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088136"/>
            <a:ext cx="8732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1">
                <a:solidFill>
                  <a:srgbClr val="FFFFFF"/>
                </a:solidFill>
              </a:rPr>
              <a:t>ÂNGULO ESTRATÉGICO:  DTC Premium Subscriptions and the Capsule Market — como a Nespresso criou um ecossistema de €6.7B ao redor de um único formato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1517904"/>
            <a:ext cx="4389120" cy="16093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1517904"/>
            <a:ext cx="438912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154533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Club = LTV alto + churn baixo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847088"/>
            <a:ext cx="42062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O Club Nespresso é a principal vantagem competitiva — 30M membros com LTV de €800–1,200. Orfeu deve criar 'Clube Orfeu' com assinatura mensal de café (300g/600g), edições limitadas exclusivas e programa de pontos. Meta: 50,000 membros no primeiro ano.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517904"/>
            <a:ext cx="4389120" cy="16093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517904"/>
            <a:ext cx="438912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154533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Máquina como Loss Leader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1847088"/>
            <a:ext cx="42062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Nespresso quase doa máquinas para garantir o consumível recorrente. Orfeu + Projeto Máquina: máquinas a custo ou comodato em clientes B2B alto-volume, garantindo receita recorrente de café. CapEx de máquina = investimento de aquisição de cliente.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" y="3236976"/>
            <a:ext cx="4389120" cy="16093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" y="3236976"/>
            <a:ext cx="438912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3264408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Razor &amp; Blades — O Modelo Mais Defensável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3566160"/>
            <a:ext cx="42062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Cápsula proprietária = 65–75% de margem, versus ~30% no café moído. Desenvolvimento de cápsula Orfeu compatível ou proprietária é a maior alavanca de margem disponível. Prioridade máxima no Projeto Máquina.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3236976"/>
            <a:ext cx="4389120" cy="16093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3236976"/>
            <a:ext cx="438912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3264408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Limited Editions = FOMO + Tração DTC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3566160"/>
            <a:ext cx="42062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12+ edições limitadas/ano geram urgência e tráfego recorrente ao DTC. Orfeu pode fazer edições sazonais (Colheita 2026, Fazenda Especial X) com pré-venda para assinantes — sell-out garantido e earned media.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Fontes &amp; Referências — Nespresso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078992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55555"/>
                </a:solidFill>
              </a:rPr>
              <a:t>1.  Nespresso Annual Report (via Nestlé) 2024 — nestle.com</a:t>
            </a:r>
          </a:p>
          <a:p>
            <a:r>
              <a:rPr sz="850">
                <a:solidFill>
                  <a:srgbClr val="555555"/>
                </a:solidFill>
              </a:rPr>
              <a:t>2.  Club Nespresso membership data — nespresso.com</a:t>
            </a:r>
          </a:p>
          <a:p>
            <a:r>
              <a:rPr sz="850">
                <a:solidFill>
                  <a:srgbClr val="555555"/>
                </a:solidFill>
              </a:rPr>
              <a:t>3.  Nespresso Professional B2B division — nestle-nespresso.com/professional</a:t>
            </a:r>
          </a:p>
          <a:p>
            <a:r>
              <a:rPr sz="850">
                <a:solidFill>
                  <a:srgbClr val="555555"/>
                </a:solidFill>
              </a:rPr>
              <a:t>4.  Eric Favre original patent history — coffeeresearch.com</a:t>
            </a:r>
          </a:p>
          <a:p>
            <a:r>
              <a:rPr sz="850">
                <a:solidFill>
                  <a:srgbClr val="555555"/>
                </a:solidFill>
              </a:rPr>
              <a:t>5.  George Clooney ambassador partnership — campaignlive.com, 2006–2025</a:t>
            </a:r>
          </a:p>
          <a:p>
            <a:r>
              <a:rPr sz="850">
                <a:solidFill>
                  <a:srgbClr val="555555"/>
                </a:solidFill>
              </a:rPr>
              <a:t>6.  Nespresso AAA Sustainable Quality Program — nestle-nespresso.com/sustainability</a:t>
            </a:r>
          </a:p>
          <a:p>
            <a:r>
              <a:rPr sz="850">
                <a:solidFill>
                  <a:srgbClr val="555555"/>
                </a:solidFill>
              </a:rPr>
              <a:t>7.  Recycling program statistics — Nespresso Sustainability Report 2024</a:t>
            </a:r>
          </a:p>
          <a:p>
            <a:r>
              <a:rPr sz="850">
                <a:solidFill>
                  <a:srgbClr val="555555"/>
                </a:solidFill>
              </a:rPr>
              <a:t>8.  Vertuo system launch &amp; centrifusion technology — foodprocessing.com.au</a:t>
            </a:r>
          </a:p>
          <a:p>
            <a:r>
              <a:rPr sz="850">
                <a:solidFill>
                  <a:srgbClr val="555555"/>
                </a:solidFill>
              </a:rPr>
              <a:t>9.  Patent cliff analysis — Euromonitor International, 2012</a:t>
            </a:r>
          </a:p>
          <a:p>
            <a:r>
              <a:rPr sz="850">
                <a:solidFill>
                  <a:srgbClr val="555555"/>
                </a:solidFill>
              </a:rPr>
              <a:t>10.  Limited Edition strategy — harvardbusiness.org case study Nespresso</a:t>
            </a:r>
          </a:p>
          <a:p>
            <a:r>
              <a:rPr sz="850">
                <a:solidFill>
                  <a:srgbClr val="555555"/>
                </a:solidFill>
              </a:rPr>
              <a:t>11.  Amazon brand store performance — Tinuiti/JungleScout, 2024</a:t>
            </a:r>
          </a:p>
          <a:p>
            <a:r>
              <a:rPr sz="850">
                <a:solidFill>
                  <a:srgbClr val="555555"/>
                </a:solidFill>
              </a:rPr>
              <a:t>12.  The Positive Cup ESG framework — thecarbontrust.com + Nespresso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