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51005">
              <a:alpha val="72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47472" y="1737360"/>
            <a:ext cx="8449056" cy="54864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47472" y="1901952"/>
            <a:ext cx="844905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</a:rPr>
              <a:t>STARBUCKS RESERVE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" y="2761488"/>
            <a:ext cx="844905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CCDDCC"/>
                </a:solidFill>
              </a:rPr>
              <a:t>Seattle, EUA · 2003 (conceito) · 2014 (Roastery inaugural)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" y="3200400"/>
            <a:ext cx="844905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BBAA"/>
                </a:solidFill>
              </a:rPr>
              <a:t>Ângulo Estratégico: Como um gigante de commodity criou um tier ultra-premium sem canibalizar a marca principal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79" y="137160"/>
            <a:ext cx="685800" cy="5384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79" y="137160"/>
            <a:ext cx="685800" cy="5384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47472" y="201168"/>
            <a:ext cx="7772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Sumário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1097280"/>
            <a:ext cx="256032" cy="29260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1115568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2064" y="1115568"/>
            <a:ext cx="3931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Heritage &amp; Milestones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" y="1572768"/>
            <a:ext cx="256032" cy="29260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2880" y="1591056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64" y="1591056"/>
            <a:ext cx="3931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Arquitetura Financeira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2880" y="2048256"/>
            <a:ext cx="256032" cy="29260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2880" y="2066543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064" y="2066543"/>
            <a:ext cx="3931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Brand DNA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82880" y="2523744"/>
            <a:ext cx="256032" cy="29260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82880" y="2542032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4" y="2542032"/>
            <a:ext cx="3931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Positioning Framework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2880" y="2999232"/>
            <a:ext cx="256032" cy="29260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82880" y="3017520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064" y="3017520"/>
            <a:ext cx="3931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Ho.Re.Ca. Strategy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82880" y="3474720"/>
            <a:ext cx="256032" cy="29260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82880" y="3493008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064" y="3493008"/>
            <a:ext cx="3931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Portfólio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663440" y="1097280"/>
            <a:ext cx="256032" cy="29260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63440" y="1115568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92624" y="1115568"/>
            <a:ext cx="3931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Expansão Global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663440" y="1572768"/>
            <a:ext cx="256032" cy="29260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63440" y="1591056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92624" y="1591056"/>
            <a:ext cx="3931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Marketing &amp; Ativações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663440" y="2048256"/>
            <a:ext cx="256032" cy="29260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63440" y="2066543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992624" y="2066543"/>
            <a:ext cx="3931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Digital &amp; Social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663440" y="2523744"/>
            <a:ext cx="256032" cy="29260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663440" y="2542032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992624" y="2542032"/>
            <a:ext cx="3931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Sustentabilidade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663440" y="2999232"/>
            <a:ext cx="256032" cy="29260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663440" y="3017520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11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992624" y="3017520"/>
            <a:ext cx="3931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Scorecard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663440" y="3474720"/>
            <a:ext cx="256032" cy="29260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663440" y="3493008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12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992624" y="3493008"/>
            <a:ext cx="3931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Lições para a Orfeu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79" y="137160"/>
            <a:ext cx="685800" cy="5384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47472" y="201168"/>
            <a:ext cx="7772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Heritage &amp; Milestones — Starbucks Reserve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694944"/>
            <a:ext cx="7772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CCDDCC"/>
                </a:solidFill>
              </a:rPr>
              <a:t>Marcos estruturais e pivôs estratégicos</a:t>
            </a:r>
          </a:p>
        </p:txBody>
      </p:sp>
      <p:sp>
        <p:nvSpPr>
          <p:cNvPr id="6" name="Rectangle 5"/>
          <p:cNvSpPr/>
          <p:nvPr/>
        </p:nvSpPr>
        <p:spPr>
          <a:xfrm>
            <a:off x="347472" y="1078992"/>
            <a:ext cx="8449056" cy="457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21792" y="914400"/>
            <a:ext cx="36576" cy="256032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30352" y="1078992"/>
            <a:ext cx="219456" cy="219456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335024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1A1A"/>
                </a:solidFill>
              </a:rPr>
              <a:t>2003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" y="1627632"/>
            <a:ext cx="106070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A1A1A"/>
                </a:solidFill>
              </a:rPr>
              <a:t>Reserve
Concept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" y="1975104"/>
            <a:ext cx="1060704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</a:rPr>
              <a:t>Linha Reserve lançada como seleção de grãos raros e sazonais dentro das lojas Starbucks padrão. Primeiro sinal de diferenciação premium dentro da rede.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755648" y="914400"/>
            <a:ext cx="36576" cy="256032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664208" y="1078992"/>
            <a:ext cx="219456" cy="219456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99616" y="1335024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1A1A"/>
                </a:solidFill>
              </a:rPr>
              <a:t>2010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26464" y="1627632"/>
            <a:ext cx="106070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A1A1A"/>
                </a:solidFill>
              </a:rPr>
              <a:t>Reserve
Bar Program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26464" y="1975104"/>
            <a:ext cx="1060704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</a:rPr>
              <a:t>Início dos Reserve Bars — estações dentro das lojas Starbucks regulares com métodos de preparo premium: Clover, pour-over, chemex.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889503" y="914400"/>
            <a:ext cx="36576" cy="256032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798063" y="1078992"/>
            <a:ext cx="219456" cy="219456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633472" y="1335024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1A1A"/>
                </a:solidFill>
              </a:rPr>
              <a:t>2014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60320" y="1627632"/>
            <a:ext cx="106070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A1A1A"/>
                </a:solidFill>
              </a:rPr>
              <a:t>Reserve
Roastery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60320" y="1975104"/>
            <a:ext cx="1060704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</a:rPr>
              <a:t>Abertura da primeira Reserve Roastery &amp; Tasting Room em Seattle: 1.400m², torrefação ao vivo, experiência imersiva. Redefine o que uma cafeteria pode ser.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023359" y="914400"/>
            <a:ext cx="36576" cy="256032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931920" y="1078992"/>
            <a:ext cx="219456" cy="219456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767327" y="1335024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1A1A"/>
                </a:solidFill>
              </a:rPr>
              <a:t>2017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94175" y="1627632"/>
            <a:ext cx="106070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A1A1A"/>
                </a:solidFill>
              </a:rPr>
              <a:t>Roastery
Global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94175" y="1975104"/>
            <a:ext cx="1060704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</a:rPr>
              <a:t>Expansão das Roasteries para Xangai (2017), Milão (2018), Nova York, Tóquio e Chicago (2019). Cada unidade é um investimento de US$20–30M.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157216" y="914400"/>
            <a:ext cx="36576" cy="256032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065776" y="1078992"/>
            <a:ext cx="219456" cy="219456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901183" y="1335024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1A1A"/>
                </a:solidFill>
              </a:rPr>
              <a:t>2018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28031" y="1627632"/>
            <a:ext cx="106070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A1A1A"/>
                </a:solidFill>
              </a:rPr>
              <a:t>Reserve
Only Stores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28031" y="1975104"/>
            <a:ext cx="1060704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</a:rPr>
              <a:t>Abertura das Reserve Stores — formato intermediário entre Roastery e loja padrão. 1.000+ lojas planejadas globalmente.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91072" y="914400"/>
            <a:ext cx="36576" cy="256032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199632" y="1078992"/>
            <a:ext cx="219456" cy="219456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035040" y="1335024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1A1A"/>
                </a:solidFill>
              </a:rPr>
              <a:t>2019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61888" y="1627632"/>
            <a:ext cx="106070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A1A1A"/>
                </a:solidFill>
              </a:rPr>
              <a:t>Parceria
Princi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61888" y="1975104"/>
            <a:ext cx="1060704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</a:rPr>
              <a:t>Integração da padaria italiana Princi às Roasteries, elevando a proposta de valor gastronômica.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424927" y="914400"/>
            <a:ext cx="36576" cy="256032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33488" y="1078992"/>
            <a:ext cx="219456" cy="219456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168895" y="1335024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1A1A"/>
                </a:solidFill>
              </a:rPr>
              <a:t>2022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095743" y="1627632"/>
            <a:ext cx="106070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A1A1A"/>
                </a:solidFill>
              </a:rPr>
              <a:t>Reinhardt
Saída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095743" y="1975104"/>
            <a:ext cx="1060704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</a:rPr>
              <a:t>Howard Schultz retorna ao cargo de CEO. Reserve permanece como pilar estratégico de premiumização, mesmo com dificuldades no core.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558784" y="914400"/>
            <a:ext cx="36576" cy="256032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467344" y="1078992"/>
            <a:ext cx="219456" cy="219456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302752" y="1335024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1A1A"/>
                </a:solidFill>
              </a:rPr>
              <a:t>2024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29600" y="1627632"/>
            <a:ext cx="106070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A1A1A"/>
                </a:solidFill>
              </a:rPr>
              <a:t>Portfolio
Review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29600" y="1975104"/>
            <a:ext cx="1060704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</a:rPr>
              <a:t>Reserve mantido como 'jewel in the crown': ~6 Roasteries globais e centenas de Reserve Bars continuam como laboratórios de inovação.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79" y="137160"/>
            <a:ext cx="685800" cy="5384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47472" y="201168"/>
            <a:ext cx="7772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Arquitetura Financeira — Starbucks Reserve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694944"/>
            <a:ext cx="7772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CCDDCC"/>
                </a:solidFill>
              </a:rPr>
              <a:t>Arquitetura financeira e estrutura de receitas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1078992"/>
            <a:ext cx="2514600" cy="310896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37744" y="1115568"/>
            <a:ext cx="246887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Métrica</a:t>
            </a:r>
          </a:p>
        </p:txBody>
      </p:sp>
      <p:sp>
        <p:nvSpPr>
          <p:cNvPr id="8" name="Rectangle 7"/>
          <p:cNvSpPr/>
          <p:nvPr/>
        </p:nvSpPr>
        <p:spPr>
          <a:xfrm>
            <a:off x="2761488" y="1078992"/>
            <a:ext cx="1325880" cy="310896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16352" y="1115568"/>
            <a:ext cx="1280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2022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51376" y="1078992"/>
            <a:ext cx="1325880" cy="310896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06240" y="1115568"/>
            <a:ext cx="1280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2023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541264" y="1078992"/>
            <a:ext cx="1325880" cy="310896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96127" y="1115568"/>
            <a:ext cx="1280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2024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31152" y="1078992"/>
            <a:ext cx="1600200" cy="310896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86016" y="1115568"/>
            <a:ext cx="1554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Fonte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426464"/>
            <a:ext cx="2514600" cy="29260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37744" y="1444752"/>
            <a:ext cx="24688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Receita Total Starbucks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61488" y="1426464"/>
            <a:ext cx="1325880" cy="29260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816352" y="1444752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$32.3B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51376" y="1426464"/>
            <a:ext cx="1325880" cy="29260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06240" y="1444752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$35.9B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541264" y="1426464"/>
            <a:ext cx="1325880" cy="29260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596127" y="1444752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$36.2B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931152" y="1426464"/>
            <a:ext cx="1600200" cy="29260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86016" y="1444752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Starbucks Annual Report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82880" y="1737360"/>
            <a:ext cx="251460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37744" y="1755648"/>
            <a:ext cx="24688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Americas (% receita)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61488" y="1737360"/>
            <a:ext cx="132588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816352" y="1755648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72%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151376" y="1737360"/>
            <a:ext cx="132588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206240" y="1755648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71%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541264" y="1737360"/>
            <a:ext cx="132588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596127" y="1755648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70%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931152" y="1737360"/>
            <a:ext cx="160020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986016" y="1755648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Relatório Anual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82880" y="2048256"/>
            <a:ext cx="2514600" cy="29260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37744" y="2066544"/>
            <a:ext cx="24688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International (% receita)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761488" y="2048256"/>
            <a:ext cx="1325880" cy="29260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816352" y="2066544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28%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151376" y="2048256"/>
            <a:ext cx="1325880" cy="29260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206240" y="2066544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29%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541264" y="2048256"/>
            <a:ext cx="1325880" cy="29260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596127" y="2066544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30%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931152" y="2048256"/>
            <a:ext cx="1600200" cy="29260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986016" y="2066544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Relatório Anual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82880" y="2359152"/>
            <a:ext cx="251460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37744" y="2377440"/>
            <a:ext cx="24688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Nº de Lojas (global)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761488" y="2359152"/>
            <a:ext cx="132588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816352" y="237744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35.711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151376" y="2359152"/>
            <a:ext cx="132588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206240" y="237744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36.170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541264" y="2359152"/>
            <a:ext cx="132588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596127" y="237744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38.951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931152" y="2359152"/>
            <a:ext cx="160020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986016" y="2377440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Relatório Anual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82880" y="2670048"/>
            <a:ext cx="2514600" cy="29260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37744" y="2688336"/>
            <a:ext cx="24688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Reserve Roasteries (global)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761488" y="2670048"/>
            <a:ext cx="1325880" cy="29260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816352" y="2688336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6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151376" y="2670048"/>
            <a:ext cx="1325880" cy="29260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206240" y="2688336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6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541264" y="2670048"/>
            <a:ext cx="1325880" cy="29260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596127" y="2688336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6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931152" y="2670048"/>
            <a:ext cx="1600200" cy="29260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986016" y="2688336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Starbucks Investor Relations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82880" y="3090672"/>
            <a:ext cx="8778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1A1A"/>
                </a:solidFill>
              </a:rPr>
              <a:t>Notas Financeiras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1440" y="3291840"/>
            <a:ext cx="8961120" cy="10972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182880" y="3364992"/>
            <a:ext cx="2103120" cy="157276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274320" y="3419856"/>
            <a:ext cx="1938528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</a:rPr>
              <a:t>Reserve não é reportado separadamente — estimativas de mercado indicam contribuição de $1–2B/ano em receita premium consolidada</a:t>
            </a:r>
          </a:p>
        </p:txBody>
      </p:sp>
      <p:sp>
        <p:nvSpPr>
          <p:cNvPr id="70" name="Rectangle 69"/>
          <p:cNvSpPr/>
          <p:nvPr/>
        </p:nvSpPr>
        <p:spPr>
          <a:xfrm>
            <a:off x="2395728" y="3364992"/>
            <a:ext cx="2103120" cy="157276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2487168" y="3419856"/>
            <a:ext cx="1938528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</a:rPr>
              <a:t>Ticket médio Reserve é 2–3× maior que a loja Starbucks padrão. Cappuccino Reserve = US$8–12 vs. US$4–6 padrão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608576" y="3364992"/>
            <a:ext cx="2103120" cy="157276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700016" y="3419856"/>
            <a:ext cx="1938528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</a:rPr>
              <a:t>Custo de abertura de uma Roastery: US$20–30M por unidade. Retorno financeiro é secundário — ROI é de marca e tráfego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821424" y="3364992"/>
            <a:ext cx="2103120" cy="157276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912864" y="3419856"/>
            <a:ext cx="1938528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</a:rPr>
              <a:t>Reserve Bars têm payback mais rápido (~18 meses) e servem como expansão escalável do posicionamento premium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79" y="137160"/>
            <a:ext cx="685800" cy="5384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47472" y="201168"/>
            <a:ext cx="7772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Brand DNA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694944"/>
            <a:ext cx="7772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CCDDCC"/>
                </a:solidFill>
              </a:rPr>
              <a:t>Identidade, valores e pilares estratégicos — Starbucks Reserve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1078992"/>
            <a:ext cx="4297680" cy="2962656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2608" y="1133856"/>
            <a:ext cx="407822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MISSÃO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408176"/>
            <a:ext cx="407822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EEEEE"/>
                </a:solidFill>
              </a:rPr>
              <a:t>Criar conexões humanas significativas através de café extraordinário e experiências memoráveis.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" y="1883664"/>
            <a:ext cx="407822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VISÃO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" y="2121408"/>
            <a:ext cx="407822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EEEEE"/>
                </a:solidFill>
              </a:rPr>
              <a:t>Ser a referência global de experiência de café premium, onde cada origem conta uma história.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" y="2523744"/>
            <a:ext cx="407822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TAGLINE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" y="2743200"/>
            <a:ext cx="40782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1">
                <a:solidFill>
                  <a:srgbClr val="FFFFFF"/>
                </a:solidFill>
              </a:rPr>
              <a:t>"The Pursuit of the Extraordinary"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" y="3054096"/>
            <a:ext cx="40782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HERITAGE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" y="3273552"/>
            <a:ext cx="4078224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CCCCC"/>
                </a:solidFill>
              </a:rPr>
              <a:t>Nascida em 1971 no Pike Place Market de Seattle, a Starbucks Reserve foi criada para redescobrir as origens do que tornou a empresa revolucionária: café de origem, torra artesanal e terceiro lugar autêntico.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663440" y="1078992"/>
            <a:ext cx="4297680" cy="237744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73168" y="1097280"/>
            <a:ext cx="40782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PERSONALIDADE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663440" y="1371600"/>
            <a:ext cx="2084831" cy="34747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36592" y="1408176"/>
            <a:ext cx="19568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A1A1A"/>
                </a:solidFill>
              </a:rPr>
              <a:t>Artesanal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21424" y="1371600"/>
            <a:ext cx="2084831" cy="34747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94576" y="1408176"/>
            <a:ext cx="19568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A1A1A"/>
                </a:solidFill>
              </a:rPr>
              <a:t>Exploratório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663440" y="1773936"/>
            <a:ext cx="2084831" cy="34747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36592" y="1810512"/>
            <a:ext cx="19568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A1A1A"/>
                </a:solidFill>
              </a:rPr>
              <a:t>Imersivo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21424" y="1773936"/>
            <a:ext cx="2084831" cy="34747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94576" y="1810512"/>
            <a:ext cx="19568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A1A1A"/>
                </a:solidFill>
              </a:rPr>
              <a:t>Exclusivo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663440" y="2176272"/>
            <a:ext cx="2084831" cy="34747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736592" y="2212848"/>
            <a:ext cx="19568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A1A1A"/>
                </a:solidFill>
              </a:rPr>
              <a:t>Global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821424" y="2176272"/>
            <a:ext cx="2084831" cy="34747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94576" y="2212848"/>
            <a:ext cx="19568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A1A1A"/>
                </a:solidFill>
              </a:rPr>
              <a:t>Educativo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663440" y="2651760"/>
            <a:ext cx="4297680" cy="237744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773168" y="2670048"/>
            <a:ext cx="40782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PILARES ESTRATÉGICOS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63440" y="2944368"/>
            <a:ext cx="822960" cy="1517904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700016" y="2999232"/>
            <a:ext cx="7498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1A1A1A"/>
                </a:solidFill>
              </a:rPr>
              <a:t>☕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00016" y="3401568"/>
            <a:ext cx="749808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1A1A1A"/>
                </a:solidFill>
              </a:rPr>
              <a:t>Single Origin
Excellence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522976" y="2944368"/>
            <a:ext cx="822960" cy="1517904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559552" y="2999232"/>
            <a:ext cx="7498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1A1A1A"/>
                </a:solidFill>
              </a:rPr>
              <a:t>🔥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559552" y="3401568"/>
            <a:ext cx="749808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1A1A1A"/>
                </a:solidFill>
              </a:rPr>
              <a:t>Live Roasting
Experience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382512" y="2944368"/>
            <a:ext cx="822960" cy="1517904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19088" y="2999232"/>
            <a:ext cx="7498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1A1A1A"/>
                </a:solidFill>
              </a:rPr>
              <a:t>🌍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19088" y="3401568"/>
            <a:ext cx="749808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1A1A1A"/>
                </a:solidFill>
              </a:rPr>
              <a:t>Global
Roasteries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242048" y="2944368"/>
            <a:ext cx="822960" cy="1517904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278624" y="2999232"/>
            <a:ext cx="7498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1A1A1A"/>
                </a:solidFill>
              </a:rPr>
              <a:t>📖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278624" y="3401568"/>
            <a:ext cx="749808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1A1A1A"/>
                </a:solidFill>
              </a:rPr>
              <a:t>Coffee
Education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101583" y="2944368"/>
            <a:ext cx="822960" cy="1517904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138159" y="2999232"/>
            <a:ext cx="7498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1A1A1A"/>
                </a:solidFill>
              </a:rPr>
              <a:t>✨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138159" y="3401568"/>
            <a:ext cx="749808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1A1A1A"/>
                </a:solidFill>
              </a:rPr>
              <a:t>Luxury
Hospitality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79" y="137160"/>
            <a:ext cx="685800" cy="5384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47472" y="201168"/>
            <a:ext cx="7772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Brand Positioning Framework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694944"/>
            <a:ext cx="7772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CCDDCC"/>
                </a:solidFill>
              </a:rPr>
              <a:t>Estrutura de posicionamento — Starbucks Reserve</a:t>
            </a:r>
          </a:p>
        </p:txBody>
      </p:sp>
      <p:sp>
        <p:nvSpPr>
          <p:cNvPr id="6" name="Rectangle 5"/>
          <p:cNvSpPr/>
          <p:nvPr/>
        </p:nvSpPr>
        <p:spPr>
          <a:xfrm>
            <a:off x="164592" y="1078992"/>
            <a:ext cx="2852928" cy="166420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64592" y="1078992"/>
            <a:ext cx="2852928" cy="256032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37744" y="1115568"/>
            <a:ext cx="27066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</a:rPr>
              <a:t>BRAND STATEMENT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7744" y="1389888"/>
            <a:ext cx="2706624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</a:rPr>
              <a:t>Starbucks Reserve é o destino premium para entusiastas de café que querem ir além do espresso cotidiano — uma imersão sensorial em origens raras, técnicas de torra e ritual de preparo.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108960" y="1078992"/>
            <a:ext cx="2852928" cy="166420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108960" y="1078992"/>
            <a:ext cx="2852928" cy="256032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82112" y="1115568"/>
            <a:ext cx="27066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</a:rPr>
              <a:t>CORE CREATIVE IDEA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82112" y="1389888"/>
            <a:ext cx="2706624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</a:rPr>
              <a:t>O café como jornada: cada xícara conta a história de uma origem, uma fazenda, um método.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53328" y="1078992"/>
            <a:ext cx="2852928" cy="166420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053328" y="1078992"/>
            <a:ext cx="2852928" cy="256032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26480" y="1115568"/>
            <a:ext cx="27066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</a:rPr>
              <a:t>BENEFÍCIOS PRODUTO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0" y="1389888"/>
            <a:ext cx="2706624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</a:rPr>
              <a:t>Grãos de micro-lotes sazonais; métodos de preparo artesanais (Clover, sifão, cold brew nitro); torrefação ao vivo visível; menus exclusivos não disponíveis nas lojas padrão.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4592" y="2816352"/>
            <a:ext cx="2852928" cy="166420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64592" y="2816352"/>
            <a:ext cx="2852928" cy="256032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37744" y="2852928"/>
            <a:ext cx="27066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</a:rPr>
              <a:t>BENEFÍCIOS EMOCIONAIS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7744" y="3127248"/>
            <a:ext cx="2706624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</a:rPr>
              <a:t>Sentir-se um expert em café; pertencer a uma comunidade de connaisseurs; orgulho de consumir algo genuinamente raro e difícil de encontrar.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108960" y="2816352"/>
            <a:ext cx="2852928" cy="166420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108960" y="2816352"/>
            <a:ext cx="2852928" cy="256032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182112" y="2852928"/>
            <a:ext cx="27066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</a:rPr>
              <a:t>RTBs — RAZÕES PARA ACREDITAR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82112" y="3127248"/>
            <a:ext cx="2706624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</a:rPr>
              <a:t>Único conceito de cafeteria com torrefação ao vivo in-store; 6 Roasteries icônicas em capitais globais; Clover Brewing System patenteado.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53328" y="2816352"/>
            <a:ext cx="2852928" cy="166420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053328" y="2816352"/>
            <a:ext cx="2852928" cy="256032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26480" y="2852928"/>
            <a:ext cx="27066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</a:rPr>
              <a:t>BRAND VALUES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26480" y="3127248"/>
            <a:ext cx="2706624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</a:rPr>
              <a:t>Artesanalidade com escala; transparência de origem; teatro gastronômico; hospitalidade sofisticada.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79" y="137160"/>
            <a:ext cx="685800" cy="5384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47472" y="201168"/>
            <a:ext cx="7772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Estratégia Ho.Re.Ca. &amp; Fora do Lar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694944"/>
            <a:ext cx="7772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CCDDCC"/>
                </a:solidFill>
              </a:rPr>
              <a:t>Out-of-home e canais B2B — Starbucks Reserve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1042415"/>
            <a:ext cx="87782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</a:rPr>
              <a:t>Reserve opera um modelo Ho.Re.Ca. invertido: ao invés de fornecer café para terceiros, Starbucks cria os próprios pontos de consumo premium com controle total da experiência.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" y="1481328"/>
            <a:ext cx="8961120" cy="10972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2880" y="1554480"/>
            <a:ext cx="2121408" cy="3255264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82880" y="1554480"/>
            <a:ext cx="2121408" cy="512064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7744" y="1572768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627632"/>
            <a:ext cx="160934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HOTÉIS PREMIUM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2121408"/>
            <a:ext cx="1975103" cy="2615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solidFill>
                  <a:srgbClr val="1A1A1A"/>
                </a:solidFill>
              </a:rPr>
              <a:t>•  Curadoria de menu exclusiva por localidade</a:t>
            </a:r>
          </a:p>
          <a:p>
            <a:r>
              <a:rPr sz="800">
                <a:solidFill>
                  <a:srgbClr val="1A1A1A"/>
                </a:solidFill>
              </a:rPr>
              <a:t>•  Baristas Reserve treinados diretamente</a:t>
            </a:r>
          </a:p>
          <a:p>
            <a:r>
              <a:rPr sz="800">
                <a:solidFill>
                  <a:srgbClr val="1A1A1A"/>
                </a:solidFill>
              </a:rPr>
              <a:t>•  Serve como marketing para o Roastery local</a:t>
            </a:r>
          </a:p>
          <a:p>
            <a:r>
              <a:rPr sz="800">
                <a:solidFill>
                  <a:srgbClr val="1A1A1A"/>
                </a:solidFill>
              </a:rPr>
              <a:t>•  Sinalização co-branded discreta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359152" y="1554480"/>
            <a:ext cx="2121408" cy="3255264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359152" y="1554480"/>
            <a:ext cx="2121408" cy="512064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414016" y="1572768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🍽️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34640" y="1627632"/>
            <a:ext cx="160934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FINE DINING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50592" y="2121408"/>
            <a:ext cx="1975103" cy="2615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solidFill>
                  <a:srgbClr val="1A1A1A"/>
                </a:solidFill>
              </a:rPr>
              <a:t>•  Apenas restaurantes alinhados ao posicionamento</a:t>
            </a:r>
          </a:p>
          <a:p>
            <a:r>
              <a:rPr sz="800">
                <a:solidFill>
                  <a:srgbClr val="1A1A1A"/>
                </a:solidFill>
              </a:rPr>
              <a:t>•  Menus de harmonização café + gastronomia</a:t>
            </a:r>
          </a:p>
          <a:p>
            <a:r>
              <a:rPr sz="800">
                <a:solidFill>
                  <a:srgbClr val="1A1A1A"/>
                </a:solidFill>
              </a:rPr>
              <a:t>•  PR e editorial como resultado esperado</a:t>
            </a:r>
          </a:p>
          <a:p>
            <a:r>
              <a:rPr sz="800">
                <a:solidFill>
                  <a:srgbClr val="1A1A1A"/>
                </a:solidFill>
              </a:rPr>
              <a:t>•  Não scalável intencionalmente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35424" y="1554480"/>
            <a:ext cx="2121408" cy="3255264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35424" y="1554480"/>
            <a:ext cx="2121408" cy="512064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90288" y="1572768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10912" y="1627632"/>
            <a:ext cx="160934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RESERVE BARS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26864" y="2121408"/>
            <a:ext cx="1975103" cy="2615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solidFill>
                  <a:srgbClr val="1A1A1A"/>
                </a:solidFill>
              </a:rPr>
              <a:t>•  Menus Reserve em lojas selecionadas</a:t>
            </a:r>
          </a:p>
          <a:p>
            <a:r>
              <a:rPr sz="800">
                <a:solidFill>
                  <a:srgbClr val="1A1A1A"/>
                </a:solidFill>
              </a:rPr>
              <a:t>•  Clover e métodos especiais disponíveis</a:t>
            </a:r>
          </a:p>
          <a:p>
            <a:r>
              <a:rPr sz="800">
                <a:solidFill>
                  <a:srgbClr val="1A1A1A"/>
                </a:solidFill>
              </a:rPr>
              <a:t>•  Staff com certificação Reserve</a:t>
            </a:r>
          </a:p>
          <a:p>
            <a:r>
              <a:rPr sz="800">
                <a:solidFill>
                  <a:srgbClr val="1A1A1A"/>
                </a:solidFill>
              </a:rPr>
              <a:t>•  Serve como funil para Roasteries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711696" y="1554480"/>
            <a:ext cx="2121408" cy="3255264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711696" y="1554480"/>
            <a:ext cx="2121408" cy="512064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59" y="1572768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87183" y="1627632"/>
            <a:ext cx="160934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B2B CORPORATE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03136" y="2121408"/>
            <a:ext cx="1975103" cy="2615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solidFill>
                  <a:srgbClr val="1A1A1A"/>
                </a:solidFill>
              </a:rPr>
              <a:t>•  Kits Reserve para salas de reunião premium</a:t>
            </a:r>
          </a:p>
          <a:p>
            <a:r>
              <a:rPr sz="800">
                <a:solidFill>
                  <a:srgbClr val="1A1A1A"/>
                </a:solidFill>
              </a:rPr>
              <a:t>•  Programas de treinamento para equipes</a:t>
            </a:r>
          </a:p>
          <a:p>
            <a:r>
              <a:rPr sz="800">
                <a:solidFill>
                  <a:srgbClr val="1A1A1A"/>
                </a:solidFill>
              </a:rPr>
              <a:t>•  Venda de assinaturas de micro-lotes</a:t>
            </a:r>
          </a:p>
          <a:p>
            <a:r>
              <a:rPr sz="800">
                <a:solidFill>
                  <a:srgbClr val="1A1A1A"/>
                </a:solidFill>
              </a:rPr>
              <a:t>•  Canal discreto mas rentável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2880" y="4864608"/>
            <a:ext cx="8778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888888"/>
                </a:solidFill>
              </a:rPr>
              <a:t>Nota: As Roasteries são o flagship do flagship: laboratórios de experiência, não pontos de venda. Cada uma gera mais em PR e influência do que em receita direta.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79" y="137160"/>
            <a:ext cx="685800" cy="5384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47472" y="201168"/>
            <a:ext cx="7772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Portfólio de Produtos — Reserve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694944"/>
            <a:ext cx="7772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CCDDCC"/>
                </a:solidFill>
              </a:rPr>
              <a:t>Portfólio de produtos e linhas estratégicas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1078992"/>
            <a:ext cx="2139696" cy="395020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82880" y="1078992"/>
            <a:ext cx="2139696" cy="310896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56032" y="1097280"/>
            <a:ext cx="202996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SINGLE ORIGINS</a:t>
            </a:r>
          </a:p>
        </p:txBody>
      </p:sp>
      <p:sp>
        <p:nvSpPr>
          <p:cNvPr id="9" name="Rectangle 8"/>
          <p:cNvSpPr/>
          <p:nvPr/>
        </p:nvSpPr>
        <p:spPr>
          <a:xfrm>
            <a:off x="237744" y="1444752"/>
            <a:ext cx="2029967" cy="8778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2608" y="1481328"/>
            <a:ext cx="1920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A1A1A"/>
                </a:solidFill>
              </a:rPr>
              <a:t>Reserve Sumatra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" y="1737360"/>
            <a:ext cx="1920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</a:rPr>
              <a:t>Grão de altitude única, terra negra vulcânica. Torra escura com notas de cedro e cacau.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" y="2084832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A1A1A"/>
                </a:solidFill>
              </a:rPr>
              <a:t>~US$22/250g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37744" y="2395728"/>
            <a:ext cx="2029967" cy="8778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2608" y="2432304"/>
            <a:ext cx="1920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A1A1A"/>
                </a:solidFill>
              </a:rPr>
              <a:t>Reserve Ethiopia Yirgacheffe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" y="2688336"/>
            <a:ext cx="1920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</a:rPr>
              <a:t>Natural process, berries selvagens. Torra média-clara com acidez floral.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" y="3035808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A1A1A"/>
                </a:solidFill>
              </a:rPr>
              <a:t>~US$26/250g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37744" y="3346704"/>
            <a:ext cx="2029967" cy="8778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92608" y="3383280"/>
            <a:ext cx="1920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A1A1A"/>
                </a:solidFill>
              </a:rPr>
              <a:t>Reserve Guatemala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2608" y="3639312"/>
            <a:ext cx="1920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</a:rPr>
              <a:t>Altitude 1.800m, lavado. Caramelo, maçã verde, finalização limpa.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" y="3986784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A1A1A"/>
                </a:solidFill>
              </a:rPr>
              <a:t>~US$24/250g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377440" y="1078992"/>
            <a:ext cx="2139696" cy="395020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377440" y="1078992"/>
            <a:ext cx="2139696" cy="310896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450592" y="1097280"/>
            <a:ext cx="202996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BEBIDAS EXCLUSIVAS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432304" y="1444752"/>
            <a:ext cx="2029967" cy="8778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487168" y="1481328"/>
            <a:ext cx="1920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A1A1A"/>
                </a:solidFill>
              </a:rPr>
              <a:t>Reserve Latte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487168" y="1737360"/>
            <a:ext cx="1920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</a:rPr>
              <a:t>Espresso extraído no Clover ou La Marzocco. Leite integral vaporizado. Apenas nos Bars.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487168" y="2084832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A1A1A"/>
                </a:solidFill>
              </a:rPr>
              <a:t>~US$9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432304" y="2395728"/>
            <a:ext cx="2029967" cy="8778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487168" y="2432304"/>
            <a:ext cx="1920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A1A1A"/>
                </a:solidFill>
              </a:rPr>
              <a:t>Nitro Cold Brew Reserve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487168" y="2688336"/>
            <a:ext cx="1920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</a:rPr>
              <a:t>Cold brew 24h com origem especificada. Servido pressurizado com cascata.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487168" y="3035808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A1A1A"/>
                </a:solidFill>
              </a:rPr>
              <a:t>~US$8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432304" y="3346704"/>
            <a:ext cx="2029967" cy="8778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487168" y="3383280"/>
            <a:ext cx="1920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A1A1A"/>
                </a:solidFill>
              </a:rPr>
              <a:t>Espresso Tonic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487168" y="3639312"/>
            <a:ext cx="1920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</a:rPr>
              <a:t>Espresso Reserve sobre tônica premium. Menu exclusivo verão das Roasteries.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487168" y="3986784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A1A1A"/>
                </a:solidFill>
              </a:rPr>
              <a:t>~US$7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0" y="1078992"/>
            <a:ext cx="2139696" cy="395020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572000" y="1078992"/>
            <a:ext cx="2139696" cy="310896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645152" y="1097280"/>
            <a:ext cx="202996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EXPERIÊNCIAS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626864" y="1444752"/>
            <a:ext cx="2029967" cy="8778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681728" y="1481328"/>
            <a:ext cx="1920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A1A1A"/>
                </a:solidFill>
              </a:rPr>
              <a:t>Coffee Journey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681728" y="1737360"/>
            <a:ext cx="1920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</a:rPr>
              <a:t>Tour guiado de 90min nas Roasteries com degustação de 4 origens e paring gastronômico.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681728" y="2084832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A1A1A"/>
                </a:solidFill>
              </a:rPr>
              <a:t>US$65/pessoa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626864" y="2395728"/>
            <a:ext cx="2029967" cy="8778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681728" y="2432304"/>
            <a:ext cx="1920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A1A1A"/>
                </a:solidFill>
              </a:rPr>
              <a:t>Reserve Masterclass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681728" y="2688336"/>
            <a:ext cx="1920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</a:rPr>
              <a:t>Workshop de 2h em técnica de torra e preparo com Head Roaster. Grupos de até 12.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681728" y="3035808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A1A1A"/>
                </a:solidFill>
              </a:rPr>
              <a:t>US$120/pessoa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626864" y="3346704"/>
            <a:ext cx="2029967" cy="8778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681728" y="3383280"/>
            <a:ext cx="1920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A1A1A"/>
                </a:solidFill>
              </a:rPr>
              <a:t>Private Cupping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681728" y="3639312"/>
            <a:ext cx="1920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</a:rPr>
              <a:t>Sessão exclusiva para grupos corporativos. Curadoria personalizada por origem.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681728" y="3986784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A1A1A"/>
                </a:solidFill>
              </a:rPr>
              <a:t>US$500/grupo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766559" y="1078992"/>
            <a:ext cx="2139696" cy="395020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766559" y="1078992"/>
            <a:ext cx="2139696" cy="310896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839712" y="1097280"/>
            <a:ext cx="202996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MERCH &amp; LIFESTYLE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821423" y="1444752"/>
            <a:ext cx="2029967" cy="8778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876288" y="1481328"/>
            <a:ext cx="1920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A1A1A"/>
                </a:solidFill>
              </a:rPr>
              <a:t>Reserve Tumbler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876288" y="1737360"/>
            <a:ext cx="1920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</a:rPr>
              <a:t>Tumbler de cerâmica exclusivo de cada Roastery. Collector's item geolocalizado.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876288" y="2084832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A1A1A"/>
                </a:solidFill>
              </a:rPr>
              <a:t>~US$45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821423" y="2395728"/>
            <a:ext cx="2029967" cy="8778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876288" y="2432304"/>
            <a:ext cx="1920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A1A1A"/>
                </a:solidFill>
              </a:rPr>
              <a:t>Reserve Kit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876288" y="2688336"/>
            <a:ext cx="1920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</a:rPr>
              <a:t>Kit home brewing com moka, moedor manual e 2 origens sazonais. Gift premium.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876288" y="3035808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A1A1A"/>
                </a:solidFill>
              </a:rPr>
              <a:t>~US$95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821423" y="3346704"/>
            <a:ext cx="2029967" cy="8778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876288" y="3383280"/>
            <a:ext cx="1920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A1A1A"/>
                </a:solidFill>
              </a:rPr>
              <a:t>Princi Partnership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876288" y="3639312"/>
            <a:ext cx="1920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</a:rPr>
              <a:t>Croissants e brioches da padaria milanesa Princi disponíveis exclusivamente nas Roasteries.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876288" y="3986784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A1A1A"/>
                </a:solidFill>
              </a:rPr>
              <a:t>~US$6–12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79" y="137160"/>
            <a:ext cx="685800" cy="5384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47472" y="201168"/>
            <a:ext cx="7772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Marketing &amp; Ativações — Reserve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694944"/>
            <a:ext cx="7772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CCDDCC"/>
                </a:solidFill>
              </a:rPr>
              <a:t>Campanhas e ativações de marca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1078992"/>
            <a:ext cx="2121408" cy="38404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82880" y="1078992"/>
            <a:ext cx="2121408" cy="402336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56032" y="1097280"/>
            <a:ext cx="20116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ROASTERY LAUNCH
RITUAL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032" y="1517904"/>
            <a:ext cx="201167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A1A1A"/>
                </a:solidFill>
              </a:rPr>
              <a:t>2014–2019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6032" y="1773936"/>
            <a:ext cx="2011679" cy="2048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>
                <a:solidFill>
                  <a:srgbClr val="1A1A1A"/>
                </a:solidFill>
              </a:rPr>
              <a:t>•  Cada Roastery tem abertura local com curadoria editorial global</a:t>
            </a:r>
          </a:p>
          <a:p>
            <a:r>
              <a:rPr sz="750">
                <a:solidFill>
                  <a:srgbClr val="1A1A1A"/>
                </a:solidFill>
              </a:rPr>
              <a:t>•  Programa de media partners: WSJ, FoodandWine, Conde Nast Traveler</a:t>
            </a:r>
          </a:p>
          <a:p>
            <a:r>
              <a:rPr sz="750">
                <a:solidFill>
                  <a:srgbClr val="1A1A1A"/>
                </a:solidFill>
              </a:rPr>
              <a:t>•  Influencers de café e gastronomia convidados 2 semanas antes</a:t>
            </a:r>
          </a:p>
          <a:p>
            <a:r>
              <a:rPr sz="750">
                <a:solidFill>
                  <a:srgbClr val="1A1A1A"/>
                </a:solidFill>
              </a:rPr>
              <a:t>•  Arquitetura fotogênica desenhada para redes sociais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2880" y="4279392"/>
            <a:ext cx="2121408" cy="47548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" y="4315968"/>
            <a:ext cx="20116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FFFFF"/>
                </a:solidFill>
              </a:rPr>
              <a:t>Resultado: Geração espontânea de 1M+ posts por abertura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359152" y="1078992"/>
            <a:ext cx="2121408" cy="38404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359152" y="1078992"/>
            <a:ext cx="2121408" cy="402336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432304" y="1097280"/>
            <a:ext cx="20116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COFFEE PASSPORT
PROGRAM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32304" y="1517904"/>
            <a:ext cx="201167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A1A1A"/>
                </a:solidFill>
              </a:rPr>
              <a:t>2016–atual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32304" y="1773936"/>
            <a:ext cx="2011679" cy="2048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>
                <a:solidFill>
                  <a:srgbClr val="1A1A1A"/>
                </a:solidFill>
              </a:rPr>
              <a:t>•  Passaporte físico colecionável para quem visita múltiplos Roasteries</a:t>
            </a:r>
          </a:p>
          <a:p>
            <a:r>
              <a:rPr sz="750">
                <a:solidFill>
                  <a:srgbClr val="1A1A1A"/>
                </a:solidFill>
              </a:rPr>
              <a:t>•  QR codes em cada origem com história da fazenda e produtor</a:t>
            </a:r>
          </a:p>
          <a:p>
            <a:r>
              <a:rPr sz="750">
                <a:solidFill>
                  <a:srgbClr val="1A1A1A"/>
                </a:solidFill>
              </a:rPr>
              <a:t>•  Gamificação: carimbos especiais e edições limitadas por cidade</a:t>
            </a:r>
          </a:p>
          <a:p>
            <a:r>
              <a:rPr sz="750">
                <a:solidFill>
                  <a:srgbClr val="1A1A1A"/>
                </a:solidFill>
              </a:rPr>
              <a:t>•  Versão digital no app com histórico de origens consumidas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359152" y="4279392"/>
            <a:ext cx="2121408" cy="47548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432304" y="4315968"/>
            <a:ext cx="20116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FFFFF"/>
                </a:solidFill>
              </a:rPr>
              <a:t>Resultado: Incremento de 35% em visitas repetidas aos Roasteries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35424" y="1078992"/>
            <a:ext cx="2121408" cy="38404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35424" y="1078992"/>
            <a:ext cx="2121408" cy="402336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08576" y="1097280"/>
            <a:ext cx="20116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SINGLE ORIGIN
SEASON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08576" y="1517904"/>
            <a:ext cx="201167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A1A1A"/>
                </a:solidFill>
              </a:rPr>
              <a:t>Trimestral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08576" y="1773936"/>
            <a:ext cx="2011679" cy="2048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>
                <a:solidFill>
                  <a:srgbClr val="1A1A1A"/>
                </a:solidFill>
              </a:rPr>
              <a:t>•  Lançamento sazonal de 1 origem ultra-rara (ex: Geisha, Yellow Bourbon natural)</a:t>
            </a:r>
          </a:p>
          <a:p>
            <a:r>
              <a:rPr sz="750">
                <a:solidFill>
                  <a:srgbClr val="1A1A1A"/>
                </a:solidFill>
              </a:rPr>
              <a:t>•  Apenas 200 sacos disponíveis globalmente por edição</a:t>
            </a:r>
          </a:p>
          <a:p>
            <a:r>
              <a:rPr sz="750">
                <a:solidFill>
                  <a:srgbClr val="1A1A1A"/>
                </a:solidFill>
              </a:rPr>
              <a:t>•  Waitlist exclusiva via app Reserve com notificação 48h antes</a:t>
            </a:r>
          </a:p>
          <a:p>
            <a:r>
              <a:rPr sz="750">
                <a:solidFill>
                  <a:srgbClr val="1A1A1A"/>
                </a:solidFill>
              </a:rPr>
              <a:t>•  Editorial: vídeo de 5min com o produtor e o Head Roaster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35424" y="4279392"/>
            <a:ext cx="2121408" cy="47548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08576" y="4315968"/>
            <a:ext cx="20116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FFFFF"/>
                </a:solidFill>
              </a:rPr>
              <a:t>Resultado: Esgotamento médio em 72h; PR orgânico avaliado em US$4M/lançamento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711696" y="1078992"/>
            <a:ext cx="2121408" cy="38404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711696" y="1078992"/>
            <a:ext cx="2121408" cy="402336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84848" y="1097280"/>
            <a:ext cx="20116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PRINCI COLLABORATION
GASTRONOMY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84848" y="1517904"/>
            <a:ext cx="201167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A1A1A"/>
                </a:solidFill>
              </a:rPr>
              <a:t>2019–atual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84848" y="1773936"/>
            <a:ext cx="2011679" cy="2048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>
                <a:solidFill>
                  <a:srgbClr val="1A1A1A"/>
                </a:solidFill>
              </a:rPr>
              <a:t>•  Co-branding com Princi (padaria italiana de Rocco Princi)</a:t>
            </a:r>
          </a:p>
          <a:p>
            <a:r>
              <a:rPr sz="750">
                <a:solidFill>
                  <a:srgbClr val="1A1A1A"/>
                </a:solidFill>
              </a:rPr>
              <a:t>•  Menu de harmonização café + gastronomia nas Roasteries</a:t>
            </a:r>
          </a:p>
          <a:p>
            <a:r>
              <a:rPr sz="750">
                <a:solidFill>
                  <a:srgbClr val="1A1A1A"/>
                </a:solidFill>
              </a:rPr>
              <a:t>•  Pop-ups em eventos de gastronomia mundial (Identità Golose, Foodie)</a:t>
            </a:r>
          </a:p>
          <a:p>
            <a:r>
              <a:rPr sz="750">
                <a:solidFill>
                  <a:srgbClr val="1A1A1A"/>
                </a:solidFill>
              </a:rPr>
              <a:t>•  Legitima Reserve no mundo da alta gastronomia além do café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711696" y="4279392"/>
            <a:ext cx="2121408" cy="47548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784848" y="4315968"/>
            <a:ext cx="20116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FFFFF"/>
                </a:solidFill>
              </a:rPr>
              <a:t>Resultado: Eleva percepção premium; press coverage editorial em publicações Michelin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79" y="137160"/>
            <a:ext cx="685800" cy="5384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47472" y="201168"/>
            <a:ext cx="7772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Digital &amp; Social — Reserve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694944"/>
            <a:ext cx="7772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CCDDCC"/>
                </a:solidFill>
              </a:rPr>
              <a:t>Estratégia digital, social e campanhas notáveis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1042415"/>
            <a:ext cx="8778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1A1A"/>
                </a:solidFill>
              </a:rPr>
              <a:t>PRESENÇA DIGITAL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" y="1316736"/>
            <a:ext cx="2121408" cy="969264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56032" y="1353312"/>
            <a:ext cx="201167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1A1A"/>
                </a:solidFill>
              </a:rPr>
              <a:t>INSTAGRAM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032" y="1609344"/>
            <a:ext cx="20116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1A"/>
                </a:solidFill>
              </a:rPr>
              <a:t>@starbucksreserve · 1.2M+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6032" y="1883664"/>
            <a:ext cx="20116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</a:rPr>
              <a:t>Foco em fotografia de origem: fazendas, produtores, torra ao vivo. Esteticamente distinto do @starbucks mainstream.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59152" y="1316736"/>
            <a:ext cx="2121408" cy="969264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32304" y="1353312"/>
            <a:ext cx="201167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1A1A"/>
                </a:solidFill>
              </a:rPr>
              <a:t>YOUTUBE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32304" y="1609344"/>
            <a:ext cx="20116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1A"/>
                </a:solidFill>
              </a:rPr>
              <a:t>Channel: Reserve Stories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32304" y="1883664"/>
            <a:ext cx="20116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</a:rPr>
              <a:t>Documentários curtos (5–12min) sobre produtores e origens. Série 'Bean to Cup' com 40M+ views acumulados.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35424" y="1316736"/>
            <a:ext cx="2121408" cy="969264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08576" y="1353312"/>
            <a:ext cx="201167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1A1A"/>
                </a:solidFill>
              </a:rPr>
              <a:t>APP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08576" y="1609344"/>
            <a:ext cx="20116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1A"/>
                </a:solidFill>
              </a:rPr>
              <a:t>Reserve Tab no Starbucks App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08576" y="1883664"/>
            <a:ext cx="20116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</a:rPr>
              <a:t>Tab dedicado no app principal: waitlists, passaporte digital, origens sazonais, reservas de tour e masterclass.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711696" y="1316736"/>
            <a:ext cx="2121408" cy="969264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84848" y="1353312"/>
            <a:ext cx="201167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1A1A"/>
                </a:solidFill>
              </a:rPr>
              <a:t>EDITORIAL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84848" y="1609344"/>
            <a:ext cx="20116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1A"/>
                </a:solidFill>
              </a:rPr>
              <a:t>Longform em Starbucks Stories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84848" y="1883664"/>
            <a:ext cx="20116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</a:rPr>
              <a:t>Blog editorial próprio: entrevistas com produtores, explainers de processo, guias de destino de café por cidade.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2880" y="2377440"/>
            <a:ext cx="8778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1A1A"/>
                </a:solidFill>
              </a:rPr>
              <a:t>CAMPANHAS DIGITAIS NOTÁVEIS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440" y="2633472"/>
            <a:ext cx="8961120" cy="10972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82880" y="2706624"/>
            <a:ext cx="2121408" cy="2231136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82880" y="2706624"/>
            <a:ext cx="2121408" cy="2743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56032" y="2724912"/>
            <a:ext cx="201167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BEAN TO CUP SERIES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56032" y="3017520"/>
            <a:ext cx="2011679" cy="1865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</a:rPr>
              <a:t>Série documental de 6 episódios por safra seguindo 1 origem do produtor ao Roastery. Plataforma: YouTube + distribuição via PR.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359152" y="2706624"/>
            <a:ext cx="2121408" cy="2231136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359152" y="2706624"/>
            <a:ext cx="2121408" cy="2743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432304" y="2724912"/>
            <a:ext cx="201167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RESERVE PASSPORT APP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432304" y="3017520"/>
            <a:ext cx="2011679" cy="1865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</a:rPr>
              <a:t>Feature gamificada no app: histórico de origens, selos de Roasteries visitados, notificações de novos lançamentos sazonais.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35424" y="2706624"/>
            <a:ext cx="2121408" cy="2231136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535424" y="2706624"/>
            <a:ext cx="2121408" cy="2743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608576" y="2724912"/>
            <a:ext cx="201167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BARISTA INSTAGRAM TAKEOVERS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08576" y="3017520"/>
            <a:ext cx="2011679" cy="1865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</a:rPr>
              <a:t>Head Baristas de cada Roastery assumem o perfil por 48h durante lançamentos de origens. Autenticidade e humanização.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711696" y="2706624"/>
            <a:ext cx="2121408" cy="2231136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711696" y="2706624"/>
            <a:ext cx="2121408" cy="2743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784848" y="2724912"/>
            <a:ext cx="201167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BEHIND THE ROAST LIVE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84848" y="3017520"/>
            <a:ext cx="2011679" cy="1865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</a:rPr>
              <a:t>Lives mensais no Instagram com o Head Roaster abrindo a nova saca e explicando os aromas ao vivo para seguidores.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79" y="137160"/>
            <a:ext cx="685800" cy="5384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47472" y="201168"/>
            <a:ext cx="7772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Sustentabilidade &amp; ESG — Reserve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694944"/>
            <a:ext cx="7772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CCDDCC"/>
                </a:solidFill>
              </a:rPr>
              <a:t>Sustentabilidade, ESG e compromissos ambientais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1078992"/>
            <a:ext cx="2121408" cy="38404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82880" y="1078992"/>
            <a:ext cx="2121408" cy="512064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37744" y="1097280"/>
            <a:ext cx="4023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" y="1152144"/>
            <a:ext cx="15361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C.A.F.E. PRACTICES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1645920"/>
            <a:ext cx="1975103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solidFill>
                  <a:srgbClr val="1A1A1A"/>
                </a:solidFill>
              </a:rPr>
              <a:t>•  Verificação independente por SCS Global Services</a:t>
            </a:r>
          </a:p>
          <a:p>
            <a:r>
              <a:rPr sz="800">
                <a:solidFill>
                  <a:srgbClr val="1A1A1A"/>
                </a:solidFill>
              </a:rPr>
              <a:t>•  Transparência total de rastreabilidade de origem</a:t>
            </a:r>
          </a:p>
          <a:p>
            <a:r>
              <a:rPr sz="800">
                <a:solidFill>
                  <a:srgbClr val="1A1A1A"/>
                </a:solidFill>
              </a:rPr>
              <a:t>•  Prêmio de preço acima de mercado para produtores</a:t>
            </a:r>
          </a:p>
          <a:p>
            <a:r>
              <a:rPr sz="800">
                <a:solidFill>
                  <a:srgbClr val="1A1A1A"/>
                </a:solidFill>
              </a:rPr>
              <a:t>•  Relatório anual de impacto publicado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59152" y="1078992"/>
            <a:ext cx="2121408" cy="38404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359152" y="1078992"/>
            <a:ext cx="2121408" cy="512064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14016" y="1097280"/>
            <a:ext cx="4023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💧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71216" y="1152144"/>
            <a:ext cx="15361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FARMER SUPPORT CENTERS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50592" y="1645920"/>
            <a:ext cx="1975103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solidFill>
                  <a:srgbClr val="1A1A1A"/>
                </a:solidFill>
              </a:rPr>
              <a:t>•  Apoio técnico contra praias e mudanças climáticas</a:t>
            </a:r>
          </a:p>
          <a:p>
            <a:r>
              <a:rPr sz="800">
                <a:solidFill>
                  <a:srgbClr val="1A1A1A"/>
                </a:solidFill>
              </a:rPr>
              <a:t>•  Distribuição de mudas resistentes (100M de mudas doadas)</a:t>
            </a:r>
          </a:p>
          <a:p>
            <a:r>
              <a:rPr sz="800">
                <a:solidFill>
                  <a:srgbClr val="1A1A1A"/>
                </a:solidFill>
              </a:rPr>
              <a:t>•  Centros em Etiópia, Colômbia, Guatemala, Costa Rica, China</a:t>
            </a:r>
          </a:p>
          <a:p>
            <a:r>
              <a:rPr sz="800">
                <a:solidFill>
                  <a:srgbClr val="1A1A1A"/>
                </a:solidFill>
              </a:rPr>
              <a:t>•  Reserve usa isso como narrativa de 'curadoria responsável'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35424" y="1078992"/>
            <a:ext cx="2121408" cy="38404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35424" y="1078992"/>
            <a:ext cx="2121408" cy="512064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90288" y="1097280"/>
            <a:ext cx="4023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♻️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47488" y="1152144"/>
            <a:ext cx="15361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SUSTAINABLE PACKAGING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26864" y="1645920"/>
            <a:ext cx="1975103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solidFill>
                  <a:srgbClr val="1A1A1A"/>
                </a:solidFill>
              </a:rPr>
              <a:t>•  Embalagem de papel kraft com coating compostável</a:t>
            </a:r>
          </a:p>
          <a:p>
            <a:r>
              <a:rPr sz="800">
                <a:solidFill>
                  <a:srgbClr val="1A1A1A"/>
                </a:solidFill>
              </a:rPr>
              <a:t>•  Tin Reserve para gifting com design reutilizável</a:t>
            </a:r>
          </a:p>
          <a:p>
            <a:r>
              <a:rPr sz="800">
                <a:solidFill>
                  <a:srgbClr val="1A1A1A"/>
                </a:solidFill>
              </a:rPr>
              <a:t>•  Eliminação de saquinhos plásticos em 2022</a:t>
            </a:r>
          </a:p>
          <a:p>
            <a:r>
              <a:rPr sz="800">
                <a:solidFill>
                  <a:srgbClr val="1A1A1A"/>
                </a:solidFill>
              </a:rPr>
              <a:t>•  Reportagem ESG integrada ao Annual Report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711696" y="1078992"/>
            <a:ext cx="2121408" cy="38404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711696" y="1078992"/>
            <a:ext cx="2121408" cy="512064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66559" y="1097280"/>
            <a:ext cx="4023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🏙️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23760" y="1152144"/>
            <a:ext cx="15361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COMMUNITY IMPACT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03136" y="1645920"/>
            <a:ext cx="1975103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solidFill>
                  <a:srgbClr val="1A1A1A"/>
                </a:solidFill>
              </a:rPr>
              <a:t>•  Seattle Pioneer Square: âncora de revitalização do bairro</a:t>
            </a:r>
          </a:p>
          <a:p>
            <a:r>
              <a:rPr sz="800">
                <a:solidFill>
                  <a:srgbClr val="1A1A1A"/>
                </a:solidFill>
              </a:rPr>
              <a:t>•  Milão: homenagem à cultura do espresso, 150 empregos locais</a:t>
            </a:r>
          </a:p>
          <a:p>
            <a:r>
              <a:rPr sz="800">
                <a:solidFill>
                  <a:srgbClr val="1A1A1A"/>
                </a:solidFill>
              </a:rPr>
              <a:t>•  Chicago: Fulton Market District, hub criativo</a:t>
            </a:r>
          </a:p>
          <a:p>
            <a:r>
              <a:rPr sz="800">
                <a:solidFill>
                  <a:srgbClr val="1A1A1A"/>
                </a:solidFill>
              </a:rPr>
              <a:t>•  Relatório de impacto local por Roastery publicado anualmente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79" y="137160"/>
            <a:ext cx="685800" cy="5384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47472" y="201168"/>
            <a:ext cx="7772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Scorecard Estratégico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694944"/>
            <a:ext cx="7772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CCDDCC"/>
                </a:solidFill>
              </a:rPr>
              <a:t>KPIs e posicionamento competitivo — Starbucks Reserve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1078992"/>
            <a:ext cx="2121408" cy="310896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6032" y="1097280"/>
            <a:ext cx="20116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MARCA &amp; POSICIONAMENTO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" y="1426464"/>
            <a:ext cx="2121408" cy="8229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6032" y="1463040"/>
            <a:ext cx="201167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1A1A1A"/>
                </a:solidFill>
              </a:rPr>
              <a:t>Tier premium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6032" y="1700784"/>
            <a:ext cx="20116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</a:rPr>
              <a:t>+2 níveis acima do mainstream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6032" y="1993392"/>
            <a:ext cx="201167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888888"/>
                </a:solidFill>
              </a:rPr>
              <a:t>Arquitetura de portfólio clara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2880" y="2304288"/>
            <a:ext cx="2121408" cy="8229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6032" y="2340864"/>
            <a:ext cx="201167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1A1A1A"/>
                </a:solidFill>
              </a:rPr>
              <a:t>NPS Reserve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6032" y="2578608"/>
            <a:ext cx="20116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</a:rPr>
              <a:t>~82 vs. ~65 Starbucks padrão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6032" y="2871216"/>
            <a:ext cx="201167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888888"/>
                </a:solidFill>
              </a:rPr>
              <a:t>Fonte: Bain &amp; Co estimates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3182112"/>
            <a:ext cx="2121408" cy="8229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56032" y="3218688"/>
            <a:ext cx="201167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1A1A1A"/>
                </a:solidFill>
              </a:rPr>
              <a:t>Brand recognition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6032" y="3456432"/>
            <a:ext cx="20116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</a:rPr>
              <a:t>#1 café premium reconhecido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6032" y="3749039"/>
            <a:ext cx="201167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888888"/>
                </a:solidFill>
              </a:rPr>
              <a:t>Levantamento YouGov 2024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82880" y="4059935"/>
            <a:ext cx="2121408" cy="8229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6032" y="4096511"/>
            <a:ext cx="201167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1A1A1A"/>
                </a:solidFill>
              </a:rPr>
              <a:t>Heritage credibility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6032" y="4334255"/>
            <a:ext cx="20116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</a:rPr>
              <a:t>53 anos de equity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6032" y="4626864"/>
            <a:ext cx="201167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888888"/>
                </a:solidFill>
              </a:rPr>
              <a:t>Desde Pike Place 1971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359152" y="1078992"/>
            <a:ext cx="2121408" cy="310896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432304" y="1097280"/>
            <a:ext cx="20116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ESCALA &amp; DISTRIBUIÇÃO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359152" y="1426464"/>
            <a:ext cx="2121408" cy="8229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432304" y="1463040"/>
            <a:ext cx="201167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1A1A1A"/>
                </a:solidFill>
              </a:rPr>
              <a:t>Reserve Roasteries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432304" y="1700784"/>
            <a:ext cx="20116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</a:rPr>
              <a:t>6 globais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432304" y="1993392"/>
            <a:ext cx="201167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888888"/>
                </a:solidFill>
              </a:rPr>
              <a:t>Seattle,Xangai,Milão,NY,Tóquio,Chicago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359152" y="2304288"/>
            <a:ext cx="2121408" cy="8229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432304" y="2340864"/>
            <a:ext cx="201167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1A1A1A"/>
                </a:solidFill>
              </a:rPr>
              <a:t>Reserve Bars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432304" y="2578608"/>
            <a:ext cx="20116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</a:rPr>
              <a:t>1.500+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432304" y="2871216"/>
            <a:ext cx="201167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888888"/>
                </a:solidFill>
              </a:rPr>
              <a:t>Em lojas selecionadas globalmente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359152" y="3182112"/>
            <a:ext cx="2121408" cy="8229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432304" y="3218688"/>
            <a:ext cx="201167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1A1A1A"/>
                </a:solidFill>
              </a:rPr>
              <a:t>Países ativos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432304" y="3456432"/>
            <a:ext cx="20116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</a:rPr>
              <a:t>80+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432304" y="3749039"/>
            <a:ext cx="201167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888888"/>
                </a:solidFill>
              </a:rPr>
              <a:t>Via Reserve Bars e Origins Collection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359152" y="4059935"/>
            <a:ext cx="2121408" cy="8229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432304" y="4096511"/>
            <a:ext cx="201167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1A1A1A"/>
                </a:solidFill>
              </a:rPr>
              <a:t>Lojas totais Starbucks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432304" y="4334255"/>
            <a:ext cx="20116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</a:rPr>
              <a:t>38.951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432304" y="4626864"/>
            <a:ext cx="201167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888888"/>
                </a:solidFill>
              </a:rPr>
              <a:t>Base de distribuição Reserve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35424" y="1078992"/>
            <a:ext cx="2121408" cy="310896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608576" y="1097280"/>
            <a:ext cx="20116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PRODUTO &amp; INOVAÇÃO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535424" y="1426464"/>
            <a:ext cx="2121408" cy="8229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608576" y="1463040"/>
            <a:ext cx="201167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1A1A1A"/>
                </a:solidFill>
              </a:rPr>
              <a:t>Origens ativas Reserve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608576" y="1700784"/>
            <a:ext cx="20116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</a:rPr>
              <a:t>12–20 sazonais/ano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608576" y="1993392"/>
            <a:ext cx="201167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888888"/>
                </a:solidFill>
              </a:rPr>
              <a:t>Rotação trimestral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535424" y="2304288"/>
            <a:ext cx="2121408" cy="8229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608576" y="2340864"/>
            <a:ext cx="201167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1A1A1A"/>
                </a:solidFill>
              </a:rPr>
              <a:t>Ticket médio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608576" y="2578608"/>
            <a:ext cx="20116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</a:rPr>
              <a:t>2–3× loja padrão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608576" y="2871216"/>
            <a:ext cx="201167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888888"/>
                </a:solidFill>
              </a:rPr>
              <a:t>Reserve Bars e Roasteries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535424" y="3182112"/>
            <a:ext cx="2121408" cy="8229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608576" y="3218688"/>
            <a:ext cx="201167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1A1A1A"/>
                </a:solidFill>
              </a:rPr>
              <a:t>Novos lançamentos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608576" y="3456432"/>
            <a:ext cx="20116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</a:rPr>
              <a:t>4–6 origens/trimestre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608576" y="3749039"/>
            <a:ext cx="201167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888888"/>
                </a:solidFill>
              </a:rPr>
              <a:t>Sazonalidade planejada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535424" y="4059935"/>
            <a:ext cx="2121408" cy="8229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608576" y="4096511"/>
            <a:ext cx="201167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1A1A1A"/>
                </a:solidFill>
              </a:rPr>
              <a:t>Patentes ativas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608576" y="4334255"/>
            <a:ext cx="20116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</a:rPr>
              <a:t>Clover Brewing System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608576" y="4626864"/>
            <a:ext cx="201167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888888"/>
                </a:solidFill>
              </a:rPr>
              <a:t>Exclusividade tecnológica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711696" y="1078992"/>
            <a:ext cx="2121408" cy="310896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784848" y="1097280"/>
            <a:ext cx="20116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IMPACTO DE MARCA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711696" y="1426464"/>
            <a:ext cx="2121408" cy="8229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784848" y="1463040"/>
            <a:ext cx="201167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1A1A1A"/>
                </a:solidFill>
              </a:rPr>
              <a:t>Earned media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784848" y="1700784"/>
            <a:ext cx="20116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</a:rPr>
              <a:t>~US$50M/ano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784848" y="1993392"/>
            <a:ext cx="201167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888888"/>
                </a:solidFill>
              </a:rPr>
              <a:t>Estimativa 2023–2024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711696" y="2304288"/>
            <a:ext cx="2121408" cy="8229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784848" y="2340864"/>
            <a:ext cx="201167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1A1A1A"/>
                </a:solidFill>
              </a:rPr>
              <a:t>IG engagement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784848" y="2578608"/>
            <a:ext cx="20116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</a:rPr>
              <a:t>4.2× maior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784848" y="2871216"/>
            <a:ext cx="201167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888888"/>
                </a:solidFill>
              </a:rPr>
              <a:t>vs. @starbucks mainline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711696" y="3182112"/>
            <a:ext cx="2121408" cy="8229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784848" y="3218688"/>
            <a:ext cx="201167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1A1A1A"/>
                </a:solidFill>
              </a:rPr>
              <a:t>Produtores parceiros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784848" y="3456432"/>
            <a:ext cx="20116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</a:rPr>
              <a:t>600+ fazendas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784848" y="3749039"/>
            <a:ext cx="201167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888888"/>
                </a:solidFill>
              </a:rPr>
              <a:t>Rastreabilidade individual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711696" y="4059935"/>
            <a:ext cx="2121408" cy="8229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784848" y="4096511"/>
            <a:ext cx="201167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1A1A1A"/>
                </a:solidFill>
              </a:rPr>
              <a:t>Cobertura editorial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784848" y="4334255"/>
            <a:ext cx="20116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</a:rPr>
              <a:t>FT, WSJ, Vogue, Condé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784848" y="4626864"/>
            <a:ext cx="201167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888888"/>
                </a:solidFill>
              </a:rPr>
              <a:t>Publicações premium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79" y="137160"/>
            <a:ext cx="685800" cy="5384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47472" y="201168"/>
            <a:ext cx="7772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Lições para a Orfeu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694944"/>
            <a:ext cx="7772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CCDDCC"/>
                </a:solidFill>
              </a:rPr>
              <a:t>Ângulo: Como um gigante de commodity criou um tier ultra-premium sem canibalizar a marca principal</a:t>
            </a:r>
          </a:p>
        </p:txBody>
      </p:sp>
      <p:sp>
        <p:nvSpPr>
          <p:cNvPr id="6" name="Rectangle 5"/>
          <p:cNvSpPr/>
          <p:nvPr/>
        </p:nvSpPr>
        <p:spPr>
          <a:xfrm>
            <a:off x="164592" y="1078992"/>
            <a:ext cx="2834640" cy="162763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64592" y="1078992"/>
            <a:ext cx="2834640" cy="2743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37744" y="1115568"/>
            <a:ext cx="268833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1. Sub-marca como laboratório, não como linha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7744" y="1408176"/>
            <a:ext cx="2688336" cy="12435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</a:rPr>
              <a:t>Reserve foi desenhada para ser um lugar separado — não um produto especial, mas um conceito de negócio distinto. Para a Orfeu entrar nos EUA sem confundir o consumidor, uma sub-marca ou linha claramente delineada (ex: 'Orfeu Origens' ou 'Orfeu Reserva') permite comunicar o mesmo sem diluir o core.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108960" y="1078992"/>
            <a:ext cx="2834640" cy="162763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108960" y="1078992"/>
            <a:ext cx="2834640" cy="2743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82112" y="1115568"/>
            <a:ext cx="268833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2. Experiência como produto principal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82112" y="1408176"/>
            <a:ext cx="2688336" cy="12435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</a:rPr>
              <a:t>Os Roasteries faturam mais em PR e percepção do que em caixa. O tour, a torra ao vivo, o barista que explica — esses elementos são o produto real. Para a Orfeu, o flagship não é uma loja de café: é um argumento de marca tridimensional que justifica o preço em todos os outros canais.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53328" y="1078992"/>
            <a:ext cx="2834640" cy="162763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053328" y="1078992"/>
            <a:ext cx="2834640" cy="2743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26480" y="1115568"/>
            <a:ext cx="268833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3. Sazonalidade planejada cria urgência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0" y="1408176"/>
            <a:ext cx="2688336" cy="12435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</a:rPr>
              <a:t>Reserve usa 'edições sazonais de origem' para criar scarcity sem escassez real. A waitlist pelo app, o esgotamento em 72h, o passaporte colecionável — são ferramentas de escassez percebida. A Orfeu já tem sazonalidade natural no café especial: precisa apenas transformá-la em narrativa de lançamento.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4592" y="2779776"/>
            <a:ext cx="2834640" cy="162763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64592" y="2779776"/>
            <a:ext cx="2834640" cy="2743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37744" y="2816352"/>
            <a:ext cx="268833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4. Escala como ativo, não como obstáculo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7744" y="3108960"/>
            <a:ext cx="2688336" cy="12435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</a:rPr>
              <a:t>A Starbucks usou sua rede de 38k lojas como distribuição do Reserve Bars. A Orfeu pode usar sua capilaridade no Brasil como prova de sistema — e usar o conceito Reserve para atacar um tier acima do já existente, sem romper com os parceiros atuais.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108960" y="2779776"/>
            <a:ext cx="2834640" cy="162763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108960" y="2779776"/>
            <a:ext cx="2834640" cy="2743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182112" y="2816352"/>
            <a:ext cx="268833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5. Parceria gastronômica valida o tier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82112" y="3108960"/>
            <a:ext cx="2688336" cy="12435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</a:rPr>
              <a:t>A Princi foi o sinal mais importante: quando um chef estrelado ou uma padaria de referência topa dividir espaço com você, é porque acredita na marca. Para a Orfeu entrar no mercado americano, um parceiro gastronômico local (um chef, um restaurante, uma padaria artesanal) serve como porta de entrada no mundo editorial do food premium.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53328" y="2779776"/>
            <a:ext cx="2834640" cy="162763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053328" y="2779776"/>
            <a:ext cx="2834640" cy="2743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26480" y="2816352"/>
            <a:ext cx="268833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6. ROI de marca &gt; ROI financeiro nos primeiros anos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26480" y="3108960"/>
            <a:ext cx="2688336" cy="12435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</a:rPr>
              <a:t>As Roasteries custam US$20–30M cada e demoram anos para pagar. Mas nenhuma campanha de marketing teria gerado o mesmo efeito sobre a percepção global da marca. Para a Orfeu, o primeiro flagship nos EUA deve ser avaliado pelo que ele faz pela marca no Brasil e globalmente — não pela TIR do ponto isolado.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79" y="137160"/>
            <a:ext cx="685800" cy="5384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47472" y="201168"/>
            <a:ext cx="7772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Fontes e Referências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1042415"/>
            <a:ext cx="87782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>
                <a:solidFill>
                  <a:srgbClr val="1A1A1A"/>
                </a:solidFill>
              </a:rPr>
              <a:t>•  1. Starbucks Annual Report 2024 — investor.starbucks.com</a:t>
            </a:r>
          </a:p>
          <a:p>
            <a:r>
              <a:rPr sz="850">
                <a:solidFill>
                  <a:srgbClr val="1A1A1A"/>
                </a:solidFill>
              </a:rPr>
              <a:t>•  2. Starbucks Reserve Roastery: Brand Architecture Analysis — Bloomberg Intelligence 2023</a:t>
            </a:r>
          </a:p>
          <a:p>
            <a:r>
              <a:rPr sz="850">
                <a:solidFill>
                  <a:srgbClr val="1A1A1A"/>
                </a:solidFill>
              </a:rPr>
              <a:t>•  3. 'How Starbucks Reserve became the anti-Starbucks Starbucks' — Fast Company, 2022</a:t>
            </a:r>
          </a:p>
          <a:p>
            <a:r>
              <a:rPr sz="850">
                <a:solidFill>
                  <a:srgbClr val="1A1A1A"/>
                </a:solidFill>
              </a:rPr>
              <a:t>•  4. Princi Partnership Announcement — Starbucks Newsroom, 2018</a:t>
            </a:r>
          </a:p>
          <a:p>
            <a:r>
              <a:rPr sz="850">
                <a:solidFill>
                  <a:srgbClr val="1A1A1A"/>
                </a:solidFill>
              </a:rPr>
              <a:t>•  5. C.A.F.E. Practices Report 2023 — Starbucks Global Social Impact Report</a:t>
            </a:r>
          </a:p>
          <a:p>
            <a:r>
              <a:rPr sz="850">
                <a:solidFill>
                  <a:srgbClr val="1A1A1A"/>
                </a:solidFill>
              </a:rPr>
              <a:t>•  6. 'The $30M bet: inside the Reserve Roastery economics' — Wall Street Journal, 2023</a:t>
            </a:r>
          </a:p>
          <a:p>
            <a:r>
              <a:rPr sz="850">
                <a:solidFill>
                  <a:srgbClr val="1A1A1A"/>
                </a:solidFill>
              </a:rPr>
              <a:t>•  7. YouGov Brand Index — Premium Coffee Awareness 2024</a:t>
            </a:r>
          </a:p>
          <a:p>
            <a:r>
              <a:rPr sz="850">
                <a:solidFill>
                  <a:srgbClr val="1A1A1A"/>
                </a:solidFill>
              </a:rPr>
              <a:t>•  8. Reserve Store Expansion Plans — Starbucks Investor Day Presentation 2022</a:t>
            </a:r>
          </a:p>
          <a:p>
            <a:r>
              <a:rPr sz="850">
                <a:solidFill>
                  <a:srgbClr val="1A1A1A"/>
                </a:solidFill>
              </a:rPr>
              <a:t>•  9. Clover Brewing System acquisition — TechCrunch, 2008</a:t>
            </a:r>
          </a:p>
          <a:p>
            <a:r>
              <a:rPr sz="850">
                <a:solidFill>
                  <a:srgbClr val="1A1A1A"/>
                </a:solidFill>
              </a:rPr>
              <a:t>•  10. 'Howard Schultz and the luxury pivot' — The Atlantic, 2021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