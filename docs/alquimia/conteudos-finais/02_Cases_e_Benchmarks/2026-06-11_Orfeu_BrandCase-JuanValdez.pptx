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1005">
              <a:alpha val="72000"/>
            </a:srgbClr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0" y="320040"/>
            <a:ext cx="1097280" cy="8615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1600200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8B6A00"/>
                </a:solidFill>
              </a:rPr>
              <a:t>CASE DE MARCA — EXPANSÃO EUA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38528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</a:rPr>
              <a:t>Juan Valdez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98064"/>
            <a:ext cx="8229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DDEEDD"/>
                </a:solidFill>
              </a:rPr>
              <a:t>Café de Colombia · Fedecafé · 1958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" y="3236976"/>
            <a:ext cx="8961120" cy="1097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346704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0" i="1">
                <a:solidFill>
                  <a:srgbClr val="888888"/>
                </a:solidFill>
              </a:rPr>
              <a:t>65 anos de investimento consistente da Federación Cafeteros construíram o único brand de origem latina que compete com marcas premium europeias no mercado americano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Estrutura do Case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78992"/>
            <a:ext cx="4389120" cy="551688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78992"/>
            <a:ext cx="310896" cy="55168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" y="1153667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11521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A00"/>
                </a:solidFill>
              </a:rPr>
              <a:t>Heritage &amp; FNC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75488" y="1408176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Da cooperativa 1927 ao personagem global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09159" y="10789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709159" y="1078992"/>
            <a:ext cx="310896" cy="55168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7447" y="1153667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7" y="11521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A00"/>
                </a:solidFill>
              </a:rPr>
              <a:t>Financeiros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93207" y="1408176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Exportações FNC + JV Café receita e canais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1726691"/>
            <a:ext cx="4389120" cy="551688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1726691"/>
            <a:ext cx="310896" cy="55168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" y="1801368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" y="17998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A00"/>
                </a:solidFill>
              </a:rPr>
              <a:t>Brand DNA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" y="2055875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O personagem como estratégia de nação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59" y="1726691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709159" y="1726691"/>
            <a:ext cx="310896" cy="55168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27447" y="1801368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93207" y="17998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A00"/>
                </a:solidFill>
              </a:rPr>
              <a:t>Positioning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93207" y="2055875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Framework: origem + autenticidade + continuidade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2374392"/>
            <a:ext cx="4389120" cy="551688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1440" y="2374392"/>
            <a:ext cx="310896" cy="55168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" y="2449068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" y="24475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A00"/>
                </a:solidFill>
              </a:rPr>
              <a:t>Cafés &amp; Ho.Re.Ca.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" y="2703576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400+ cafés em 18 países + aeroportos EUA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709159" y="23743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709159" y="2374392"/>
            <a:ext cx="310896" cy="55168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27447" y="2449068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93207" y="24475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A00"/>
                </a:solidFill>
              </a:rPr>
              <a:t>Portfólio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93207" y="2703576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Grão, cápsula, RTD, merchandising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1440" y="3022091"/>
            <a:ext cx="4389120" cy="551688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91440" y="3022091"/>
            <a:ext cx="310896" cy="55168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9728" y="3096767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75488" y="30952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A00"/>
                </a:solidFill>
              </a:rPr>
              <a:t>EUA — Estratégia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3351275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Aeroportos, NYC, Miami: o que funcionou e o que não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709159" y="3022091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709159" y="3022091"/>
            <a:ext cx="310896" cy="55168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27447" y="3096767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093207" y="30952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A00"/>
                </a:solidFill>
              </a:rPr>
              <a:t>Ativações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93207" y="3351275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Super Bowl, Hollywood, ativações culturais EUA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440" y="3669792"/>
            <a:ext cx="4389120" cy="551688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91440" y="3669792"/>
            <a:ext cx="310896" cy="55168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09728" y="3744468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75488" y="37429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A00"/>
                </a:solidFill>
              </a:rPr>
              <a:t>Digital &amp; Social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75488" y="3998976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Instagram Colombia + US social community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709159" y="36697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709159" y="3669792"/>
            <a:ext cx="310896" cy="55168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727447" y="3744468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093207" y="37429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A00"/>
                </a:solidFill>
              </a:rPr>
              <a:t>Sustentabilidade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93207" y="3998976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540K agricultores: a maior cooperativa de premium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1440" y="4317492"/>
            <a:ext cx="4389120" cy="551688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440" y="4317492"/>
            <a:ext cx="310896" cy="55168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9728" y="4392168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75488" y="43906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A00"/>
                </a:solidFill>
              </a:rPr>
              <a:t>Scorecard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75488" y="4646676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Métricas de performance</a:t>
            </a:r>
          </a:p>
        </p:txBody>
      </p:sp>
      <p:sp>
        <p:nvSpPr>
          <p:cNvPr id="60" name="Rectangle 59"/>
          <p:cNvSpPr/>
          <p:nvPr/>
        </p:nvSpPr>
        <p:spPr>
          <a:xfrm>
            <a:off x="4709159" y="4317492"/>
            <a:ext cx="4389120" cy="55168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4709159" y="4317492"/>
            <a:ext cx="310896" cy="55168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727447" y="4392168"/>
            <a:ext cx="27432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093207" y="4390644"/>
            <a:ext cx="3931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6A00"/>
                </a:solidFill>
              </a:rPr>
              <a:t>Lições para Orfeu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093207" y="4646676"/>
            <a:ext cx="3931920" cy="1493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555555"/>
                </a:solidFill>
              </a:rPr>
              <a:t>O que 65 anos de Juan Valdez ensinam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Trajetória &amp; Marcos Estratégicos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Inovações estruturais e decisões que definiram o modelo de negócio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24128"/>
            <a:ext cx="8961120" cy="36576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94944" y="1005840"/>
            <a:ext cx="73152" cy="20116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3716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6A00"/>
                </a:solidFill>
              </a:rPr>
              <a:t>1927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" y="155448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FNC Fundada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" y="1865376"/>
            <a:ext cx="113385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Federación Nacional de Cafeteros de Colombia fundada para representar 540,000+ famílias de agricultores e negociar poder de mercado coletivo.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75104" y="1005840"/>
            <a:ext cx="73152" cy="20116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417320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44475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6A00"/>
                </a:solidFill>
              </a:rPr>
              <a:t>1958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4752" y="155448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Juan Valdez Criado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44752" y="1865376"/>
            <a:ext cx="113385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Agência DDB cria Juan Valdez para a campanha 'Mild as May' nos EUA. Personagem: agricultor, bigode, chapéu, mula Conchita. Objetivo: diferenciar café colombiano como premium vs. genérico.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55264" y="1005840"/>
            <a:ext cx="73152" cy="20116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269748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72491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6A00"/>
                </a:solidFill>
              </a:rPr>
              <a:t>1981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24912" y="155448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'100% Colombian'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24912" y="1865376"/>
            <a:ext cx="113385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Campanha '100% Colombian Coffee' no mercado americano. Selos de certificação em marcas parceiras. Primeira vez que origem se torna differentiator no varejo americano mainstream.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35424" y="1005840"/>
            <a:ext cx="73152" cy="20116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977639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00507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6A00"/>
                </a:solidFill>
              </a:rPr>
              <a:t>1990s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05072" y="155448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Hollywood &amp; TV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5072" y="1865376"/>
            <a:ext cx="113385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Juan Valdez aparece em mais de 200 filmes e programas americanos como símbolo de café de qualidade. Brand placement como estratégia de penetração cultural.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815584" y="1005840"/>
            <a:ext cx="73152" cy="20116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25780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8523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6A00"/>
                </a:solidFill>
              </a:rPr>
              <a:t>2002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85232" y="155448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JV Café Lança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85232" y="1865376"/>
            <a:ext cx="113385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Juan Valdez Café — primeira loja própria em Bogotá. Resposta estratégica ao Starbucks que invadiu o mercado colombiano. De origem para experiência completa.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95744" y="1005840"/>
            <a:ext cx="73152" cy="20116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37960" y="1207008"/>
            <a:ext cx="1188720" cy="3566160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6539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6A00"/>
                </a:solidFill>
              </a:rPr>
              <a:t>2010s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65392" y="155448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EUA Expansão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65392" y="1865376"/>
            <a:ext cx="113385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Abertura de cafés nos EUA: NYC, Miami, aeroportos de Atlanta, Miami, JFK. Foco em high-traffic luxury travel points.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375904" y="1005840"/>
            <a:ext cx="73152" cy="20116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818120" y="1207008"/>
            <a:ext cx="1188720" cy="35661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45552" y="1243584"/>
            <a:ext cx="11338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6A00"/>
                </a:solidFill>
              </a:rPr>
              <a:t>2025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1554480"/>
            <a:ext cx="113385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400+ Cafés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845552" y="1865376"/>
            <a:ext cx="1133856" cy="2852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400+ cafés em 18 países. EUA: ~30 locais. Export revenue via FNC: ~$2.5B. JV Café: ~$80M estimado.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Arquitetura Financeira &amp; Métricas Globais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Performance econômica, mix de canais e geografias de crescimento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78992"/>
            <a:ext cx="2542032" cy="329184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6304" y="1124712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MÉTRICA</a:t>
            </a:r>
          </a:p>
        </p:txBody>
      </p:sp>
      <p:sp>
        <p:nvSpPr>
          <p:cNvPr id="8" name="Rectangle 7"/>
          <p:cNvSpPr/>
          <p:nvPr/>
        </p:nvSpPr>
        <p:spPr>
          <a:xfrm>
            <a:off x="2651760" y="1078992"/>
            <a:ext cx="1536192" cy="329184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06624" y="112471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ESTIMATIVA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06240" y="1078992"/>
            <a:ext cx="1536192" cy="329184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61103" y="112471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FONTE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0" y="1078992"/>
            <a:ext cx="1536192" cy="329184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15583" y="112471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NOTA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1426464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" y="1472184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FNC Export Revenue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1426464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06624" y="1472184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~$2.5B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06240" y="1426464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61103" y="1472184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FNC Annual Report 2024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760720" y="1426464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15583" y="1472184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Café verde + valor agregado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" y="1773936"/>
            <a:ext cx="2542032" cy="329184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46304" y="1819656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JV Café Revenue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651760" y="1773936"/>
            <a:ext cx="1536192" cy="329184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06624" y="181965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~$80M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206240" y="1773936"/>
            <a:ext cx="1536192" cy="329184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61103" y="181965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Estimativa mercado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760720" y="1773936"/>
            <a:ext cx="1536192" cy="329184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15583" y="1819656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400+ cafés, 18 países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" y="2121408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6304" y="2167128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JV Cafés — EUA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651760" y="2121408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706624" y="2167128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~30 locais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40" y="2121408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261103" y="2167128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JV official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760720" y="2121408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15583" y="2167128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Aeroportos + NYC + Miami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" y="2468880"/>
            <a:ext cx="2542032" cy="329184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46304" y="2514600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Países de presença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651760" y="2468880"/>
            <a:ext cx="1536192" cy="329184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706624" y="2514600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18+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206240" y="2468880"/>
            <a:ext cx="1536192" cy="329184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261103" y="2514600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JV official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2468880"/>
            <a:ext cx="1536192" cy="329184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15583" y="2514600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Americas + Asia + Europa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" y="2816352"/>
            <a:ext cx="254203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146304" y="2862072"/>
            <a:ext cx="2432303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A1A1A"/>
                </a:solidFill>
              </a:rPr>
              <a:t>Preço médio bag 250g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651760" y="2816352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706624" y="286207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$12–18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2816352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261103" y="286207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Retail EUA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760720" y="2816352"/>
            <a:ext cx="1536192" cy="3291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815583" y="2862072"/>
            <a:ext cx="14264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vs. $6–9 commodity Colombian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" y="3255264"/>
            <a:ext cx="4389120" cy="950976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1440" y="3255264"/>
            <a:ext cx="4389120" cy="256032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82880" y="327355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MODELO FNC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82880" y="3566160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FNC é cooperativa governamental que reinveste 60%+ das receitas de exportação no desenvolvimento rural. Juan Valdez Café é subsidiária separada — veículo de brand building, não de geração de lucro.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17720" y="3255264"/>
            <a:ext cx="4389120" cy="950976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617720" y="3255264"/>
            <a:ext cx="4389120" cy="256032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709159" y="3273552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AIRPORT STRATEGY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59" y="3566160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Presença em aeroportos americanos de alto tráfego (JFK, MIA, ATL) = 50M+ exposições/ano a consumidores americanos premium em momento de receptividade. CAC mais eficiente do que varejo.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440" y="4279392"/>
            <a:ext cx="4389120" cy="950976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1440" y="4279392"/>
            <a:ext cx="4389120" cy="256032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82880" y="4297679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US RETAIL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82880" y="4590288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Parceria com licenciados para grão e cápsulas em Whole Foods, Amazon e varejistas premium. Royalty model = escalabilidade sem capital de operação.</a:t>
            </a:r>
          </a:p>
        </p:txBody>
      </p:sp>
      <p:sp>
        <p:nvSpPr>
          <p:cNvPr id="66" name="Rectangle 65"/>
          <p:cNvSpPr/>
          <p:nvPr/>
        </p:nvSpPr>
        <p:spPr>
          <a:xfrm>
            <a:off x="4617720" y="4279392"/>
            <a:ext cx="4389120" cy="950976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617720" y="4279392"/>
            <a:ext cx="4389120" cy="256032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4709159" y="4297679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COLOMBIA PRIMEIRO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4709159" y="4590288"/>
            <a:ext cx="4206240" cy="585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85% do negócio de cafés ainda é na Colômbia e região. EUA é expansão estratégica de longo prazo, não driver atual. Diferente de Orfeu: Brasil seria base sólida antes do push americano.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Brand DNA — Identidade e Propósito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4370832" cy="47548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" y="10698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MISSÃO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" y="1280160"/>
            <a:ext cx="422452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Transformar o café colombiano de commodity em símbolo cultural e econômico da excelência de origem — enriquecendo as 540,000 famílias produtoras enquanto constrói orgulho nacional.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53712" y="1051560"/>
            <a:ext cx="4572000" cy="47548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45152" y="1069848"/>
            <a:ext cx="914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VISÃO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280160"/>
            <a:ext cx="4407408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FFFFFF"/>
                </a:solidFill>
              </a:rPr>
              <a:t>Ser o guardião e embaixador global do café colombiano de qualidade — provando que origem é argumento premium quando sustentada por décadas de investimento consistente e personagem icônico.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1591056"/>
            <a:ext cx="8942832" cy="347472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" y="1609344"/>
            <a:ext cx="6217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8B6A00"/>
                </a:solidFill>
              </a:rPr>
              <a:t>TAGLINE: 'O café que escolhe seus produtores.' — a pureza como promessa.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1609344"/>
            <a:ext cx="2505456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1">
                <a:solidFill>
                  <a:srgbClr val="555555"/>
                </a:solidFill>
              </a:rPr>
              <a:t>HERITAGE: FNC 1927 · Juan Valdez personagem 1958 · 65 anos de campanha ininterrupta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" y="2011680"/>
            <a:ext cx="1426464" cy="402336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6A00"/>
                </a:solidFill>
              </a:rPr>
              <a:t>Nacional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572768" y="2011680"/>
            <a:ext cx="1426464" cy="402336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627632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6A00"/>
                </a:solidFill>
              </a:rPr>
              <a:t>Autêntico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054096" y="2011680"/>
            <a:ext cx="1426464" cy="402336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6A00"/>
                </a:solidFill>
              </a:rPr>
              <a:t>Consistente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35424" y="2011680"/>
            <a:ext cx="1426464" cy="402336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6A00"/>
                </a:solidFill>
              </a:rPr>
              <a:t>Familiar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16752" y="2011680"/>
            <a:ext cx="1426464" cy="402336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6A00"/>
                </a:solidFill>
              </a:rPr>
              <a:t>Orgulhoso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498080" y="2011680"/>
            <a:ext cx="1426464" cy="402336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52944" y="2029968"/>
            <a:ext cx="1335024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B6A00"/>
                </a:solidFill>
              </a:rPr>
              <a:t>Premium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" y="2487168"/>
            <a:ext cx="1737360" cy="2542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" y="256032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6A00"/>
                </a:solidFill>
              </a:rPr>
              <a:t>👨‍🌾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6304" y="2999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6A00"/>
                </a:solidFill>
              </a:rPr>
              <a:t>Juan Valdez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6304" y="3273552"/>
            <a:ext cx="16459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Personagem como brand asset: agricultor + mula = história de origem que 65 anos não apagam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83664" y="2487168"/>
            <a:ext cx="1737360" cy="2542032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83664" y="256032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6A00"/>
                </a:solidFill>
              </a:rPr>
              <a:t>🇨🇴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38528" y="2999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6A00"/>
                </a:solidFill>
              </a:rPr>
              <a:t>100% Colombian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38528" y="3273552"/>
            <a:ext cx="16459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Certificação de origem na embalagem de marcas parceiras = halo premium transferível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75888" y="2487168"/>
            <a:ext cx="1737360" cy="2542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675888" y="256032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6A00"/>
                </a:solidFill>
              </a:rPr>
              <a:t>🏪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730752" y="2999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6A00"/>
                </a:solidFill>
              </a:rPr>
              <a:t>JV Café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730752" y="3273552"/>
            <a:ext cx="16459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Cadeia de cafés própria como prova física de que origem colombiana = experiência premium completa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68112" y="2487168"/>
            <a:ext cx="1737360" cy="2542032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468112" y="256032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6A00"/>
                </a:solidFill>
              </a:rPr>
              <a:t>♻️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522976" y="2999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6A00"/>
                </a:solidFill>
              </a:rPr>
              <a:t>540K Famílias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522976" y="3273552"/>
            <a:ext cx="16459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Cooperativa de 540K agricultores = maior programa de impact sourcing premium do mundo</a:t>
            </a:r>
          </a:p>
        </p:txBody>
      </p:sp>
      <p:sp>
        <p:nvSpPr>
          <p:cNvPr id="42" name="Rectangle 41"/>
          <p:cNvSpPr/>
          <p:nvPr/>
        </p:nvSpPr>
        <p:spPr>
          <a:xfrm>
            <a:off x="7260336" y="2487168"/>
            <a:ext cx="1737360" cy="254203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260336" y="2560320"/>
            <a:ext cx="173736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B6A00"/>
                </a:solidFill>
              </a:rPr>
              <a:t>✈️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0" y="2999232"/>
            <a:ext cx="16459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6A00"/>
                </a:solidFill>
              </a:rPr>
              <a:t>Airport Strategy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315200" y="3273552"/>
            <a:ext cx="1645920" cy="16642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1A1A1A"/>
                </a:solidFill>
              </a:rPr>
              <a:t>Aeroportos premium como vitrine para viajantes de alto renda = sampling passivo eficiente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Brand Positioning Framework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4389120" cy="804672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4389120" cy="274320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" y="10698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BRAND STATEMENT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3716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1A1A"/>
                </a:solidFill>
              </a:rPr>
              <a:t>Juan Valdez é a prova viva de que uma nação pode construir marca premium quando investe consistentemente por décadas. Não é uma empresa vendendo café — é uma cooperativa de 540,000 agricultores vendendo dignidade, qualidade e orgulho colombiano em cada xícara.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4617720" y="1051560"/>
            <a:ext cx="4389120" cy="804672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617720" y="1051560"/>
            <a:ext cx="4389120" cy="274320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09159" y="1069848"/>
            <a:ext cx="42062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CORE CREATIVE IDEA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1371600"/>
            <a:ext cx="42062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1A1A1A"/>
                </a:solidFill>
              </a:rPr>
              <a:t>'Porque atrás de cada xícara existe um agricultor, uma família, uma montanha e 65 anos de cuidado.' O personagem de Juan Valdez não é marketing — é um compromisso de nação renovado a cada colheita.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1440" y="1975104"/>
            <a:ext cx="4389120" cy="1353312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" y="1975104"/>
            <a:ext cx="4389120" cy="256032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82880" y="20025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BENEFÍCIOS DO PRODUTO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" y="228600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100% Arábica de alta altitude — Huila, Nariño, Sierra Nevada, Cauca</a:t>
            </a:r>
          </a:p>
          <a:p>
            <a:r>
              <a:rPr sz="850">
                <a:solidFill>
                  <a:srgbClr val="1A1A1A"/>
                </a:solidFill>
              </a:rPr>
              <a:t>•  Certificação de origem verificável em embalagem parceira</a:t>
            </a:r>
          </a:p>
          <a:p>
            <a:r>
              <a:rPr sz="850">
                <a:solidFill>
                  <a:srgbClr val="1A1A1A"/>
                </a:solidFill>
              </a:rPr>
              <a:t>•  Perfis sensoriais de alta qualidade: acidez suave, doçura de caramelo</a:t>
            </a:r>
          </a:p>
          <a:p>
            <a:r>
              <a:rPr sz="850">
                <a:solidFill>
                  <a:srgbClr val="1A1A1A"/>
                </a:solidFill>
              </a:rPr>
              <a:t>•  Cápsulas compatíveis Nespresso com single-origin colombiano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617720" y="1975104"/>
            <a:ext cx="4389120" cy="1353312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617720" y="1975104"/>
            <a:ext cx="4389120" cy="256032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709159" y="200253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BENEFÍCIOS EMOCIONAIS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90872" y="228600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Sentir que sua compra apoia diretamente 540K famílias de agricultores</a:t>
            </a:r>
          </a:p>
          <a:p>
            <a:r>
              <a:rPr sz="850">
                <a:solidFill>
                  <a:srgbClr val="1A1A1A"/>
                </a:solidFill>
              </a:rPr>
              <a:t>•  Orgulho de escolher origem certificada, não genérico</a:t>
            </a:r>
          </a:p>
          <a:p>
            <a:r>
              <a:rPr sz="850">
                <a:solidFill>
                  <a:srgbClr val="1A1A1A"/>
                </a:solidFill>
              </a:rPr>
              <a:t>•  Confiança de 65 anos: Juan Valdez nunca desapontou</a:t>
            </a:r>
          </a:p>
          <a:p>
            <a:r>
              <a:rPr sz="850">
                <a:solidFill>
                  <a:srgbClr val="1A1A1A"/>
                </a:solidFill>
              </a:rPr>
              <a:t>•  Conexão cultural com a América Latina premium — não commodity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" y="3392424"/>
            <a:ext cx="4389120" cy="1353312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440" y="3392424"/>
            <a:ext cx="4389120" cy="25603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82880" y="3419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REASONS TO BELIEVE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4592" y="370332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65 anos de campanha ininterrupta — Juan Valdez since 1958</a:t>
            </a:r>
          </a:p>
          <a:p>
            <a:r>
              <a:rPr sz="850">
                <a:solidFill>
                  <a:srgbClr val="1A1A1A"/>
                </a:solidFill>
              </a:rPr>
              <a:t>•  FNC: cooperativa que representa governo + agricultores + qualidade</a:t>
            </a:r>
          </a:p>
          <a:p>
            <a:r>
              <a:rPr sz="850">
                <a:solidFill>
                  <a:srgbClr val="1A1A1A"/>
                </a:solidFill>
              </a:rPr>
              <a:t>•  Certificação 100% Colombian Coffee em 200+ marcas parceiras</a:t>
            </a:r>
          </a:p>
          <a:p>
            <a:r>
              <a:rPr sz="850">
                <a:solidFill>
                  <a:srgbClr val="1A1A1A"/>
                </a:solidFill>
              </a:rPr>
              <a:t>•  Cafés em 18 países — prova física de premium claim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617720" y="3392424"/>
            <a:ext cx="4389120" cy="1353312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617720" y="3392424"/>
            <a:ext cx="4389120" cy="25603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09159" y="3419856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BRAND VALUES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90872" y="3703320"/>
            <a:ext cx="422452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Autenticidade de origem — 100% colombiano é não-negociável</a:t>
            </a:r>
          </a:p>
          <a:p>
            <a:r>
              <a:rPr sz="850">
                <a:solidFill>
                  <a:srgbClr val="1A1A1A"/>
                </a:solidFill>
              </a:rPr>
              <a:t>•  Equidade para agricultores — cooperativa, não extração</a:t>
            </a:r>
          </a:p>
          <a:p>
            <a:r>
              <a:rPr sz="850">
                <a:solidFill>
                  <a:srgbClr val="1A1A1A"/>
                </a:solidFill>
              </a:rPr>
              <a:t>•  Consistência de décadas — sem desvios por pressão de mercado</a:t>
            </a:r>
          </a:p>
          <a:p>
            <a:r>
              <a:rPr sz="850">
                <a:solidFill>
                  <a:srgbClr val="1A1A1A"/>
                </a:solidFill>
              </a:rPr>
              <a:t>•  Orgulho nacional — café como identidade cultural colombiana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Ho.Re.Ca. &amp; Cafés JV — EUA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Aeroportos, hotéis premium e centros financeiros como vitrine americana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AEROPORTOS EUA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Estratégia principal no EUA: aeroportos de alto tráfego premium</a:t>
            </a:r>
          </a:p>
          <a:p>
            <a:r>
              <a:rPr sz="850">
                <a:solidFill>
                  <a:srgbClr val="1A1A1A"/>
                </a:solidFill>
              </a:rPr>
              <a:t>•  JFK Terminal 4 (internacional) · MIA Concourse D · ATL International</a:t>
            </a:r>
          </a:p>
          <a:p>
            <a:r>
              <a:rPr sz="850">
                <a:solidFill>
                  <a:srgbClr val="1A1A1A"/>
                </a:solidFill>
              </a:rPr>
              <a:t>•  50M+ passageiros/ano nos aeroportos com presença JV</a:t>
            </a:r>
          </a:p>
          <a:p>
            <a:r>
              <a:rPr sz="850">
                <a:solidFill>
                  <a:srgbClr val="1A1A1A"/>
                </a:solidFill>
              </a:rPr>
              <a:t>•  Público: 55% business traveler, 45% turista international — perfil premium</a:t>
            </a:r>
          </a:p>
          <a:p>
            <a:r>
              <a:rPr sz="850">
                <a:solidFill>
                  <a:srgbClr val="1A1A1A"/>
                </a:solidFill>
              </a:rPr>
              <a:t>•  Ticket médio $8–12 — premium aceptável em ambiente de aeroporto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NYC &amp; MIAMI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NYC: 3 cafés em Manhattan (Midtown, Financial District, UES)</a:t>
            </a:r>
          </a:p>
          <a:p>
            <a:r>
              <a:rPr sz="850">
                <a:solidFill>
                  <a:srgbClr val="1A1A1A"/>
                </a:solidFill>
              </a:rPr>
              <a:t>•  Miami: 4 cafés (Brickell, Coral Gables, airport, Miami Beach)</a:t>
            </a:r>
          </a:p>
          <a:p>
            <a:r>
              <a:rPr sz="850">
                <a:solidFill>
                  <a:srgbClr val="1A1A1A"/>
                </a:solidFill>
              </a:rPr>
              <a:t>•  Foco em diáspora colombiana + turistas latinoamericanos + viajantes globais</a:t>
            </a:r>
          </a:p>
          <a:p>
            <a:r>
              <a:rPr sz="850">
                <a:solidFill>
                  <a:srgbClr val="1A1A1A"/>
                </a:solidFill>
              </a:rPr>
              <a:t>•  Colaborações com hotéis boutique em Miami para in-room program</a:t>
            </a:r>
          </a:p>
          <a:p>
            <a:r>
              <a:rPr sz="850">
                <a:solidFill>
                  <a:srgbClr val="1A1A1A"/>
                </a:solidFill>
              </a:rPr>
              <a:t>•  Eventos culturais: café colombiano em festivais latinos de NYC e MIA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WHOLESALE EUA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Parceria com importadores premium para distribuição em Whole Foods</a:t>
            </a:r>
          </a:p>
          <a:p>
            <a:r>
              <a:rPr sz="850">
                <a:solidFill>
                  <a:srgbClr val="1A1A1A"/>
                </a:solidFill>
              </a:rPr>
              <a:t>•  Amazon.com: top-5 Colombian coffee brand por value (não volume)</a:t>
            </a:r>
          </a:p>
          <a:p>
            <a:r>
              <a:rPr sz="850">
                <a:solidFill>
                  <a:srgbClr val="1A1A1A"/>
                </a:solidFill>
              </a:rPr>
              <a:t>•  Kroger premium tier e Fresh Market em cidades com diáspora colombiana</a:t>
            </a:r>
          </a:p>
          <a:p>
            <a:r>
              <a:rPr sz="850">
                <a:solidFill>
                  <a:srgbClr val="1A1A1A"/>
                </a:solidFill>
              </a:rPr>
              <a:t>•  Club de degustação online: membership com 4 bags/ano de single-regions</a:t>
            </a:r>
          </a:p>
          <a:p>
            <a:r>
              <a:rPr sz="850">
                <a:solidFill>
                  <a:srgbClr val="1A1A1A"/>
                </a:solidFill>
              </a:rPr>
              <a:t>•  Retail: $12–18/250g — premium mas acessível vs. Blue Bottle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B2B &amp; EVENTS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Catering premium para eventos colombianos e latinoamericanos nos EUA</a:t>
            </a:r>
          </a:p>
          <a:p>
            <a:r>
              <a:rPr sz="850">
                <a:solidFill>
                  <a:srgbClr val="1A1A1A"/>
                </a:solidFill>
              </a:rPr>
              <a:t>•  Parceria com consulados e embaixadas para eventos diplomáticos</a:t>
            </a:r>
          </a:p>
          <a:p>
            <a:r>
              <a:rPr sz="850">
                <a:solidFill>
                  <a:srgbClr val="1A1A1A"/>
                </a:solidFill>
              </a:rPr>
              <a:t>•  Present at Latin Grammy Awards e eventos culturais colombianos</a:t>
            </a:r>
          </a:p>
          <a:p>
            <a:r>
              <a:rPr sz="850">
                <a:solidFill>
                  <a:srgbClr val="1A1A1A"/>
                </a:solidFill>
              </a:rPr>
              <a:t>•  Hotel parceiro: Grand Hyatt e Marriott em destinos colombianos</a:t>
            </a:r>
          </a:p>
          <a:p>
            <a:r>
              <a:rPr sz="850">
                <a:solidFill>
                  <a:srgbClr val="1A1A1A"/>
                </a:solidFill>
              </a:rPr>
              <a:t>•  JV Professional: máquinas + café para escritórios no corredor Miami-NYC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Portfólio — Juan Valdez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Grão · Cápsulas · RTD · Merchandise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92608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SINGLE ORIGINS</a:t>
            </a:r>
          </a:p>
        </p:txBody>
      </p:sp>
      <p:sp>
        <p:nvSpPr>
          <p:cNvPr id="9" name="Rectangle 8"/>
          <p:cNvSpPr/>
          <p:nvPr/>
        </p:nvSpPr>
        <p:spPr>
          <a:xfrm>
            <a:off x="14630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1168" y="1444752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6A00"/>
                </a:solidFill>
              </a:rPr>
              <a:t>Sierra Nevada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" y="170078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Altitude 1800m — chocolate, nozes, suave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116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6A00"/>
                </a:solidFill>
              </a:rPr>
              <a:t>$16/250g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4630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1168" y="2414016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6A00"/>
                </a:solidFill>
              </a:rPr>
              <a:t>Huila Reserve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1168" y="2670048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Acidez brilhante, flores, melado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116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6A00"/>
                </a:solidFill>
              </a:rPr>
              <a:t>$18/250g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4630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01168" y="3383280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8B6A00"/>
                </a:solidFill>
              </a:rPr>
              <a:t>Nariño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" y="363931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Sabor claro e limpo, caramelo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6A00"/>
                </a:solidFill>
              </a:rPr>
              <a:t>$15/250g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331720" y="1051560"/>
            <a:ext cx="2185416" cy="292608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CÁPSULAS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8658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441448" y="1444752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Nespresso-compat.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41448" y="170078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3 origens colombianas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4144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$0.55/cáps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8658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441448" y="2414016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Dolce Gusto-compat.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41448" y="2670048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Linha acessível premium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44144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$0.42/cáps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38658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441448" y="3383280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6064"/>
                </a:solidFill>
              </a:rPr>
              <a:t>Propietario JV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41448" y="363931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Sistema próprio limitado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44144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006064"/>
                </a:solidFill>
              </a:rPr>
              <a:t>$0.60/cáps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1051560"/>
            <a:ext cx="2185416" cy="292608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RTD &amp; INSTANT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2686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681728" y="1444752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Cold Brew Can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681728" y="170078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12oz — altitude Colombian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68172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$4.50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62686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81728" y="2414016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Instant Premium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81728" y="2670048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Freeze-dried 100% Colombian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68172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$12/10 sachets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2686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681728" y="3383280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1F4A1F"/>
                </a:solidFill>
              </a:rPr>
              <a:t>Latte RTD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81728" y="363931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Oat milk + Colombian espresso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8172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$5.00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812280" y="1051560"/>
            <a:ext cx="2185416" cy="292608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MERCHANDISE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867144" y="1408176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22008" y="1444752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Juan Valdez Mug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922008" y="1700784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Collectible ceramic — seasonal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922008" y="2029968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$22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867144" y="2377440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922008" y="2414016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Gift Sets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922008" y="2670048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Bag + mug + brewing guide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922008" y="2999232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$45–65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67144" y="3346704"/>
            <a:ext cx="2075688" cy="87782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6922008" y="3383280"/>
            <a:ext cx="198424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C06A18"/>
                </a:solidFill>
              </a:rPr>
              <a:t>Branded Totes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922008" y="3639312"/>
            <a:ext cx="198424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555555"/>
                </a:solidFill>
              </a:rPr>
              <a:t>Premium canvas — tourist appeal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22008" y="3968496"/>
            <a:ext cx="198424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$28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Estratégia EUA — Expansão e Limites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O que Juan Valdez aprendeu tentando escalar no mercado americano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 QUE FUNCIONOU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Aeroportos como vitrine premium de baixo risco — payback rápido</a:t>
            </a:r>
          </a:p>
          <a:p>
            <a:r>
              <a:rPr sz="850">
                <a:solidFill>
                  <a:srgbClr val="1A1A1A"/>
                </a:solidFill>
              </a:rPr>
              <a:t>•  Retail parceiro (WF, Amazon) sem capital de operação</a:t>
            </a:r>
          </a:p>
          <a:p>
            <a:r>
              <a:rPr sz="850">
                <a:solidFill>
                  <a:srgbClr val="1A1A1A"/>
                </a:solidFill>
              </a:rPr>
              <a:t>•  Diáspora colombiana como early adopters — base garantida</a:t>
            </a:r>
          </a:p>
          <a:p>
            <a:r>
              <a:rPr sz="850">
                <a:solidFill>
                  <a:srgbClr val="1A1A1A"/>
                </a:solidFill>
              </a:rPr>
              <a:t>•  Cultural events como earned media — sem budget de paid ads</a:t>
            </a:r>
          </a:p>
          <a:p>
            <a:r>
              <a:rPr sz="850">
                <a:solidFill>
                  <a:srgbClr val="1A1A1A"/>
                </a:solidFill>
              </a:rPr>
              <a:t>•  '100% Colombian' seal em terceiros = royalty + awareness escalonável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E0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0060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ONDE ERROU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Cafés de rua em NYC/LA fora do eixo aeroporto — failing rents</a:t>
            </a:r>
          </a:p>
          <a:p>
            <a:r>
              <a:rPr sz="850">
                <a:solidFill>
                  <a:srgbClr val="1A1A1A"/>
                </a:solidFill>
              </a:rPr>
              <a:t>•  Sem DTC/subscription — LTV de consumidores premium perdido</a:t>
            </a:r>
          </a:p>
          <a:p>
            <a:r>
              <a:rPr sz="850">
                <a:solidFill>
                  <a:srgbClr val="1A1A1A"/>
                </a:solidFill>
              </a:rPr>
              <a:t>•  Ausência nas plataformas digitais americanas — &lt;100K Instagram EUA</a:t>
            </a:r>
          </a:p>
          <a:p>
            <a:r>
              <a:rPr sz="850">
                <a:solidFill>
                  <a:srgbClr val="1A1A1A"/>
                </a:solidFill>
              </a:rPr>
              <a:t>•  Não adaptou menu para cold brew, oat milk, seasonal drinks EUA</a:t>
            </a:r>
          </a:p>
          <a:p>
            <a:r>
              <a:rPr sz="850">
                <a:solidFill>
                  <a:srgbClr val="1A1A1A"/>
                </a:solidFill>
              </a:rPr>
              <a:t>•  Pricing inconsistente entre cafés e varejo confunde o consumidor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LIÇÕES DO FRACASSO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Capital limitado = aeroportos antes de rua própria — menor risco</a:t>
            </a:r>
          </a:p>
          <a:p>
            <a:r>
              <a:rPr sz="850">
                <a:solidFill>
                  <a:srgbClr val="1A1A1A"/>
                </a:solidFill>
              </a:rPr>
              <a:t>•  Diáspora como núcleo de fidelização antes do mainstream</a:t>
            </a:r>
          </a:p>
          <a:p>
            <a:r>
              <a:rPr sz="850">
                <a:solidFill>
                  <a:srgbClr val="1A1A1A"/>
                </a:solidFill>
              </a:rPr>
              <a:t>•  Não tentar ser Starbucks — focar em specialty origin premium</a:t>
            </a:r>
          </a:p>
          <a:p>
            <a:r>
              <a:rPr sz="850">
                <a:solidFill>
                  <a:srgbClr val="1A1A1A"/>
                </a:solidFill>
              </a:rPr>
              <a:t>•  DTC e subscription teriam gerado LTV sem custo de infra</a:t>
            </a:r>
          </a:p>
          <a:p>
            <a:r>
              <a:rPr sz="850">
                <a:solidFill>
                  <a:srgbClr val="1A1A1A"/>
                </a:solidFill>
              </a:rPr>
              <a:t>•  Conteúdo americano em inglês é não-negociável para audiência geral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PARALELO ORFEU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Aeroportos GRU/GIG/BSB = validação doméstica antes do push EUA</a:t>
            </a:r>
          </a:p>
          <a:p>
            <a:r>
              <a:rPr sz="850">
                <a:solidFill>
                  <a:srgbClr val="1A1A1A"/>
                </a:solidFill>
              </a:rPr>
              <a:t>•  'Brazilian Specialty Coffee' seal em parceiros = halo transferível</a:t>
            </a:r>
          </a:p>
          <a:p>
            <a:r>
              <a:rPr sz="850">
                <a:solidFill>
                  <a:srgbClr val="1A1A1A"/>
                </a:solidFill>
              </a:rPr>
              <a:t>•  Diáspora brasileira EUA (~1.5M) como early adopter no-cost</a:t>
            </a:r>
          </a:p>
          <a:p>
            <a:r>
              <a:rPr sz="850">
                <a:solidFill>
                  <a:srgbClr val="1A1A1A"/>
                </a:solidFill>
              </a:rPr>
              <a:t>•  DTC para ex-pats brasileiros nos EUA = primeiros $500K sem varejo</a:t>
            </a:r>
          </a:p>
          <a:p>
            <a:r>
              <a:rPr sz="850">
                <a:solidFill>
                  <a:srgbClr val="1A1A1A"/>
                </a:solidFill>
              </a:rPr>
              <a:t>•  Airport cafés nos EUA: hubs internacionais como vitrine para BRL travelers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Marketing &amp; Ativações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Campanhas, parcerias e experiências de marca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Super Bowl &amp; NFL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" y="1371600"/>
            <a:ext cx="2112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6A00"/>
                </a:solidFill>
              </a:rPr>
              <a:t>2002–2015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" y="1591056"/>
            <a:ext cx="2130552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Anúncios do Super Bowl: campanha '100% Colombian' em slots premium</a:t>
            </a:r>
          </a:p>
          <a:p>
            <a:r>
              <a:rPr sz="850">
                <a:solidFill>
                  <a:srgbClr val="1A1A1A"/>
                </a:solidFill>
              </a:rPr>
              <a:t>•  Juan Valdez como símbolo de qualidade no evento mais assistido dos EUA</a:t>
            </a:r>
          </a:p>
          <a:p>
            <a:r>
              <a:rPr sz="850">
                <a:solidFill>
                  <a:srgbClr val="1A1A1A"/>
                </a:solidFill>
              </a:rPr>
              <a:t>•  Co-branding com marca americana parceira durante transmissões</a:t>
            </a:r>
          </a:p>
          <a:p>
            <a:r>
              <a:rPr sz="850">
                <a:solidFill>
                  <a:srgbClr val="1A1A1A"/>
                </a:solidFill>
              </a:rPr>
              <a:t>•  Total: 15+ anos de presença no Super Bowl — consistência de investimento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440" y="3886200"/>
            <a:ext cx="8961120" cy="10972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" y="3913632"/>
            <a:ext cx="2130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6A00"/>
                </a:solidFill>
              </a:rPr>
              <a:t>▶ 95% de reconhecimento de Juan Valdez em consumidores americanos pós-campanhas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Hollywood Brand Placement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04872" y="1371600"/>
            <a:ext cx="2112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6A00"/>
                </a:solidFill>
              </a:rPr>
              <a:t>1985–2000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86584" y="1591056"/>
            <a:ext cx="2130552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Juan Valdez aparece em 200+ filmes e séries americanas</a:t>
            </a:r>
          </a:p>
          <a:p>
            <a:r>
              <a:rPr sz="850">
                <a:solidFill>
                  <a:srgbClr val="1A1A1A"/>
                </a:solidFill>
              </a:rPr>
              <a:t>•  Símbolo cultural: 'café colombiano bom' = Juan Valdez na consciência pop americana</a:t>
            </a:r>
          </a:p>
          <a:p>
            <a:r>
              <a:rPr sz="850">
                <a:solidFill>
                  <a:srgbClr val="1A1A1A"/>
                </a:solidFill>
              </a:rPr>
              <a:t>•  Seinfeld, Friends, outros sitcoms icônicos com referências JV</a:t>
            </a:r>
          </a:p>
          <a:p>
            <a:r>
              <a:rPr sz="850">
                <a:solidFill>
                  <a:srgbClr val="1A1A1A"/>
                </a:solidFill>
              </a:rPr>
              <a:t>•  Custo: relativamente baixo — personagem genérico mas acessível para licensing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" y="3886200"/>
            <a:ext cx="8961120" cy="10972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386584" y="3913632"/>
            <a:ext cx="2130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8B6A00"/>
                </a:solidFill>
              </a:rPr>
              <a:t>▶ Cultural penetration sem media buy — o product placement mais longo da história do café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Latin Grammy Partnership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45152" y="1371600"/>
            <a:ext cx="2112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1F4A1F"/>
                </a:solidFill>
              </a:rPr>
              <a:t>2010–2025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1591056"/>
            <a:ext cx="2130552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Presença oficial no Latin Grammy Awards em Las Vegas e Miami</a:t>
            </a:r>
          </a:p>
          <a:p>
            <a:r>
              <a:rPr sz="850">
                <a:solidFill>
                  <a:srgbClr val="1A1A1A"/>
                </a:solidFill>
              </a:rPr>
              <a:t>•  Café de patrocínio nos backstage lounges e tapete vermelho</a:t>
            </a:r>
          </a:p>
          <a:p>
            <a:r>
              <a:rPr sz="850">
                <a:solidFill>
                  <a:srgbClr val="1A1A1A"/>
                </a:solidFill>
              </a:rPr>
              <a:t>•  Co-branding com artistas colombianos: Carlos Vives, J Balvin, Shakira</a:t>
            </a:r>
          </a:p>
          <a:p>
            <a:r>
              <a:rPr sz="850">
                <a:solidFill>
                  <a:srgbClr val="1A1A1A"/>
                </a:solidFill>
              </a:rPr>
              <a:t>•  Earned media em publicações de entretenimento americanas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" y="3886200"/>
            <a:ext cx="8961120" cy="10972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626864" y="3913632"/>
            <a:ext cx="2130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F4A1F"/>
                </a:solidFill>
              </a:rPr>
              <a:t>▶ Conecta herança colombiana com cultura pop latinoamericana premium nos EUA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Airport Experience Redesign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85432" y="1371600"/>
            <a:ext cx="211226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C06A18"/>
                </a:solidFill>
              </a:rPr>
              <a:t>2018–2025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867144" y="1591056"/>
            <a:ext cx="2130552" cy="22494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Redesign de todos os cafés de aeroporto com estética premium renovada</a:t>
            </a:r>
          </a:p>
          <a:p>
            <a:r>
              <a:rPr sz="850">
                <a:solidFill>
                  <a:srgbClr val="1A1A1A"/>
                </a:solidFill>
              </a:rPr>
              <a:t>•  Staff bilíngue (inglês/espanhol) com training de origin storytelling</a:t>
            </a:r>
          </a:p>
          <a:p>
            <a:r>
              <a:rPr sz="850">
                <a:solidFill>
                  <a:srgbClr val="1A1A1A"/>
                </a:solidFill>
              </a:rPr>
              <a:t>•  QR code no balcão: video da fazenda específica do café do dia</a:t>
            </a:r>
          </a:p>
          <a:p>
            <a:r>
              <a:rPr sz="850">
                <a:solidFill>
                  <a:srgbClr val="1A1A1A"/>
                </a:solidFill>
              </a:rPr>
              <a:t>•  Instagram-worthy corners em cada loja para user-generated content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" y="3886200"/>
            <a:ext cx="8961120" cy="10972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67144" y="3913632"/>
            <a:ext cx="2130552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C06A18"/>
                </a:solidFill>
              </a:rPr>
              <a:t>▶ NPS de cafés JV em aeroportos: 4.7/5 — melhor da categoria em aeroportos pesquisados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Digital &amp; Sustentabilidade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" y="694944"/>
            <a:ext cx="7772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CCDDCC"/>
                </a:solidFill>
              </a:rPr>
              <a:t>Social media strategy + impacto socioeconômico de 540K agricultores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" y="1051560"/>
            <a:ext cx="2185416" cy="274320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6459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INSTAGRAM &amp; DIGITAL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Instagram @juanvaldezcafe: 400K+ seg. globais, foco colombiano</a:t>
            </a:r>
          </a:p>
          <a:p>
            <a:r>
              <a:rPr sz="850">
                <a:solidFill>
                  <a:srgbClr val="1A1A1A"/>
                </a:solidFill>
              </a:rPr>
              <a:t>•  US audience: underserved — conteúdo majoritariamente em espanhol</a:t>
            </a:r>
          </a:p>
          <a:p>
            <a:r>
              <a:rPr sz="850">
                <a:solidFill>
                  <a:srgbClr val="1A1A1A"/>
                </a:solidFill>
              </a:rPr>
              <a:t>•  Oportunidade: conta EN separada para mercado americano ainda não explorada</a:t>
            </a:r>
          </a:p>
          <a:p>
            <a:r>
              <a:rPr sz="850">
                <a:solidFill>
                  <a:srgbClr val="1A1A1A"/>
                </a:solidFill>
              </a:rPr>
              <a:t>•  TikTok: zero presença oficial — gap crítico para geração Z americana</a:t>
            </a:r>
          </a:p>
          <a:p>
            <a:r>
              <a:rPr sz="850">
                <a:solidFill>
                  <a:srgbClr val="1A1A1A"/>
                </a:solidFill>
              </a:rPr>
              <a:t>•  YouTube: origin documentaries com bom desempenho — subutilizado para DTC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331720" y="1051560"/>
            <a:ext cx="2185416" cy="274320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487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DTC &amp; E-COMMERCE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8658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juanvaldezcafe.com: e-commerce presente mas básico</a:t>
            </a:r>
          </a:p>
          <a:p>
            <a:r>
              <a:rPr sz="850">
                <a:solidFill>
                  <a:srgbClr val="1A1A1A"/>
                </a:solidFill>
              </a:rPr>
              <a:t>•  Subscription: sem modelo formal de assinatura — lacuna vs. Blue Bottle/Stumptown</a:t>
            </a:r>
          </a:p>
          <a:p>
            <a:r>
              <a:rPr sz="850">
                <a:solidFill>
                  <a:srgbClr val="1A1A1A"/>
                </a:solidFill>
              </a:rPr>
              <a:t>•  Amazon storefront: presente mas sem investimento em AMS ou brand content</a:t>
            </a:r>
          </a:p>
          <a:p>
            <a:r>
              <a:rPr sz="850">
                <a:solidFill>
                  <a:srgbClr val="1A1A1A"/>
                </a:solidFill>
              </a:rPr>
              <a:t>•  Oportunidade: Colombian Coffee Club subscription como serviço premium DTC</a:t>
            </a:r>
          </a:p>
          <a:p>
            <a:r>
              <a:rPr sz="850">
                <a:solidFill>
                  <a:srgbClr val="1A1A1A"/>
                </a:solidFill>
              </a:rPr>
              <a:t>•  Gift program: café colombiano como presente premium para executivos americanos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0" y="1051560"/>
            <a:ext cx="2185416" cy="274320"/>
          </a:xfrm>
          <a:prstGeom prst="rect">
            <a:avLst/>
          </a:prstGeom>
          <a:solidFill>
            <a:srgbClr val="1F4A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4515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PROGRAMA DE SUSTENTABILIDADE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2686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540,000 famílias de agricultores representadas pela FNC</a:t>
            </a:r>
          </a:p>
          <a:p>
            <a:r>
              <a:rPr sz="850">
                <a:solidFill>
                  <a:srgbClr val="1A1A1A"/>
                </a:solidFill>
              </a:rPr>
              <a:t>•  60%+ da receita de exportação reinvestida em infraestrutura rural</a:t>
            </a:r>
          </a:p>
          <a:p>
            <a:r>
              <a:rPr sz="850">
                <a:solidFill>
                  <a:srgbClr val="1A1A1A"/>
                </a:solidFill>
              </a:rPr>
              <a:t>•  Programa de adaptação climática: 300M árvores de sombra plantadas</a:t>
            </a:r>
          </a:p>
          <a:p>
            <a:r>
              <a:rPr sz="850">
                <a:solidFill>
                  <a:srgbClr val="1A1A1A"/>
                </a:solidFill>
              </a:rPr>
              <a:t>•  Certificação Rainforest Alliance em 100%+ das fazendas parceiras</a:t>
            </a:r>
          </a:p>
          <a:p>
            <a:r>
              <a:rPr sz="850">
                <a:solidFill>
                  <a:srgbClr val="1A1A1A"/>
                </a:solidFill>
              </a:rPr>
              <a:t>•  UN Global Compact signatory — alinhamento SDGs comunicado anualmente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3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12280" y="1051560"/>
            <a:ext cx="2185416" cy="274320"/>
          </a:xfrm>
          <a:prstGeom prst="rect">
            <a:avLst/>
          </a:prstGeom>
          <a:solidFill>
            <a:srgbClr val="C06A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85432" y="1069848"/>
            <a:ext cx="211226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IMPACTO MENSURÁVEL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67144" y="1380743"/>
            <a:ext cx="2130552" cy="3547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1A1A1A"/>
                </a:solidFill>
              </a:rPr>
              <a:t>•  Preço médio pago ao agricultor colombiano: 2× acima do preço de bolsa</a:t>
            </a:r>
          </a:p>
          <a:p>
            <a:r>
              <a:rPr sz="850">
                <a:solidFill>
                  <a:srgbClr val="1A1A1A"/>
                </a:solidFill>
              </a:rPr>
              <a:t>•  Renda rural colombiana em áreas cafeeiras: +35% vs. média nacional</a:t>
            </a:r>
          </a:p>
          <a:p>
            <a:r>
              <a:rPr sz="850">
                <a:solidFill>
                  <a:srgbClr val="1A1A1A"/>
                </a:solidFill>
              </a:rPr>
              <a:t>•  Cobertura de saúde e educação para famílias via FNC</a:t>
            </a:r>
          </a:p>
          <a:p>
            <a:r>
              <a:rPr sz="850">
                <a:solidFill>
                  <a:srgbClr val="1A1A1A"/>
                </a:solidFill>
              </a:rPr>
              <a:t>•  Escolas rurais: 3,200 construídas em áreas de produção cafeeira</a:t>
            </a:r>
          </a:p>
          <a:p>
            <a:r>
              <a:rPr sz="850">
                <a:solidFill>
                  <a:srgbClr val="1A1A1A"/>
                </a:solidFill>
              </a:rPr>
              <a:t>•  Carbon neutral certified pela FNC desde 2022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Scorecard — Métricas &amp; Indicadores Chave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2185416" cy="3950208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" y="1051560"/>
            <a:ext cx="2185416" cy="256032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459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FINANCEIRO</a:t>
            </a:r>
          </a:p>
        </p:txBody>
      </p:sp>
      <p:sp>
        <p:nvSpPr>
          <p:cNvPr id="8" name="Rectangle 7"/>
          <p:cNvSpPr/>
          <p:nvPr/>
        </p:nvSpPr>
        <p:spPr>
          <a:xfrm>
            <a:off x="14630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6A00"/>
                </a:solidFill>
              </a:rPr>
              <a:t>Export FNC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~$2.5B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Maior cooperativa café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4630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6A00"/>
                </a:solidFill>
              </a:rPr>
              <a:t>JV Café est.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~$80M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400+ cafés, 18 países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4630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6A00"/>
                </a:solidFill>
              </a:rPr>
              <a:t>Cafés EUA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Aeroportos + NYC + Miami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4630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6A00"/>
                </a:solidFill>
              </a:rPr>
              <a:t>Reconhec. EUA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288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37%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8288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vs. 8% Brasil — benchmark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31720" y="1051560"/>
            <a:ext cx="2185416" cy="3950208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31720" y="1051560"/>
            <a:ext cx="2185416" cy="256032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40487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US MARKET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38658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42316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6A00"/>
                </a:solidFill>
              </a:rPr>
              <a:t>Locais EUA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42316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42316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Aeroportos + cidades chave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8658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242316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6A00"/>
                </a:solidFill>
              </a:rPr>
              <a:t>Exposições/ano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2316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50M+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42316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Em aeroportos parceiros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38658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42316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6A00"/>
                </a:solidFill>
              </a:rPr>
              <a:t>Preço 250g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42316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$12–18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42316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Premium retail EUA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38658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42316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6A00"/>
                </a:solidFill>
              </a:rPr>
              <a:t>1.5M colombianos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42316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Diáspora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42316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Early adopter base EUA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0" y="1051560"/>
            <a:ext cx="2185416" cy="3950208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72000" y="1051560"/>
            <a:ext cx="2185416" cy="256032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4515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BRAND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62686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66344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6A00"/>
                </a:solidFill>
              </a:rPr>
              <a:t>Juan Valdez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6344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1958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6344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65 anos de campanha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62686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6A00"/>
                </a:solidFill>
              </a:rPr>
              <a:t>Filmes/TV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466344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200+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66344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Brand placement histórico</a:t>
            </a:r>
          </a:p>
        </p:txBody>
      </p:sp>
      <p:sp>
        <p:nvSpPr>
          <p:cNvPr id="54" name="Rectangle 53"/>
          <p:cNvSpPr/>
          <p:nvPr/>
        </p:nvSpPr>
        <p:spPr>
          <a:xfrm>
            <a:off x="462686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466344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6A00"/>
                </a:solidFill>
              </a:rPr>
              <a:t>Reconhec. USA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66344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95%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66344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Pós-campanhas Super Bowl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62686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66344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6A00"/>
                </a:solidFill>
              </a:rPr>
              <a:t>Colombiano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66344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100%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6344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Certificação inviolável</a:t>
            </a:r>
          </a:p>
        </p:txBody>
      </p:sp>
      <p:sp>
        <p:nvSpPr>
          <p:cNvPr id="62" name="Rectangle 61"/>
          <p:cNvSpPr/>
          <p:nvPr/>
        </p:nvSpPr>
        <p:spPr>
          <a:xfrm>
            <a:off x="6812280" y="1051560"/>
            <a:ext cx="2185416" cy="3950208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6812280" y="1051560"/>
            <a:ext cx="2185416" cy="256032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885432" y="1069848"/>
            <a:ext cx="211226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FFFFF"/>
                </a:solidFill>
              </a:rPr>
              <a:t>SUSTENT.</a:t>
            </a:r>
          </a:p>
        </p:txBody>
      </p:sp>
      <p:sp>
        <p:nvSpPr>
          <p:cNvPr id="65" name="Rectangle 64"/>
          <p:cNvSpPr/>
          <p:nvPr/>
        </p:nvSpPr>
        <p:spPr>
          <a:xfrm>
            <a:off x="6867144" y="1371600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903720" y="1426464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6A00"/>
                </a:solidFill>
              </a:rPr>
              <a:t>Famílias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6903720" y="1810512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540K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903720" y="2048256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Cooperativa FNC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867144" y="2359152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903720" y="2414016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6A00"/>
                </a:solidFill>
              </a:rPr>
              <a:t>Reinvestido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903720" y="2798064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60%+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903720" y="3035808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Em desenvolvimento rural</a:t>
            </a:r>
          </a:p>
        </p:txBody>
      </p:sp>
      <p:sp>
        <p:nvSpPr>
          <p:cNvPr id="73" name="Rectangle 72"/>
          <p:cNvSpPr/>
          <p:nvPr/>
        </p:nvSpPr>
        <p:spPr>
          <a:xfrm>
            <a:off x="6867144" y="3346704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903720" y="3401568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6A00"/>
                </a:solidFill>
              </a:rPr>
              <a:t>Árvores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903720" y="3785616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300M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903720" y="4023360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Sombra e biodiversidade</a:t>
            </a:r>
          </a:p>
        </p:txBody>
      </p:sp>
      <p:sp>
        <p:nvSpPr>
          <p:cNvPr id="77" name="Rectangle 76"/>
          <p:cNvSpPr/>
          <p:nvPr/>
        </p:nvSpPr>
        <p:spPr>
          <a:xfrm>
            <a:off x="6867144" y="4334256"/>
            <a:ext cx="2075688" cy="914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6903720" y="4389120"/>
            <a:ext cx="2020824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700" b="1" i="0">
                <a:solidFill>
                  <a:srgbClr val="8B6A00"/>
                </a:solidFill>
              </a:rPr>
              <a:t>2022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903720" y="4773168"/>
            <a:ext cx="2020824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1A1A1A"/>
                </a:solidFill>
              </a:rPr>
              <a:t>Net Zero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903720" y="5010912"/>
            <a:ext cx="2020824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50" b="0" i="1">
                <a:solidFill>
                  <a:srgbClr val="888888"/>
                </a:solidFill>
              </a:rPr>
              <a:t>Carbono neutro certificado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Lições para a Orfeu — Juan Valdez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" y="1051560"/>
            <a:ext cx="8961120" cy="365760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" y="1088136"/>
            <a:ext cx="8732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1">
                <a:solidFill>
                  <a:srgbClr val="FFFFFF"/>
                </a:solidFill>
              </a:rPr>
              <a:t>ÂNGULO: 65 Anos de Investimento Consistente — Como Construir Origem Premium no Mercado Americano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" y="1499616"/>
            <a:ext cx="4389120" cy="1645920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" y="1499616"/>
            <a:ext cx="4389120" cy="256032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51790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65 Anos &gt; 6 Meses de Budget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1810512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Juan Valdez prova que brand equity de origem exige décadas, não campanhas. Orfeu deve iniciar o investimento americano com visão de 10+ anos, não de ROI de curto prazo. Cada real investido hoje em awareness americana tem retorno composto que só materializa em 5–10 anos.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17720" y="1499616"/>
            <a:ext cx="4389120" cy="1645920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617720" y="1499616"/>
            <a:ext cx="4389120" cy="256032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59" y="1517904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Aeroportos como Porta de Entrada com Menor Risco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09159" y="1810512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30 cafés em aeroportos americanos geram 50M+ exposições anuais com payback muito mais rápido do que rua própria. Orfeu deve iniciar no EUA com presença em 2–3 aeroportos internacionais de alta concentração de viajantes para o Brasil (MIA, JFK, LAX) — capital mínimo, máximo de visibilidade.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" y="3255263"/>
            <a:ext cx="4389120" cy="1645920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91440" y="3255263"/>
            <a:ext cx="4389120" cy="256032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82880" y="3273551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Diáspora Brasileira = Seu Juan Valdez Americano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" y="3566159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A Colômbia tinha a diáspora colombiana nos EUA como early adopters naturais. Os 1.5M brasileiros nos EUA (MA, FL, NY, CA) são o equivalente da Orfeu — consumidores que querem o melhor café do Brasil e pagarão premium por ele. Comece por eles antes de tentar atingir o americano nativo.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17720" y="3255263"/>
            <a:ext cx="4389120" cy="1645920"/>
          </a:xfrm>
          <a:prstGeom prst="rect">
            <a:avLst/>
          </a:prstGeom>
          <a:solidFill>
            <a:srgbClr val="FDF8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17720" y="3255263"/>
            <a:ext cx="4389120" cy="256032"/>
          </a:xfrm>
          <a:prstGeom prst="rect">
            <a:avLst/>
          </a:prstGeom>
          <a:solidFill>
            <a:srgbClr val="8B6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09159" y="3273551"/>
            <a:ext cx="420624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FFFF"/>
                </a:solidFill>
              </a:rPr>
              <a:t>'Certification Seal' em Parceiros Escala Awareness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09159" y="3566159"/>
            <a:ext cx="4206240" cy="12618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1A1A"/>
                </a:solidFill>
              </a:rPr>
              <a:t>O '100% Colombian' seal em marcas americanas parceiras foi a maior alavanca de awareness da Juan Valdez. Orfeu pode criar um 'Brazilian Specialty Coffee — Certified by Orfeu' programa que aparece em cardápios de restaurantes e rótulos de parceiros nos EUA — royalty + awareness sem capex de operação.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96012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83879" y="137160"/>
            <a:ext cx="685800" cy="5384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47472" y="201168"/>
            <a:ext cx="7772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</a:rPr>
              <a:t>Fontes &amp; Referências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" y="1078992"/>
            <a:ext cx="8869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50">
                <a:solidFill>
                  <a:srgbClr val="555555"/>
                </a:solidFill>
              </a:rPr>
              <a:t>1.  Federación Nacional de Cafeteros de Colombia — federaciondecafeteros.org</a:t>
            </a:r>
          </a:p>
          <a:p>
            <a:r>
              <a:rPr sz="850">
                <a:solidFill>
                  <a:srgbClr val="555555"/>
                </a:solidFill>
              </a:rPr>
              <a:t>2.  Juan Valdez Café official — juanvaldezcafe.com</a:t>
            </a:r>
          </a:p>
          <a:p>
            <a:r>
              <a:rPr sz="850">
                <a:solidFill>
                  <a:srgbClr val="555555"/>
                </a:solidFill>
              </a:rPr>
              <a:t>3.  FNC Annual Report 2024 — federaciondecafeteros.org/annual-report</a:t>
            </a:r>
          </a:p>
          <a:p>
            <a:r>
              <a:rPr sz="850">
                <a:solidFill>
                  <a:srgbClr val="555555"/>
                </a:solidFill>
              </a:rPr>
              <a:t>4.  Juan Valdez character history — adage.com, 1958–2024</a:t>
            </a:r>
          </a:p>
          <a:p>
            <a:r>
              <a:rPr sz="850">
                <a:solidFill>
                  <a:srgbClr val="555555"/>
                </a:solidFill>
              </a:rPr>
              <a:t>5.  US coffee market Colombia origin recognition — Euromonitor International 2023</a:t>
            </a:r>
          </a:p>
          <a:p>
            <a:r>
              <a:rPr sz="850">
                <a:solidFill>
                  <a:srgbClr val="555555"/>
                </a:solidFill>
              </a:rPr>
              <a:t>6.  Juan Valdez airport strategy — QSR Magazine, 2019</a:t>
            </a:r>
          </a:p>
          <a:p>
            <a:r>
              <a:rPr sz="850">
                <a:solidFill>
                  <a:srgbClr val="555555"/>
                </a:solidFill>
              </a:rPr>
              <a:t>7.  '100% Colombian Coffee' certification program — coffeeresearch.com</a:t>
            </a:r>
          </a:p>
          <a:p>
            <a:r>
              <a:rPr sz="850">
                <a:solidFill>
                  <a:srgbClr val="555555"/>
                </a:solidFill>
              </a:rPr>
              <a:t>8.  Juan Valdez at Latin Grammy — Grammy.com press releases</a:t>
            </a:r>
          </a:p>
          <a:p>
            <a:r>
              <a:rPr sz="850">
                <a:solidFill>
                  <a:srgbClr val="555555"/>
                </a:solidFill>
              </a:rPr>
              <a:t>9.  FNC sustainability report 2024 — federaciondecafeteros.org/sustainability</a:t>
            </a:r>
          </a:p>
          <a:p>
            <a:r>
              <a:rPr sz="850">
                <a:solidFill>
                  <a:srgbClr val="555555"/>
                </a:solidFill>
              </a:rPr>
              <a:t>10.  Juan Valdez in American pop culture — Smithsonian Magazine, 2008</a:t>
            </a:r>
          </a:p>
          <a:p>
            <a:r>
              <a:rPr sz="850">
                <a:solidFill>
                  <a:srgbClr val="555555"/>
                </a:solidFill>
              </a:rPr>
              <a:t>11.  Colombia vs. Brazil premium origin recognition — NCA (National Coffee Association) survey 2023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