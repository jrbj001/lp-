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86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6A18"/>
                </a:solidFill>
              </a:rPr>
              <a:t>CASE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Cafés do Brasil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DD"/>
                </a:solidFill>
              </a:rPr>
              <a:t>O maior produtor que não é premium · ABIC/APEX Campaigns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3310128"/>
            <a:ext cx="89611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198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Historical Barriers and Failures of Brazilianness — por que o maior produtor mundial falhou em construir premium, e o que a Orfeu deve evitar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Estrutura do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4389120" cy="55168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1704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O Paradoxo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264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Maior produtor, sem marca premium global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0789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078992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11704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Tentativas Históricas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4264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Campanhas nacionais e por que falharam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726691"/>
            <a:ext cx="4389120" cy="55168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726691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8181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Vs. Juan Valdez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0741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Colombia construiu; Brasil não — por quê?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17266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1726691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18181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Os 5 Motivos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20741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Anatomy do fracasso em posicionamento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374392"/>
            <a:ext cx="4389120" cy="55168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" y="2374392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24658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O que Funcionou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7218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Casos de sucesso parcial no specialty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23743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2374392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573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1496" y="24658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Japão como Exceção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6" y="27218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Onde café brasileiro premium funciona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" y="3022091"/>
            <a:ext cx="4389120" cy="55168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" y="3022091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" y="31135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Orfeu vs. Brasil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33695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Marca específica vs. origem genérica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59" y="30220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59" y="3022091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573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1496" y="31135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Armadilhas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33695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 que a Orfeu deve evitar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3669792"/>
            <a:ext cx="4389120" cy="55168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" y="3669792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" y="37612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Oportunidade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" y="40172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 espaço que ainda está vazio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59" y="36697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09159" y="3669792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4573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11496" y="37612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Recomendações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40172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Plano estratégico para Orfeu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317492"/>
            <a:ext cx="4389120" cy="55168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" y="4317492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" y="44089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Scorecard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" y="46649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Métricas e benchmarks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59" y="43174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09159" y="4317492"/>
            <a:ext cx="329184" cy="55168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4573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11496" y="44089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6A18"/>
                </a:solidFill>
              </a:rPr>
              <a:t>Síntese Final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1496" y="46649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Insights críticos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 Paradoxo Brasileiro — Maior Produtor, Menor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Brasil produz 35-40% do café mundial mas captura menos de 5% do valor premium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4747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Brasil é o maior produtor de café do mundo há 150+ anos. É também o único grande país produtor que não construiu uma marca premium reconhecível globalmente. Este case estuda por quê — e o que a Orfeu deve fazer diferente.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463040"/>
            <a:ext cx="2157984" cy="109728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3619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35–40%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01168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Participação Brasil
na produção mundial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463040"/>
            <a:ext cx="2157984" cy="109728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53619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~5%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1168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Share de Brasil no
mercado premium global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463040"/>
            <a:ext cx="2157984" cy="109728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53619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1168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Reconhecimento de
'café premium brasileiro'
em consumidores EUA/EU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63040"/>
            <a:ext cx="2157984" cy="109728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53619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R$120B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01168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Mercado de café
no Brasil em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" y="2670048"/>
            <a:ext cx="89611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" y="2816352"/>
            <a:ext cx="2932176" cy="2231136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" y="2816352"/>
            <a:ext cx="293217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" y="2834640"/>
            <a:ext cx="2859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PRODUÇÃO vs. VALOR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" y="3127248"/>
            <a:ext cx="285902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Brasil exporta ~40M sacas/ano — 80%+ como commodity. Preço médio de exportação: $2–4/kg. Premium specialty: $15–50/kg. O gap não capturado é enorme.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4224528"/>
            <a:ext cx="2859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O commodity trap: quando você é o maior fornecedor de matéria-prima barata, fica difícil convencer o mundo que também faz o produto premium.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78480" y="2816352"/>
            <a:ext cx="2932176" cy="2231136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78480" y="2816352"/>
            <a:ext cx="293217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1632" y="2834640"/>
            <a:ext cx="2859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VOLUME vs. MARCA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1632" y="3127248"/>
            <a:ext cx="285902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Nescafé compra café do Brasil, torra na Suíça, vende como 'Swiss quality'. O valor é capturado por quem processa, não por quem produz. Brasil = commodityexporter por padrão.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1632" y="4224528"/>
            <a:ext cx="2859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A ironia: Nescafé (Nestlé/Suíça), Lavazza (Itália), Illy (Itália) usam grãos brasileiros e constroem suas marcas premium. O Brasil cede o valor agregado.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520" y="2816352"/>
            <a:ext cx="2932176" cy="2231136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65520" y="2816352"/>
            <a:ext cx="293217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8672" y="2834640"/>
            <a:ext cx="2859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ESCALA vs. SPECIALTY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8672" y="3127248"/>
            <a:ext cx="285902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O volume gigantesco do Brasil (robusta + arabica de baixa altitude) contaminou a percepção do café brasileiro como todo. 'Santos' = barato, misturado, commodity.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8672" y="4224528"/>
            <a:ext cx="2859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'Santos grade' = o oposto de premium no vocabulário do comprador de café europeu. Uma geração de tasters associa Brasil = base de blend, não topcup.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Tentativas Históricas — Por que Falharam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Campanhas nacionais de 1990 a 2025 que não construíram brand equity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CAFÉS DO BRASIL (ABIC/APEX)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Campanha genérica de origem — 'café do Brasil é bom'</a:t>
            </a:r>
          </a:p>
          <a:p>
            <a:r>
              <a:rPr sz="850">
                <a:solidFill>
                  <a:srgbClr val="1A1A1A"/>
                </a:solidFill>
              </a:rPr>
              <a:t>•  Sem marca específica: não há 'Juan Valdez brasileiro'</a:t>
            </a:r>
          </a:p>
          <a:p>
            <a:r>
              <a:rPr sz="850">
                <a:solidFill>
                  <a:srgbClr val="1A1A1A"/>
                </a:solidFill>
              </a:rPr>
              <a:t>•  Budget fragmentado em múltiplas iniciativas sem foco</a:t>
            </a:r>
          </a:p>
          <a:p>
            <a:r>
              <a:rPr sz="850">
                <a:solidFill>
                  <a:srgbClr val="1A1A1A"/>
                </a:solidFill>
              </a:rPr>
              <a:t>•  Distribuição de 'selos de qualidade' sem enforcement rigoroso</a:t>
            </a:r>
          </a:p>
          <a:p>
            <a:r>
              <a:rPr sz="850">
                <a:solidFill>
                  <a:srgbClr val="1A1A1A"/>
                </a:solidFill>
              </a:rPr>
              <a:t>•  Resultado: reconhecimento de origem, não de qualidade — diferente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BRAZIL COFFEE 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Iniciativa APEX-Brasil para mercados de exportação — 2010s</a:t>
            </a:r>
          </a:p>
          <a:p>
            <a:r>
              <a:rPr sz="850">
                <a:solidFill>
                  <a:srgbClr val="1A1A1A"/>
                </a:solidFill>
              </a:rPr>
              <a:t>•  Abordagem genérica: 'compre café do Brasil'</a:t>
            </a:r>
          </a:p>
          <a:p>
            <a:r>
              <a:rPr sz="850">
                <a:solidFill>
                  <a:srgbClr val="1A1A1A"/>
                </a:solidFill>
              </a:rPr>
              <a:t>•  Nenhum storytelling de fazenda, region ou processo</a:t>
            </a:r>
          </a:p>
          <a:p>
            <a:r>
              <a:rPr sz="850">
                <a:solidFill>
                  <a:srgbClr val="1A1A1A"/>
                </a:solidFill>
              </a:rPr>
              <a:t>•  Comparação: Juan Valdez tem personagem, história, terroir comunicado</a:t>
            </a:r>
          </a:p>
          <a:p>
            <a:r>
              <a:rPr sz="850">
                <a:solidFill>
                  <a:srgbClr val="1A1A1A"/>
                </a:solidFill>
              </a:rPr>
              <a:t>•  Resultado: coverage de trade press, zero impacto em consumidor final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PROGRAMAS DE QUALIDADE ABIC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Selo 'Pureza ABIC' — garante que é 100% café, mas não qualidade</a:t>
            </a:r>
          </a:p>
          <a:p>
            <a:r>
              <a:rPr sz="850">
                <a:solidFill>
                  <a:srgbClr val="1A1A1A"/>
                </a:solidFill>
              </a:rPr>
              <a:t>•  Café de 'qualidade superior' ABIC: definição de mercado, não premium</a:t>
            </a:r>
          </a:p>
          <a:p>
            <a:r>
              <a:rPr sz="850">
                <a:solidFill>
                  <a:srgbClr val="1A1A1A"/>
                </a:solidFill>
              </a:rPr>
              <a:t>•  Falha: qualidade mínima garantida não é proposta de valor premium</a:t>
            </a:r>
          </a:p>
          <a:p>
            <a:r>
              <a:rPr sz="850">
                <a:solidFill>
                  <a:srgbClr val="1A1A1A"/>
                </a:solidFill>
              </a:rPr>
              <a:t>•  Consumidor europeu/americano: 'qualidade ABIC' é irrelevante</a:t>
            </a:r>
          </a:p>
          <a:p>
            <a:r>
              <a:rPr sz="850">
                <a:solidFill>
                  <a:srgbClr val="1A1A1A"/>
                </a:solidFill>
              </a:rPr>
              <a:t>•  Sem narrativa de origin, processo, terroir — apenas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SPECIALTY BRAZIL RECENT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Esforços mais recentes via CoE Brazil e BSCA (Brazil Specialty Coffee Assoc.)</a:t>
            </a:r>
          </a:p>
          <a:p>
            <a:r>
              <a:rPr sz="850">
                <a:solidFill>
                  <a:srgbClr val="1A1A1A"/>
                </a:solidFill>
              </a:rPr>
              <a:t>•  Mais sofisticados: origin stories, farm profiles, SCA scores</a:t>
            </a:r>
          </a:p>
          <a:p>
            <a:r>
              <a:rPr sz="850">
                <a:solidFill>
                  <a:srgbClr val="1A1A1A"/>
                </a:solidFill>
              </a:rPr>
              <a:t>•  Mas ainda fragmentados: sem umbrella brand consistente</a:t>
            </a:r>
          </a:p>
          <a:p>
            <a:r>
              <a:rPr sz="850">
                <a:solidFill>
                  <a:srgbClr val="1A1A1A"/>
                </a:solidFill>
              </a:rPr>
              <a:t>•  Sucesso parcial: Japão + Escandinávia reconhecem specialty Brazil</a:t>
            </a:r>
          </a:p>
          <a:p>
            <a:r>
              <a:rPr sz="850">
                <a:solidFill>
                  <a:srgbClr val="1A1A1A"/>
                </a:solidFill>
              </a:rPr>
              <a:t>•  Gap: mercado de massa US/EU ainda não sabe que Brasil tem specialty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Lição da Colômbia — Juan Valdez vs.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37% de reconhecimento premium vs. 8%: o que Colombia fez que Brasil não fez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4747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Colombia e Brasil produziram café juntos por décadas. Hoje, consumidores premium nos EUA e EU associam Colombia a qualidade. Brasil ainda é 'barato'. A diferença não é o café — é a estratégia.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463040"/>
            <a:ext cx="4389120" cy="3511296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463040"/>
            <a:ext cx="4389120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48132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JUAN VALDEZ (COLOMBIA)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7922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6A18"/>
                </a:solidFill>
              </a:rPr>
              <a:t>→ O QUE FEZ CERTO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" y="2048256"/>
            <a:ext cx="427939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Criou um personagem icônico (Juan Valdez + burro) — personagem como brand ambassador</a:t>
            </a:r>
          </a:p>
          <a:p>
            <a:r>
              <a:rPr sz="850">
                <a:solidFill>
                  <a:srgbClr val="1A1A1A"/>
                </a:solidFill>
              </a:rPr>
              <a:t>•  100% colombiano como promessa — 'purity' como diferenciador mensurável</a:t>
            </a:r>
          </a:p>
          <a:p>
            <a:r>
              <a:rPr sz="850">
                <a:solidFill>
                  <a:srgbClr val="1A1A1A"/>
                </a:solidFill>
              </a:rPr>
              <a:t>•  Fedecafé (federação) investiu consistentemente por 60+ anos — brand building como infraestrutura nacional</a:t>
            </a:r>
          </a:p>
          <a:p>
            <a:r>
              <a:rPr sz="850">
                <a:solidFill>
                  <a:srgbClr val="1A1A1A"/>
                </a:solidFill>
              </a:rPr>
              <a:t>•  Abriu cafés Juan Valdez nos EUA — proof of concept físico no mercado alvo</a:t>
            </a:r>
          </a:p>
          <a:p>
            <a:r>
              <a:rPr sz="850">
                <a:solidFill>
                  <a:srgbClr val="1A1A1A"/>
                </a:solidFill>
              </a:rPr>
              <a:t>•  Parceria com Starbucks (1990s) que depois reverteu — aprendizado de escala</a:t>
            </a:r>
          </a:p>
          <a:p>
            <a:r>
              <a:rPr sz="850">
                <a:solidFill>
                  <a:srgbClr val="1A1A1A"/>
                </a:solidFill>
              </a:rPr>
              <a:t>•  Result: 37% dos consumidores EUA associam Colombia a 'premium coffee quality'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463040"/>
            <a:ext cx="4389120" cy="351129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463040"/>
            <a:ext cx="438912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148132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BRASIL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17922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→ O QUE NÃO FEZ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3" y="2048256"/>
            <a:ext cx="427939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Nunca criou personagem ou marca guarda-chuva com investimento sustentado</a:t>
            </a:r>
          </a:p>
          <a:p>
            <a:r>
              <a:rPr sz="850">
                <a:solidFill>
                  <a:srgbClr val="1A1A1A"/>
                </a:solidFill>
              </a:rPr>
              <a:t>•  Misturou qualidade premium (specialty) com commodity (Santos grade) na comunicação</a:t>
            </a:r>
          </a:p>
          <a:p>
            <a:r>
              <a:rPr sz="850">
                <a:solidFill>
                  <a:srgbClr val="1A1A1A"/>
                </a:solidFill>
              </a:rPr>
              <a:t>•  Campanhas descontinuadas a cada mudança de governo ou crise de commodity</a:t>
            </a:r>
          </a:p>
          <a:p>
            <a:r>
              <a:rPr sz="850">
                <a:solidFill>
                  <a:srgbClr val="1A1A1A"/>
                </a:solidFill>
              </a:rPr>
              <a:t>•  Sem café brasileiro físico nos mercados EUA/EU para validar premium claim</a:t>
            </a:r>
          </a:p>
          <a:p>
            <a:r>
              <a:rPr sz="850">
                <a:solidFill>
                  <a:srgbClr val="1A1A1A"/>
                </a:solidFill>
              </a:rPr>
              <a:t>•  Modelo: cada empresa faz sua própria exportação — sem coordenação de posicionamento</a:t>
            </a:r>
          </a:p>
          <a:p>
            <a:r>
              <a:rPr sz="850">
                <a:solidFill>
                  <a:srgbClr val="1A1A1A"/>
                </a:solidFill>
              </a:rPr>
              <a:t>•  Result: 8% reconhecimento premium — 5× menos que Colômbia com produção menor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Os 5 Motivos Estruturais do Fracasso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Por que cafe brasileiro como categoria falhou em capturar valor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1. SEM MARCA, SO ORIGEM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Origem sem marca é commodity. Juan Valdez criou um brand; Brasil criou apenas um rótulo geográfico.</a:t>
            </a:r>
          </a:p>
          <a:p>
            <a:r>
              <a:rPr sz="850">
                <a:solidFill>
                  <a:srgbClr val="1A1A1A"/>
                </a:solidFill>
              </a:rPr>
              <a:t>•  Cafe brasileiro é um argumento de origem, não uma promessa de qualidade específica.</a:t>
            </a:r>
          </a:p>
          <a:p>
            <a:r>
              <a:rPr sz="850">
                <a:solidFill>
                  <a:srgbClr val="1A1A1A"/>
                </a:solidFill>
              </a:rPr>
              <a:t>•  Orfeu é uma marca. Brasil não é. A diferença é fundamental para premium.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2. VOLUME CONTAMINANDO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Brasil exporta 40M sacas/ano — mais de 80% commodity grade.</a:t>
            </a:r>
          </a:p>
          <a:p>
            <a:r>
              <a:rPr sz="850">
                <a:solidFill>
                  <a:srgbClr val="1A1A1A"/>
                </a:solidFill>
              </a:rPr>
              <a:t>•  O volume de robusta e arabica baixa qualidade treinou compradores a pagar pouco.</a:t>
            </a:r>
          </a:p>
          <a:p>
            <a:r>
              <a:rPr sz="850">
                <a:solidFill>
                  <a:srgbClr val="1A1A1A"/>
                </a:solidFill>
              </a:rPr>
              <a:t>•  Quando chega partida premium, o histórico de preços baixos ancora a negociação.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3. SEM INTERMEDIACAO DIRETA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Café brasileiro chegou ao consumidor via roasters europeus e americanos.</a:t>
            </a:r>
          </a:p>
          <a:p>
            <a:r>
              <a:rPr sz="850">
                <a:solidFill>
                  <a:srgbClr val="1A1A1A"/>
                </a:solidFill>
              </a:rPr>
              <a:t>•  Illy, Lavazza, Nescafé adicionaram valor e ficaram com a margem.</a:t>
            </a:r>
          </a:p>
          <a:p>
            <a:r>
              <a:rPr sz="850">
                <a:solidFill>
                  <a:srgbClr val="1A1A1A"/>
                </a:solidFill>
              </a:rPr>
              <a:t>•  Brasil nunca construiu relação direta com o consumidor final no exterior.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4. CAMPANHAS SEM CONSISTENCIA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Juan Valdez tem 65+ anos de investimento contínuo e consistente.</a:t>
            </a:r>
          </a:p>
          <a:p>
            <a:r>
              <a:rPr sz="850">
                <a:solidFill>
                  <a:srgbClr val="1A1A1A"/>
                </a:solidFill>
              </a:rPr>
              <a:t>•  Campanhas brasileiras duram 3-5 anos e mudam com governos e crises.</a:t>
            </a:r>
          </a:p>
          <a:p>
            <a:r>
              <a:rPr sz="850">
                <a:solidFill>
                  <a:srgbClr val="1A1A1A"/>
                </a:solidFill>
              </a:rPr>
              <a:t>•  Brand equity de origem exige décadas de mensagem — Brasil nunca manteve.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 Que Funcionou — Sucessos Parciais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Cup of Excellence · Fazenda Santa Inês · Orfeu · Japão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CUP OF EXCELLENCE BRAZIL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CoE Brazil: leilões de micro-lotes de altíssima qualidade</a:t>
            </a:r>
          </a:p>
          <a:p>
            <a:r>
              <a:rPr sz="850">
                <a:solidFill>
                  <a:srgbClr val="1A1A1A"/>
                </a:solidFill>
              </a:rPr>
              <a:t>•  Lotes atingem $30–80/kg em leilão — validação de pricing premium</a:t>
            </a:r>
          </a:p>
          <a:p>
            <a:r>
              <a:rPr sz="850">
                <a:solidFill>
                  <a:srgbClr val="1A1A1A"/>
                </a:solidFill>
              </a:rPr>
              <a:t>•  Compradores: Japão (50%+), Escandinávia, EUA specialty</a:t>
            </a:r>
          </a:p>
          <a:p>
            <a:r>
              <a:rPr sz="850">
                <a:solidFill>
                  <a:srgbClr val="1A1A1A"/>
                </a:solidFill>
              </a:rPr>
              <a:t>•  Fazenda Santa Inês (MG): score 95+ — reconhecida globalmente</a:t>
            </a:r>
          </a:p>
          <a:p>
            <a:r>
              <a:rPr sz="850">
                <a:solidFill>
                  <a:srgbClr val="1A1A1A"/>
                </a:solidFill>
              </a:rPr>
              <a:t>•  Modelo funciona: produtor específico + lote específico + pontuação verificável = premium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FAZENDAS DE REFERÊNCIA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Fazenda Ambiental Fortaleza (SP): direct trade global, specialty</a:t>
            </a:r>
          </a:p>
          <a:p>
            <a:r>
              <a:rPr sz="850">
                <a:solidFill>
                  <a:srgbClr val="1A1A1A"/>
                </a:solidFill>
              </a:rPr>
              <a:t>•  Carmo Coffees: curadoria de micro-lotes para importadores premium</a:t>
            </a:r>
          </a:p>
          <a:p>
            <a:r>
              <a:rPr sz="850">
                <a:solidFill>
                  <a:srgbClr val="1A1A1A"/>
                </a:solidFill>
              </a:rPr>
              <a:t>•  Daterra (MG): inovação em processing — natural, honey, wine</a:t>
            </a:r>
          </a:p>
          <a:p>
            <a:r>
              <a:rPr sz="850">
                <a:solidFill>
                  <a:srgbClr val="1A1A1A"/>
                </a:solidFill>
              </a:rPr>
              <a:t>•  Sweet Maria's (EUA): curadoria de Brazilian green beans para home roasters</a:t>
            </a:r>
          </a:p>
          <a:p>
            <a:r>
              <a:rPr sz="850">
                <a:solidFill>
                  <a:srgbClr val="1A1A1A"/>
                </a:solidFill>
              </a:rPr>
              <a:t>•  Pattern: nome da fazenda, não 'café do Brasil', é o argumento premium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JAPÃO COMO MERCADO VALIDADO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Japão é o maior importador de specialty Brazil</a:t>
            </a:r>
          </a:p>
          <a:p>
            <a:r>
              <a:rPr sz="850">
                <a:solidFill>
                  <a:srgbClr val="1A1A1A"/>
                </a:solidFill>
              </a:rPr>
              <a:t>•  Consumidores japoneses pagam premium por CoE Brazil lots</a:t>
            </a:r>
          </a:p>
          <a:p>
            <a:r>
              <a:rPr sz="850">
                <a:solidFill>
                  <a:srgbClr val="1A1A1A"/>
                </a:solidFill>
              </a:rPr>
              <a:t>•  Japanese coffee culture: origem verificável = qualidade presumida</a:t>
            </a:r>
          </a:p>
          <a:p>
            <a:r>
              <a:rPr sz="850">
                <a:solidFill>
                  <a:srgbClr val="1A1A1A"/>
                </a:solidFill>
              </a:rPr>
              <a:t>•  Importadores japoneses visitam fazendas brasileiras diretamente</a:t>
            </a:r>
          </a:p>
          <a:p>
            <a:r>
              <a:rPr sz="850">
                <a:solidFill>
                  <a:srgbClr val="1A1A1A"/>
                </a:solidFill>
              </a:rPr>
              <a:t>•  O único mercado onde 'made in Brazil' specialty funciona sem disclaimer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ORFEU COMO CASE DOMÉSTICO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Orfeu é o único case de sucesso de marca brasileira de café premium</a:t>
            </a:r>
          </a:p>
          <a:p>
            <a:r>
              <a:rPr sz="850">
                <a:solidFill>
                  <a:srgbClr val="1A1A1A"/>
                </a:solidFill>
              </a:rPr>
              <a:t>•  Posicionamento: 'Orfeu' — não 'café do Brasil'</a:t>
            </a:r>
          </a:p>
          <a:p>
            <a:r>
              <a:rPr sz="850">
                <a:solidFill>
                  <a:srgbClr val="1A1A1A"/>
                </a:solidFill>
              </a:rPr>
              <a:t>•  Single-origin storytelling: fazenda específica, processo específico</a:t>
            </a:r>
          </a:p>
          <a:p>
            <a:r>
              <a:rPr sz="850">
                <a:solidFill>
                  <a:srgbClr val="1A1A1A"/>
                </a:solidFill>
              </a:rPr>
              <a:t>•  Preço premium sustentado: R$120/kg vs. R$40–60 commodity</a:t>
            </a:r>
          </a:p>
          <a:p>
            <a:r>
              <a:rPr sz="850">
                <a:solidFill>
                  <a:srgbClr val="1A1A1A"/>
                </a:solidFill>
              </a:rPr>
              <a:t>•  Modelo para o que o Brasil nunca fez: marca própria com storytelling de origem específica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Armadilhas — O Que a Orfeu Deve Evitar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Erros historicos que impediram o premium brasileiro — e os riscos para a Orfeu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ARMADILHA 1: CAFE BRASILEIRO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Nunca posicione como cafe brasileiro premium. Posicione como Orfeu — cafe especial de origem.</a:t>
            </a:r>
          </a:p>
          <a:p>
            <a:r>
              <a:rPr sz="850">
                <a:solidFill>
                  <a:srgbClr val="1A1A1A"/>
                </a:solidFill>
              </a:rPr>
              <a:t>•  Origem é argumento secundário. A marca Orfeu é o argumento primário.</a:t>
            </a:r>
          </a:p>
          <a:p>
            <a:r>
              <a:rPr sz="850">
                <a:solidFill>
                  <a:srgbClr val="1A1A1A"/>
                </a:solidFill>
              </a:rPr>
              <a:t>•  Juan Valdez falhou quando tentou ser genérico fora de Colombia. Orfeu deve evitar isso.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ARMADILHA 2: CAMPANHAS GENERICAS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Nao participar de campanhas setoriais como substituto de marca própria.</a:t>
            </a:r>
          </a:p>
          <a:p>
            <a:r>
              <a:rPr sz="850">
                <a:solidFill>
                  <a:srgbClr val="1A1A1A"/>
                </a:solidFill>
              </a:rPr>
              <a:t>•  Recursos em brand Orfeu têm ROI claro. Campanhas genéricas diluem o posicionamento.</a:t>
            </a:r>
          </a:p>
          <a:p>
            <a:r>
              <a:rPr sz="850">
                <a:solidFill>
                  <a:srgbClr val="1A1A1A"/>
                </a:solidFill>
              </a:rPr>
              <a:t>•  ABIC, APEX — participação não constrói equity de Orfeu.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ARMADILHA 3: VOLUME ANTES DE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Crescer volume sem manter qualidade percebida dilui o posicionamento premium.</a:t>
            </a:r>
          </a:p>
          <a:p>
            <a:r>
              <a:rPr sz="850">
                <a:solidFill>
                  <a:srgbClr val="1A1A1A"/>
                </a:solidFill>
              </a:rPr>
              <a:t>•  Blue Bottle recusa pedidos quando nao tem roasting capacity — Orfeu pode fazer o mesmo.</a:t>
            </a:r>
          </a:p>
          <a:p>
            <a:r>
              <a:rPr sz="850">
                <a:solidFill>
                  <a:srgbClr val="1A1A1A"/>
                </a:solidFill>
              </a:rPr>
              <a:t>•  Politica clara: volume tem limite, premium nao.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ARMADILHA 4: PRICING BRASILEIRO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No mercado internacional, R$120/kg parece baixo para quem compra em EUR/USD.</a:t>
            </a:r>
          </a:p>
          <a:p>
            <a:r>
              <a:rPr sz="850">
                <a:solidFill>
                  <a:srgbClr val="1A1A1A"/>
                </a:solidFill>
              </a:rPr>
              <a:t>•  O cambio e posicionamento local criam ancora de preco que prejudica exportacao.</a:t>
            </a:r>
          </a:p>
          <a:p>
            <a:r>
              <a:rPr sz="850">
                <a:solidFill>
                  <a:srgbClr val="1A1A1A"/>
                </a:solidFill>
              </a:rPr>
              <a:t>•  Orfeu deve ter pricing de exportacao desvinculado do domestico — 25-40 EUR por 250g.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 Oportunidade Que Está Vazia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O espaço premium do café brasileiro ainda não foi ocupado por nenhuma marca — a Orfeu tem 10 anos de vantagem antes que multinacionais acordem para isso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4747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Nenhuma marca brasileira de café premium tem distribuição relevante nos EUA, EU ou Japão. O espaço está vazio. A janela de 10 anos antes que Nestlé ou JAB acordem para esse gap é real.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463040"/>
            <a:ext cx="2932176" cy="3547872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463040"/>
            <a:ext cx="293217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1481328"/>
            <a:ext cx="2859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JAPÃO — PORTA DE 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1792224"/>
            <a:ext cx="287731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Japoneses já compram CoE Brazil lots — pagam premium</a:t>
            </a:r>
          </a:p>
          <a:p>
            <a:r>
              <a:rPr sz="850">
                <a:solidFill>
                  <a:srgbClr val="1A1A1A"/>
                </a:solidFill>
              </a:rPr>
              <a:t>•  Falta uma marca brasileira com presença direta, não via importador</a:t>
            </a:r>
          </a:p>
          <a:p>
            <a:r>
              <a:rPr sz="850">
                <a:solidFill>
                  <a:srgbClr val="1A1A1A"/>
                </a:solidFill>
              </a:rPr>
              <a:t>•  Orfeu deveria abrir 1 café em Tokyo como validação — Blue Bottle playbook</a:t>
            </a:r>
          </a:p>
          <a:p>
            <a:r>
              <a:rPr sz="850">
                <a:solidFill>
                  <a:srgbClr val="1A1A1A"/>
                </a:solidFill>
              </a:rPr>
              <a:t>•  Gift culture japonesa: Orfeu gift bag = produto de presente premium validado</a:t>
            </a:r>
          </a:p>
          <a:p>
            <a:r>
              <a:rPr sz="850">
                <a:solidFill>
                  <a:srgbClr val="1A1A1A"/>
                </a:solidFill>
              </a:rPr>
              <a:t>•  Japan B2B: cafés specialty japoneses comprariam Orfeu se tivessem acesso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78480" y="1463040"/>
            <a:ext cx="2932176" cy="354787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8480" y="1463040"/>
            <a:ext cx="293217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1632" y="1481328"/>
            <a:ext cx="2859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EUA — SPECIALTY + COLD BREW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3344" y="1792224"/>
            <a:ext cx="287731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US specialty scene valoriza origin stories + barista credibility</a:t>
            </a:r>
          </a:p>
          <a:p>
            <a:r>
              <a:rPr sz="850">
                <a:solidFill>
                  <a:srgbClr val="1A1A1A"/>
                </a:solidFill>
              </a:rPr>
              <a:t>•  Cold Brew = categoria em que Orfeu já tem produto competitivo</a:t>
            </a:r>
          </a:p>
          <a:p>
            <a:r>
              <a:rPr sz="850">
                <a:solidFill>
                  <a:srgbClr val="1A1A1A"/>
                </a:solidFill>
              </a:rPr>
              <a:t>•  Amazon.com: Brazilian specialty coffee — lacuna de mercado visível</a:t>
            </a:r>
          </a:p>
          <a:p>
            <a:r>
              <a:rPr sz="850">
                <a:solidFill>
                  <a:srgbClr val="1A1A1A"/>
                </a:solidFill>
              </a:rPr>
              <a:t>•  Parceria com um roaster americano (Cometeer model) para distribuição local</a:t>
            </a:r>
          </a:p>
          <a:p>
            <a:r>
              <a:rPr sz="850">
                <a:solidFill>
                  <a:srgbClr val="1A1A1A"/>
                </a:solidFill>
              </a:rPr>
              <a:t>•  Target demographic: 35-55, college-educated, $100K+ HH income — ily customer profile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5520" y="1463040"/>
            <a:ext cx="2932176" cy="35478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65520" y="1463040"/>
            <a:ext cx="293217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8672" y="1481328"/>
            <a:ext cx="2859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EU — PREMIUM RETAIL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384" y="1792224"/>
            <a:ext cx="287731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Suécia, Holanda, Reino Unido: mercados de specialty mais desenvolvidos da EU</a:t>
            </a:r>
          </a:p>
          <a:p>
            <a:r>
              <a:rPr sz="850">
                <a:solidFill>
                  <a:srgbClr val="1A1A1A"/>
                </a:solidFill>
              </a:rPr>
              <a:t>•  Suécia é o maior mercado de CoE Brazil fora do Japão — audiência existe</a:t>
            </a:r>
          </a:p>
          <a:p>
            <a:r>
              <a:rPr sz="850">
                <a:solidFill>
                  <a:srgbClr val="1A1A1A"/>
                </a:solidFill>
              </a:rPr>
              <a:t>•  Illy, Lavazza, Nespresso usam grãos brasileiros — Orfeu pode ser a opção 'origem direta'</a:t>
            </a:r>
          </a:p>
          <a:p>
            <a:r>
              <a:rPr sz="850">
                <a:solidFill>
                  <a:srgbClr val="1A1A1A"/>
                </a:solidFill>
              </a:rPr>
              <a:t>•  Modelo: distribuição via importadores specialty (Trabocca, Nordic Approach)</a:t>
            </a:r>
          </a:p>
          <a:p>
            <a:r>
              <a:rPr sz="850">
                <a:solidFill>
                  <a:srgbClr val="1A1A1A"/>
                </a:solidFill>
              </a:rPr>
              <a:t>•  Embalagem premium bilíngue PT+EN ou PT+SE para esses mercados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Recomendacoes Estrategicas para a Orfeu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Como capturar o espaco premium que o Brasil nunca ocupou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MARCA ORFEU, NAO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Sempre: Orfeu — cafe especial — nunca: cafe brasileiro premium.</a:t>
            </a:r>
          </a:p>
          <a:p>
            <a:r>
              <a:rPr sz="850">
                <a:solidFill>
                  <a:srgbClr val="1A1A1A"/>
                </a:solidFill>
              </a:rPr>
              <a:t>•  A marca e o argumento. A origem e o sabor, nao o marketing.</a:t>
            </a:r>
          </a:p>
          <a:p>
            <a:r>
              <a:rPr sz="850">
                <a:solidFill>
                  <a:srgbClr val="1A1A1A"/>
                </a:solidFill>
              </a:rPr>
              <a:t>•  Construa brand equity de Orfeu, nao de Brasil.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JAPAO COMO PRIMEIRO MERCADO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Abra ou parcerize um cafe em Tokyo — audiencia ja existe para Brazil specialty.</a:t>
            </a:r>
          </a:p>
          <a:p>
            <a:r>
              <a:rPr sz="850">
                <a:solidFill>
                  <a:srgbClr val="1A1A1A"/>
                </a:solidFill>
              </a:rPr>
              <a:t>•  1 cafe Tokyo = halo global + earned media + exportacao validada.</a:t>
            </a:r>
          </a:p>
          <a:p>
            <a:r>
              <a:rPr sz="850">
                <a:solidFill>
                  <a:srgbClr val="1A1A1A"/>
                </a:solidFill>
              </a:rPr>
              <a:t>•  Blue Bottle Japan playbook: fila de 3 horas na abertura — Orfeu pode replicar.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STORY DE FAZENDA ESPECIFICA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Fazenda Santa Luzia, Minas Gerais, 1200m, score 87 SCA — isso e o argumento premium.</a:t>
            </a:r>
          </a:p>
          <a:p>
            <a:r>
              <a:rPr sz="850">
                <a:solidFill>
                  <a:srgbClr val="1A1A1A"/>
                </a:solidFill>
              </a:rPr>
              <a:t>•  Nome da fazenda na embalagem e no DTC — nao apenas regiao ou pais.</a:t>
            </a:r>
          </a:p>
          <a:p>
            <a:r>
              <a:rPr sz="850">
                <a:solidFill>
                  <a:srgbClr val="1A1A1A"/>
                </a:solidFill>
              </a:rPr>
              <a:t>•  Orfeu ja tem esse ativo — precisa sistematizar a comunicacao de origem especifica.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PARCEIRO DE DISTRIBUICAO EUA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Modelo Cometeer: parceria com roaster americano com DTC + retail ja estabelecido.</a:t>
            </a:r>
          </a:p>
          <a:p>
            <a:r>
              <a:rPr sz="850">
                <a:solidFill>
                  <a:srgbClr val="1A1A1A"/>
                </a:solidFill>
              </a:rPr>
              <a:t>•  Orfeu fornece green beans + story. Parceiro distribui. Split de receita.</a:t>
            </a:r>
          </a:p>
          <a:p>
            <a:r>
              <a:rPr sz="850">
                <a:solidFill>
                  <a:srgbClr val="1A1A1A"/>
                </a:solidFill>
              </a:rPr>
              <a:t>•  CAC zero para Orfeu no inicio — valida o mercado antes de investir em operacao propria.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Scorecard — Métricas &amp; Indicadores 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 PARADOXO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Produção mundial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35-40%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Share do Brasil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Premium capturado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Gap enorme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Reconhecimento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vs. 37% Colombia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Export avg.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$2–4/kg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vs. $15–50 premium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1051560"/>
            <a:ext cx="218541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FRACASSOS CAMP.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658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Cafés do Brasil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ABIC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Genérico — sem marca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Brazil Coffee 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APEX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Trade press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8658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10 anos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2012–2022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Campanhas descontinuadas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Cafés próprios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Sem presença física no exterior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1051560"/>
            <a:ext cx="218541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 QUE FUNCIONA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2686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Leilões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CoE Brazil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$30–80/kg atingido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2686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Importa 50%+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Japão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CoE Brazil — audiência existe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2686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Named farms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Fazendas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Origin story específica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2686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Única marca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Orfeu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Premium doméstico comprovado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12280" y="1051560"/>
            <a:ext cx="218541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543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OPORTUNIDADE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6714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Janela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10 anos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Antes de multinacionais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6714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0372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Porta de entrada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Tokyo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Japoneses já querem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6714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0372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Cold brew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EUA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Lacuna de mercado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6714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0372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6A18"/>
                </a:solidFill>
              </a:rPr>
              <a:t>Specialty retail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EU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Suécia/NL conhecedores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Lições para a Orfeu — Cafés do Brasil / Brazil Coffee 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8961120" cy="36576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088136"/>
            <a:ext cx="8732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FFFF"/>
                </a:solidFill>
              </a:rPr>
              <a:t>ÂNGULO: Historical Barriers and Failures of Brazilianness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499616"/>
            <a:ext cx="4389120" cy="164592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1499616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Marca Específica Vence Origem Genérica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'Juan Valdez' venceu 'café colombiano'. 'Orfeu' vencerá onde 'café do Brasil' fracassou. A origem é sabor e RTB. A marca é o produto. Comunicar Orfeu como marca — não como embaixadora do café brasileiro.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499616"/>
            <a:ext cx="4389120" cy="164592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499616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Consistência de Décadas Constrói Equity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Juan Valdez tem 65+ anos de investimento ininterrupto. Nenhuma campanha brasileira durou mais de 5 anos. Orfeu deve ter commitment de 20+ anos com o posicionamento atual — sem desvios por pressão de volume.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3255263"/>
            <a:ext cx="4389120" cy="164592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3255263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Japão Primeiro — A Audiência Já Existe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Japoneses pagam premium por café brasileiro de qualidade via CoE — mas compram de importadores anônimos. Orfeu chegar ao Japão diretamente, com marca, é capturar uma audiência já educada.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55263"/>
            <a:ext cx="4389120" cy="164592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3255263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Fazenda + Processo + Score = Premium Verificável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O modelo CoE prova que café brasileiro premium funciona quando é específico e verificável. Orfeu deve ter pelo menos 2–3 produtos com nome de fazenda, altitude, processo e SCA score na embalagem — argumentos irrefutáveis.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Fontes &amp;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78992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55555"/>
                </a:solidFill>
              </a:rPr>
              <a:t>1.  ABIC — Associação Brasileira da Indústria de Café — abic.com.br</a:t>
            </a:r>
          </a:p>
          <a:p>
            <a:r>
              <a:rPr sz="850">
                <a:solidFill>
                  <a:srgbClr val="555555"/>
                </a:solidFill>
              </a:rPr>
              <a:t>2.  APEX-Brasil Brazil Coffee Nation campaigns — apexbrasil.com.br</a:t>
            </a:r>
          </a:p>
          <a:p>
            <a:r>
              <a:rPr sz="850">
                <a:solidFill>
                  <a:srgbClr val="555555"/>
                </a:solidFill>
              </a:rPr>
              <a:t>3.  Cup of Excellence Brazil — cupofexcellence.org</a:t>
            </a:r>
          </a:p>
          <a:p>
            <a:r>
              <a:rPr sz="850">
                <a:solidFill>
                  <a:srgbClr val="555555"/>
                </a:solidFill>
              </a:rPr>
              <a:t>4.  BSCA — Brazil Specialty Coffee Association — bsca.com.br</a:t>
            </a:r>
          </a:p>
          <a:p>
            <a:r>
              <a:rPr sz="850">
                <a:solidFill>
                  <a:srgbClr val="555555"/>
                </a:solidFill>
              </a:rPr>
              <a:t>5.  Juan Valdez brand history — Federación Nacional de Cafeteros de Colombia</a:t>
            </a:r>
          </a:p>
          <a:p>
            <a:r>
              <a:rPr sz="850">
                <a:solidFill>
                  <a:srgbClr val="555555"/>
                </a:solidFill>
              </a:rPr>
              <a:t>6.  Colombia vs. Brazil premium recognition — Euromonitor International, 2023</a:t>
            </a:r>
          </a:p>
          <a:p>
            <a:r>
              <a:rPr sz="850">
                <a:solidFill>
                  <a:srgbClr val="555555"/>
                </a:solidFill>
              </a:rPr>
              <a:t>7.  Santos grade coffee pricing history — ICO (International Coffee Organization)</a:t>
            </a:r>
          </a:p>
          <a:p>
            <a:r>
              <a:rPr sz="850">
                <a:solidFill>
                  <a:srgbClr val="555555"/>
                </a:solidFill>
              </a:rPr>
              <a:t>8.  Fazenda Santa Inês 95-point CoE lot — sweetmarias.com</a:t>
            </a:r>
          </a:p>
          <a:p>
            <a:r>
              <a:rPr sz="850">
                <a:solidFill>
                  <a:srgbClr val="555555"/>
                </a:solidFill>
              </a:rPr>
              <a:t>9.  Trabocca Brazilian specialty imports — trabocca.com</a:t>
            </a:r>
          </a:p>
          <a:p>
            <a:r>
              <a:rPr sz="850">
                <a:solidFill>
                  <a:srgbClr val="555555"/>
                </a:solidFill>
              </a:rPr>
              <a:t>10.  Nordic Approach specialty sourcing Brazil — nordicapproach.no</a:t>
            </a:r>
          </a:p>
          <a:p>
            <a:r>
              <a:rPr sz="850">
                <a:solidFill>
                  <a:srgbClr val="555555"/>
                </a:solidFill>
              </a:rPr>
              <a:t>11.  Japanese CoE buying patterns — japan coffee market report, All Japan Coffee Association 2024</a:t>
            </a:r>
          </a:p>
          <a:p>
            <a:r>
              <a:rPr sz="850">
                <a:solidFill>
                  <a:srgbClr val="555555"/>
                </a:solidFill>
              </a:rPr>
              <a:t>12.  Orfeu annual reports and positioning — orfeu.com.br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