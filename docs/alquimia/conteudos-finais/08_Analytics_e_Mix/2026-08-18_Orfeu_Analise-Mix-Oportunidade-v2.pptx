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Grão</c:v>
                </c:pt>
              </c:strCache>
            </c:strRef>
          </c:tx>
          <c:spPr>
            <a:solidFill>
              <a:srgbClr val="2A5C2E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SP</c:v>
                </c:pt>
                <c:pt idx="1">
                  <c:v>PR</c:v>
                </c:pt>
                <c:pt idx="2">
                  <c:v>RJ</c:v>
                </c:pt>
                <c:pt idx="3">
                  <c:v>SC</c:v>
                </c:pt>
                <c:pt idx="4">
                  <c:v>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2907</c:v>
                </c:pt>
                <c:pt idx="1">
                  <c:v>450</c:v>
                </c:pt>
                <c:pt idx="2">
                  <c:v>100</c:v>
                </c:pt>
                <c:pt idx="3">
                  <c:v>338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Tm</c:v>
                </c:pt>
              </c:strCache>
            </c:strRef>
          </c:tx>
          <c:spPr>
            <a:solidFill>
              <a:srgbClr val="C0702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SP</c:v>
                </c:pt>
                <c:pt idx="1">
                  <c:v>PR</c:v>
                </c:pt>
                <c:pt idx="2">
                  <c:v>RJ</c:v>
                </c:pt>
                <c:pt idx="3">
                  <c:v>SC</c:v>
                </c:pt>
                <c:pt idx="4">
                  <c:v>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3451</c:v>
                </c:pt>
                <c:pt idx="1">
                  <c:v>818</c:v>
                </c:pt>
                <c:pt idx="2">
                  <c:v>257</c:v>
                </c:pt>
                <c:pt idx="3">
                  <c:v>243</c:v>
                </c:pt>
                <c:pt idx="4">
                  <c:v>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Cápsulas</c:v>
                </c:pt>
              </c:strCache>
            </c:strRef>
          </c:tx>
          <c:spPr>
            <a:solidFill>
              <a:srgbClr val="D9A54A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SP</c:v>
                </c:pt>
                <c:pt idx="1">
                  <c:v>PR</c:v>
                </c:pt>
                <c:pt idx="2">
                  <c:v>RJ</c:v>
                </c:pt>
                <c:pt idx="3">
                  <c:v>SC</c:v>
                </c:pt>
                <c:pt idx="4">
                  <c:v>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4906</c:v>
                </c:pt>
                <c:pt idx="1">
                  <c:v>520</c:v>
                </c:pt>
                <c:pt idx="2">
                  <c:v>340</c:v>
                </c:pt>
                <c:pt idx="3">
                  <c:v>142</c:v>
                </c:pt>
                <c:pt idx="4">
                  <c:v>54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Drip</c:v>
                </c:pt>
              </c:strCache>
            </c:strRef>
          </c:tx>
          <c:spPr>
            <a:solidFill>
              <a:srgbClr val="8AA88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SP</c:v>
                </c:pt>
                <c:pt idx="1">
                  <c:v>PR</c:v>
                </c:pt>
                <c:pt idx="2">
                  <c:v>RJ</c:v>
                </c:pt>
                <c:pt idx="3">
                  <c:v>SC</c:v>
                </c:pt>
                <c:pt idx="4">
                  <c:v>RS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1005</c:v>
                </c:pt>
                <c:pt idx="1">
                  <c:v>101</c:v>
                </c:pt>
                <c:pt idx="2">
                  <c:v>77</c:v>
                </c:pt>
                <c:pt idx="3">
                  <c:v>8</c:v>
                </c:pt>
                <c:pt idx="4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Grão</c:v>
                </c:pt>
              </c:strCache>
            </c:strRef>
          </c:tx>
          <c:spPr>
            <a:solidFill>
              <a:srgbClr val="2A5C2E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GPA</c:v>
                </c:pt>
                <c:pt idx="1">
                  <c:v>St Marché</c:v>
                </c:pt>
                <c:pt idx="2">
                  <c:v>Carrefour</c:v>
                </c:pt>
                <c:pt idx="3">
                  <c:v>Mambo</c:v>
                </c:pt>
                <c:pt idx="4">
                  <c:v>Muffato</c:v>
                </c:pt>
                <c:pt idx="5">
                  <c:v>Festval</c:v>
                </c:pt>
                <c:pt idx="6">
                  <c:v>Oba</c:v>
                </c:pt>
                <c:pt idx="7">
                  <c:v>Sam's Club</c:v>
                </c:pt>
                <c:pt idx="8">
                  <c:v>Hortifruti</c:v>
                </c:pt>
                <c:pt idx="9">
                  <c:v>Pague Menos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1656</c:v>
                </c:pt>
                <c:pt idx="1">
                  <c:v>504</c:v>
                </c:pt>
                <c:pt idx="2">
                  <c:v>148</c:v>
                </c:pt>
                <c:pt idx="3">
                  <c:v>307</c:v>
                </c:pt>
                <c:pt idx="4">
                  <c:v>86</c:v>
                </c:pt>
                <c:pt idx="5">
                  <c:v>252</c:v>
                </c:pt>
                <c:pt idx="6">
                  <c:v>80</c:v>
                </c:pt>
                <c:pt idx="7">
                  <c:v>40</c:v>
                </c:pt>
                <c:pt idx="8">
                  <c:v>50</c:v>
                </c:pt>
                <c:pt idx="9">
                  <c:v>109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Tm</c:v>
                </c:pt>
              </c:strCache>
            </c:strRef>
          </c:tx>
          <c:spPr>
            <a:solidFill>
              <a:srgbClr val="C07028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GPA</c:v>
                </c:pt>
                <c:pt idx="1">
                  <c:v>St Marché</c:v>
                </c:pt>
                <c:pt idx="2">
                  <c:v>Carrefour</c:v>
                </c:pt>
                <c:pt idx="3">
                  <c:v>Mambo</c:v>
                </c:pt>
                <c:pt idx="4">
                  <c:v>Muffato</c:v>
                </c:pt>
                <c:pt idx="5">
                  <c:v>Festval</c:v>
                </c:pt>
                <c:pt idx="6">
                  <c:v>Oba</c:v>
                </c:pt>
                <c:pt idx="7">
                  <c:v>Sam's Club</c:v>
                </c:pt>
                <c:pt idx="8">
                  <c:v>Hortifruti</c:v>
                </c:pt>
                <c:pt idx="9">
                  <c:v>Pague Menos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1702</c:v>
                </c:pt>
                <c:pt idx="1">
                  <c:v>448</c:v>
                </c:pt>
                <c:pt idx="2">
                  <c:v>518</c:v>
                </c:pt>
                <c:pt idx="3">
                  <c:v>288</c:v>
                </c:pt>
                <c:pt idx="4">
                  <c:v>514</c:v>
                </c:pt>
                <c:pt idx="5">
                  <c:v>224</c:v>
                </c:pt>
                <c:pt idx="6">
                  <c:v>240</c:v>
                </c:pt>
                <c:pt idx="7">
                  <c:v>140</c:v>
                </c:pt>
                <c:pt idx="8">
                  <c:v>150</c:v>
                </c:pt>
                <c:pt idx="9">
                  <c:v>109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Cápsulas</c:v>
                </c:pt>
              </c:strCache>
            </c:strRef>
          </c:tx>
          <c:spPr>
            <a:solidFill>
              <a:srgbClr val="D9A54A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GPA</c:v>
                </c:pt>
                <c:pt idx="1">
                  <c:v>St Marché</c:v>
                </c:pt>
                <c:pt idx="2">
                  <c:v>Carrefour</c:v>
                </c:pt>
                <c:pt idx="3">
                  <c:v>Mambo</c:v>
                </c:pt>
                <c:pt idx="4">
                  <c:v>Muffato</c:v>
                </c:pt>
                <c:pt idx="5">
                  <c:v>Festval</c:v>
                </c:pt>
                <c:pt idx="6">
                  <c:v>Oba</c:v>
                </c:pt>
                <c:pt idx="7">
                  <c:v>Sam's Club</c:v>
                </c:pt>
                <c:pt idx="8">
                  <c:v>Hortifruti</c:v>
                </c:pt>
                <c:pt idx="9">
                  <c:v>Pague Menos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2645</c:v>
                </c:pt>
                <c:pt idx="1">
                  <c:v>784</c:v>
                </c:pt>
                <c:pt idx="2">
                  <c:v>444</c:v>
                </c:pt>
                <c:pt idx="3">
                  <c:v>324</c:v>
                </c:pt>
                <c:pt idx="4">
                  <c:v>208</c:v>
                </c:pt>
                <c:pt idx="5">
                  <c:v>280</c:v>
                </c:pt>
                <c:pt idx="6">
                  <c:v>320</c:v>
                </c:pt>
                <c:pt idx="7">
                  <c:v>320</c:v>
                </c:pt>
                <c:pt idx="8">
                  <c:v>200</c:v>
                </c:pt>
                <c:pt idx="9">
                  <c:v>157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Drip</c:v>
                </c:pt>
              </c:strCache>
            </c:strRef>
          </c:tx>
          <c:spPr>
            <a:solidFill>
              <a:srgbClr val="8AA88C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GPA</c:v>
                </c:pt>
                <c:pt idx="1">
                  <c:v>St Marché</c:v>
                </c:pt>
                <c:pt idx="2">
                  <c:v>Carrefour</c:v>
                </c:pt>
                <c:pt idx="3">
                  <c:v>Mambo</c:v>
                </c:pt>
                <c:pt idx="4">
                  <c:v>Muffato</c:v>
                </c:pt>
                <c:pt idx="5">
                  <c:v>Festval</c:v>
                </c:pt>
                <c:pt idx="6">
                  <c:v>Oba</c:v>
                </c:pt>
                <c:pt idx="7">
                  <c:v>Sam's Club</c:v>
                </c:pt>
                <c:pt idx="8">
                  <c:v>Hortifruti</c:v>
                </c:pt>
                <c:pt idx="9">
                  <c:v>Pague Menos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483</c:v>
                </c:pt>
                <c:pt idx="1">
                  <c:v>161</c:v>
                </c:pt>
                <c:pt idx="2">
                  <c:v>148</c:v>
                </c:pt>
                <c:pt idx="3">
                  <c:v>72</c:v>
                </c:pt>
                <c:pt idx="4">
                  <c:v>101</c:v>
                </c:pt>
                <c:pt idx="5">
                  <c:v>0</c:v>
                </c:pt>
                <c:pt idx="6">
                  <c:v>80</c:v>
                </c:pt>
                <c:pt idx="7">
                  <c:v>40</c:v>
                </c:pt>
                <c:pt idx="8">
                  <c:v>50</c:v>
                </c:pt>
                <c:pt idx="9">
                  <c:v>24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SKUs distribuídos</c:v>
                </c:pt>
              </c:strCache>
            </c:strRef>
          </c:tx>
          <c:spPr>
            <a:solidFill>
              <a:srgbClr val="2A5C2E"/>
            </a:solidFill>
            <a:ln>
              <a:noFill/>
            </a:ln>
          </c:spPr>
          <c:dPt>
            <c:idx val="0"/>
            <c:spPr>
              <a:solidFill>
                <a:srgbClr val="2A5C2E"/>
              </a:solidFill>
            </c:spPr>
          </c:dPt>
          <c:dPt>
            <c:idx val="1"/>
            <c:spPr>
              <a:solidFill>
                <a:srgbClr val="C07028"/>
              </a:solidFill>
            </c:spPr>
          </c:dPt>
          <c:dPt>
            <c:idx val="2"/>
            <c:spPr>
              <a:solidFill>
                <a:srgbClr val="D9A54A"/>
              </a:solidFill>
            </c:spPr>
          </c:dPt>
          <c:dPt>
            <c:idx val="3"/>
            <c:spPr>
              <a:solidFill>
                <a:srgbClr val="8AA88C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Grão</c:v>
                </c:pt>
                <c:pt idx="1">
                  <c:v>Tm</c:v>
                </c:pt>
                <c:pt idx="2">
                  <c:v>Cápsulas</c:v>
                </c:pt>
                <c:pt idx="3">
                  <c:v>Drip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3795</c:v>
                </c:pt>
                <c:pt idx="1">
                  <c:v>4841</c:v>
                </c:pt>
                <c:pt idx="2">
                  <c:v>5962</c:v>
                </c:pt>
                <c:pt idx="3">
                  <c:v>1191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Grão</c:v>
                </c:pt>
              </c:strCache>
            </c:strRef>
          </c:tx>
          <c:spPr>
            <a:solidFill>
              <a:srgbClr val="2A5C2E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RJ</c:v>
                </c:pt>
                <c:pt idx="1">
                  <c:v>SP</c:v>
                </c:pt>
                <c:pt idx="2">
                  <c:v>PR</c:v>
                </c:pt>
                <c:pt idx="3">
                  <c:v>SC</c:v>
                </c:pt>
                <c:pt idx="4">
                  <c:v>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1588</c:v>
                </c:pt>
                <c:pt idx="1">
                  <c:v>2044</c:v>
                </c:pt>
                <c:pt idx="2">
                  <c:v>1172</c:v>
                </c:pt>
                <c:pt idx="3">
                  <c:v>440</c:v>
                </c:pt>
                <c:pt idx="4">
                  <c:v>216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Tm</c:v>
                </c:pt>
              </c:strCache>
            </c:strRef>
          </c:tx>
          <c:spPr>
            <a:solidFill>
              <a:srgbClr val="C07028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RJ</c:v>
                </c:pt>
                <c:pt idx="1">
                  <c:v>SP</c:v>
                </c:pt>
                <c:pt idx="2">
                  <c:v>PR</c:v>
                </c:pt>
                <c:pt idx="3">
                  <c:v>SC</c:v>
                </c:pt>
                <c:pt idx="4">
                  <c:v>RS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842</c:v>
                </c:pt>
                <c:pt idx="1">
                  <c:v>574</c:v>
                </c:pt>
                <c:pt idx="2">
                  <c:v>52</c:v>
                </c:pt>
                <c:pt idx="3">
                  <c:v>366</c:v>
                </c:pt>
                <c:pt idx="4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Cápsulas</c:v>
                </c:pt>
              </c:strCache>
            </c:strRef>
          </c:tx>
          <c:spPr>
            <a:solidFill>
              <a:srgbClr val="D9A54A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RJ</c:v>
                </c:pt>
                <c:pt idx="1">
                  <c:v>SP</c:v>
                </c:pt>
                <c:pt idx="2">
                  <c:v>PR</c:v>
                </c:pt>
                <c:pt idx="3">
                  <c:v>SC</c:v>
                </c:pt>
                <c:pt idx="4">
                  <c:v>RS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1555</c:v>
                </c:pt>
                <c:pt idx="1">
                  <c:v>1428</c:v>
                </c:pt>
                <c:pt idx="2">
                  <c:v>1440</c:v>
                </c:pt>
                <c:pt idx="3">
                  <c:v>1066</c:v>
                </c:pt>
                <c:pt idx="4">
                  <c:v>162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Drip</c:v>
                </c:pt>
              </c:strCache>
            </c:strRef>
          </c:tx>
          <c:spPr>
            <a:solidFill>
              <a:srgbClr val="8AA88C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RJ</c:v>
                </c:pt>
                <c:pt idx="1">
                  <c:v>SP</c:v>
                </c:pt>
                <c:pt idx="2">
                  <c:v>PR</c:v>
                </c:pt>
                <c:pt idx="3">
                  <c:v>SC</c:v>
                </c:pt>
                <c:pt idx="4">
                  <c:v>RS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296</c:v>
                </c:pt>
                <c:pt idx="1">
                  <c:v>231</c:v>
                </c:pt>
                <c:pt idx="2">
                  <c:v>266</c:v>
                </c:pt>
                <c:pt idx="3">
                  <c:v>254</c:v>
                </c:pt>
                <c:pt idx="4">
                  <c:v>54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Grão</c:v>
                </c:pt>
              </c:strCache>
            </c:strRef>
          </c:tx>
          <c:spPr>
            <a:solidFill>
              <a:srgbClr val="2A5C2E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Muffato</c:v>
                </c:pt>
                <c:pt idx="1">
                  <c:v>Zona Sul</c:v>
                </c:pt>
                <c:pt idx="2">
                  <c:v>Oba</c:v>
                </c:pt>
                <c:pt idx="3">
                  <c:v>Hortifruti</c:v>
                </c:pt>
                <c:pt idx="4">
                  <c:v>Pague Menos</c:v>
                </c:pt>
                <c:pt idx="5">
                  <c:v>Carrefour</c:v>
                </c:pt>
                <c:pt idx="6">
                  <c:v>Sam's Club</c:v>
                </c:pt>
                <c:pt idx="7">
                  <c:v>Fort Atacadista</c:v>
                </c:pt>
                <c:pt idx="8">
                  <c:v>Giassi</c:v>
                </c:pt>
                <c:pt idx="9">
                  <c:v>Prezunic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1172</c:v>
                </c:pt>
                <c:pt idx="1">
                  <c:v>612</c:v>
                </c:pt>
                <c:pt idx="2">
                  <c:v>800</c:v>
                </c:pt>
                <c:pt idx="3">
                  <c:v>500</c:v>
                </c:pt>
                <c:pt idx="4">
                  <c:v>250</c:v>
                </c:pt>
                <c:pt idx="5">
                  <c:v>592</c:v>
                </c:pt>
                <c:pt idx="6">
                  <c:v>400</c:v>
                </c:pt>
                <c:pt idx="7">
                  <c:v>48</c:v>
                </c:pt>
                <c:pt idx="8">
                  <c:v>108</c:v>
                </c:pt>
                <c:pt idx="9">
                  <c:v>144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Tm</c:v>
                </c:pt>
              </c:strCache>
            </c:strRef>
          </c:tx>
          <c:spPr>
            <a:solidFill>
              <a:srgbClr val="C07028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Muffato</c:v>
                </c:pt>
                <c:pt idx="1">
                  <c:v>Zona Sul</c:v>
                </c:pt>
                <c:pt idx="2">
                  <c:v>Oba</c:v>
                </c:pt>
                <c:pt idx="3">
                  <c:v>Hortifruti</c:v>
                </c:pt>
                <c:pt idx="4">
                  <c:v>Pague Menos</c:v>
                </c:pt>
                <c:pt idx="5">
                  <c:v>Carrefour</c:v>
                </c:pt>
                <c:pt idx="6">
                  <c:v>Sam's Club</c:v>
                </c:pt>
                <c:pt idx="7">
                  <c:v>Fort Atacadista</c:v>
                </c:pt>
                <c:pt idx="8">
                  <c:v>Giassi</c:v>
                </c:pt>
                <c:pt idx="9">
                  <c:v>Prezunic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52</c:v>
                </c:pt>
                <c:pt idx="1">
                  <c:v>459</c:v>
                </c:pt>
                <c:pt idx="2">
                  <c:v>240</c:v>
                </c:pt>
                <c:pt idx="3">
                  <c:v>150</c:v>
                </c:pt>
                <c:pt idx="4">
                  <c:v>175</c:v>
                </c:pt>
                <c:pt idx="5">
                  <c:v>0</c:v>
                </c:pt>
                <c:pt idx="6">
                  <c:v>180</c:v>
                </c:pt>
                <c:pt idx="7">
                  <c:v>120</c:v>
                </c:pt>
                <c:pt idx="8">
                  <c:v>54</c:v>
                </c:pt>
                <c:pt idx="9">
                  <c:v>108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Cápsulas</c:v>
                </c:pt>
              </c:strCache>
            </c:strRef>
          </c:tx>
          <c:spPr>
            <a:solidFill>
              <a:srgbClr val="D9A54A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Muffato</c:v>
                </c:pt>
                <c:pt idx="1">
                  <c:v>Zona Sul</c:v>
                </c:pt>
                <c:pt idx="2">
                  <c:v>Oba</c:v>
                </c:pt>
                <c:pt idx="3">
                  <c:v>Hortifruti</c:v>
                </c:pt>
                <c:pt idx="4">
                  <c:v>Pague Menos</c:v>
                </c:pt>
                <c:pt idx="5">
                  <c:v>Carrefour</c:v>
                </c:pt>
                <c:pt idx="6">
                  <c:v>Sam's Club</c:v>
                </c:pt>
                <c:pt idx="7">
                  <c:v>Fort Atacadista</c:v>
                </c:pt>
                <c:pt idx="8">
                  <c:v>Giassi</c:v>
                </c:pt>
                <c:pt idx="9">
                  <c:v>Prezunic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1264</c:v>
                </c:pt>
                <c:pt idx="1">
                  <c:v>765</c:v>
                </c:pt>
                <c:pt idx="2">
                  <c:v>560</c:v>
                </c:pt>
                <c:pt idx="3">
                  <c:v>350</c:v>
                </c:pt>
                <c:pt idx="4">
                  <c:v>325</c:v>
                </c:pt>
                <c:pt idx="5">
                  <c:v>222</c:v>
                </c:pt>
                <c:pt idx="6">
                  <c:v>100</c:v>
                </c:pt>
                <c:pt idx="7">
                  <c:v>360</c:v>
                </c:pt>
                <c:pt idx="8">
                  <c:v>270</c:v>
                </c:pt>
                <c:pt idx="9">
                  <c:v>180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Drip</c:v>
                </c:pt>
              </c:strCache>
            </c:strRef>
          </c:tx>
          <c:spPr>
            <a:solidFill>
              <a:srgbClr val="8AA88C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Muffato</c:v>
                </c:pt>
                <c:pt idx="1">
                  <c:v>Zona Sul</c:v>
                </c:pt>
                <c:pt idx="2">
                  <c:v>Oba</c:v>
                </c:pt>
                <c:pt idx="3">
                  <c:v>Hortifruti</c:v>
                </c:pt>
                <c:pt idx="4">
                  <c:v>Pague Menos</c:v>
                </c:pt>
                <c:pt idx="5">
                  <c:v>Carrefour</c:v>
                </c:pt>
                <c:pt idx="6">
                  <c:v>Sam's Club</c:v>
                </c:pt>
                <c:pt idx="7">
                  <c:v>Fort Atacadista</c:v>
                </c:pt>
                <c:pt idx="8">
                  <c:v>Giassi</c:v>
                </c:pt>
                <c:pt idx="9">
                  <c:v>Prezunic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134</c:v>
                </c:pt>
                <c:pt idx="1">
                  <c:v>153</c:v>
                </c:pt>
                <c:pt idx="2">
                  <c:v>80</c:v>
                </c:pt>
                <c:pt idx="3">
                  <c:v>50</c:v>
                </c:pt>
                <c:pt idx="4">
                  <c:v>75</c:v>
                </c:pt>
                <c:pt idx="5">
                  <c:v>0</c:v>
                </c:pt>
                <c:pt idx="6">
                  <c:v>60</c:v>
                </c:pt>
                <c:pt idx="7">
                  <c:v>72</c:v>
                </c:pt>
                <c:pt idx="8">
                  <c:v>54</c:v>
                </c:pt>
                <c:pt idx="9">
                  <c:v>36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Gap (Meta − Atual)</c:v>
                </c:pt>
              </c:strCache>
            </c:strRef>
          </c:tx>
          <c:spPr>
            <a:solidFill>
              <a:srgbClr val="C07028"/>
            </a:solidFill>
            <a:ln>
              <a:noFill/>
            </a:ln>
          </c:spPr>
          <c:dPt>
            <c:idx val="0"/>
            <c:spPr>
              <a:solidFill>
                <a:srgbClr val="2A5C2E"/>
              </a:solidFill>
            </c:spPr>
          </c:dPt>
          <c:dPt>
            <c:idx val="1"/>
            <c:spPr>
              <a:solidFill>
                <a:srgbClr val="2A5C2E"/>
              </a:solidFill>
            </c:spPr>
          </c:dPt>
          <c:dPt>
            <c:idx val="2"/>
            <c:spPr>
              <a:solidFill>
                <a:srgbClr val="2A5C2E"/>
              </a:solidFill>
            </c:spPr>
          </c:dPt>
          <c:dPt>
            <c:idx val="3"/>
            <c:spPr>
              <a:solidFill>
                <a:srgbClr val="2A5C2E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Grão</c:v>
                </c:pt>
                <c:pt idx="1">
                  <c:v>Tm</c:v>
                </c:pt>
                <c:pt idx="2">
                  <c:v>Cápsulas</c:v>
                </c:pt>
                <c:pt idx="3">
                  <c:v>Drip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5460</c:v>
                </c:pt>
                <c:pt idx="1">
                  <c:v>1852</c:v>
                </c:pt>
                <c:pt idx="2">
                  <c:v>5651</c:v>
                </c:pt>
                <c:pt idx="3">
                  <c:v>1101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TM Atual</c:v>
                </c:pt>
              </c:strCache>
            </c:strRef>
          </c:tx>
          <c:spPr>
            <a:solidFill>
              <a:srgbClr val="C07028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SP</c:v>
                </c:pt>
                <c:pt idx="1">
                  <c:v>PR</c:v>
                </c:pt>
                <c:pt idx="2">
                  <c:v>RJ</c:v>
                </c:pt>
                <c:pt idx="3">
                  <c:v>SC</c:v>
                </c:pt>
                <c:pt idx="4">
                  <c:v>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3451</c:v>
                </c:pt>
                <c:pt idx="1">
                  <c:v>818</c:v>
                </c:pt>
                <c:pt idx="2">
                  <c:v>257</c:v>
                </c:pt>
                <c:pt idx="3">
                  <c:v>243</c:v>
                </c:pt>
                <c:pt idx="4">
                  <c:v>72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TM Atual</c:v>
                </c:pt>
              </c:strCache>
            </c:strRef>
          </c:tx>
          <c:spPr>
            <a:solidFill>
              <a:srgbClr val="C07028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GPA</c:v>
                </c:pt>
                <c:pt idx="1">
                  <c:v>Carrefour</c:v>
                </c:pt>
                <c:pt idx="2">
                  <c:v>Muffato</c:v>
                </c:pt>
                <c:pt idx="3">
                  <c:v>St Marché</c:v>
                </c:pt>
                <c:pt idx="4">
                  <c:v>Mambo</c:v>
                </c:pt>
                <c:pt idx="5">
                  <c:v>Oba</c:v>
                </c:pt>
                <c:pt idx="6">
                  <c:v>Festval</c:v>
                </c:pt>
                <c:pt idx="7">
                  <c:v>Hortifruti</c:v>
                </c:pt>
                <c:pt idx="8">
                  <c:v>Sam's Club</c:v>
                </c:pt>
                <c:pt idx="9">
                  <c:v>Pague Menos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1702</c:v>
                </c:pt>
                <c:pt idx="1">
                  <c:v>518</c:v>
                </c:pt>
                <c:pt idx="2">
                  <c:v>514</c:v>
                </c:pt>
                <c:pt idx="3">
                  <c:v>448</c:v>
                </c:pt>
                <c:pt idx="4">
                  <c:v>288</c:v>
                </c:pt>
                <c:pt idx="5">
                  <c:v>240</c:v>
                </c:pt>
                <c:pt idx="6">
                  <c:v>224</c:v>
                </c:pt>
                <c:pt idx="7">
                  <c:v>150</c:v>
                </c:pt>
                <c:pt idx="8">
                  <c:v>140</c:v>
                </c:pt>
                <c:pt idx="9">
                  <c:v>109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5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TM Gap</c:v>
                </c:pt>
              </c:strCache>
            </c:strRef>
          </c:tx>
          <c:spPr>
            <a:solidFill>
              <a:srgbClr val="C07028"/>
            </a:solidFill>
            <a:ln>
              <a:noFill/>
            </a:ln>
          </c:spPr>
          <c:dPt>
            <c:idx val="0"/>
            <c:spPr>
              <a:solidFill>
                <a:srgbClr val="2A5C2E"/>
              </a:solidFill>
            </c:spPr>
          </c:dPt>
          <c:dPt>
            <c:idx val="1"/>
            <c:spPr>
              <a:solidFill>
                <a:srgbClr val="2A5C2E"/>
              </a:solidFill>
            </c:spPr>
          </c:dPt>
          <c:dPt>
            <c:idx val="2"/>
            <c:spPr>
              <a:solidFill>
                <a:srgbClr val="2A5C2E"/>
              </a:solidFill>
            </c:spPr>
          </c:dPt>
          <c:dPt>
            <c:idx val="3"/>
            <c:spPr>
              <a:solidFill>
                <a:srgbClr val="2A5C2E"/>
              </a:solidFill>
            </c:spPr>
          </c:dPt>
          <c:dPt>
            <c:idx val="4"/>
            <c:spPr>
              <a:solidFill>
                <a:srgbClr val="2A5C2E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RJ</c:v>
                </c:pt>
                <c:pt idx="1">
                  <c:v>SP</c:v>
                </c:pt>
                <c:pt idx="2">
                  <c:v>SC</c:v>
                </c:pt>
                <c:pt idx="3">
                  <c:v>PR</c:v>
                </c:pt>
                <c:pt idx="4">
                  <c:v>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842</c:v>
                </c:pt>
                <c:pt idx="1">
                  <c:v>574</c:v>
                </c:pt>
                <c:pt idx="2">
                  <c:v>366</c:v>
                </c:pt>
                <c:pt idx="3">
                  <c:v>52</c:v>
                </c:pt>
                <c:pt idx="4">
                  <c:v>18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0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E6E6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TM Gap</c:v>
                </c:pt>
              </c:strCache>
            </c:strRef>
          </c:tx>
          <c:spPr>
            <a:solidFill>
              <a:srgbClr val="2A5C2E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 b="1">
                    <a:solidFill>
                      <a:srgbClr val="2A2A2A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Zona Sul</c:v>
                </c:pt>
                <c:pt idx="1">
                  <c:v>Oba</c:v>
                </c:pt>
                <c:pt idx="2">
                  <c:v>Sam's Club</c:v>
                </c:pt>
                <c:pt idx="3">
                  <c:v>Pague Menos</c:v>
                </c:pt>
                <c:pt idx="4">
                  <c:v>Hortifruti</c:v>
                </c:pt>
                <c:pt idx="5">
                  <c:v>Fort Atacadista</c:v>
                </c:pt>
                <c:pt idx="6">
                  <c:v>Prezunic</c:v>
                </c:pt>
                <c:pt idx="7">
                  <c:v>Koch</c:v>
                </c:pt>
                <c:pt idx="8">
                  <c:v>Guanabara</c:v>
                </c:pt>
                <c:pt idx="9">
                  <c:v>Giassi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459</c:v>
                </c:pt>
                <c:pt idx="1">
                  <c:v>240</c:v>
                </c:pt>
                <c:pt idx="2">
                  <c:v>180</c:v>
                </c:pt>
                <c:pt idx="3">
                  <c:v>175</c:v>
                </c:pt>
                <c:pt idx="4">
                  <c:v>150</c:v>
                </c:pt>
                <c:pt idx="5">
                  <c:v>120</c:v>
                </c:pt>
                <c:pt idx="6">
                  <c:v>108</c:v>
                </c:pt>
                <c:pt idx="7">
                  <c:v>99</c:v>
                </c:pt>
                <c:pt idx="8">
                  <c:v>81</c:v>
                </c:pt>
                <c:pt idx="9">
                  <c:v>54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050">
                <a:solidFill>
                  <a:srgbClr val="2A2A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7028"/>
                </a:solidFill>
                <a:latin typeface="Avenir Next"/>
              </a:rPr>
              <a:t>ORFEU — MIX x OPORTUNIDADE  · 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E4221"/>
                </a:solidFill>
                <a:latin typeface="Avenir Next"/>
              </a:rPr>
              <a:t>Análise de Distribuição e Oportunidades de GAP</a:t>
            </a:r>
          </a:p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1E4221"/>
                </a:solidFill>
                <a:latin typeface="Avenir Next"/>
              </a:rPr>
              <a:t>por Estado, Rede e SKU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E6E6E"/>
                </a:solidFill>
                <a:latin typeface="Avenir Next"/>
              </a:rPr>
              <a:t>Com recorte específico para Torrado e Moído (TM)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9418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C07028"/>
                </a:solidFill>
                <a:latin typeface="Avenir Next"/>
              </a:rPr>
              <a:t>V2: GAP calculado por loja com piso em zero — sem meta negativa entre lojas/redes/estados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E6E6E"/>
                </a:solidFill>
                <a:latin typeface="Avenir Next"/>
              </a:rPr>
              <a:t>Base: mix_oportunidade_redes_prioritarias.xlsx  ·  984 lojas mapeadas  ·  18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COMO LER ESTE DOCUMENTO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Metodologia e Definições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1200">
                <a:solidFill>
                  <a:srgbClr val="2A2A2A"/>
                </a:solidFill>
                <a:latin typeface="Avenir Next"/>
              </a:rPr>
              <a:t>•  Unidade analisada: SKUs listados por loja em cada categoria (Grão, Torrado e Moído, Cápsulas, Drip) — não é volume de vendas, é presença de mix no ponto de venda.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A2A2A"/>
                </a:solidFill>
                <a:latin typeface="Avenir Next"/>
              </a:rPr>
              <a:t>•  MIX ATUAL: quantidade de SKUs hoje distribuídos por loja/rede/estado, em cada categoria.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A2A2A"/>
                </a:solidFill>
                <a:latin typeface="Avenir Next"/>
              </a:rPr>
              <a:t>•  META / OPORTUNIDADE: quantidade-alvo de SKUs definida para cada loja, por categoria.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A2A2A"/>
                </a:solidFill>
                <a:latin typeface="Avenir Next"/>
              </a:rPr>
              <a:t>•  GAP = MAX(0, META − ATUAL), calculado loja a loja, por categoria. Sem meta negativa: uma loja já acima do seu alvo individual contribui zero ao gap — nunca um valor negativo que cancele oportunidade de outra loja, rede ou estado.</a:t>
            </a:r>
          </a:p>
          <a:p>
            <a:pPr>
              <a:spcAft>
                <a:spcPts val="1400"/>
              </a:spcAft>
            </a:pPr>
            <a:r>
              <a:rPr sz="1200">
                <a:solidFill>
                  <a:srgbClr val="2A2A2A"/>
                </a:solidFill>
                <a:latin typeface="Avenir Next"/>
              </a:rPr>
              <a:t>•  Origem do mix: 'Oficial (loja)' e 'Herdado (rede)' já têm presença; 'Sem mix' = loja sem nenhum SKU hoje (91 de 984 lojas, 9%) — a oportunidade de ativação mais rápida.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394960" cy="43891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234440"/>
            <a:ext cx="50800" cy="438912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362456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GRUPOS DE LOJA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709928"/>
            <a:ext cx="5029200" cy="3794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Colheita — lojas maduras, já em operação plena.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Plantio — lojas em expansão/entrada recente, mix ainda em construção.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As três lentes pedidas — Estado, Rede e SKU — são cortes complementares do mesmo dado: cada loja pertence a um Estado e a uma Rede, e carrega 4 categorias de SKU.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Fonte: mix_oportunidade_redes_prioritarias.xlsx — aba 'Mix x Oportunidade'.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VISÃO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Sumário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2697480" cy="3810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5C2E"/>
                </a:solidFill>
                <a:latin typeface="Avenir Next"/>
              </a:rPr>
              <a:t>15.789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6E6E"/>
                </a:solidFill>
                <a:latin typeface="Avenir Next"/>
              </a:rPr>
              <a:t>SKUs distribuídos hoje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1887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188720"/>
            <a:ext cx="2697480" cy="3810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35331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C07028"/>
                </a:solidFill>
                <a:latin typeface="Avenir Next"/>
              </a:rPr>
              <a:t>22.587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4767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6E6E"/>
                </a:solidFill>
                <a:latin typeface="Avenir Next"/>
              </a:rPr>
              <a:t>Meta total de SKUs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887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188720"/>
            <a:ext cx="2697480" cy="38100"/>
          </a:xfrm>
          <a:prstGeom prst="rect">
            <a:avLst/>
          </a:prstGeom>
          <a:solidFill>
            <a:srgbClr val="D9A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35331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9A54A"/>
                </a:solidFill>
                <a:latin typeface="Avenir Next"/>
              </a:rPr>
              <a:t>14.064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4767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6E6E"/>
                </a:solidFill>
                <a:latin typeface="Avenir Next"/>
              </a:rPr>
              <a:t>Gap total (piso zero/loja)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1887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188720"/>
            <a:ext cx="2697480" cy="3810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353312"/>
            <a:ext cx="2423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A83A2E"/>
                </a:solidFill>
                <a:latin typeface="Avenir Next"/>
              </a:rPr>
              <a:t>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47672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E6E6E"/>
                </a:solidFill>
                <a:latin typeface="Avenir Next"/>
              </a:rPr>
              <a:t>Lojas sem mix hoje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606040"/>
            <a:ext cx="1115568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150">
                <a:solidFill>
                  <a:srgbClr val="2A2A2A"/>
                </a:solidFill>
                <a:latin typeface="Avenir Next"/>
              </a:rPr>
              <a:t>•  Metodologia: GAP calculado loja a loja, por categoria, com piso em zero — uma loja já acima do seu alvo individual não gera 'crédito' que cancele oportunidade em outra loja. Isso eleva o gap total real de SKUs para 14.064, ante um resultado líquido bem menor se estados/redes fossem compensados entre si.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2A2A2A"/>
                </a:solidFill>
                <a:latin typeface="Avenir Next"/>
              </a:rPr>
              <a:t>•  SP concentra 78% de todo o mix atual (12.269 SKUs de 15.789) — é o mercado mais maduro, mas mesmo assim carrega 574 SKUs de gap real em TM: há bolsões de whitespace mesmo dentro do mercado mais maduro.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2A2A2A"/>
                </a:solidFill>
                <a:latin typeface="Avenir Next"/>
              </a:rPr>
              <a:t>•  Grão é a maior oportunidade geral: 5.460 SKUs de gap (68% da meta) — a categoria menos madura na rede como um todo.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2A2A2A"/>
                </a:solidFill>
                <a:latin typeface="Avenir Next"/>
              </a:rPr>
              <a:t>•  TM (Torrado e Moído) tem 1.852 SKUs de gap real por loja. RJ concentra a maior fatia (842), mas o gap aparece em todos os estados, inclusive SP e PR — os mercados mais maduros nesta categoria.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2A2A2A"/>
                </a:solidFill>
                <a:latin typeface="Avenir Next"/>
              </a:rPr>
              <a:t>•  1.852 SKUs de TM em aberto no total; 819 desses (44%) vêm de redes com ZERO mix hoje — Zona Sul, Prezunic e Guanabara (RJ), Koch, Hiper Select, Archer e Meschke (SC). É ativação, não expansão incremental.</a:t>
            </a:r>
          </a:p>
          <a:p>
            <a:pPr>
              <a:spcAft>
                <a:spcPts val="1000"/>
              </a:spcAft>
            </a:pPr>
            <a:r>
              <a:rPr sz="1150">
                <a:solidFill>
                  <a:srgbClr val="2A2A2A"/>
                </a:solidFill>
                <a:latin typeface="Avenir Next"/>
              </a:rPr>
              <a:t>•  Cápsulas e Drip têm gap positivo e bem distribuído entre estados (64% e 62% da meta, respectivamente) — oportunidade mais pulverizada que TM ou Grão.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KPIs somam as 4 categorias (Grão, Tm, Cápsulas, Drip) nas 984 lojas mapeadas. Gap = MAX(0, Meta − Atual) por loja/categoria.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1. DISTRIBUIÇÃO ATUAL  ·  POR ESTADO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Mix Atual por Estado (SKUs distribuídos)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0408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234440"/>
            <a:ext cx="3977639" cy="49377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34440"/>
            <a:ext cx="50800" cy="493776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362456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LEITURA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709928"/>
            <a:ext cx="3611879" cy="4343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SP: 12.269 SKUs (78%) em 571 lojas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PR: 1.889 SKUs (12%) em 156 lojas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RJ: 774 SKUs (5%) em 149 lojas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SC: 731 SKUs (5%) em 90 lojas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RS: 126 SKUs (1%) em 18 lojas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SP concentra a maior parte do mix absoluto — mas isso reflete tamanho de rede, não necessariamente saturação relativa (ver GAP, seção 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Soma de SKUs (Grão + Tm + Cápsulas + Drip) por estado. Ordenado por total decrescente.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1. DISTRIBUIÇÃO ATUAL  ·  POR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Mix Atual por Rede — 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85953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235440" y="1234440"/>
            <a:ext cx="2468880" cy="49377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1234440"/>
            <a:ext cx="50800" cy="493776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36608" y="136245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TOP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6608" y="1709928"/>
            <a:ext cx="2103120" cy="4343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GPA: 6.486 SKUs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St Marché: 1.897 SKUs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Carrefour: 1.258 SKUs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GPA sozinho é 41% do top 10 — maior rede em SKUs ativos hoje.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26 redes mapeadas no total; exibindo as 10 com maior volume de mix atual.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1. DISTRIBUIÇÃO ATUAL  ·  POR SKU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Mix Atual por Categoria de SKU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0408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234440"/>
            <a:ext cx="3977639" cy="49377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34440"/>
            <a:ext cx="50800" cy="493776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362456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PARTICIPAÇÃO POR CATEGORIA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709928"/>
            <a:ext cx="3611879" cy="4343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Cápsulas: 5.962 (38%) — maior categoria hoje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Torrado e Moído: 4.841 (31%)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Grão: 3.795 (24%)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Drip: 1.191 (8%) — menor categoria. formato mais recente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Cápsulas e TM juntos são quase 70% de todo o mix distribuído hoje.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Total de SKUs distribuídos por categoria, somando as 984 lojas mapeadas.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2. OPORTUNIDADES DE GAP  ·  POR ESTADO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GAP (Meta − Atual) por Estado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0408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234440"/>
            <a:ext cx="3977639" cy="49377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34440"/>
            <a:ext cx="50800" cy="493776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362456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MAIORES OPORTUNIDADES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709928"/>
            <a:ext cx="3611879" cy="4343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RJ: +4.281 SKUs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SP: +4.277 SKUs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PR: +2.930 SKUs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SC: +2.126 SKUs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RS: +450 SKUs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RJ e SP lideram em gap absoluto, por razões distintas: RJ tem baixa cobertura geral (poucas lojas maduras); SP tem alta cobertura mas desigual — há whitespace mesmo em lojas de mercados maduros.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Gap = MAX(0, Meta − Atual) por loja/categoria, somado por estado. Não há barras negativas nesta metodologia.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2. OPORTUNIDADES DE GAP  ·  POR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GAP (Meta − Atual) por Rede — 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85953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9235440" y="1234440"/>
            <a:ext cx="2468880" cy="49377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235440" y="1234440"/>
            <a:ext cx="50800" cy="493776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36608" y="136245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TOP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36608" y="1709928"/>
            <a:ext cx="2103120" cy="4343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Muffato: +2.622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Zona Sul: +1.989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Oba: +1.680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Muffato e Zona Sul lideram — perfis distintos: Muffato é expansão de mix em rede já ativa; Zona Sul é ativação pura (rede hoje sem mix).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Top 10 redes por gap total (MAX(0, Meta − Atual) por loja/categoria), somando as 4 categorias de SKU.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2. OPORTUNIDADES DE GAP  ·  POR SKU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GAP (Meta − Atual) por Categoria de SKU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9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0408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234440"/>
            <a:ext cx="3977639" cy="49377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34440"/>
            <a:ext cx="50800" cy="493776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362456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LEITURA POR CATEGORIA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709928"/>
            <a:ext cx="3611879" cy="4343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Grão: +5.460 (+68% da meta)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Tm: +1.852 (+46% da meta)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Cápsulas: +5.651 (+64% da meta)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Drip: +1.101 (+62% da meta)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Grão é a categoria com maior espaço relativo de crescimento. TM, embora madura em SP, ainda tem 1.852 SKUs de gap real quando calculado loja a loja (ver seção 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Gap = MAX(0, Meta − Atual) por loja/categoria — sem compensação entre lojas acima e abaixo do alvo.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7028"/>
                </a:solidFill>
                <a:latin typeface="Avenir Next"/>
              </a:rPr>
              <a:t>SEÇÃO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4221"/>
                </a:solidFill>
                <a:latin typeface="Avenir Next"/>
              </a:rPr>
              <a:t>Lente específica: Torrado e Moído (TM)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E6E6E"/>
                </a:solidFill>
                <a:latin typeface="Avenir Next"/>
              </a:rPr>
              <a:t>Distribuição atual e oportunidades de GAP por Estado e por Rede, isolando a categoria TM.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3. LENTE TM  ·  DISTRIBUIÇÃO ATUAL POR ESTADO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TM — Mix Atual por Estado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11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0408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234440"/>
            <a:ext cx="3977639" cy="49377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34440"/>
            <a:ext cx="50800" cy="493776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362456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LEITURA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709928"/>
            <a:ext cx="3611879" cy="4343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SP: 3.451 SKUs de TM (71% do total TM)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PR: 818 SKUs de TM (17% do total TM)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RJ: 257 SKUs de TM (5% do total TM)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SC: 243 SKUs de TM (5% do total TM)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RS: 72 SKUs de TM (1% do total TM)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SP concentra 71% de todo o TM distribuído hoje — mercado mais maduro nesta categoria, de longe.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SKUs de Torrado e Moído distribuídos hoje, por estado.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3. LENTE TM  ·  DISTRIBUIÇÃO ATUAL POR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TM — Mix Atual por Rede — 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12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0408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234440"/>
            <a:ext cx="3977639" cy="49377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34440"/>
            <a:ext cx="50800" cy="493776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362456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TOP 3 + LEITURA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709928"/>
            <a:ext cx="3611879" cy="4343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GPA: 1.702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Carrefour: 518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Muffato: 514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GPA sozinho é praticamente 1/3 de todo o TM distribuído hoje na base — concentração alta em poucas redes maduras (GPA, Carrefour, Muffato, St Marché, Mambo).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Top 10 redes por SKUs de TM atualmente distribuídos.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3. LENTE TM  ·  OPORTUNIDADES DE GAP POR ESTADO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TM — GAP (Meta − Atual) por Estado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13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0408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234440"/>
            <a:ext cx="3977639" cy="49377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34440"/>
            <a:ext cx="50800" cy="4937760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362456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MAIORES OPORTUNIDADES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709928"/>
            <a:ext cx="3611879" cy="4343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RJ: +842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SP: +574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SC: +366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PR: +52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RS: +18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RJ concentra a maior oportunidade de TM — mas o gap aparece em todos os 5 estados, inclusive nos mercados mais maduros (SP, PR): mesmo lá existem lojas específicas abaixo do alvo individual.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Gap = MAX(0, Meta − Atual) por loja, somado por estado. Todos os estados têm alguma oportunidade real de TM.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3. LENTE TM  ·  OPORTUNIDADES DE GAP POR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TM — GAP (Meta − Atual) por Rede — 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70408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26679" y="1234440"/>
            <a:ext cx="3977639" cy="49377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234440"/>
            <a:ext cx="50800" cy="493776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362456"/>
            <a:ext cx="3611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TOP 3 + LEITURA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709928"/>
            <a:ext cx="3611879" cy="4343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Zona Sul: +459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Oba: +240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Sam's Club: +180 SKUs de TM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 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Zona Sul está no topo por ser uma rede SEM mix hoje (ativação pura). Oba, Sam's Club já têm TM ativo, mas ainda carrega gap real loja a loja — expansão incremental, não ativação.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Top 10 redes por gap positivo de TM — MAX(0, Meta − Atual) por loja.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279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7028"/>
                </a:solidFill>
                <a:latin typeface="Avenir Next"/>
              </a:rPr>
              <a:t>SÍNTESE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E4221"/>
                </a:solidFill>
                <a:latin typeface="Avenir Next"/>
              </a:rPr>
              <a:t>Recomendações e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1280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6E6E"/>
                </a:solidFill>
                <a:latin typeface="Avenir Next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1250">
                <a:solidFill>
                  <a:srgbClr val="2A2A2A"/>
                </a:solidFill>
                <a:latin typeface="Avenir Next"/>
              </a:rPr>
              <a:t>•  Priorizar RJ para expansão de mix geral — maior gap absoluto em quase todas as categorias, incluindo TM (+842 SKUs).</a:t>
            </a:r>
          </a:p>
          <a:p>
            <a:pPr>
              <a:spcAft>
                <a:spcPts val="1400"/>
              </a:spcAft>
            </a:pPr>
            <a:r>
              <a:rPr sz="1250">
                <a:solidFill>
                  <a:srgbClr val="2A2A2A"/>
                </a:solidFill>
                <a:latin typeface="Avenir Next"/>
              </a:rPr>
              <a:t>•  Ativação imediata (quick win): 91 lojas hoje SEM nenhum mix — Zona Sul, Prezunic e Guanabara (RJ); Koch, Hiper Select, Archer e Meschke (SC) — respondem por 819 dos 1.852 SKUs de TM em aberto no total (44%).</a:t>
            </a:r>
          </a:p>
          <a:p>
            <a:pPr>
              <a:spcAft>
                <a:spcPts val="1400"/>
              </a:spcAft>
            </a:pPr>
            <a:r>
              <a:rPr sz="1250">
                <a:solidFill>
                  <a:srgbClr val="2A2A2A"/>
                </a:solidFill>
                <a:latin typeface="Avenir Next"/>
              </a:rPr>
              <a:t>•  Grão é a maior oportunidade relativa em todo o portfólio (+68% vs. meta) — vale um recorte dedicado equivalente ao feito aqui para TM.</a:t>
            </a:r>
          </a:p>
          <a:p>
            <a:pPr>
              <a:spcAft>
                <a:spcPts val="1400"/>
              </a:spcAft>
            </a:pPr>
            <a:r>
              <a:rPr sz="1250">
                <a:solidFill>
                  <a:srgbClr val="2A2A2A"/>
                </a:solidFill>
                <a:latin typeface="Avenir Next"/>
              </a:rPr>
              <a:t>•  SP e PR são os mercados mais maduros em TM, mas ainda carregam gap real loja a loja (574 e 52 SKUs) — o esforço ali é mais qualitativo/pontual (lojas específicas) do que a ativação em massa necessária em RJ/SC.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337560"/>
            <a:ext cx="11155680" cy="283464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337560"/>
            <a:ext cx="50800" cy="2834640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465576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4221"/>
                </a:solidFill>
                <a:latin typeface="Avenir Next"/>
              </a:rPr>
              <a:t>PRÓXIMOS PASSOS SUGERIDOS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813048"/>
            <a:ext cx="10789920" cy="2240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1. Validar com o time comercial se as 91 lojas 'Sem mix' têm bloqueio operacional (rede não abriu, contrato pendente) ou são só falta de execução.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2. Priorizar rollout de TM nas 7 redes sem mix (RJ + SC) como piloto de ativação rápida — baixo custo de decisão, alto volume de gap.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3. Repetir esta análise para Grão e Cápsulas com o mesmo nível de detalhe (Estado + Rede), dado o tamanho da oportunidade relativa.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A2A2A"/>
                </a:solidFill>
                <a:latin typeface="Avenir Next"/>
              </a:rPr>
              <a:t>•  4. Cruzar este GAP com o simulador comercial (headcount de promotores/representantes) para dimensionar o esforço de campo necessário para fechar RJ e SC.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6E6E6E"/>
                </a:solidFill>
                <a:latin typeface="Avenir Next"/>
              </a:rPr>
              <a:t>Análise construída a partir de mix_oportunidade_redes_prioritarias.xlsx — 18 de agosto de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