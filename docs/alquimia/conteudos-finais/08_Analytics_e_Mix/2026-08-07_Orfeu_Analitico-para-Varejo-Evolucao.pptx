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ANALYTICS PARA O VAREJO  ·  ONDE ESTAMOS E ATÉ ONDE PODEMOS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50" b="1" i="0">
                <a:solidFill>
                  <a:srgbClr val="1E4221"/>
                </a:solidFill>
                <a:latin typeface="Avenir Next LT Pro"/>
              </a:rPr>
              <a:t>O potencial real da Orfeu: de acompanhar o varejo a geri-lo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6E6E6E"/>
                </a:solidFill>
                <a:latin typeface="Avenir Next LT Pro"/>
              </a:rPr>
              <a:t>Três estágios de maturidade — cada um construído sobre o anterior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2615184" cy="288036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2615184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773936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HOJE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99339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Avenir Next LT Pro"/>
              </a:rPr>
              <a:t>Analytics Descritivo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2656332"/>
            <a:ext cx="64008" cy="64008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587752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Tendências de mercado e categoria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3223260"/>
            <a:ext cx="64008" cy="64008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154680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Movimentos de preço próprios e da concorrência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3790188"/>
            <a:ext cx="64008" cy="64008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72160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Leitura histórica — o que aconteceu</a:t>
            </a:r>
          </a:p>
        </p:txBody>
      </p:sp>
      <p:sp>
        <p:nvSpPr>
          <p:cNvPr id="17" name="Freeform 16"/>
          <p:cNvSpPr/>
          <p:nvPr/>
        </p:nvSpPr>
        <p:spPr>
          <a:xfrm>
            <a:off x="3090672" y="3067812"/>
            <a:ext cx="155448" cy="0"/>
          </a:xfrm>
          <a:custGeom>
            <a:avLst/>
            <a:gdLst/>
            <a:ahLst/>
            <a:cxnLst/>
            <a:rect l="l" t="t" r="r" b="b"/>
            <a:pathLst>
              <a:path w="155448" h="0">
                <a:moveTo>
                  <a:pt x="0" y="0"/>
                </a:moveTo>
                <a:lnTo>
                  <a:pt x="155448" y="0"/>
                </a:lnTo>
              </a:path>
            </a:pathLst>
          </a:custGeom>
          <a:ln w="25400">
            <a:solidFill>
              <a:srgbClr val="6E6E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64408" y="1627632"/>
            <a:ext cx="2615184" cy="288036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4408" y="1627632"/>
            <a:ext cx="2615184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1773936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C07028"/>
                </a:solidFill>
                <a:latin typeface="Avenir Next LT Pro"/>
              </a:rPr>
              <a:t>PRÓXIMO PASSO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199339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4221"/>
                </a:solidFill>
                <a:latin typeface="Avenir Next LT Pro"/>
              </a:rPr>
              <a:t>Analytics Diagnóstico</a:t>
            </a:r>
          </a:p>
        </p:txBody>
      </p:sp>
      <p:sp>
        <p:nvSpPr>
          <p:cNvPr id="22" name="Oval 21"/>
          <p:cNvSpPr/>
          <p:nvPr/>
        </p:nvSpPr>
        <p:spPr>
          <a:xfrm>
            <a:off x="3429000" y="2656332"/>
            <a:ext cx="64008" cy="64008"/>
          </a:xfrm>
          <a:prstGeom prst="ellipse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3591" y="2587752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Elasticidade própria e cruzada por SKU/embalagem</a:t>
            </a:r>
          </a:p>
        </p:txBody>
      </p:sp>
      <p:sp>
        <p:nvSpPr>
          <p:cNvPr id="24" name="Oval 23"/>
          <p:cNvSpPr/>
          <p:nvPr/>
        </p:nvSpPr>
        <p:spPr>
          <a:xfrm>
            <a:off x="3429000" y="3223260"/>
            <a:ext cx="64008" cy="64008"/>
          </a:xfrm>
          <a:prstGeom prst="ellipse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1" y="3154680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Canibalização entre embalagens Orfeu</a:t>
            </a:r>
          </a:p>
        </p:txBody>
      </p:sp>
      <p:sp>
        <p:nvSpPr>
          <p:cNvPr id="26" name="Oval 25"/>
          <p:cNvSpPr/>
          <p:nvPr/>
        </p:nvSpPr>
        <p:spPr>
          <a:xfrm>
            <a:off x="3429000" y="3790188"/>
            <a:ext cx="64008" cy="64008"/>
          </a:xfrm>
          <a:prstGeom prst="ellipse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1" y="372160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Canibalização vs. concorrência — por que aconteceu</a:t>
            </a:r>
          </a:p>
        </p:txBody>
      </p:sp>
      <p:sp>
        <p:nvSpPr>
          <p:cNvPr id="28" name="Freeform 27"/>
          <p:cNvSpPr/>
          <p:nvPr/>
        </p:nvSpPr>
        <p:spPr>
          <a:xfrm>
            <a:off x="5897879" y="3067812"/>
            <a:ext cx="155449" cy="0"/>
          </a:xfrm>
          <a:custGeom>
            <a:avLst/>
            <a:gdLst/>
            <a:ahLst/>
            <a:cxnLst/>
            <a:rect l="l" t="t" r="r" b="b"/>
            <a:pathLst>
              <a:path w="155449" h="0">
                <a:moveTo>
                  <a:pt x="0" y="0"/>
                </a:moveTo>
                <a:lnTo>
                  <a:pt x="155449" y="0"/>
                </a:lnTo>
              </a:path>
            </a:pathLst>
          </a:custGeom>
          <a:ln w="25400">
            <a:solidFill>
              <a:srgbClr val="6E6E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71616" y="1627632"/>
            <a:ext cx="2615184" cy="288036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71616" y="1627632"/>
            <a:ext cx="2615184" cy="54864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7" y="1773936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2A5C2E"/>
                </a:solidFill>
                <a:latin typeface="Avenir Next LT Pro"/>
              </a:rPr>
              <a:t>DESTINO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7" y="199339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E4221"/>
                </a:solidFill>
                <a:latin typeface="Avenir Next LT Pro"/>
              </a:rPr>
              <a:t>Gestão Prescritiva</a:t>
            </a:r>
          </a:p>
        </p:txBody>
      </p:sp>
      <p:sp>
        <p:nvSpPr>
          <p:cNvPr id="33" name="Oval 32"/>
          <p:cNvSpPr/>
          <p:nvPr/>
        </p:nvSpPr>
        <p:spPr>
          <a:xfrm>
            <a:off x="6236207" y="2656332"/>
            <a:ext cx="64008" cy="6400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587752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Gestão de investimento (trade/ROI) por cliente e SKU</a:t>
            </a:r>
          </a:p>
        </p:txBody>
      </p:sp>
      <p:sp>
        <p:nvSpPr>
          <p:cNvPr id="35" name="Oval 34"/>
          <p:cNvSpPr/>
          <p:nvPr/>
        </p:nvSpPr>
        <p:spPr>
          <a:xfrm>
            <a:off x="6236207" y="3223260"/>
            <a:ext cx="64008" cy="6400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154680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Execução em loja via pilotos e test &amp; learn</a:t>
            </a:r>
          </a:p>
        </p:txBody>
      </p:sp>
      <p:sp>
        <p:nvSpPr>
          <p:cNvPr id="37" name="Oval 36"/>
          <p:cNvSpPr/>
          <p:nvPr/>
        </p:nvSpPr>
        <p:spPr>
          <a:xfrm>
            <a:off x="6236207" y="3790188"/>
            <a:ext cx="64008" cy="6400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72160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O que fazer a seguir, e onde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1E4221"/>
                </a:solidFill>
                <a:latin typeface="Avenir Next LT Pro"/>
              </a:rPr>
              <a:t>A base para os estágios 2 e 3 é a mesma: combinar dados de check-out (venda ao consumidor) </a:t>
            </a:r>
            <a:r>
              <a:rPr sz="980" b="1" i="0">
                <a:solidFill>
                  <a:srgbClr val="1E4221"/>
                </a:solidFill>
                <a:latin typeface="Avenir Next LT Pro"/>
              </a:rPr>
              <a:t>com sell-in e execução/visita em loja — hoje usados de forma isolada.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× Alquemia — Do Analítico de Varejo à Gestão de Investimento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NOVA VISÃO DE DADOS  ·  CHECK-OUT + SELL-IN + EXECUÇÃO EM LOJA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4221"/>
                </a:solidFill>
                <a:latin typeface="Avenir Next LT Pro"/>
              </a:rPr>
              <a:t>Capabilities destravadas ao combinar as 3 fontes de dados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225296"/>
            <a:ext cx="201168" cy="201168"/>
          </a:xfrm>
          <a:prstGeom prst="ellipse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25296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 LT Pro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39012"/>
            <a:ext cx="191198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Check-out (venda ao consumidor)</a:t>
            </a:r>
          </a:p>
        </p:txBody>
      </p:sp>
      <p:sp>
        <p:nvSpPr>
          <p:cNvPr id="9" name="Oval 8"/>
          <p:cNvSpPr/>
          <p:nvPr/>
        </p:nvSpPr>
        <p:spPr>
          <a:xfrm>
            <a:off x="2853817" y="1225296"/>
            <a:ext cx="201168" cy="20116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3817" y="1225296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 LT Pro"/>
              </a:rPr>
              <a:t>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9849" y="1239012"/>
            <a:ext cx="178498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Sell-in (expedição/faturamento)</a:t>
            </a:r>
          </a:p>
        </p:txBody>
      </p:sp>
      <p:sp>
        <p:nvSpPr>
          <p:cNvPr id="12" name="Oval 11"/>
          <p:cNvSpPr/>
          <p:nvPr/>
        </p:nvSpPr>
        <p:spPr>
          <a:xfrm>
            <a:off x="5123434" y="1225296"/>
            <a:ext cx="201168" cy="201168"/>
          </a:xfrm>
          <a:prstGeom prst="ellipse">
            <a:avLst/>
          </a:prstGeom>
          <a:solidFill>
            <a:srgbClr val="4A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3434" y="1225296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venir Next LT Pro"/>
              </a:rPr>
              <a:t>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9466" y="1239012"/>
            <a:ext cx="14452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Execução &amp; visita em loja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37360"/>
            <a:ext cx="2788920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737360"/>
            <a:ext cx="264261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venir Next LT Pro"/>
              </a:rPr>
              <a:t>CAPABILITY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737360"/>
            <a:ext cx="384048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737360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venir Next LT Pro"/>
              </a:rPr>
              <a:t>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0168" y="1737360"/>
            <a:ext cx="384048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1737360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venir Next LT Pro"/>
              </a:rPr>
              <a:t>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14215" y="1737360"/>
            <a:ext cx="384048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14215" y="1737360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venir Next LT Pro"/>
              </a:rPr>
              <a:t>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98264" y="1737360"/>
            <a:ext cx="4197096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1416" y="1737360"/>
            <a:ext cx="4050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venir Next LT Pro"/>
              </a:rPr>
              <a:t>O QUE ISSO DESTRAVA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011679"/>
            <a:ext cx="278892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011679"/>
            <a:ext cx="2642615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Elasticidade própria e cruzada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2011679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83279" y="2146553"/>
            <a:ext cx="109728" cy="109728"/>
          </a:xfrm>
          <a:prstGeom prst="ellipse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30168" y="2011679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67328" y="2146553"/>
            <a:ext cx="109728" cy="10972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4215" y="2011679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98264" y="2011679"/>
            <a:ext cx="4197096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416" y="2011679"/>
            <a:ext cx="4050792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6E6E6E"/>
                </a:solidFill>
                <a:latin typeface="Avenir Next LT Pro"/>
              </a:rPr>
              <a:t>Impacto de preço e promoção nas vendas do próprio SKU e de SKUs vizinhos (portfólio Orfeu).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391156"/>
            <a:ext cx="2788920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2391156"/>
            <a:ext cx="2642615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Canibalização entre embalagens Orfeu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2391156"/>
            <a:ext cx="384048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383279" y="2526029"/>
            <a:ext cx="109728" cy="109728"/>
          </a:xfrm>
          <a:prstGeom prst="ellipse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30168" y="2391156"/>
            <a:ext cx="384048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67328" y="2526029"/>
            <a:ext cx="109728" cy="10972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14215" y="2391156"/>
            <a:ext cx="384048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98264" y="2391156"/>
            <a:ext cx="4197096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71416" y="2391156"/>
            <a:ext cx="4050792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6E6E6E"/>
                </a:solidFill>
                <a:latin typeface="Avenir Next LT Pro"/>
              </a:rPr>
              <a:t>Quanto um novo formato ou tamanho rouba de venda de outro item da própria linha.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770632"/>
            <a:ext cx="278892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2770632"/>
            <a:ext cx="2642615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Canibalização vs. concorrência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46120" y="2770632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383279" y="2905506"/>
            <a:ext cx="109728" cy="109728"/>
          </a:xfrm>
          <a:prstGeom prst="ellipse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30168" y="2770632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14215" y="2770632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98264" y="2770632"/>
            <a:ext cx="4197096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71416" y="2770632"/>
            <a:ext cx="4050792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6E6E6E"/>
                </a:solidFill>
                <a:latin typeface="Avenir Next LT Pro"/>
              </a:rPr>
              <a:t>Share of throat: quando o consumidor troca Orfeu por concorrente, e em que ocasião.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150108"/>
            <a:ext cx="2788920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150108"/>
            <a:ext cx="2642615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Sortimento e ruptura (OOS) por cluster de loja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46120" y="3150108"/>
            <a:ext cx="384048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383279" y="3284982"/>
            <a:ext cx="109728" cy="109728"/>
          </a:xfrm>
          <a:prstGeom prst="ellipse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30168" y="3150108"/>
            <a:ext cx="384048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767328" y="3284982"/>
            <a:ext cx="109728" cy="10972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14215" y="3150108"/>
            <a:ext cx="384048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151376" y="3284982"/>
            <a:ext cx="109728" cy="109728"/>
          </a:xfrm>
          <a:prstGeom prst="ellipse">
            <a:avLst/>
          </a:prstGeom>
          <a:solidFill>
            <a:srgbClr val="4A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98264" y="3150108"/>
            <a:ext cx="4197096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71416" y="3150108"/>
            <a:ext cx="4050792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6E6E6E"/>
                </a:solidFill>
                <a:latin typeface="Avenir Next LT Pro"/>
              </a:rPr>
              <a:t>Qual mix ideal por segmento de PDV, e onde a falta de produto está custando venda.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529584"/>
            <a:ext cx="278892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3529584"/>
            <a:ext cx="2642615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Alocação de espaço e ponto de exposição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3529584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383279" y="3664458"/>
            <a:ext cx="109728" cy="109728"/>
          </a:xfrm>
          <a:prstGeom prst="ellipse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30168" y="3529584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014215" y="3529584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151376" y="3664458"/>
            <a:ext cx="109728" cy="109728"/>
          </a:xfrm>
          <a:prstGeom prst="ellipse">
            <a:avLst/>
          </a:prstGeom>
          <a:solidFill>
            <a:srgbClr val="4A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98264" y="3529584"/>
            <a:ext cx="4197096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71416" y="3529584"/>
            <a:ext cx="4050792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6E6E6E"/>
                </a:solidFill>
                <a:latin typeface="Avenir Next LT Pro"/>
              </a:rPr>
              <a:t>Onde no ponto de venda (gôndola, ilha, check-out) o Orfeu gera mais retorno por m².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3909059"/>
            <a:ext cx="2788920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3909059"/>
            <a:ext cx="2642615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Gestão de investimento (trade/ROI)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46120" y="3909059"/>
            <a:ext cx="384048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83279" y="4043933"/>
            <a:ext cx="109728" cy="109728"/>
          </a:xfrm>
          <a:prstGeom prst="ellipse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30168" y="3909059"/>
            <a:ext cx="384048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767328" y="4043933"/>
            <a:ext cx="109728" cy="10972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014215" y="3909059"/>
            <a:ext cx="384048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151376" y="4043933"/>
            <a:ext cx="109728" cy="109728"/>
          </a:xfrm>
          <a:prstGeom prst="ellipse">
            <a:avLst/>
          </a:prstGeom>
          <a:solidFill>
            <a:srgbClr val="4A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398264" y="3909059"/>
            <a:ext cx="4197096" cy="379476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71416" y="3909059"/>
            <a:ext cx="4050792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6E6E6E"/>
                </a:solidFill>
                <a:latin typeface="Avenir Next LT Pro"/>
              </a:rPr>
              <a:t>Retorno real de verba de trade e promoção por cliente, canal e SKU — não só volume.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288536"/>
            <a:ext cx="278892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" y="4288536"/>
            <a:ext cx="2642615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Pilotos e test &amp; learn em loja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46120" y="4288536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630168" y="4288536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767328" y="4423409"/>
            <a:ext cx="109728" cy="10972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014215" y="4288536"/>
            <a:ext cx="384048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151376" y="4423409"/>
            <a:ext cx="109728" cy="109728"/>
          </a:xfrm>
          <a:prstGeom prst="ellipse">
            <a:avLst/>
          </a:prstGeom>
          <a:solidFill>
            <a:srgbClr val="4A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398264" y="4288536"/>
            <a:ext cx="4197096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71416" y="4288536"/>
            <a:ext cx="4050792" cy="379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30" b="0" i="0">
                <a:solidFill>
                  <a:srgbClr val="6E6E6E"/>
                </a:solidFill>
                <a:latin typeface="Avenir Next LT Pro"/>
              </a:rPr>
              <a:t>Testar hipóteses (espaço, preço, display) em lojas-piloto vs. controle antes de escalar.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× Alquemia — Do Analítico de Varejo à Gestão de Investimento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COMO CHEGAR LÁ  ·  METODOLOGIA DE DIAGNÓSTICO, MODELAGEM E PILOTO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4221"/>
                </a:solidFill>
                <a:latin typeface="Avenir Next LT Pro"/>
              </a:rPr>
              <a:t>Um caminho testado: diagnosticar, modelar, pilotar, escalar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847088" cy="14813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847088" cy="457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36192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5C2E"/>
                </a:solidFill>
                <a:latin typeface="Avenir Next LT Pro"/>
              </a:rPr>
              <a:t>1</a:t>
            </a:r>
            <a:r>
              <a:rPr sz="1050" b="1" i="0">
                <a:solidFill>
                  <a:srgbClr val="1E4221"/>
                </a:solidFill>
                <a:latin typeface="Avenir Next LT Pro"/>
              </a:rPr>
              <a:t>  DIAGNÓSTICO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874519"/>
            <a:ext cx="1609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1A1A1A"/>
                </a:solidFill>
                <a:latin typeface="Avenir Next LT Pro"/>
              </a:rPr>
              <a:t>Segmentar o varejo por perfil de loja (porte, formato, papel do café) e mapear onde o dado de check-out já existe hoje.</a:t>
            </a:r>
          </a:p>
        </p:txBody>
      </p:sp>
      <p:sp>
        <p:nvSpPr>
          <p:cNvPr id="10" name="Freeform 9"/>
          <p:cNvSpPr/>
          <p:nvPr/>
        </p:nvSpPr>
        <p:spPr>
          <a:xfrm>
            <a:off x="2313432" y="2157984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 h="0">
                <a:moveTo>
                  <a:pt x="0" y="0"/>
                </a:moveTo>
                <a:lnTo>
                  <a:pt x="91440" y="0"/>
                </a:lnTo>
              </a:path>
            </a:pathLst>
          </a:custGeom>
          <a:ln w="25400">
            <a:solidFill>
              <a:srgbClr val="6E6E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14016" y="1417320"/>
            <a:ext cx="1847088" cy="14813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14016" y="1417320"/>
            <a:ext cx="1847088" cy="4572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1536192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07028"/>
                </a:solidFill>
                <a:latin typeface="Avenir Next LT Pro"/>
              </a:rPr>
              <a:t>2</a:t>
            </a:r>
            <a:r>
              <a:rPr sz="1050" b="1" i="0">
                <a:solidFill>
                  <a:srgbClr val="1E4221"/>
                </a:solidFill>
                <a:latin typeface="Avenir Next LT Pro"/>
              </a:rPr>
              <a:t>  MODELAGEM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1874519"/>
            <a:ext cx="1609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1A1A1A"/>
                </a:solidFill>
                <a:latin typeface="Avenir Next LT Pro"/>
              </a:rPr>
              <a:t>Construir os modelos de elasticidade própria/cruzada e canibalização por SKU, embalagem e cliente.</a:t>
            </a:r>
          </a:p>
        </p:txBody>
      </p:sp>
      <p:sp>
        <p:nvSpPr>
          <p:cNvPr id="15" name="Freeform 14"/>
          <p:cNvSpPr/>
          <p:nvPr/>
        </p:nvSpPr>
        <p:spPr>
          <a:xfrm>
            <a:off x="4270248" y="2157984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 h="0">
                <a:moveTo>
                  <a:pt x="0" y="0"/>
                </a:moveTo>
                <a:lnTo>
                  <a:pt x="91440" y="0"/>
                </a:lnTo>
              </a:path>
            </a:pathLst>
          </a:custGeom>
          <a:ln w="25400">
            <a:solidFill>
              <a:srgbClr val="6E6E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417320"/>
            <a:ext cx="1847088" cy="148132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1417320"/>
            <a:ext cx="1847088" cy="457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1536192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A5C2E"/>
                </a:solidFill>
                <a:latin typeface="Avenir Next LT Pro"/>
              </a:rPr>
              <a:t>3</a:t>
            </a:r>
            <a:r>
              <a:rPr sz="1050" b="1" i="0">
                <a:solidFill>
                  <a:srgbClr val="1E4221"/>
                </a:solidFill>
                <a:latin typeface="Avenir Next LT Pro"/>
              </a:rPr>
              <a:t>  PILOTO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1874519"/>
            <a:ext cx="1609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1A1A1A"/>
                </a:solidFill>
                <a:latin typeface="Avenir Next LT Pro"/>
              </a:rPr>
              <a:t>Testar 2–3 alavancas (espaço, sortimento, investimento) em lojas-piloto vs. controle, com KPIs definidos.</a:t>
            </a:r>
          </a:p>
        </p:txBody>
      </p:sp>
      <p:sp>
        <p:nvSpPr>
          <p:cNvPr id="20" name="Freeform 19"/>
          <p:cNvSpPr/>
          <p:nvPr/>
        </p:nvSpPr>
        <p:spPr>
          <a:xfrm>
            <a:off x="6227064" y="2157984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 h="0">
                <a:moveTo>
                  <a:pt x="0" y="0"/>
                </a:moveTo>
                <a:lnTo>
                  <a:pt x="91440" y="0"/>
                </a:lnTo>
              </a:path>
            </a:pathLst>
          </a:custGeom>
          <a:ln w="25400">
            <a:solidFill>
              <a:srgbClr val="6E6E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1417320"/>
            <a:ext cx="1847088" cy="148132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1417320"/>
            <a:ext cx="1847088" cy="4572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536192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07028"/>
                </a:solidFill>
                <a:latin typeface="Avenir Next LT Pro"/>
              </a:rPr>
              <a:t>4</a:t>
            </a:r>
            <a:r>
              <a:rPr sz="1050" b="1" i="0">
                <a:solidFill>
                  <a:srgbClr val="1E4221"/>
                </a:solidFill>
                <a:latin typeface="Avenir Next LT Pro"/>
              </a:rPr>
              <a:t>  ESCALA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874519"/>
            <a:ext cx="1609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1A1A1A"/>
                </a:solidFill>
                <a:latin typeface="Avenir Next LT Pro"/>
              </a:rPr>
              <a:t>Consolidar aprendizados em um playbook por segmento de cliente e replicar nacionalmente.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99816"/>
            <a:ext cx="8229600" cy="9144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099816"/>
            <a:ext cx="54864" cy="914400"/>
          </a:xfrm>
          <a:prstGeom prst="rect">
            <a:avLst/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191256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E4221"/>
                </a:solidFill>
                <a:latin typeface="Avenir Next LT Pro"/>
              </a:rPr>
              <a:t>KPIs PARA ACOMPANHAR OS PILOTOS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502152"/>
            <a:ext cx="1451356" cy="3108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2"/>
            <a:ext cx="14513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Ruptura (OOS) por SKU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56028" y="3502152"/>
            <a:ext cx="1559306" cy="3108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56028" y="3502152"/>
            <a:ext cx="155930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Vendas e margem por m²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61637" y="3502152"/>
            <a:ext cx="2156206" cy="3108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1637" y="3502152"/>
            <a:ext cx="215620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Elasticidade observada vs. modelada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4148" y="3502152"/>
            <a:ext cx="1787906" cy="3108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4148" y="3502152"/>
            <a:ext cx="178790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1A1A1A"/>
                </a:solidFill>
                <a:latin typeface="Avenir Next LT Pro"/>
              </a:rPr>
              <a:t>ROI de investimento em trade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× Alquemia — Do Analítico de Varejo à Gestão de Investimento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