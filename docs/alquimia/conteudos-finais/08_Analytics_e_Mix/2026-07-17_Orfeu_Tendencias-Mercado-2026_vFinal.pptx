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-1"/>
            <a:ext cx="12188954" cy="73154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-1" y="6784847"/>
            <a:ext cx="12188954" cy="73153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Rectangle 4"/>
          <p:cNvSpPr/>
          <p:nvPr/>
        </p:nvSpPr>
        <p:spPr>
          <a:xfrm>
            <a:off x="-1" y="0"/>
            <a:ext cx="548642" cy="6858000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822960" y="274320"/>
            <a:ext cx="2651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orfeu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822960" y="548640"/>
            <a:ext cx="44805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Material estratégico · uso interno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822960" y="1463039"/>
            <a:ext cx="8595360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Tendências de Mercado</a:t>
            </a:r>
          </a:p>
          <a:p>
            <a:pPr>
              <a:defRPr b="1" sz="4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&amp; Estratégia Internacional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822960" y="3566159"/>
            <a:ext cx="8138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Brasil · EUA · 2026–2030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822960" y="4251959"/>
            <a:ext cx="85953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3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Análise de 5 relatórios globais de consumo</a:t>
            </a:r>
          </a:p>
          <a:p>
            <a:pPr>
              <a:defRPr i="1" sz="13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Tendências de café · Oportunidades de portfólio · Considerações para entrada no mercado americano</a:t>
            </a:r>
          </a:p>
        </p:txBody>
      </p:sp>
      <p:sp>
        <p:nvSpPr>
          <p:cNvPr id="103" name="Rectangle 10"/>
          <p:cNvSpPr/>
          <p:nvPr/>
        </p:nvSpPr>
        <p:spPr>
          <a:xfrm>
            <a:off x="777240" y="5303520"/>
            <a:ext cx="2743201" cy="73153"/>
          </a:xfrm>
          <a:prstGeom prst="rect">
            <a:avLst/>
          </a:prstGeom>
          <a:solidFill>
            <a:srgbClr val="C9A84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822960" y="5486400"/>
            <a:ext cx="539496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Compilado por Alquemia.co · Julho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Que o Mundo Está Nos Dizendo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 macro tendências de consumo com impacto direto em food &amp; beverage</a:t>
            </a:r>
          </a:p>
        </p:txBody>
      </p:sp>
      <p:sp>
        <p:nvSpPr>
          <p:cNvPr id="110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6"/>
          <p:cNvSpPr/>
          <p:nvPr/>
        </p:nvSpPr>
        <p:spPr>
          <a:xfrm>
            <a:off x="320040" y="1143000"/>
            <a:ext cx="2148840" cy="438912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7"/>
          <p:cNvSpPr txBox="1"/>
          <p:nvPr/>
        </p:nvSpPr>
        <p:spPr>
          <a:xfrm>
            <a:off x="457199" y="1166875"/>
            <a:ext cx="19202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01 COMIDA COMO STATUS</a:t>
            </a:r>
          </a:p>
        </p:txBody>
      </p:sp>
      <p:sp>
        <p:nvSpPr>
          <p:cNvPr id="113" name="TextBox 8"/>
          <p:cNvSpPr txBox="1"/>
          <p:nvPr/>
        </p:nvSpPr>
        <p:spPr>
          <a:xfrm>
            <a:off x="365760" y="1664207"/>
            <a:ext cx="2084833" cy="169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 cozinha virou vitrine. 71% dos consumidores consideram suas compras no supermercado uma expressão de estilo de vida e capital cultural.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Comida substituiu moda como principal sinal de status.</a:t>
            </a:r>
          </a:p>
        </p:txBody>
      </p:sp>
      <p:sp>
        <p:nvSpPr>
          <p:cNvPr id="114" name="Rectangle 9"/>
          <p:cNvSpPr/>
          <p:nvPr/>
        </p:nvSpPr>
        <p:spPr>
          <a:xfrm>
            <a:off x="2606039" y="1143000"/>
            <a:ext cx="2148841" cy="438912"/>
          </a:xfrm>
          <a:prstGeom prst="rect">
            <a:avLst/>
          </a:prstGeom>
          <a:solidFill>
            <a:srgbClr val="2A6B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2743200" y="1166875"/>
            <a:ext cx="192023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02 FUNÇÃO + PRAZER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2651760" y="1664207"/>
            <a:ext cx="2084833" cy="133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Consumidores querem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produtos que entregam benefício funcional E prazer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sem concessões. Proteína, fibra e adaptogens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em formatos indulgentes e premium.</a:t>
            </a:r>
          </a:p>
        </p:txBody>
      </p:sp>
      <p:sp>
        <p:nvSpPr>
          <p:cNvPr id="117" name="Rectangle 12"/>
          <p:cNvSpPr/>
          <p:nvPr/>
        </p:nvSpPr>
        <p:spPr>
          <a:xfrm>
            <a:off x="4892040" y="1143000"/>
            <a:ext cx="2148841" cy="438912"/>
          </a:xfrm>
          <a:prstGeom prst="rect">
            <a:avLst/>
          </a:prstGeom>
          <a:solidFill>
            <a:srgbClr val="5A3E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13"/>
          <p:cNvSpPr txBox="1"/>
          <p:nvPr/>
        </p:nvSpPr>
        <p:spPr>
          <a:xfrm>
            <a:off x="5029199" y="1166875"/>
            <a:ext cx="19202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03 RAÍZES &amp; AUTENTICIDADE</a:t>
            </a:r>
          </a:p>
        </p:txBody>
      </p:sp>
      <p:sp>
        <p:nvSpPr>
          <p:cNvPr id="119" name="TextBox 14"/>
          <p:cNvSpPr txBox="1"/>
          <p:nvPr/>
        </p:nvSpPr>
        <p:spPr>
          <a:xfrm>
            <a:off x="4937760" y="1664207"/>
            <a:ext cx="2084833" cy="169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Em um mundo de IA e volatilidade, consumidores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buscam âncoras na tradição. Origem, fermentação,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ingredientes ancestrais e storytelling de lugar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constroem confiança que certificações podem não entregar..</a:t>
            </a:r>
          </a:p>
        </p:txBody>
      </p:sp>
      <p:sp>
        <p:nvSpPr>
          <p:cNvPr id="120" name="Rectangle 15"/>
          <p:cNvSpPr/>
          <p:nvPr/>
        </p:nvSpPr>
        <p:spPr>
          <a:xfrm>
            <a:off x="7178040" y="1143000"/>
            <a:ext cx="2148841" cy="438912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16"/>
          <p:cNvSpPr txBox="1"/>
          <p:nvPr/>
        </p:nvSpPr>
        <p:spPr>
          <a:xfrm>
            <a:off x="7315198" y="1166875"/>
            <a:ext cx="19202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04 PERSONALIZAÇÃO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7223759" y="1664207"/>
            <a:ext cx="2084833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Do "maxxing" (obsessão com 1 nutriente) para diversidade inteligente via IA. GLP-1 como early adopters. Precisão nutricional baseada em DNA e microbioma.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fim do "tamanho único" em alimentação.</a:t>
            </a:r>
          </a:p>
        </p:txBody>
      </p:sp>
      <p:sp>
        <p:nvSpPr>
          <p:cNvPr id="123" name="Rectangle 18"/>
          <p:cNvSpPr/>
          <p:nvPr/>
        </p:nvSpPr>
        <p:spPr>
          <a:xfrm>
            <a:off x="9464040" y="1143000"/>
            <a:ext cx="2148841" cy="438912"/>
          </a:xfrm>
          <a:prstGeom prst="rect">
            <a:avLst/>
          </a:prstGeom>
          <a:solidFill>
            <a:srgbClr val="7A30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9"/>
          <p:cNvSpPr txBox="1"/>
          <p:nvPr/>
        </p:nvSpPr>
        <p:spPr>
          <a:xfrm>
            <a:off x="9601200" y="1166875"/>
            <a:ext cx="192023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05 POLARIZAÇÃO</a:t>
            </a:r>
          </a:p>
        </p:txBody>
      </p:sp>
      <p:sp>
        <p:nvSpPr>
          <p:cNvPr id="125" name="TextBox 20"/>
          <p:cNvSpPr txBox="1"/>
          <p:nvPr/>
        </p:nvSpPr>
        <p:spPr>
          <a:xfrm>
            <a:off x="9509759" y="1664207"/>
            <a:ext cx="2084833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Trading up: wellness +22%, suplementos +10%.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Trading down: básicos -8%, snacks -4%.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meio desapareceu. Premium premium</a:t>
            </a:r>
          </a:p>
          <a:p>
            <a: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ou valor valor — não existe meio-termo.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Café Está no Centro de Todas as Tendências</a:t>
            </a:r>
          </a:p>
        </p:txBody>
      </p:sp>
      <p:sp>
        <p:nvSpPr>
          <p:cNvPr id="130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 categoria perfeita para a convergência de consumo 2026–2030</a:t>
            </a:r>
          </a:p>
        </p:txBody>
      </p:sp>
      <p:sp>
        <p:nvSpPr>
          <p:cNvPr id="131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6"/>
          <p:cNvSpPr txBox="1"/>
          <p:nvPr/>
        </p:nvSpPr>
        <p:spPr>
          <a:xfrm>
            <a:off x="365759" y="1143000"/>
            <a:ext cx="11430001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De todos os produtos de food &amp; beverage, o café é o que mais naturalmente se posiciona</a:t>
            </a:r>
          </a:p>
          <a:p>
            <a:pPr>
              <a:defRPr sz="13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para vencer TODAS as 5 tendências simultaneamente. Esta é a vantagem competitiva central da Orfeu.</a:t>
            </a:r>
          </a:p>
        </p:txBody>
      </p:sp>
      <p:sp>
        <p:nvSpPr>
          <p:cNvPr id="133" name="Rectangle 7"/>
          <p:cNvSpPr/>
          <p:nvPr/>
        </p:nvSpPr>
        <p:spPr>
          <a:xfrm>
            <a:off x="320040" y="1826260"/>
            <a:ext cx="2057401" cy="4526280"/>
          </a:xfrm>
          <a:prstGeom prst="rect">
            <a:avLst/>
          </a:prstGeom>
          <a:solidFill>
            <a:srgbClr val="F8F4EE"/>
          </a:solidFill>
          <a:ln w="1905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8"/>
          <p:cNvSpPr/>
          <p:nvPr/>
        </p:nvSpPr>
        <p:spPr>
          <a:xfrm>
            <a:off x="320040" y="1826260"/>
            <a:ext cx="2057401" cy="411481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9"/>
          <p:cNvSpPr txBox="1"/>
          <p:nvPr/>
        </p:nvSpPr>
        <p:spPr>
          <a:xfrm>
            <a:off x="438912" y="187197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136" name="TextBox 10"/>
          <p:cNvSpPr txBox="1"/>
          <p:nvPr/>
        </p:nvSpPr>
        <p:spPr>
          <a:xfrm>
            <a:off x="438911" y="2347467"/>
            <a:ext cx="1847089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café é o objeto de status diário mais acessível.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 máquina de espresso como objeto de arte.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 embalagem na bancada como sinal de curadoria.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Espresso como a "roupa" que todos podem usar.</a:t>
            </a:r>
          </a:p>
        </p:txBody>
      </p:sp>
      <p:sp>
        <p:nvSpPr>
          <p:cNvPr id="137" name="Rectangle 11"/>
          <p:cNvSpPr/>
          <p:nvPr/>
        </p:nvSpPr>
        <p:spPr>
          <a:xfrm>
            <a:off x="2542032" y="1826260"/>
            <a:ext cx="2057401" cy="4526280"/>
          </a:xfrm>
          <a:prstGeom prst="rect">
            <a:avLst/>
          </a:prstGeom>
          <a:solidFill>
            <a:srgbClr val="F8F4EE"/>
          </a:solidFill>
          <a:ln w="19050">
            <a:solidFill>
              <a:srgbClr val="2A6B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Rectangle 12"/>
          <p:cNvSpPr/>
          <p:nvPr/>
        </p:nvSpPr>
        <p:spPr>
          <a:xfrm>
            <a:off x="2542032" y="1826260"/>
            <a:ext cx="2057401" cy="411481"/>
          </a:xfrm>
          <a:prstGeom prst="rect">
            <a:avLst/>
          </a:prstGeom>
          <a:solidFill>
            <a:srgbClr val="2A6B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13"/>
          <p:cNvSpPr txBox="1"/>
          <p:nvPr/>
        </p:nvSpPr>
        <p:spPr>
          <a:xfrm>
            <a:off x="2660904" y="187197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FUNÇÃO+PRAZER</a:t>
            </a:r>
          </a:p>
        </p:txBody>
      </p:sp>
      <p:sp>
        <p:nvSpPr>
          <p:cNvPr id="140" name="TextBox 14"/>
          <p:cNvSpPr txBox="1"/>
          <p:nvPr/>
        </p:nvSpPr>
        <p:spPr>
          <a:xfrm>
            <a:off x="2660904" y="2347467"/>
            <a:ext cx="1847089" cy="1247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Café como veículo de entrega funcional: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adaptógenos, colágeno, proteína. Indulgência com propósito. O "ritual matinal"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com benefícios além da cafeína.</a:t>
            </a:r>
          </a:p>
        </p:txBody>
      </p:sp>
      <p:sp>
        <p:nvSpPr>
          <p:cNvPr id="141" name="Rectangle 15"/>
          <p:cNvSpPr/>
          <p:nvPr/>
        </p:nvSpPr>
        <p:spPr>
          <a:xfrm>
            <a:off x="4764023" y="1826260"/>
            <a:ext cx="2057401" cy="4526280"/>
          </a:xfrm>
          <a:prstGeom prst="rect">
            <a:avLst/>
          </a:prstGeom>
          <a:solidFill>
            <a:srgbClr val="F8F4EE"/>
          </a:solidFill>
          <a:ln w="19050">
            <a:solidFill>
              <a:srgbClr val="5A3E2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16"/>
          <p:cNvSpPr/>
          <p:nvPr/>
        </p:nvSpPr>
        <p:spPr>
          <a:xfrm>
            <a:off x="4764023" y="1826260"/>
            <a:ext cx="2057401" cy="411481"/>
          </a:xfrm>
          <a:prstGeom prst="rect">
            <a:avLst/>
          </a:prstGeom>
          <a:solidFill>
            <a:srgbClr val="5A3E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17"/>
          <p:cNvSpPr txBox="1"/>
          <p:nvPr/>
        </p:nvSpPr>
        <p:spPr>
          <a:xfrm>
            <a:off x="4882896" y="187197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AUTENTICIDADE</a:t>
            </a:r>
          </a:p>
        </p:txBody>
      </p:sp>
      <p:sp>
        <p:nvSpPr>
          <p:cNvPr id="144" name="TextBox 18"/>
          <p:cNvSpPr txBox="1"/>
          <p:nvPr/>
        </p:nvSpPr>
        <p:spPr>
          <a:xfrm>
            <a:off x="4882896" y="2347467"/>
            <a:ext cx="1847089" cy="207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Brasil como origem é narrativa poderosa e global.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Terroir, altitude, produtor parceiro, processo. Conhecimento de café brasileiro como blend é apenas dentro da indústria.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História de 100+ anos de expertise.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Nenhuma alternativa "beanless" pode replicar isso.</a:t>
            </a:r>
          </a:p>
        </p:txBody>
      </p:sp>
      <p:sp>
        <p:nvSpPr>
          <p:cNvPr id="145" name="Rectangle 19"/>
          <p:cNvSpPr/>
          <p:nvPr/>
        </p:nvSpPr>
        <p:spPr>
          <a:xfrm>
            <a:off x="6986016" y="1826260"/>
            <a:ext cx="2057401" cy="4526280"/>
          </a:xfrm>
          <a:prstGeom prst="rect">
            <a:avLst/>
          </a:prstGeom>
          <a:solidFill>
            <a:srgbClr val="F8F4EE"/>
          </a:solidFill>
          <a:ln w="1905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20"/>
          <p:cNvSpPr/>
          <p:nvPr/>
        </p:nvSpPr>
        <p:spPr>
          <a:xfrm>
            <a:off x="6986016" y="1826260"/>
            <a:ext cx="2057401" cy="411481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21"/>
          <p:cNvSpPr txBox="1"/>
          <p:nvPr/>
        </p:nvSpPr>
        <p:spPr>
          <a:xfrm>
            <a:off x="7104888" y="187197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PERSONALIZAÇÃO</a:t>
            </a:r>
          </a:p>
        </p:txBody>
      </p:sp>
      <p:sp>
        <p:nvSpPr>
          <p:cNvPr id="148" name="TextBox 22"/>
          <p:cNvSpPr txBox="1"/>
          <p:nvPr/>
        </p:nvSpPr>
        <p:spPr>
          <a:xfrm>
            <a:off x="7104888" y="2347467"/>
            <a:ext cx="1847089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Blend customizado, intensidade variável,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assinatura personalizada, moagem sob demanda.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Milhares de variáveis = produto infinitamente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adaptável ao gosto individual.</a:t>
            </a:r>
          </a:p>
        </p:txBody>
      </p:sp>
      <p:sp>
        <p:nvSpPr>
          <p:cNvPr id="149" name="Rectangle 23"/>
          <p:cNvSpPr/>
          <p:nvPr/>
        </p:nvSpPr>
        <p:spPr>
          <a:xfrm>
            <a:off x="9208007" y="1826260"/>
            <a:ext cx="2057401" cy="4526280"/>
          </a:xfrm>
          <a:prstGeom prst="rect">
            <a:avLst/>
          </a:prstGeom>
          <a:solidFill>
            <a:srgbClr val="F8F4EE"/>
          </a:solidFill>
          <a:ln w="1905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24"/>
          <p:cNvSpPr/>
          <p:nvPr/>
        </p:nvSpPr>
        <p:spPr>
          <a:xfrm>
            <a:off x="9208007" y="1826260"/>
            <a:ext cx="2057401" cy="411481"/>
          </a:xfrm>
          <a:prstGeom prst="rect">
            <a:avLst/>
          </a:prstGeom>
          <a:solidFill>
            <a:srgbClr val="7A30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5"/>
          <p:cNvSpPr txBox="1"/>
          <p:nvPr/>
        </p:nvSpPr>
        <p:spPr>
          <a:xfrm>
            <a:off x="9326879" y="187197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SEGMENTO PREMIUM</a:t>
            </a:r>
          </a:p>
        </p:txBody>
      </p:sp>
      <p:sp>
        <p:nvSpPr>
          <p:cNvPr id="152" name="TextBox 26"/>
          <p:cNvSpPr txBox="1"/>
          <p:nvPr/>
        </p:nvSpPr>
        <p:spPr>
          <a:xfrm>
            <a:off x="9326879" y="2347467"/>
            <a:ext cx="1847089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Café premium é trading-up natural.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Consumidor que corta restaurante ainda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toma café especial em casa.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"Premiumizar o ritual doméstico" é o novo normal.</a:t>
            </a:r>
          </a:p>
        </p:txBody>
      </p:sp>
      <p:sp>
        <p:nvSpPr>
          <p:cNvPr id="153" name="TextBox 27"/>
          <p:cNvSpPr txBox="1"/>
          <p:nvPr/>
        </p:nvSpPr>
        <p:spPr>
          <a:xfrm>
            <a:off x="365760" y="6446520"/>
            <a:ext cx="108813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Fonte: LSN 2025 · Highsnobiety 2026 · Mintel 2026 · New Consumer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Café como Capital Cultural</a:t>
            </a:r>
          </a:p>
        </p:txBody>
      </p:sp>
      <p:sp>
        <p:nvSpPr>
          <p:cNvPr id="158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Pantry Prestige: a bancada da cozinha como vitrine de identidade</a:t>
            </a:r>
          </a:p>
        </p:txBody>
      </p:sp>
      <p:sp>
        <p:nvSpPr>
          <p:cNvPr id="159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6"/>
          <p:cNvSpPr txBox="1"/>
          <p:nvPr/>
        </p:nvSpPr>
        <p:spPr>
          <a:xfrm>
            <a:off x="365760" y="1188719"/>
            <a:ext cx="4663440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"71% dos consumidores globais</a:t>
            </a:r>
          </a:p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consideram o que compram no</a:t>
            </a:r>
          </a:p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supermercado uma expressão de</a:t>
            </a:r>
          </a:p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seu estilo de vida e capital</a:t>
            </a:r>
          </a:p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cultural. A bancada da cozinha</a:t>
            </a:r>
          </a:p>
          <a:p>
            <a:pPr>
              <a:defRPr b="1" sz="15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é a nova galeria de arte."</a:t>
            </a:r>
          </a:p>
        </p:txBody>
      </p:sp>
      <p:sp>
        <p:nvSpPr>
          <p:cNvPr id="161" name="TextBox 7"/>
          <p:cNvSpPr txBox="1"/>
          <p:nvPr/>
        </p:nvSpPr>
        <p:spPr>
          <a:xfrm>
            <a:off x="365760" y="3931920"/>
            <a:ext cx="46634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— Highsnobiety Status Economy 2026</a:t>
            </a:r>
          </a:p>
        </p:txBody>
      </p:sp>
      <p:sp>
        <p:nvSpPr>
          <p:cNvPr id="162" name="Rectangle 8"/>
          <p:cNvSpPr/>
          <p:nvPr/>
        </p:nvSpPr>
        <p:spPr>
          <a:xfrm>
            <a:off x="5120640" y="1188719"/>
            <a:ext cx="36577" cy="5029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9"/>
          <p:cNvSpPr txBox="1"/>
          <p:nvPr/>
        </p:nvSpPr>
        <p:spPr>
          <a:xfrm>
            <a:off x="5394960" y="1188719"/>
            <a:ext cx="6400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2040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QUE ISSO SIGNIFICA PARA O CAFÉ</a:t>
            </a:r>
          </a:p>
        </p:txBody>
      </p:sp>
      <p:sp>
        <p:nvSpPr>
          <p:cNvPr id="164" name="Rectangle 10"/>
          <p:cNvSpPr/>
          <p:nvPr/>
        </p:nvSpPr>
        <p:spPr>
          <a:xfrm>
            <a:off x="5349240" y="1536191"/>
            <a:ext cx="6492241" cy="36577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1"/>
          <p:cNvSpPr txBox="1"/>
          <p:nvPr/>
        </p:nvSpPr>
        <p:spPr>
          <a:xfrm>
            <a:off x="5394960" y="1691639"/>
            <a:ext cx="64008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A embalagem É o produto</a:t>
            </a:r>
          </a:p>
        </p:txBody>
      </p:sp>
      <p:sp>
        <p:nvSpPr>
          <p:cNvPr id="166" name="TextBox 12"/>
          <p:cNvSpPr txBox="1"/>
          <p:nvPr/>
        </p:nvSpPr>
        <p:spPr>
          <a:xfrm>
            <a:off x="5394960" y="2011679"/>
            <a:ext cx="64008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No segmento premium, a embalagem comunica antes do sabor. Uma embalagem que "fica bonita na bancada" é critério de compra para o consumidor de status. Design e materiais importam tanto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quanto o blend interno.</a:t>
            </a:r>
          </a:p>
        </p:txBody>
      </p:sp>
      <p:sp>
        <p:nvSpPr>
          <p:cNvPr id="167" name="Rectangle 13"/>
          <p:cNvSpPr/>
          <p:nvPr/>
        </p:nvSpPr>
        <p:spPr>
          <a:xfrm>
            <a:off x="5349240" y="2807207"/>
            <a:ext cx="6492241" cy="13717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5394960" y="2880360"/>
            <a:ext cx="64008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O ritual como performance</a:t>
            </a:r>
          </a:p>
        </p:txBody>
      </p:sp>
      <p:sp>
        <p:nvSpPr>
          <p:cNvPr id="169" name="TextBox 15"/>
          <p:cNvSpPr txBox="1"/>
          <p:nvPr/>
        </p:nvSpPr>
        <p:spPr>
          <a:xfrm>
            <a:off x="5394960" y="3200400"/>
            <a:ext cx="6400801" cy="58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Preparar cafe especial em casa e uma performance cultural.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Maquina, moedor, método de preparo — cada item sinaliza nível de conhecimento e pertencimento. A Orfeu pode vender o ritual, não apenas o produto.</a:t>
            </a:r>
          </a:p>
        </p:txBody>
      </p:sp>
      <p:sp>
        <p:nvSpPr>
          <p:cNvPr id="170" name="Rectangle 16"/>
          <p:cNvSpPr/>
          <p:nvPr/>
        </p:nvSpPr>
        <p:spPr>
          <a:xfrm>
            <a:off x="5349240" y="3995928"/>
            <a:ext cx="6492241" cy="13717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17"/>
          <p:cNvSpPr txBox="1"/>
          <p:nvPr/>
        </p:nvSpPr>
        <p:spPr>
          <a:xfrm>
            <a:off x="5394960" y="4069079"/>
            <a:ext cx="64008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Escassez e curadoria como estrategia</a:t>
            </a:r>
          </a:p>
        </p:txBody>
      </p:sp>
      <p:sp>
        <p:nvSpPr>
          <p:cNvPr id="172" name="TextBox 18"/>
          <p:cNvSpPr txBox="1"/>
          <p:nvPr/>
        </p:nvSpPr>
        <p:spPr>
          <a:xfrm>
            <a:off x="5394960" y="4389120"/>
            <a:ext cx="64008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Edições limitadas, microlotes, blends sazonais — todos amplificam o valor de status. "Comprei o novo lote de Cerrado da Orfeu antes de acabar" e uma frase de pertencimento a uma tribo cultural.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consumidor quer descobertas para compartilhar.</a:t>
            </a:r>
          </a:p>
        </p:txBody>
      </p:sp>
      <p:sp>
        <p:nvSpPr>
          <p:cNvPr id="173" name="TextBox 19"/>
          <p:cNvSpPr txBox="1"/>
          <p:nvPr/>
        </p:nvSpPr>
        <p:spPr>
          <a:xfrm>
            <a:off x="365760" y="6446520"/>
            <a:ext cx="108813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Highsnobiety Status Economy 2026 · LSN Functional Feasting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perfil do consumidor americano</a:t>
            </a:r>
          </a:p>
        </p:txBody>
      </p:sp>
      <p:sp>
        <p:nvSpPr>
          <p:cNvPr id="177" name="TextBox 2"/>
          <p:cNvSpPr txBox="1"/>
          <p:nvPr/>
        </p:nvSpPr>
        <p:spPr>
          <a:xfrm>
            <a:off x="467360" y="668527"/>
            <a:ext cx="84124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chemeClr val="accent6">
                    <a:lumOff val="9460"/>
                  </a:schemeClr>
                </a:solidFill>
                <a:latin typeface="Figtree-Regular"/>
                <a:ea typeface="Figtree-Regular"/>
                <a:cs typeface="Figtree-Regular"/>
                <a:sym typeface="Figtree-Regular"/>
              </a:defRPr>
            </a:lvl1pPr>
          </a:lstStyle>
          <a:p>
            <a:pPr/>
            <a:r>
              <a:t>Quem compra, por que compra, e o que está disposto a pagar — a audiência-alvo da Orfeu nos EUA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320039" y="1155700"/>
            <a:ext cx="3814238" cy="248305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Quem É Este Consumidor</a:t>
            </a:r>
          </a:p>
        </p:txBody>
      </p:sp>
      <p:sp>
        <p:nvSpPr>
          <p:cNvPr id="179" name="TextBox 4"/>
          <p:cNvSpPr txBox="1"/>
          <p:nvPr/>
        </p:nvSpPr>
        <p:spPr>
          <a:xfrm>
            <a:off x="320039" y="1541272"/>
            <a:ext cx="3814238" cy="3499505"/>
          </a:xfrm>
          <a:prstGeom prst="rect">
            <a:avLst/>
          </a:prstGeom>
          <a:solidFill>
            <a:srgbClr val="E8F2EA"/>
          </a:solidFill>
          <a:ln w="12700">
            <a:solidFill>
              <a:srgbClr val="1A3A2A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2222"/>
                </a:solidFill>
              </a:defRPr>
            </a:pPr>
            <a:r>
              <a:t>Dados demográficos e comportamentais: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24 milhões de milionários nos EUA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Top 10% = 50% do consumo total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Cultural Pioneers: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Gastam mais em groceries (+58%)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Priorizam experiência sobre preço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Millennial/Gen Z urbanos: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45% são criadores de conteúdo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Compartilham o que consomem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Life satisfaction: 6.82/10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Buscam produtos que elevam o dia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Satisfação ligada a "momentos de qualidade”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</p:txBody>
      </p:sp>
      <p:sp>
        <p:nvSpPr>
          <p:cNvPr id="180" name="TextBox 5"/>
          <p:cNvSpPr txBox="1"/>
          <p:nvPr/>
        </p:nvSpPr>
        <p:spPr>
          <a:xfrm>
            <a:off x="4196298" y="1155700"/>
            <a:ext cx="3814238" cy="248305"/>
          </a:xfrm>
          <a:prstGeom prst="rect">
            <a:avLst/>
          </a:prstGeom>
          <a:solidFill>
            <a:srgbClr val="7A3B1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 Que Buscam</a:t>
            </a:r>
          </a:p>
        </p:txBody>
      </p:sp>
      <p:sp>
        <p:nvSpPr>
          <p:cNvPr id="181" name="TextBox 6"/>
          <p:cNvSpPr txBox="1"/>
          <p:nvPr/>
        </p:nvSpPr>
        <p:spPr>
          <a:xfrm>
            <a:off x="4196298" y="1541272"/>
            <a:ext cx="3801538" cy="3499505"/>
          </a:xfrm>
          <a:prstGeom prst="rect">
            <a:avLst/>
          </a:prstGeom>
          <a:solidFill>
            <a:srgbClr val="F8F0E8"/>
          </a:solidFill>
          <a:ln w="12700">
            <a:solidFill>
              <a:srgbClr val="7A3B1E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2222"/>
                </a:solidFill>
              </a:defRPr>
            </a:pPr>
            <a:r>
              <a:t>Motivações de compra no segmento premium: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Status pelo Pantry Prestige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Embalagem que "fica na bancada"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Produto que conta uma história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Autenticidade verificável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Origem rastreável, fazenda, altitude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Single origin &gt; blends genéricos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Intelligent Indulgence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Rituais que combinam prazer + saúde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Café como "momento de autocuidado"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Pertencimento cultural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Brasil como origem aspiracional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Conexão com comunidade global de café</a:t>
            </a:r>
          </a:p>
        </p:txBody>
      </p:sp>
      <p:sp>
        <p:nvSpPr>
          <p:cNvPr id="182" name="TextBox 7"/>
          <p:cNvSpPr txBox="1"/>
          <p:nvPr/>
        </p:nvSpPr>
        <p:spPr>
          <a:xfrm>
            <a:off x="8088725" y="1155700"/>
            <a:ext cx="3814238" cy="248305"/>
          </a:xfrm>
          <a:prstGeom prst="rect">
            <a:avLst/>
          </a:prstGeom>
          <a:solidFill>
            <a:srgbClr val="B8760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Quanto Pagam &amp; Onde Compram</a:t>
            </a:r>
          </a:p>
        </p:txBody>
      </p:sp>
      <p:sp>
        <p:nvSpPr>
          <p:cNvPr id="183" name="TextBox 8"/>
          <p:cNvSpPr txBox="1"/>
          <p:nvPr/>
        </p:nvSpPr>
        <p:spPr>
          <a:xfrm>
            <a:off x="8088725" y="1541272"/>
            <a:ext cx="3814238" cy="3499505"/>
          </a:xfrm>
          <a:prstGeom prst="rect">
            <a:avLst/>
          </a:prstGeom>
          <a:solidFill>
            <a:srgbClr val="F8F5E4"/>
          </a:solidFill>
          <a:ln w="12700">
            <a:solidFill>
              <a:srgbClr val="B8760E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22222"/>
                </a:solidFill>
              </a:defRPr>
            </a:pPr>
            <a:r>
              <a:t>Disposição a pagar e canais: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Preço médio specialty: US$18–28/250g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Topo premium: US$30–50/250g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Canais prioritários: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D2C online (45% da receita specialty)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Specialty cafés (discovery + trial)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Whole Foods / Erewhon (status shelf)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Amazon (volume + recorrência)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Frequência e lealdade: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Consumidores specialty: 85% leais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Assinaturas crescem 22% ao ano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     NPS de marcas premium: 70+</a:t>
            </a:r>
          </a:p>
          <a:p>
            <a:pPr>
              <a:defRPr sz="1200">
                <a:solidFill>
                  <a:srgbClr val="222222"/>
                </a:solidFill>
              </a:defRPr>
            </a:pP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→ Influência: barista &gt; algoritmo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Portfólio Brasil — Oportunidades vs Tendências</a:t>
            </a:r>
          </a:p>
        </p:txBody>
      </p:sp>
      <p:sp>
        <p:nvSpPr>
          <p:cNvPr id="188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Quatro frentes de inovação e expansão para o mercado doméstico</a:t>
            </a:r>
          </a:p>
        </p:txBody>
      </p:sp>
      <p:sp>
        <p:nvSpPr>
          <p:cNvPr id="189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6"/>
          <p:cNvSpPr/>
          <p:nvPr/>
        </p:nvSpPr>
        <p:spPr>
          <a:xfrm>
            <a:off x="320039" y="1142999"/>
            <a:ext cx="2651762" cy="5349242"/>
          </a:xfrm>
          <a:prstGeom prst="rect">
            <a:avLst/>
          </a:prstGeom>
          <a:solidFill>
            <a:srgbClr val="F8F4EE"/>
          </a:solidFill>
          <a:ln w="1270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7"/>
          <p:cNvSpPr/>
          <p:nvPr/>
        </p:nvSpPr>
        <p:spPr>
          <a:xfrm>
            <a:off x="320039" y="1143000"/>
            <a:ext cx="2651762" cy="457200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8"/>
          <p:cNvSpPr txBox="1"/>
          <p:nvPr/>
        </p:nvSpPr>
        <p:spPr>
          <a:xfrm>
            <a:off x="475487" y="1188719"/>
            <a:ext cx="2377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RITUAL PREMIUM EM CASA</a:t>
            </a:r>
          </a:p>
        </p:txBody>
      </p:sp>
      <p:sp>
        <p:nvSpPr>
          <p:cNvPr id="193" name="TextBox 9"/>
          <p:cNvSpPr txBox="1"/>
          <p:nvPr/>
        </p:nvSpPr>
        <p:spPr>
          <a:xfrm>
            <a:off x="475487" y="1626107"/>
            <a:ext cx="23774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Tendências que sustentam:</a:t>
            </a:r>
          </a:p>
        </p:txBody>
      </p:sp>
      <p:sp>
        <p:nvSpPr>
          <p:cNvPr id="194" name="TextBox 10"/>
          <p:cNvSpPr txBox="1"/>
          <p:nvPr/>
        </p:nvSpPr>
        <p:spPr>
          <a:xfrm>
            <a:off x="475487" y="1874518"/>
            <a:ext cx="23774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T01 Status · T03 Autenticidade · T05 Premium</a:t>
            </a:r>
          </a:p>
        </p:txBody>
      </p:sp>
      <p:sp>
        <p:nvSpPr>
          <p:cNvPr id="195" name="Rectangle 11"/>
          <p:cNvSpPr/>
          <p:nvPr/>
        </p:nvSpPr>
        <p:spPr>
          <a:xfrm>
            <a:off x="429767" y="2176272"/>
            <a:ext cx="2432306" cy="2286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2"/>
          <p:cNvSpPr txBox="1"/>
          <p:nvPr/>
        </p:nvSpPr>
        <p:spPr>
          <a:xfrm>
            <a:off x="475487" y="2267711"/>
            <a:ext cx="2377442" cy="240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 pandemia acelerou o ritual do cafe em casa e não voltou.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Consumidores investem em equipamentos e querem cafe a altura.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Oportunidades: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Blends exclusive para V60, AeroPress, Moka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Kits de preparo curados pela Orfeu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Assinatura com curadoria e storytelling de origem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Guias de preparo como conteúdo de marca</a:t>
            </a:r>
          </a:p>
        </p:txBody>
      </p:sp>
      <p:sp>
        <p:nvSpPr>
          <p:cNvPr id="197" name="Rectangle 13"/>
          <p:cNvSpPr/>
          <p:nvPr/>
        </p:nvSpPr>
        <p:spPr>
          <a:xfrm>
            <a:off x="3154679" y="1142999"/>
            <a:ext cx="2651761" cy="5349242"/>
          </a:xfrm>
          <a:prstGeom prst="rect">
            <a:avLst/>
          </a:prstGeom>
          <a:solidFill>
            <a:srgbClr val="F8F4EE"/>
          </a:solidFill>
          <a:ln w="1270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Rectangle 14"/>
          <p:cNvSpPr/>
          <p:nvPr/>
        </p:nvSpPr>
        <p:spPr>
          <a:xfrm>
            <a:off x="3154679" y="1143000"/>
            <a:ext cx="2651761" cy="457200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15"/>
          <p:cNvSpPr txBox="1"/>
          <p:nvPr/>
        </p:nvSpPr>
        <p:spPr>
          <a:xfrm>
            <a:off x="3310128" y="1188719"/>
            <a:ext cx="23774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CAFÉ FUNCIONAL</a:t>
            </a:r>
          </a:p>
        </p:txBody>
      </p:sp>
      <p:sp>
        <p:nvSpPr>
          <p:cNvPr id="200" name="TextBox 16"/>
          <p:cNvSpPr txBox="1"/>
          <p:nvPr/>
        </p:nvSpPr>
        <p:spPr>
          <a:xfrm>
            <a:off x="3310128" y="1626107"/>
            <a:ext cx="23774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Tendências que sustentam:</a:t>
            </a:r>
          </a:p>
        </p:txBody>
      </p:sp>
      <p:sp>
        <p:nvSpPr>
          <p:cNvPr id="201" name="TextBox 17"/>
          <p:cNvSpPr txBox="1"/>
          <p:nvPr/>
        </p:nvSpPr>
        <p:spPr>
          <a:xfrm>
            <a:off x="3310128" y="1874518"/>
            <a:ext cx="23774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T02 Funcao+Prazer · T04 Personalizacao</a:t>
            </a:r>
          </a:p>
        </p:txBody>
      </p:sp>
      <p:sp>
        <p:nvSpPr>
          <p:cNvPr id="202" name="Rectangle 18"/>
          <p:cNvSpPr/>
          <p:nvPr/>
        </p:nvSpPr>
        <p:spPr>
          <a:xfrm>
            <a:off x="3264408" y="2176272"/>
            <a:ext cx="2432305" cy="2286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9"/>
          <p:cNvSpPr txBox="1"/>
          <p:nvPr/>
        </p:nvSpPr>
        <p:spPr>
          <a:xfrm>
            <a:off x="3310128" y="2267711"/>
            <a:ext cx="2377441" cy="240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Consumidor brasileiro esta adotando suplementos e buscando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benefícios adicionais nos alimentos. Cafe e o veiculo perfeito.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Oportunidades: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Cafe + colágeno (beleza, articulações)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Cafe + proteina (pòs-treino, saciedade)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Cafe + adaptogens (cognição, foco, calma)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Cafe descafeinado premium (queda: -1% alcool)</a:t>
            </a:r>
          </a:p>
        </p:txBody>
      </p:sp>
      <p:sp>
        <p:nvSpPr>
          <p:cNvPr id="204" name="Rectangle 20"/>
          <p:cNvSpPr/>
          <p:nvPr/>
        </p:nvSpPr>
        <p:spPr>
          <a:xfrm>
            <a:off x="5989320" y="1142999"/>
            <a:ext cx="2651761" cy="5349242"/>
          </a:xfrm>
          <a:prstGeom prst="rect">
            <a:avLst/>
          </a:prstGeom>
          <a:solidFill>
            <a:srgbClr val="F8F4EE"/>
          </a:solidFill>
          <a:ln w="1270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Rectangle 21"/>
          <p:cNvSpPr/>
          <p:nvPr/>
        </p:nvSpPr>
        <p:spPr>
          <a:xfrm>
            <a:off x="5989320" y="1143000"/>
            <a:ext cx="2651761" cy="457200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22"/>
          <p:cNvSpPr txBox="1"/>
          <p:nvPr/>
        </p:nvSpPr>
        <p:spPr>
          <a:xfrm>
            <a:off x="6144767" y="1188719"/>
            <a:ext cx="2377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PRESENTES &amp; EXPERIENCIAS</a:t>
            </a:r>
          </a:p>
        </p:txBody>
      </p:sp>
      <p:sp>
        <p:nvSpPr>
          <p:cNvPr id="207" name="TextBox 23"/>
          <p:cNvSpPr txBox="1"/>
          <p:nvPr/>
        </p:nvSpPr>
        <p:spPr>
          <a:xfrm>
            <a:off x="6144767" y="1626107"/>
            <a:ext cx="237744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E3A6E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Tendências que sustentam:</a:t>
            </a:r>
          </a:p>
        </p:txBody>
      </p:sp>
      <p:sp>
        <p:nvSpPr>
          <p:cNvPr id="208" name="TextBox 24"/>
          <p:cNvSpPr txBox="1"/>
          <p:nvPr/>
        </p:nvSpPr>
        <p:spPr>
          <a:xfrm>
            <a:off x="6144767" y="1874518"/>
            <a:ext cx="23774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T01 Status · T03 Heritage · T05 Premium</a:t>
            </a:r>
          </a:p>
        </p:txBody>
      </p:sp>
      <p:sp>
        <p:nvSpPr>
          <p:cNvPr id="209" name="Rectangle 25"/>
          <p:cNvSpPr/>
          <p:nvPr/>
        </p:nvSpPr>
        <p:spPr>
          <a:xfrm>
            <a:off x="6099047" y="2176272"/>
            <a:ext cx="2432305" cy="2286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26"/>
          <p:cNvSpPr txBox="1"/>
          <p:nvPr/>
        </p:nvSpPr>
        <p:spPr>
          <a:xfrm>
            <a:off x="6144767" y="2267711"/>
            <a:ext cx="2377442" cy="240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Mercado de gifting premium no Brasil subestimado.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Cafe especial como presente corporativo e pessoal tem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potencial não explorado.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Oportunidades: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Kits presenteáveis com design premium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Experiências de degustação (B2C e B2B)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Coleções sazonais e edições limitadas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Canal corporativo estruturado</a:t>
            </a:r>
          </a:p>
        </p:txBody>
      </p:sp>
      <p:sp>
        <p:nvSpPr>
          <p:cNvPr id="211" name="Rectangle 27"/>
          <p:cNvSpPr/>
          <p:nvPr/>
        </p:nvSpPr>
        <p:spPr>
          <a:xfrm>
            <a:off x="8823959" y="1142999"/>
            <a:ext cx="2651761" cy="5349242"/>
          </a:xfrm>
          <a:prstGeom prst="rect">
            <a:avLst/>
          </a:prstGeom>
          <a:solidFill>
            <a:srgbClr val="F8F4EE"/>
          </a:solidFill>
          <a:ln w="1270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Rectangle 28"/>
          <p:cNvSpPr/>
          <p:nvPr/>
        </p:nvSpPr>
        <p:spPr>
          <a:xfrm>
            <a:off x="8823959" y="1143000"/>
            <a:ext cx="2651761" cy="457200"/>
          </a:xfrm>
          <a:prstGeom prst="rect">
            <a:avLst/>
          </a:prstGeom>
          <a:solidFill>
            <a:srgbClr val="7A30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29"/>
          <p:cNvSpPr txBox="1"/>
          <p:nvPr/>
        </p:nvSpPr>
        <p:spPr>
          <a:xfrm>
            <a:off x="8979407" y="1188719"/>
            <a:ext cx="23774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CAFÉS COM TERRITORIO</a:t>
            </a:r>
          </a:p>
        </p:txBody>
      </p:sp>
      <p:sp>
        <p:nvSpPr>
          <p:cNvPr id="214" name="TextBox 30"/>
          <p:cNvSpPr txBox="1"/>
          <p:nvPr/>
        </p:nvSpPr>
        <p:spPr>
          <a:xfrm>
            <a:off x="8979407" y="1626107"/>
            <a:ext cx="23774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Tendências que sustentam:</a:t>
            </a:r>
          </a:p>
        </p:txBody>
      </p:sp>
      <p:sp>
        <p:nvSpPr>
          <p:cNvPr id="215" name="TextBox 31"/>
          <p:cNvSpPr txBox="1"/>
          <p:nvPr/>
        </p:nvSpPr>
        <p:spPr>
          <a:xfrm>
            <a:off x="8979407" y="1874518"/>
            <a:ext cx="237744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T03 Autenticidade · T01 Status</a:t>
            </a:r>
          </a:p>
        </p:txBody>
      </p:sp>
      <p:sp>
        <p:nvSpPr>
          <p:cNvPr id="216" name="Rectangle 32"/>
          <p:cNvSpPr/>
          <p:nvPr/>
        </p:nvSpPr>
        <p:spPr>
          <a:xfrm>
            <a:off x="8933688" y="2176272"/>
            <a:ext cx="2432305" cy="2286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33"/>
          <p:cNvSpPr txBox="1"/>
          <p:nvPr/>
        </p:nvSpPr>
        <p:spPr>
          <a:xfrm>
            <a:off x="8979407" y="2267711"/>
            <a:ext cx="2377441" cy="256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Microlotes e cafes de origem única sao a maxima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expressão de status e autenticidade simultaneamente.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Mercado em crescimento rápido no Brasil.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Oportunidades: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Linha de microlotes com historia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Certificações de origem e sustentabilidade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Colheitas numeradas (escassez planejada)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• Parceria com produtores como embaixadores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Portfólio EUA — Oportunidades vs Tendências</a:t>
            </a:r>
          </a:p>
        </p:txBody>
      </p:sp>
      <p:sp>
        <p:nvSpPr>
          <p:cNvPr id="222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mercado americano como laboratório de inovação premium</a:t>
            </a:r>
          </a:p>
        </p:txBody>
      </p:sp>
      <p:sp>
        <p:nvSpPr>
          <p:cNvPr id="223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6"/>
          <p:cNvSpPr txBox="1"/>
          <p:nvPr/>
        </p:nvSpPr>
        <p:spPr>
          <a:xfrm>
            <a:off x="365759" y="1181100"/>
            <a:ext cx="1143000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mercado americano de cafe especial esta 5+ anos a frente do Brasil nas tendencias identificadas. Blue Bottle, Stumptown, Intelligentsia e Counter Culture estabeleceram o benchmark — agora há espaço para marcas com ORIGEM AUTENTICA e que o Brasil pode oferecer..</a:t>
            </a:r>
          </a:p>
        </p:txBody>
      </p:sp>
      <p:sp>
        <p:nvSpPr>
          <p:cNvPr id="225" name="Rectangle 7"/>
          <p:cNvSpPr/>
          <p:nvPr/>
        </p:nvSpPr>
        <p:spPr>
          <a:xfrm>
            <a:off x="320039" y="1811020"/>
            <a:ext cx="2651762" cy="4389121"/>
          </a:xfrm>
          <a:prstGeom prst="rect">
            <a:avLst/>
          </a:prstGeom>
          <a:solidFill>
            <a:srgbClr val="F8F4EE"/>
          </a:solidFill>
          <a:ln w="1270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Rectangle 8"/>
          <p:cNvSpPr/>
          <p:nvPr/>
        </p:nvSpPr>
        <p:spPr>
          <a:xfrm>
            <a:off x="320039" y="1811020"/>
            <a:ext cx="2651762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9"/>
          <p:cNvSpPr txBox="1"/>
          <p:nvPr/>
        </p:nvSpPr>
        <p:spPr>
          <a:xfrm>
            <a:off x="475487" y="1856739"/>
            <a:ext cx="2377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POSICIONAMENTO DE ORIGEM</a:t>
            </a:r>
          </a:p>
        </p:txBody>
      </p:sp>
      <p:sp>
        <p:nvSpPr>
          <p:cNvPr id="228" name="TextBox 10"/>
          <p:cNvSpPr txBox="1"/>
          <p:nvPr/>
        </p:nvSpPr>
        <p:spPr>
          <a:xfrm>
            <a:off x="475487" y="2313939"/>
            <a:ext cx="2377442" cy="223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Brasil não é apenas o maior produtor — é uma historia de terroir, clima e expertise de décadas.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Nenhum competidor americano tem esse lastro.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Ângulo: "100 anos de expertise brasileira finalmente disponível nos EUA."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Canal principal: specialty retail, D2C, food service de alto nível (hotéis, restaurantes, cafés)</a:t>
            </a:r>
          </a:p>
        </p:txBody>
      </p:sp>
      <p:sp>
        <p:nvSpPr>
          <p:cNvPr id="229" name="Rectangle 11"/>
          <p:cNvSpPr/>
          <p:nvPr/>
        </p:nvSpPr>
        <p:spPr>
          <a:xfrm>
            <a:off x="3154679" y="1811020"/>
            <a:ext cx="2651761" cy="4389121"/>
          </a:xfrm>
          <a:prstGeom prst="rect">
            <a:avLst/>
          </a:prstGeom>
          <a:solidFill>
            <a:srgbClr val="F8F4EE"/>
          </a:solidFill>
          <a:ln w="1270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Rectangle 12"/>
          <p:cNvSpPr/>
          <p:nvPr/>
        </p:nvSpPr>
        <p:spPr>
          <a:xfrm>
            <a:off x="3154679" y="1811020"/>
            <a:ext cx="2651761" cy="411481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13"/>
          <p:cNvSpPr txBox="1"/>
          <p:nvPr/>
        </p:nvSpPr>
        <p:spPr>
          <a:xfrm>
            <a:off x="3310128" y="1856739"/>
            <a:ext cx="23774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CAFE FUNCIONAL PREMIUM</a:t>
            </a:r>
          </a:p>
        </p:txBody>
      </p:sp>
      <p:sp>
        <p:nvSpPr>
          <p:cNvPr id="232" name="TextBox 14"/>
          <p:cNvSpPr txBox="1"/>
          <p:nvPr/>
        </p:nvSpPr>
        <p:spPr>
          <a:xfrm>
            <a:off x="3310128" y="2313939"/>
            <a:ext cx="2377441" cy="190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EUA esta 2+ anos a frente do Brasil na fusão de café + funcional. Categoria cresce +25% ao ano. Preço: USD 15-35 por produto.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Ângulo: "O café brasileiro que também faz algo por você.¨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Produtos: café + colágeno, café + proteína, café + adaptógeno (mushroom, ashwagandha)</a:t>
            </a:r>
          </a:p>
        </p:txBody>
      </p:sp>
      <p:sp>
        <p:nvSpPr>
          <p:cNvPr id="233" name="Rectangle 15"/>
          <p:cNvSpPr/>
          <p:nvPr/>
        </p:nvSpPr>
        <p:spPr>
          <a:xfrm>
            <a:off x="5989320" y="1811020"/>
            <a:ext cx="2651761" cy="4389121"/>
          </a:xfrm>
          <a:prstGeom prst="rect">
            <a:avLst/>
          </a:prstGeom>
          <a:solidFill>
            <a:srgbClr val="F8F4EE"/>
          </a:solidFill>
          <a:ln w="1270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Rectangle 16"/>
          <p:cNvSpPr/>
          <p:nvPr/>
        </p:nvSpPr>
        <p:spPr>
          <a:xfrm>
            <a:off x="5989320" y="1811020"/>
            <a:ext cx="2651761" cy="411481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17"/>
          <p:cNvSpPr txBox="1"/>
          <p:nvPr/>
        </p:nvSpPr>
        <p:spPr>
          <a:xfrm>
            <a:off x="6144767" y="1856739"/>
            <a:ext cx="2377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ASSINATURA &amp; CURADORIA</a:t>
            </a:r>
          </a:p>
        </p:txBody>
      </p:sp>
      <p:sp>
        <p:nvSpPr>
          <p:cNvPr id="236" name="TextBox 18"/>
          <p:cNvSpPr txBox="1"/>
          <p:nvPr/>
        </p:nvSpPr>
        <p:spPr>
          <a:xfrm>
            <a:off x="6144767" y="2313939"/>
            <a:ext cx="2377442" cy="190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Subscription coffee e mercado de USD 1,5bi nos EUA. Consumidor paga pela curadoria, não apenas pelo produto.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Ângulo: "Deixe um especialista brasileiro curar seu cafe todo mês."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Modelo: assinatura mensal com nota de prova, história do produtor e guia de preparo.</a:t>
            </a:r>
          </a:p>
        </p:txBody>
      </p:sp>
      <p:sp>
        <p:nvSpPr>
          <p:cNvPr id="237" name="Rectangle 19"/>
          <p:cNvSpPr/>
          <p:nvPr/>
        </p:nvSpPr>
        <p:spPr>
          <a:xfrm>
            <a:off x="8823959" y="1811020"/>
            <a:ext cx="2651761" cy="4389121"/>
          </a:xfrm>
          <a:prstGeom prst="rect">
            <a:avLst/>
          </a:prstGeom>
          <a:solidFill>
            <a:srgbClr val="F8F4EE"/>
          </a:solidFill>
          <a:ln w="1270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Rectangle 20"/>
          <p:cNvSpPr/>
          <p:nvPr/>
        </p:nvSpPr>
        <p:spPr>
          <a:xfrm>
            <a:off x="8823959" y="1811020"/>
            <a:ext cx="2651761" cy="411481"/>
          </a:xfrm>
          <a:prstGeom prst="rect">
            <a:avLst/>
          </a:prstGeom>
          <a:solidFill>
            <a:srgbClr val="7A30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21"/>
          <p:cNvSpPr txBox="1"/>
          <p:nvPr/>
        </p:nvSpPr>
        <p:spPr>
          <a:xfrm>
            <a:off x="8979407" y="1856739"/>
            <a:ext cx="23774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CAFE COMO EXPERIENCIA</a:t>
            </a:r>
          </a:p>
        </p:txBody>
      </p:sp>
      <p:sp>
        <p:nvSpPr>
          <p:cNvPr id="240" name="TextBox 22"/>
          <p:cNvSpPr txBox="1"/>
          <p:nvPr/>
        </p:nvSpPr>
        <p:spPr>
          <a:xfrm>
            <a:off x="8979407" y="2313939"/>
            <a:ext cx="2377441" cy="190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Restaurantes, hotéis e offices sao canais de premiumização no EUA. O B2B premium paga 3-5x mais por produto diferenciado.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Ângulo: "O café que seus hóspedes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vão perguntar de onde é."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Canal: food service premium, branded experiences, pop-up cafés em parceiros.</a:t>
            </a:r>
          </a:p>
        </p:txBody>
      </p:sp>
      <p:sp>
        <p:nvSpPr>
          <p:cNvPr id="241" name="TextBox 23"/>
          <p:cNvSpPr txBox="1"/>
          <p:nvPr/>
        </p:nvSpPr>
        <p:spPr>
          <a:xfrm>
            <a:off x="365759" y="6446520"/>
            <a:ext cx="114300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Blue Bottle (Nestle) · Stumptown (Oatly) · Intelligentsia (Peet's) sao benchmarks de valuation e modelo de negocio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2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Rectangle 3"/>
          <p:cNvSpPr/>
          <p:nvPr/>
        </p:nvSpPr>
        <p:spPr>
          <a:xfrm>
            <a:off x="-1" y="0"/>
            <a:ext cx="12188954" cy="96012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Rectangle 4"/>
          <p:cNvSpPr/>
          <p:nvPr/>
        </p:nvSpPr>
        <p:spPr>
          <a:xfrm>
            <a:off x="-1" y="960119"/>
            <a:ext cx="12188954" cy="3657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5"/>
          <p:cNvSpPr txBox="1"/>
          <p:nvPr/>
        </p:nvSpPr>
        <p:spPr>
          <a:xfrm>
            <a:off x="365759" y="109728"/>
            <a:ext cx="1164031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Mercado de Café EUA — 4 Números que Definem a Oportunidade</a:t>
            </a:r>
          </a:p>
        </p:txBody>
      </p:sp>
      <p:sp>
        <p:nvSpPr>
          <p:cNvPr id="248" name="TextBox 6"/>
          <p:cNvSpPr txBox="1"/>
          <p:nvPr/>
        </p:nvSpPr>
        <p:spPr>
          <a:xfrm>
            <a:off x="365759" y="566927"/>
            <a:ext cx="1164031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C8E6C9"/>
                </a:solidFill>
              </a:defRPr>
            </a:lvl1pPr>
          </a:lstStyle>
          <a:p>
            <a:pPr/>
            <a:r>
              <a:t>Euromonitor International, Coffee in the US, November 2025</a:t>
            </a:r>
          </a:p>
        </p:txBody>
      </p:sp>
      <p:sp>
        <p:nvSpPr>
          <p:cNvPr id="249" name="Rectangle 7"/>
          <p:cNvSpPr/>
          <p:nvPr/>
        </p:nvSpPr>
        <p:spPr>
          <a:xfrm>
            <a:off x="201168" y="1051560"/>
            <a:ext cx="5925312" cy="2688336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Rectangle 8"/>
          <p:cNvSpPr/>
          <p:nvPr/>
        </p:nvSpPr>
        <p:spPr>
          <a:xfrm>
            <a:off x="201168" y="1051560"/>
            <a:ext cx="54864" cy="2688336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9"/>
          <p:cNvSpPr txBox="1"/>
          <p:nvPr/>
        </p:nvSpPr>
        <p:spPr>
          <a:xfrm>
            <a:off x="393191" y="1124711"/>
            <a:ext cx="564184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A5C2E"/>
                </a:solidFill>
              </a:defRPr>
            </a:lvl1pPr>
          </a:lstStyle>
          <a:p>
            <a:pPr/>
            <a:r>
              <a:t>USD 20 Bi</a:t>
            </a:r>
          </a:p>
        </p:txBody>
      </p:sp>
      <p:sp>
        <p:nvSpPr>
          <p:cNvPr id="252" name="TextBox 10"/>
          <p:cNvSpPr txBox="1"/>
          <p:nvPr/>
        </p:nvSpPr>
        <p:spPr>
          <a:xfrm>
            <a:off x="393191" y="1645920"/>
            <a:ext cx="5641849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mercado total de café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EUA em 2025</a:t>
            </a:r>
          </a:p>
        </p:txBody>
      </p:sp>
      <p:sp>
        <p:nvSpPr>
          <p:cNvPr id="253" name="TextBox 11"/>
          <p:cNvSpPr txBox="1"/>
          <p:nvPr/>
        </p:nvSpPr>
        <p:spPr>
          <a:xfrm>
            <a:off x="393191" y="3209544"/>
            <a:ext cx="5641849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200">
                <a:solidFill>
                  <a:srgbClr val="666666"/>
                </a:solidFill>
              </a:defRPr>
            </a:pPr>
            <a:r>
              <a:t>→ 5ª maior economia</a:t>
            </a:r>
          </a:p>
          <a:p>
            <a:pPr>
              <a:defRPr i="1" sz="1200">
                <a:solidFill>
                  <a:srgbClr val="666666"/>
                </a:solidFill>
              </a:defRPr>
            </a:pPr>
            <a:r>
              <a:t>do café no mundo</a:t>
            </a:r>
          </a:p>
        </p:txBody>
      </p:sp>
      <p:sp>
        <p:nvSpPr>
          <p:cNvPr id="254" name="Rectangle 12"/>
          <p:cNvSpPr/>
          <p:nvPr/>
        </p:nvSpPr>
        <p:spPr>
          <a:xfrm>
            <a:off x="6217920" y="1051560"/>
            <a:ext cx="5925313" cy="2688336"/>
          </a:xfrm>
          <a:prstGeom prst="rect">
            <a:avLst/>
          </a:prstGeom>
          <a:solidFill>
            <a:srgbClr val="FFF3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ectangle 13"/>
          <p:cNvSpPr/>
          <p:nvPr/>
        </p:nvSpPr>
        <p:spPr>
          <a:xfrm>
            <a:off x="6217920" y="1051560"/>
            <a:ext cx="54865" cy="2688336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14"/>
          <p:cNvSpPr txBox="1"/>
          <p:nvPr/>
        </p:nvSpPr>
        <p:spPr>
          <a:xfrm>
            <a:off x="6409944" y="1124711"/>
            <a:ext cx="564184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C07028"/>
                </a:solidFill>
              </a:defRPr>
            </a:lvl1pPr>
          </a:lstStyle>
          <a:p>
            <a:pPr/>
            <a:r>
              <a:t>USD 23 Bi</a:t>
            </a:r>
          </a:p>
        </p:txBody>
      </p:sp>
      <p:sp>
        <p:nvSpPr>
          <p:cNvPr id="257" name="TextBox 15"/>
          <p:cNvSpPr txBox="1"/>
          <p:nvPr/>
        </p:nvSpPr>
        <p:spPr>
          <a:xfrm>
            <a:off x="6409944" y="1645920"/>
            <a:ext cx="5641848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projeção para 2030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(CAGR +3.0%)</a:t>
            </a:r>
          </a:p>
        </p:txBody>
      </p:sp>
      <p:sp>
        <p:nvSpPr>
          <p:cNvPr id="258" name="TextBox 16"/>
          <p:cNvSpPr txBox="1"/>
          <p:nvPr/>
        </p:nvSpPr>
        <p:spPr>
          <a:xfrm>
            <a:off x="6409944" y="3209544"/>
            <a:ext cx="5641848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200">
                <a:solidFill>
                  <a:srgbClr val="666666"/>
                </a:solidFill>
              </a:defRPr>
            </a:pPr>
            <a:r>
              <a:t>→ Crescimento sustentado</a:t>
            </a:r>
          </a:p>
          <a:p>
            <a:pPr>
              <a:defRPr i="1" sz="1200">
                <a:solidFill>
                  <a:srgbClr val="666666"/>
                </a:solidFill>
              </a:defRPr>
            </a:pPr>
            <a:r>
              <a:t>até o fim da década</a:t>
            </a:r>
          </a:p>
        </p:txBody>
      </p:sp>
      <p:sp>
        <p:nvSpPr>
          <p:cNvPr id="259" name="Rectangle 17"/>
          <p:cNvSpPr/>
          <p:nvPr/>
        </p:nvSpPr>
        <p:spPr>
          <a:xfrm>
            <a:off x="201168" y="3813047"/>
            <a:ext cx="5925312" cy="2688337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18"/>
          <p:cNvSpPr/>
          <p:nvPr/>
        </p:nvSpPr>
        <p:spPr>
          <a:xfrm>
            <a:off x="201168" y="3813047"/>
            <a:ext cx="54864" cy="268833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9"/>
          <p:cNvSpPr txBox="1"/>
          <p:nvPr/>
        </p:nvSpPr>
        <p:spPr>
          <a:xfrm>
            <a:off x="393191" y="3886200"/>
            <a:ext cx="5641849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A5C2E"/>
                </a:solidFill>
              </a:defRPr>
            </a:lvl1pPr>
          </a:lstStyle>
          <a:p>
            <a:pPr/>
            <a:r>
              <a:t>28%</a:t>
            </a:r>
          </a:p>
        </p:txBody>
      </p:sp>
      <p:sp>
        <p:nvSpPr>
          <p:cNvPr id="262" name="TextBox 20"/>
          <p:cNvSpPr txBox="1"/>
          <p:nvPr/>
        </p:nvSpPr>
        <p:spPr>
          <a:xfrm>
            <a:off x="393191" y="4407408"/>
            <a:ext cx="5641849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share do e-commerce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em volume retail 2025</a:t>
            </a:r>
          </a:p>
        </p:txBody>
      </p:sp>
      <p:sp>
        <p:nvSpPr>
          <p:cNvPr id="263" name="TextBox 21"/>
          <p:cNvSpPr txBox="1"/>
          <p:nvPr/>
        </p:nvSpPr>
        <p:spPr>
          <a:xfrm>
            <a:off x="393191" y="5971032"/>
            <a:ext cx="5641849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200">
                <a:solidFill>
                  <a:srgbClr val="666666"/>
                </a:solidFill>
              </a:defRPr>
            </a:pPr>
            <a:r>
              <a:t>→ Era 17.9% em 2020</a:t>
            </a:r>
          </a:p>
          <a:p>
            <a:pPr>
              <a:defRPr i="1" sz="1200">
                <a:solidFill>
                  <a:srgbClr val="666666"/>
                </a:solidFill>
              </a:defRPr>
            </a:pPr>
            <a:r>
              <a:t>(+10pp em 5 anos)</a:t>
            </a:r>
          </a:p>
        </p:txBody>
      </p:sp>
      <p:sp>
        <p:nvSpPr>
          <p:cNvPr id="264" name="Rectangle 22"/>
          <p:cNvSpPr/>
          <p:nvPr/>
        </p:nvSpPr>
        <p:spPr>
          <a:xfrm>
            <a:off x="6217920" y="3813047"/>
            <a:ext cx="5925313" cy="2688337"/>
          </a:xfrm>
          <a:prstGeom prst="rect">
            <a:avLst/>
          </a:prstGeom>
          <a:solidFill>
            <a:srgbClr val="FFF3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Rectangle 23"/>
          <p:cNvSpPr/>
          <p:nvPr/>
        </p:nvSpPr>
        <p:spPr>
          <a:xfrm>
            <a:off x="6217920" y="3813047"/>
            <a:ext cx="54865" cy="268833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24"/>
          <p:cNvSpPr txBox="1"/>
          <p:nvPr/>
        </p:nvSpPr>
        <p:spPr>
          <a:xfrm>
            <a:off x="6409944" y="3886200"/>
            <a:ext cx="5641848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C07028"/>
                </a:solidFill>
              </a:defRPr>
            </a:lvl1pPr>
          </a:lstStyle>
          <a:p>
            <a:pPr/>
            <a:r>
              <a:t>36%</a:t>
            </a:r>
          </a:p>
        </p:txBody>
      </p:sp>
      <p:sp>
        <p:nvSpPr>
          <p:cNvPr id="267" name="TextBox 25"/>
          <p:cNvSpPr txBox="1"/>
          <p:nvPr/>
        </p:nvSpPr>
        <p:spPr>
          <a:xfrm>
            <a:off x="6409944" y="4407408"/>
            <a:ext cx="5641848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2D2D2D"/>
                </a:solidFill>
              </a:defRPr>
            </a:pPr>
            <a:r>
              <a:t>dos volumes = 'Others'</a:t>
            </a:r>
          </a:p>
          <a:p>
            <a:pPr>
              <a:defRPr sz="1200">
                <a:solidFill>
                  <a:srgbClr val="2D2D2D"/>
                </a:solidFill>
              </a:defRPr>
            </a:pPr>
            <a:r>
              <a:t>(long tail de marcas)</a:t>
            </a:r>
          </a:p>
        </p:txBody>
      </p:sp>
      <p:sp>
        <p:nvSpPr>
          <p:cNvPr id="268" name="TextBox 26"/>
          <p:cNvSpPr txBox="1"/>
          <p:nvPr/>
        </p:nvSpPr>
        <p:spPr>
          <a:xfrm>
            <a:off x="6409944" y="5971032"/>
            <a:ext cx="5641848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200">
                <a:solidFill>
                  <a:srgbClr val="666666"/>
                </a:solidFill>
              </a:defRPr>
            </a:pPr>
            <a:r>
              <a:t>→ Espaço real para</a:t>
            </a:r>
          </a:p>
          <a:p>
            <a:pPr>
              <a:defRPr i="1" sz="1200">
                <a:solidFill>
                  <a:srgbClr val="666666"/>
                </a:solidFill>
              </a:defRPr>
            </a:pPr>
            <a:r>
              <a:t>new entrants premium</a:t>
            </a:r>
          </a:p>
        </p:txBody>
      </p:sp>
      <p:sp>
        <p:nvSpPr>
          <p:cNvPr id="269" name="TextBox 27"/>
          <p:cNvSpPr txBox="1"/>
          <p:nvPr/>
        </p:nvSpPr>
        <p:spPr>
          <a:xfrm>
            <a:off x="274319" y="6583680"/>
            <a:ext cx="1164031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2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3"/>
          <p:cNvSpPr/>
          <p:nvPr/>
        </p:nvSpPr>
        <p:spPr>
          <a:xfrm>
            <a:off x="-1" y="0"/>
            <a:ext cx="12188954" cy="96012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Rectangle 4"/>
          <p:cNvSpPr/>
          <p:nvPr/>
        </p:nvSpPr>
        <p:spPr>
          <a:xfrm>
            <a:off x="-1" y="960119"/>
            <a:ext cx="12188954" cy="3657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5"/>
          <p:cNvSpPr txBox="1"/>
          <p:nvPr/>
        </p:nvSpPr>
        <p:spPr>
          <a:xfrm>
            <a:off x="365759" y="109728"/>
            <a:ext cx="1164031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Fresh Coffee Beans — O Segmento-Alvo da Orfeu nos EUA</a:t>
            </a:r>
          </a:p>
        </p:txBody>
      </p:sp>
      <p:sp>
        <p:nvSpPr>
          <p:cNvPr id="276" name="TextBox 6"/>
          <p:cNvSpPr txBox="1"/>
          <p:nvPr/>
        </p:nvSpPr>
        <p:spPr>
          <a:xfrm>
            <a:off x="365759" y="566927"/>
            <a:ext cx="1164031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C8E6C9"/>
                </a:solidFill>
              </a:defRPr>
            </a:lvl1pPr>
          </a:lstStyle>
          <a:p>
            <a:pPr/>
            <a:r>
              <a:t>Maior CAGR forecast (5.0% a.a.) | Premiumização acelerada | Single origin como diferenciador</a:t>
            </a:r>
          </a:p>
        </p:txBody>
      </p:sp>
      <p:sp>
        <p:nvSpPr>
          <p:cNvPr id="277" name="Rectangle 7"/>
          <p:cNvSpPr/>
          <p:nvPr/>
        </p:nvSpPr>
        <p:spPr>
          <a:xfrm>
            <a:off x="228599" y="1097280"/>
            <a:ext cx="3901442" cy="1920240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Rectangle 8"/>
          <p:cNvSpPr/>
          <p:nvPr/>
        </p:nvSpPr>
        <p:spPr>
          <a:xfrm>
            <a:off x="228599" y="1097280"/>
            <a:ext cx="3901442" cy="5486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9"/>
          <p:cNvSpPr txBox="1"/>
          <p:nvPr/>
        </p:nvSpPr>
        <p:spPr>
          <a:xfrm>
            <a:off x="365760" y="1207008"/>
            <a:ext cx="3672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C2E"/>
                </a:solidFill>
              </a:defRPr>
            </a:lvl1pPr>
          </a:lstStyle>
          <a:p>
            <a:pPr/>
            <a:r>
              <a:t>Tamanho do Mercado</a:t>
            </a:r>
          </a:p>
        </p:txBody>
      </p:sp>
      <p:sp>
        <p:nvSpPr>
          <p:cNvPr id="280" name="TextBox 10"/>
          <p:cNvSpPr txBox="1"/>
          <p:nvPr/>
        </p:nvSpPr>
        <p:spPr>
          <a:xfrm>
            <a:off x="365760" y="1508760"/>
            <a:ext cx="3672840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2A5C2E"/>
                </a:solidFill>
              </a:defRPr>
            </a:lvl1pPr>
          </a:lstStyle>
          <a:p>
            <a:pPr/>
            <a:r>
              <a:t>USD 1.59 Bi</a:t>
            </a:r>
          </a:p>
        </p:txBody>
      </p:sp>
      <p:sp>
        <p:nvSpPr>
          <p:cNvPr id="281" name="TextBox 11"/>
          <p:cNvSpPr txBox="1"/>
          <p:nvPr/>
        </p:nvSpPr>
        <p:spPr>
          <a:xfrm>
            <a:off x="365760" y="2148839"/>
            <a:ext cx="36728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282" name="TextBox 12"/>
          <p:cNvSpPr txBox="1"/>
          <p:nvPr/>
        </p:nvSpPr>
        <p:spPr>
          <a:xfrm>
            <a:off x="365760" y="2423160"/>
            <a:ext cx="36728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USD 2.03 Bi em 2030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(+28% em 5 anos)</a:t>
            </a:r>
          </a:p>
        </p:txBody>
      </p:sp>
      <p:sp>
        <p:nvSpPr>
          <p:cNvPr id="283" name="Rectangle 13"/>
          <p:cNvSpPr/>
          <p:nvPr/>
        </p:nvSpPr>
        <p:spPr>
          <a:xfrm>
            <a:off x="4203191" y="1097280"/>
            <a:ext cx="3901442" cy="1920240"/>
          </a:xfrm>
          <a:prstGeom prst="rect">
            <a:avLst/>
          </a:prstGeom>
          <a:solidFill>
            <a:srgbClr val="FFF3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ectangle 14"/>
          <p:cNvSpPr/>
          <p:nvPr/>
        </p:nvSpPr>
        <p:spPr>
          <a:xfrm>
            <a:off x="4203191" y="1097280"/>
            <a:ext cx="3901442" cy="5486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15"/>
          <p:cNvSpPr txBox="1"/>
          <p:nvPr/>
        </p:nvSpPr>
        <p:spPr>
          <a:xfrm>
            <a:off x="4340352" y="1207008"/>
            <a:ext cx="36728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07028"/>
                </a:solidFill>
              </a:defRPr>
            </a:lvl1pPr>
          </a:lstStyle>
          <a:p>
            <a:pPr/>
            <a:r>
              <a:t>CAGR Forecast</a:t>
            </a:r>
          </a:p>
        </p:txBody>
      </p:sp>
      <p:sp>
        <p:nvSpPr>
          <p:cNvPr id="286" name="TextBox 16"/>
          <p:cNvSpPr txBox="1"/>
          <p:nvPr/>
        </p:nvSpPr>
        <p:spPr>
          <a:xfrm>
            <a:off x="4340352" y="1508760"/>
            <a:ext cx="3672840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07028"/>
                </a:solidFill>
              </a:defRPr>
            </a:lvl1pPr>
          </a:lstStyle>
          <a:p>
            <a:pPr/>
            <a:r>
              <a:t>+5.0%</a:t>
            </a:r>
          </a:p>
        </p:txBody>
      </p:sp>
      <p:sp>
        <p:nvSpPr>
          <p:cNvPr id="287" name="TextBox 17"/>
          <p:cNvSpPr txBox="1"/>
          <p:nvPr/>
        </p:nvSpPr>
        <p:spPr>
          <a:xfrm>
            <a:off x="4340352" y="2148839"/>
            <a:ext cx="36728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2025-2030</a:t>
            </a:r>
          </a:p>
        </p:txBody>
      </p:sp>
      <p:sp>
        <p:nvSpPr>
          <p:cNvPr id="288" name="TextBox 18"/>
          <p:cNvSpPr txBox="1"/>
          <p:nvPr/>
        </p:nvSpPr>
        <p:spPr>
          <a:xfrm>
            <a:off x="4340352" y="2423160"/>
            <a:ext cx="36728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Maior de todas as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categorias de café</a:t>
            </a:r>
          </a:p>
        </p:txBody>
      </p:sp>
      <p:sp>
        <p:nvSpPr>
          <p:cNvPr id="289" name="Rectangle 19"/>
          <p:cNvSpPr/>
          <p:nvPr/>
        </p:nvSpPr>
        <p:spPr>
          <a:xfrm>
            <a:off x="8177783" y="1097280"/>
            <a:ext cx="3901441" cy="1920240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20"/>
          <p:cNvSpPr/>
          <p:nvPr/>
        </p:nvSpPr>
        <p:spPr>
          <a:xfrm>
            <a:off x="8177783" y="1097280"/>
            <a:ext cx="3901441" cy="5486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21"/>
          <p:cNvSpPr txBox="1"/>
          <p:nvPr/>
        </p:nvSpPr>
        <p:spPr>
          <a:xfrm>
            <a:off x="8314943" y="1207008"/>
            <a:ext cx="36728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5C2E"/>
                </a:solidFill>
              </a:defRPr>
            </a:lvl1pPr>
          </a:lstStyle>
          <a:p>
            <a:pPr/>
            <a:r>
              <a:t>Preço Implícito</a:t>
            </a:r>
          </a:p>
        </p:txBody>
      </p:sp>
      <p:sp>
        <p:nvSpPr>
          <p:cNvPr id="292" name="TextBox 22"/>
          <p:cNvSpPr txBox="1"/>
          <p:nvPr/>
        </p:nvSpPr>
        <p:spPr>
          <a:xfrm>
            <a:off x="8314943" y="1508760"/>
            <a:ext cx="367284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2A5C2E"/>
                </a:solidFill>
              </a:defRPr>
            </a:lvl1pPr>
          </a:lstStyle>
          <a:p>
            <a:pPr/>
            <a:r>
              <a:t>USD 28.9/kg</a:t>
            </a:r>
          </a:p>
        </p:txBody>
      </p:sp>
      <p:sp>
        <p:nvSpPr>
          <p:cNvPr id="293" name="TextBox 23"/>
          <p:cNvSpPr txBox="1"/>
          <p:nvPr/>
        </p:nvSpPr>
        <p:spPr>
          <a:xfrm>
            <a:off x="8314943" y="2148839"/>
            <a:ext cx="36728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294" name="TextBox 24"/>
          <p:cNvSpPr txBox="1"/>
          <p:nvPr/>
        </p:nvSpPr>
        <p:spPr>
          <a:xfrm>
            <a:off x="8314943" y="2423160"/>
            <a:ext cx="367284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Era USD 21.6/kg em 2020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(+34% em 5 anos)</a:t>
            </a:r>
          </a:p>
        </p:txBody>
      </p:sp>
      <p:sp>
        <p:nvSpPr>
          <p:cNvPr id="295" name="Rectangle 25"/>
          <p:cNvSpPr/>
          <p:nvPr/>
        </p:nvSpPr>
        <p:spPr>
          <a:xfrm>
            <a:off x="201167" y="3154679"/>
            <a:ext cx="11786618" cy="338328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26"/>
          <p:cNvSpPr/>
          <p:nvPr/>
        </p:nvSpPr>
        <p:spPr>
          <a:xfrm>
            <a:off x="201168" y="3154679"/>
            <a:ext cx="54864" cy="338328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27"/>
          <p:cNvSpPr txBox="1"/>
          <p:nvPr/>
        </p:nvSpPr>
        <p:spPr>
          <a:xfrm>
            <a:off x="411479" y="3264408"/>
            <a:ext cx="11503153" cy="1196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t>Por que Coffee Beans é o segmento certo para a Orfeu:</a:t>
            </a:r>
          </a:p>
          <a:p>
            <a:pPr>
              <a:defRPr sz="1100">
                <a:solidFill>
                  <a:srgbClr val="2D2D2D"/>
                </a:solidFill>
              </a:defRPr>
            </a:pP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▸  É o segmento que mais cresce em valor (CAGR +5.0%) e onde o preço por kg subiu +34% em 5 anos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▸  Single origin e specialty são os maiores drivers de valor — exatamente o DNA da Orfeu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▸  Os grandes players (KDP, Smucker, Nestlé) não dominam beans — long tail com espaço para novos entrantes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▸  Volume de beans começa a recuperar após 2024 — janela de entrada antes da consolidação do segmento</a:t>
            </a:r>
          </a:p>
        </p:txBody>
      </p:sp>
      <p:sp>
        <p:nvSpPr>
          <p:cNvPr id="298" name="TextBox 28"/>
          <p:cNvSpPr txBox="1"/>
          <p:nvPr/>
        </p:nvSpPr>
        <p:spPr>
          <a:xfrm>
            <a:off x="274319" y="6583680"/>
            <a:ext cx="1164031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Rectangle 2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Rectangle 3"/>
          <p:cNvSpPr/>
          <p:nvPr/>
        </p:nvSpPr>
        <p:spPr>
          <a:xfrm>
            <a:off x="-1" y="0"/>
            <a:ext cx="12188954" cy="96012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ectangle 4"/>
          <p:cNvSpPr/>
          <p:nvPr/>
        </p:nvSpPr>
        <p:spPr>
          <a:xfrm>
            <a:off x="-1" y="960119"/>
            <a:ext cx="12188954" cy="3657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5"/>
          <p:cNvSpPr txBox="1"/>
          <p:nvPr/>
        </p:nvSpPr>
        <p:spPr>
          <a:xfrm>
            <a:off x="365759" y="109728"/>
            <a:ext cx="1164031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Estratégia de Canais — Prioridade de Entrada para a Orfeu</a:t>
            </a:r>
          </a:p>
        </p:txBody>
      </p:sp>
      <p:sp>
        <p:nvSpPr>
          <p:cNvPr id="305" name="TextBox 6"/>
          <p:cNvSpPr txBox="1"/>
          <p:nvPr/>
        </p:nvSpPr>
        <p:spPr>
          <a:xfrm>
            <a:off x="365759" y="566927"/>
            <a:ext cx="1164031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C8E6C9"/>
                </a:solidFill>
              </a:defRPr>
            </a:lvl1pPr>
          </a:lstStyle>
          <a:p>
            <a:pPr/>
            <a:r>
              <a:t>E-Commerce é o canal prioritário: crescimento acelerado, barreira menor, alcance nacional</a:t>
            </a:r>
          </a:p>
        </p:txBody>
      </p:sp>
      <p:sp>
        <p:nvSpPr>
          <p:cNvPr id="306" name="Rectangle 7"/>
          <p:cNvSpPr/>
          <p:nvPr/>
        </p:nvSpPr>
        <p:spPr>
          <a:xfrm>
            <a:off x="201168" y="1051560"/>
            <a:ext cx="228600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8"/>
          <p:cNvSpPr txBox="1"/>
          <p:nvPr/>
        </p:nvSpPr>
        <p:spPr>
          <a:xfrm>
            <a:off x="283464" y="1088136"/>
            <a:ext cx="213969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Canal</a:t>
            </a:r>
          </a:p>
        </p:txBody>
      </p:sp>
      <p:sp>
        <p:nvSpPr>
          <p:cNvPr id="308" name="Rectangle 9"/>
          <p:cNvSpPr/>
          <p:nvPr/>
        </p:nvSpPr>
        <p:spPr>
          <a:xfrm>
            <a:off x="2487167" y="1051560"/>
            <a:ext cx="105156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10"/>
          <p:cNvSpPr txBox="1"/>
          <p:nvPr/>
        </p:nvSpPr>
        <p:spPr>
          <a:xfrm>
            <a:off x="2569463" y="1088136"/>
            <a:ext cx="905257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Share 2025</a:t>
            </a:r>
          </a:p>
        </p:txBody>
      </p:sp>
      <p:sp>
        <p:nvSpPr>
          <p:cNvPr id="310" name="Rectangle 11"/>
          <p:cNvSpPr/>
          <p:nvPr/>
        </p:nvSpPr>
        <p:spPr>
          <a:xfrm>
            <a:off x="3538728" y="1051560"/>
            <a:ext cx="118872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2"/>
          <p:cNvSpPr txBox="1"/>
          <p:nvPr/>
        </p:nvSpPr>
        <p:spPr>
          <a:xfrm>
            <a:off x="3621023" y="1088136"/>
            <a:ext cx="104241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Crescimento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2020→2025</a:t>
            </a:r>
          </a:p>
        </p:txBody>
      </p:sp>
      <p:sp>
        <p:nvSpPr>
          <p:cNvPr id="312" name="Rectangle 13"/>
          <p:cNvSpPr/>
          <p:nvPr/>
        </p:nvSpPr>
        <p:spPr>
          <a:xfrm>
            <a:off x="4727447" y="1051560"/>
            <a:ext cx="1005840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14"/>
          <p:cNvSpPr txBox="1"/>
          <p:nvPr/>
        </p:nvSpPr>
        <p:spPr>
          <a:xfrm>
            <a:off x="4809744" y="1088136"/>
            <a:ext cx="85953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Fit Orfeu</a:t>
            </a:r>
          </a:p>
        </p:txBody>
      </p:sp>
      <p:sp>
        <p:nvSpPr>
          <p:cNvPr id="314" name="Rectangle 15"/>
          <p:cNvSpPr/>
          <p:nvPr/>
        </p:nvSpPr>
        <p:spPr>
          <a:xfrm>
            <a:off x="5733288" y="1051560"/>
            <a:ext cx="96012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16"/>
          <p:cNvSpPr txBox="1"/>
          <p:nvPr/>
        </p:nvSpPr>
        <p:spPr>
          <a:xfrm>
            <a:off x="5815584" y="1088136"/>
            <a:ext cx="813817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Prioridade</a:t>
            </a:r>
          </a:p>
        </p:txBody>
      </p:sp>
      <p:sp>
        <p:nvSpPr>
          <p:cNvPr id="316" name="Rectangle 17"/>
          <p:cNvSpPr/>
          <p:nvPr/>
        </p:nvSpPr>
        <p:spPr>
          <a:xfrm>
            <a:off x="6693407" y="1051560"/>
            <a:ext cx="512064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18"/>
          <p:cNvSpPr txBox="1"/>
          <p:nvPr/>
        </p:nvSpPr>
        <p:spPr>
          <a:xfrm>
            <a:off x="6775703" y="1088136"/>
            <a:ext cx="4974337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Racional</a:t>
            </a:r>
          </a:p>
        </p:txBody>
      </p:sp>
      <p:sp>
        <p:nvSpPr>
          <p:cNvPr id="318" name="Rectangle 19"/>
          <p:cNvSpPr/>
          <p:nvPr/>
        </p:nvSpPr>
        <p:spPr>
          <a:xfrm>
            <a:off x="201168" y="1435608"/>
            <a:ext cx="228600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0"/>
          <p:cNvSpPr txBox="1"/>
          <p:nvPr/>
        </p:nvSpPr>
        <p:spPr>
          <a:xfrm>
            <a:off x="283464" y="1490472"/>
            <a:ext cx="213969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Retail E-Commerce</a:t>
            </a:r>
          </a:p>
        </p:txBody>
      </p:sp>
      <p:sp>
        <p:nvSpPr>
          <p:cNvPr id="320" name="Rectangle 21"/>
          <p:cNvSpPr/>
          <p:nvPr/>
        </p:nvSpPr>
        <p:spPr>
          <a:xfrm>
            <a:off x="2487167" y="1435608"/>
            <a:ext cx="105156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22"/>
          <p:cNvSpPr txBox="1"/>
          <p:nvPr/>
        </p:nvSpPr>
        <p:spPr>
          <a:xfrm>
            <a:off x="2569463" y="1490472"/>
            <a:ext cx="9052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28.1%</a:t>
            </a:r>
          </a:p>
        </p:txBody>
      </p:sp>
      <p:sp>
        <p:nvSpPr>
          <p:cNvPr id="322" name="Rectangle 23"/>
          <p:cNvSpPr/>
          <p:nvPr/>
        </p:nvSpPr>
        <p:spPr>
          <a:xfrm>
            <a:off x="3538728" y="1435608"/>
            <a:ext cx="11887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24"/>
          <p:cNvSpPr txBox="1"/>
          <p:nvPr/>
        </p:nvSpPr>
        <p:spPr>
          <a:xfrm>
            <a:off x="3621023" y="1490472"/>
            <a:ext cx="10424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+10.2pp</a:t>
            </a:r>
          </a:p>
        </p:txBody>
      </p:sp>
      <p:sp>
        <p:nvSpPr>
          <p:cNvPr id="324" name="Rectangle 25"/>
          <p:cNvSpPr/>
          <p:nvPr/>
        </p:nvSpPr>
        <p:spPr>
          <a:xfrm>
            <a:off x="4727447" y="1435608"/>
            <a:ext cx="1005840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26"/>
          <p:cNvSpPr txBox="1"/>
          <p:nvPr/>
        </p:nvSpPr>
        <p:spPr>
          <a:xfrm>
            <a:off x="4809744" y="1490472"/>
            <a:ext cx="85953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Alto</a:t>
            </a:r>
          </a:p>
        </p:txBody>
      </p:sp>
      <p:sp>
        <p:nvSpPr>
          <p:cNvPr id="326" name="Rectangle 27"/>
          <p:cNvSpPr/>
          <p:nvPr/>
        </p:nvSpPr>
        <p:spPr>
          <a:xfrm>
            <a:off x="5733288" y="1435608"/>
            <a:ext cx="9601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28"/>
          <p:cNvSpPr txBox="1"/>
          <p:nvPr/>
        </p:nvSpPr>
        <p:spPr>
          <a:xfrm>
            <a:off x="5815584" y="1490472"/>
            <a:ext cx="813817" cy="226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5C2E"/>
                </a:solidFill>
              </a:defRPr>
            </a:lvl1pPr>
          </a:lstStyle>
          <a:p>
            <a:pPr/>
            <a:r>
              <a:t>ALTA ★★★</a:t>
            </a:r>
          </a:p>
        </p:txBody>
      </p:sp>
      <p:sp>
        <p:nvSpPr>
          <p:cNvPr id="328" name="Rectangle 29"/>
          <p:cNvSpPr/>
          <p:nvPr/>
        </p:nvSpPr>
        <p:spPr>
          <a:xfrm>
            <a:off x="6693407" y="1435608"/>
            <a:ext cx="512064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30"/>
          <p:cNvSpPr txBox="1"/>
          <p:nvPr/>
        </p:nvSpPr>
        <p:spPr>
          <a:xfrm>
            <a:off x="6775703" y="1490472"/>
            <a:ext cx="4974337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DTC + marketplaces (Amazon, Instacart). Barreira baixa, alcance nacional, dados de consumidor.</a:t>
            </a:r>
          </a:p>
        </p:txBody>
      </p:sp>
      <p:sp>
        <p:nvSpPr>
          <p:cNvPr id="330" name="Rectangle 31"/>
          <p:cNvSpPr/>
          <p:nvPr/>
        </p:nvSpPr>
        <p:spPr>
          <a:xfrm>
            <a:off x="201168" y="1892807"/>
            <a:ext cx="228600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32"/>
          <p:cNvSpPr txBox="1"/>
          <p:nvPr/>
        </p:nvSpPr>
        <p:spPr>
          <a:xfrm>
            <a:off x="283464" y="1947672"/>
            <a:ext cx="213969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Food/drink Specialists</a:t>
            </a:r>
          </a:p>
        </p:txBody>
      </p:sp>
      <p:sp>
        <p:nvSpPr>
          <p:cNvPr id="332" name="Rectangle 33"/>
          <p:cNvSpPr/>
          <p:nvPr/>
        </p:nvSpPr>
        <p:spPr>
          <a:xfrm>
            <a:off x="2487167" y="1892807"/>
            <a:ext cx="105156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34"/>
          <p:cNvSpPr txBox="1"/>
          <p:nvPr/>
        </p:nvSpPr>
        <p:spPr>
          <a:xfrm>
            <a:off x="2569463" y="1947672"/>
            <a:ext cx="9052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4.3%</a:t>
            </a:r>
          </a:p>
        </p:txBody>
      </p:sp>
      <p:sp>
        <p:nvSpPr>
          <p:cNvPr id="334" name="Rectangle 35"/>
          <p:cNvSpPr/>
          <p:nvPr/>
        </p:nvSpPr>
        <p:spPr>
          <a:xfrm>
            <a:off x="3538728" y="1892807"/>
            <a:ext cx="118872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36"/>
          <p:cNvSpPr txBox="1"/>
          <p:nvPr/>
        </p:nvSpPr>
        <p:spPr>
          <a:xfrm>
            <a:off x="3621023" y="1947672"/>
            <a:ext cx="10424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-1.0pp</a:t>
            </a:r>
          </a:p>
        </p:txBody>
      </p:sp>
      <p:sp>
        <p:nvSpPr>
          <p:cNvPr id="336" name="Rectangle 37"/>
          <p:cNvSpPr/>
          <p:nvPr/>
        </p:nvSpPr>
        <p:spPr>
          <a:xfrm>
            <a:off x="4727447" y="1892807"/>
            <a:ext cx="100584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38"/>
          <p:cNvSpPr txBox="1"/>
          <p:nvPr/>
        </p:nvSpPr>
        <p:spPr>
          <a:xfrm>
            <a:off x="4809744" y="1947672"/>
            <a:ext cx="85953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Alto</a:t>
            </a:r>
          </a:p>
        </p:txBody>
      </p:sp>
      <p:sp>
        <p:nvSpPr>
          <p:cNvPr id="338" name="Rectangle 39"/>
          <p:cNvSpPr/>
          <p:nvPr/>
        </p:nvSpPr>
        <p:spPr>
          <a:xfrm>
            <a:off x="5733288" y="1892807"/>
            <a:ext cx="96012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40"/>
          <p:cNvSpPr txBox="1"/>
          <p:nvPr/>
        </p:nvSpPr>
        <p:spPr>
          <a:xfrm>
            <a:off x="5815584" y="1947672"/>
            <a:ext cx="813817" cy="226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5C2E"/>
                </a:solidFill>
              </a:defRPr>
            </a:lvl1pPr>
          </a:lstStyle>
          <a:p>
            <a:pPr/>
            <a:r>
              <a:t>ALTA ★★★</a:t>
            </a:r>
          </a:p>
        </p:txBody>
      </p:sp>
      <p:sp>
        <p:nvSpPr>
          <p:cNvPr id="340" name="Rectangle 41"/>
          <p:cNvSpPr/>
          <p:nvPr/>
        </p:nvSpPr>
        <p:spPr>
          <a:xfrm>
            <a:off x="6693407" y="1892807"/>
            <a:ext cx="512064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TextBox 42"/>
          <p:cNvSpPr txBox="1"/>
          <p:nvPr/>
        </p:nvSpPr>
        <p:spPr>
          <a:xfrm>
            <a:off x="6775703" y="1947672"/>
            <a:ext cx="497433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Whole Foods, specialty coffee shops. Alinhamento de marca + comunidade specialty coffee.</a:t>
            </a:r>
          </a:p>
        </p:txBody>
      </p:sp>
      <p:sp>
        <p:nvSpPr>
          <p:cNvPr id="342" name="Rectangle 43"/>
          <p:cNvSpPr/>
          <p:nvPr/>
        </p:nvSpPr>
        <p:spPr>
          <a:xfrm>
            <a:off x="201168" y="2350007"/>
            <a:ext cx="228600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44"/>
          <p:cNvSpPr txBox="1"/>
          <p:nvPr/>
        </p:nvSpPr>
        <p:spPr>
          <a:xfrm>
            <a:off x="283464" y="2404872"/>
            <a:ext cx="213969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Supermarkets</a:t>
            </a:r>
          </a:p>
        </p:txBody>
      </p:sp>
      <p:sp>
        <p:nvSpPr>
          <p:cNvPr id="344" name="Rectangle 45"/>
          <p:cNvSpPr/>
          <p:nvPr/>
        </p:nvSpPr>
        <p:spPr>
          <a:xfrm>
            <a:off x="2487167" y="2350007"/>
            <a:ext cx="105156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46"/>
          <p:cNvSpPr txBox="1"/>
          <p:nvPr/>
        </p:nvSpPr>
        <p:spPr>
          <a:xfrm>
            <a:off x="2569463" y="2404872"/>
            <a:ext cx="9052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23.1%</a:t>
            </a:r>
          </a:p>
        </p:txBody>
      </p:sp>
      <p:sp>
        <p:nvSpPr>
          <p:cNvPr id="346" name="Rectangle 47"/>
          <p:cNvSpPr/>
          <p:nvPr/>
        </p:nvSpPr>
        <p:spPr>
          <a:xfrm>
            <a:off x="3538728" y="2350007"/>
            <a:ext cx="11887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48"/>
          <p:cNvSpPr txBox="1"/>
          <p:nvPr/>
        </p:nvSpPr>
        <p:spPr>
          <a:xfrm>
            <a:off x="3621023" y="2404872"/>
            <a:ext cx="10424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-3.9pp</a:t>
            </a:r>
          </a:p>
        </p:txBody>
      </p:sp>
      <p:sp>
        <p:nvSpPr>
          <p:cNvPr id="348" name="Rectangle 49"/>
          <p:cNvSpPr/>
          <p:nvPr/>
        </p:nvSpPr>
        <p:spPr>
          <a:xfrm>
            <a:off x="4727447" y="2350007"/>
            <a:ext cx="1005840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50"/>
          <p:cNvSpPr txBox="1"/>
          <p:nvPr/>
        </p:nvSpPr>
        <p:spPr>
          <a:xfrm>
            <a:off x="4809744" y="2404872"/>
            <a:ext cx="85953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Médio</a:t>
            </a:r>
          </a:p>
        </p:txBody>
      </p:sp>
      <p:sp>
        <p:nvSpPr>
          <p:cNvPr id="350" name="Rectangle 51"/>
          <p:cNvSpPr/>
          <p:nvPr/>
        </p:nvSpPr>
        <p:spPr>
          <a:xfrm>
            <a:off x="5733288" y="2350007"/>
            <a:ext cx="9601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52"/>
          <p:cNvSpPr txBox="1"/>
          <p:nvPr/>
        </p:nvSpPr>
        <p:spPr>
          <a:xfrm>
            <a:off x="5815584" y="2404872"/>
            <a:ext cx="813817" cy="226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C07028"/>
                </a:solidFill>
              </a:defRPr>
            </a:lvl1pPr>
          </a:lstStyle>
          <a:p>
            <a:pPr/>
            <a:r>
              <a:t>MÉDIA ★★</a:t>
            </a:r>
          </a:p>
        </p:txBody>
      </p:sp>
      <p:sp>
        <p:nvSpPr>
          <p:cNvPr id="352" name="Rectangle 53"/>
          <p:cNvSpPr/>
          <p:nvPr/>
        </p:nvSpPr>
        <p:spPr>
          <a:xfrm>
            <a:off x="6693407" y="2350007"/>
            <a:ext cx="512064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54"/>
          <p:cNvSpPr txBox="1"/>
          <p:nvPr/>
        </p:nvSpPr>
        <p:spPr>
          <a:xfrm>
            <a:off x="6775703" y="2404872"/>
            <a:ext cx="4974337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Kroger, Safeway. Necessário para volume, mas competição com private label e marcas mainstream.</a:t>
            </a:r>
          </a:p>
        </p:txBody>
      </p:sp>
      <p:sp>
        <p:nvSpPr>
          <p:cNvPr id="354" name="Rectangle 55"/>
          <p:cNvSpPr/>
          <p:nvPr/>
        </p:nvSpPr>
        <p:spPr>
          <a:xfrm>
            <a:off x="201168" y="2807207"/>
            <a:ext cx="228600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56"/>
          <p:cNvSpPr txBox="1"/>
          <p:nvPr/>
        </p:nvSpPr>
        <p:spPr>
          <a:xfrm>
            <a:off x="283464" y="2862072"/>
            <a:ext cx="213969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Hypermarkets</a:t>
            </a:r>
          </a:p>
        </p:txBody>
      </p:sp>
      <p:sp>
        <p:nvSpPr>
          <p:cNvPr id="356" name="Rectangle 57"/>
          <p:cNvSpPr/>
          <p:nvPr/>
        </p:nvSpPr>
        <p:spPr>
          <a:xfrm>
            <a:off x="2487167" y="2807207"/>
            <a:ext cx="105156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58"/>
          <p:cNvSpPr txBox="1"/>
          <p:nvPr/>
        </p:nvSpPr>
        <p:spPr>
          <a:xfrm>
            <a:off x="2569463" y="2862072"/>
            <a:ext cx="9052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19.8%</a:t>
            </a:r>
          </a:p>
        </p:txBody>
      </p:sp>
      <p:sp>
        <p:nvSpPr>
          <p:cNvPr id="358" name="Rectangle 59"/>
          <p:cNvSpPr/>
          <p:nvPr/>
        </p:nvSpPr>
        <p:spPr>
          <a:xfrm>
            <a:off x="3538728" y="2807207"/>
            <a:ext cx="118872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60"/>
          <p:cNvSpPr txBox="1"/>
          <p:nvPr/>
        </p:nvSpPr>
        <p:spPr>
          <a:xfrm>
            <a:off x="3621023" y="2862072"/>
            <a:ext cx="10424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-2.2pp</a:t>
            </a:r>
          </a:p>
        </p:txBody>
      </p:sp>
      <p:sp>
        <p:nvSpPr>
          <p:cNvPr id="360" name="Rectangle 61"/>
          <p:cNvSpPr/>
          <p:nvPr/>
        </p:nvSpPr>
        <p:spPr>
          <a:xfrm>
            <a:off x="4727447" y="2807207"/>
            <a:ext cx="1005840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62"/>
          <p:cNvSpPr txBox="1"/>
          <p:nvPr/>
        </p:nvSpPr>
        <p:spPr>
          <a:xfrm>
            <a:off x="4809744" y="2862072"/>
            <a:ext cx="85953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Médio</a:t>
            </a:r>
          </a:p>
        </p:txBody>
      </p:sp>
      <p:sp>
        <p:nvSpPr>
          <p:cNvPr id="362" name="Rectangle 63"/>
          <p:cNvSpPr/>
          <p:nvPr/>
        </p:nvSpPr>
        <p:spPr>
          <a:xfrm>
            <a:off x="5733288" y="2807207"/>
            <a:ext cx="96012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64"/>
          <p:cNvSpPr txBox="1"/>
          <p:nvPr/>
        </p:nvSpPr>
        <p:spPr>
          <a:xfrm>
            <a:off x="5815584" y="2862072"/>
            <a:ext cx="813817" cy="226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C07028"/>
                </a:solidFill>
              </a:defRPr>
            </a:lvl1pPr>
          </a:lstStyle>
          <a:p>
            <a:pPr/>
            <a:r>
              <a:t>MÉDIA ★★</a:t>
            </a:r>
          </a:p>
        </p:txBody>
      </p:sp>
      <p:sp>
        <p:nvSpPr>
          <p:cNvPr id="364" name="Rectangle 65"/>
          <p:cNvSpPr/>
          <p:nvPr/>
        </p:nvSpPr>
        <p:spPr>
          <a:xfrm>
            <a:off x="6693407" y="2807207"/>
            <a:ext cx="5120641" cy="457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66"/>
          <p:cNvSpPr txBox="1"/>
          <p:nvPr/>
        </p:nvSpPr>
        <p:spPr>
          <a:xfrm>
            <a:off x="6775703" y="2862072"/>
            <a:ext cx="497433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Target. Volumes maiores mas margem menor. Fase 2 de expansão.</a:t>
            </a:r>
          </a:p>
        </p:txBody>
      </p:sp>
      <p:sp>
        <p:nvSpPr>
          <p:cNvPr id="366" name="Rectangle 67"/>
          <p:cNvSpPr/>
          <p:nvPr/>
        </p:nvSpPr>
        <p:spPr>
          <a:xfrm>
            <a:off x="201168" y="3264408"/>
            <a:ext cx="228600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68"/>
          <p:cNvSpPr txBox="1"/>
          <p:nvPr/>
        </p:nvSpPr>
        <p:spPr>
          <a:xfrm>
            <a:off x="283464" y="3319271"/>
            <a:ext cx="213969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Warehouse Clubs</a:t>
            </a:r>
          </a:p>
        </p:txBody>
      </p:sp>
      <p:sp>
        <p:nvSpPr>
          <p:cNvPr id="368" name="Rectangle 69"/>
          <p:cNvSpPr/>
          <p:nvPr/>
        </p:nvSpPr>
        <p:spPr>
          <a:xfrm>
            <a:off x="2487167" y="3264408"/>
            <a:ext cx="105156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70"/>
          <p:cNvSpPr txBox="1"/>
          <p:nvPr/>
        </p:nvSpPr>
        <p:spPr>
          <a:xfrm>
            <a:off x="2569463" y="3319271"/>
            <a:ext cx="90525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3.0%</a:t>
            </a:r>
          </a:p>
        </p:txBody>
      </p:sp>
      <p:sp>
        <p:nvSpPr>
          <p:cNvPr id="370" name="Rectangle 71"/>
          <p:cNvSpPr/>
          <p:nvPr/>
        </p:nvSpPr>
        <p:spPr>
          <a:xfrm>
            <a:off x="3538728" y="3264408"/>
            <a:ext cx="11887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72"/>
          <p:cNvSpPr txBox="1"/>
          <p:nvPr/>
        </p:nvSpPr>
        <p:spPr>
          <a:xfrm>
            <a:off x="3621023" y="3319271"/>
            <a:ext cx="10424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-0.9pp</a:t>
            </a:r>
          </a:p>
        </p:txBody>
      </p:sp>
      <p:sp>
        <p:nvSpPr>
          <p:cNvPr id="372" name="Rectangle 73"/>
          <p:cNvSpPr/>
          <p:nvPr/>
        </p:nvSpPr>
        <p:spPr>
          <a:xfrm>
            <a:off x="4727447" y="3264408"/>
            <a:ext cx="1005840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74"/>
          <p:cNvSpPr txBox="1"/>
          <p:nvPr/>
        </p:nvSpPr>
        <p:spPr>
          <a:xfrm>
            <a:off x="4809744" y="3319271"/>
            <a:ext cx="85953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Baixo</a:t>
            </a:r>
          </a:p>
        </p:txBody>
      </p:sp>
      <p:sp>
        <p:nvSpPr>
          <p:cNvPr id="374" name="Rectangle 75"/>
          <p:cNvSpPr/>
          <p:nvPr/>
        </p:nvSpPr>
        <p:spPr>
          <a:xfrm>
            <a:off x="5733288" y="3264408"/>
            <a:ext cx="96012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76"/>
          <p:cNvSpPr txBox="1"/>
          <p:nvPr/>
        </p:nvSpPr>
        <p:spPr>
          <a:xfrm>
            <a:off x="5815584" y="3319271"/>
            <a:ext cx="813817" cy="226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666666"/>
                </a:solidFill>
              </a:defRPr>
            </a:lvl1pPr>
          </a:lstStyle>
          <a:p>
            <a:pPr/>
            <a:r>
              <a:t>BAIXA ★</a:t>
            </a:r>
          </a:p>
        </p:txBody>
      </p:sp>
      <p:sp>
        <p:nvSpPr>
          <p:cNvPr id="376" name="Rectangle 77"/>
          <p:cNvSpPr/>
          <p:nvPr/>
        </p:nvSpPr>
        <p:spPr>
          <a:xfrm>
            <a:off x="6693407" y="3264408"/>
            <a:ext cx="5120641" cy="457201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78"/>
          <p:cNvSpPr txBox="1"/>
          <p:nvPr/>
        </p:nvSpPr>
        <p:spPr>
          <a:xfrm>
            <a:off x="6775703" y="3319271"/>
            <a:ext cx="497433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Costco (grande vencedor nos EUA), Sam's Club, BJ's. Formato massa, incompatível com posicionamento ultra-premium.</a:t>
            </a:r>
          </a:p>
        </p:txBody>
      </p:sp>
      <p:sp>
        <p:nvSpPr>
          <p:cNvPr id="378" name="TextBox 79"/>
          <p:cNvSpPr txBox="1"/>
          <p:nvPr/>
        </p:nvSpPr>
        <p:spPr>
          <a:xfrm>
            <a:off x="274319" y="6583680"/>
            <a:ext cx="1164031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Rectangle 2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Rectangle 3"/>
          <p:cNvSpPr/>
          <p:nvPr/>
        </p:nvSpPr>
        <p:spPr>
          <a:xfrm>
            <a:off x="-1" y="0"/>
            <a:ext cx="12188954" cy="96012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Rectangle 4"/>
          <p:cNvSpPr/>
          <p:nvPr/>
        </p:nvSpPr>
        <p:spPr>
          <a:xfrm>
            <a:off x="-1" y="960119"/>
            <a:ext cx="12188954" cy="3657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5"/>
          <p:cNvSpPr txBox="1"/>
          <p:nvPr/>
        </p:nvSpPr>
        <p:spPr>
          <a:xfrm>
            <a:off x="365759" y="109728"/>
            <a:ext cx="1164031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Concentração de Mercado — Onde a Orfeu Compete</a:t>
            </a:r>
          </a:p>
        </p:txBody>
      </p:sp>
      <p:sp>
        <p:nvSpPr>
          <p:cNvPr id="385" name="TextBox 6"/>
          <p:cNvSpPr txBox="1"/>
          <p:nvPr/>
        </p:nvSpPr>
        <p:spPr>
          <a:xfrm>
            <a:off x="365759" y="566927"/>
            <a:ext cx="1164031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C8E6C9"/>
                </a:solidFill>
              </a:defRPr>
            </a:lvl1pPr>
          </a:lstStyle>
          <a:p>
            <a:pPr/>
            <a:r>
              <a:t>Top 3 controlam 44% do mercado total. 36% = Others. Coffee Beans é o território de menor concentração.</a:t>
            </a:r>
          </a:p>
        </p:txBody>
      </p:sp>
      <p:sp>
        <p:nvSpPr>
          <p:cNvPr id="386" name="TextBox 7"/>
          <p:cNvSpPr txBox="1"/>
          <p:nvPr/>
        </p:nvSpPr>
        <p:spPr>
          <a:xfrm>
            <a:off x="292607" y="822960"/>
            <a:ext cx="42976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2A5C2E"/>
                </a:solidFill>
              </a:defRPr>
            </a:lvl1pPr>
          </a:lstStyle>
          <a:p>
            <a:pPr/>
            <a:r>
              <a:t>Share de valor retail — Mercado Total de Café EUA (2025)</a:t>
            </a:r>
          </a:p>
        </p:txBody>
      </p:sp>
      <p:sp>
        <p:nvSpPr>
          <p:cNvPr id="387" name="Rectangle 8"/>
          <p:cNvSpPr/>
          <p:nvPr/>
        </p:nvSpPr>
        <p:spPr>
          <a:xfrm>
            <a:off x="246888" y="1097280"/>
            <a:ext cx="935431" cy="38404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9"/>
          <p:cNvSpPr txBox="1"/>
          <p:nvPr/>
        </p:nvSpPr>
        <p:spPr>
          <a:xfrm>
            <a:off x="329184" y="1170432"/>
            <a:ext cx="789127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22.0%</a:t>
            </a:r>
          </a:p>
        </p:txBody>
      </p:sp>
      <p:sp>
        <p:nvSpPr>
          <p:cNvPr id="389" name="TextBox 10"/>
          <p:cNvSpPr txBox="1"/>
          <p:nvPr/>
        </p:nvSpPr>
        <p:spPr>
          <a:xfrm>
            <a:off x="1282903" y="1183132"/>
            <a:ext cx="3307384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Keurig Dr Pepper</a:t>
            </a:r>
          </a:p>
        </p:txBody>
      </p:sp>
      <p:sp>
        <p:nvSpPr>
          <p:cNvPr id="390" name="Rectangle 11"/>
          <p:cNvSpPr/>
          <p:nvPr/>
        </p:nvSpPr>
        <p:spPr>
          <a:xfrm>
            <a:off x="246888" y="1517903"/>
            <a:ext cx="493228" cy="38404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TextBox 12"/>
          <p:cNvSpPr txBox="1"/>
          <p:nvPr/>
        </p:nvSpPr>
        <p:spPr>
          <a:xfrm>
            <a:off x="329183" y="1591055"/>
            <a:ext cx="4102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11.6%</a:t>
            </a:r>
          </a:p>
        </p:txBody>
      </p:sp>
      <p:sp>
        <p:nvSpPr>
          <p:cNvPr id="392" name="TextBox 13"/>
          <p:cNvSpPr txBox="1"/>
          <p:nvPr/>
        </p:nvSpPr>
        <p:spPr>
          <a:xfrm>
            <a:off x="840698" y="1603755"/>
            <a:ext cx="374958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Private Label</a:t>
            </a:r>
          </a:p>
        </p:txBody>
      </p:sp>
      <p:sp>
        <p:nvSpPr>
          <p:cNvPr id="393" name="Rectangle 14"/>
          <p:cNvSpPr/>
          <p:nvPr/>
        </p:nvSpPr>
        <p:spPr>
          <a:xfrm>
            <a:off x="246888" y="1938527"/>
            <a:ext cx="442204" cy="384049"/>
          </a:xfrm>
          <a:prstGeom prst="rect">
            <a:avLst/>
          </a:prstGeom>
          <a:solidFill>
            <a:srgbClr val="4A8A4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15"/>
          <p:cNvSpPr txBox="1"/>
          <p:nvPr/>
        </p:nvSpPr>
        <p:spPr>
          <a:xfrm>
            <a:off x="329184" y="2011679"/>
            <a:ext cx="44220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10.4%</a:t>
            </a:r>
          </a:p>
        </p:txBody>
      </p:sp>
      <p:sp>
        <p:nvSpPr>
          <p:cNvPr id="395" name="TextBox 16"/>
          <p:cNvSpPr txBox="1"/>
          <p:nvPr/>
        </p:nvSpPr>
        <p:spPr>
          <a:xfrm>
            <a:off x="789675" y="2024379"/>
            <a:ext cx="380061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JM Smucker</a:t>
            </a:r>
          </a:p>
        </p:txBody>
      </p:sp>
      <p:sp>
        <p:nvSpPr>
          <p:cNvPr id="396" name="Rectangle 17"/>
          <p:cNvSpPr/>
          <p:nvPr/>
        </p:nvSpPr>
        <p:spPr>
          <a:xfrm>
            <a:off x="246888" y="2359151"/>
            <a:ext cx="386929" cy="384049"/>
          </a:xfrm>
          <a:prstGeom prst="rect">
            <a:avLst/>
          </a:prstGeom>
          <a:solidFill>
            <a:srgbClr val="5D6D7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18"/>
          <p:cNvSpPr txBox="1"/>
          <p:nvPr/>
        </p:nvSpPr>
        <p:spPr>
          <a:xfrm>
            <a:off x="329184" y="2432304"/>
            <a:ext cx="328636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9.1%</a:t>
            </a:r>
          </a:p>
        </p:txBody>
      </p:sp>
      <p:sp>
        <p:nvSpPr>
          <p:cNvPr id="398" name="TextBox 19"/>
          <p:cNvSpPr txBox="1"/>
          <p:nvPr/>
        </p:nvSpPr>
        <p:spPr>
          <a:xfrm>
            <a:off x="734400" y="2445004"/>
            <a:ext cx="385588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Nestlé USA</a:t>
            </a:r>
          </a:p>
        </p:txBody>
      </p:sp>
      <p:sp>
        <p:nvSpPr>
          <p:cNvPr id="399" name="Rectangle 20"/>
          <p:cNvSpPr/>
          <p:nvPr/>
        </p:nvSpPr>
        <p:spPr>
          <a:xfrm>
            <a:off x="246888" y="2779776"/>
            <a:ext cx="174331" cy="384049"/>
          </a:xfrm>
          <a:prstGeom prst="rect">
            <a:avLst/>
          </a:prstGeom>
          <a:solidFill>
            <a:srgbClr val="9E9E9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21"/>
          <p:cNvSpPr txBox="1"/>
          <p:nvPr/>
        </p:nvSpPr>
        <p:spPr>
          <a:xfrm>
            <a:off x="303784" y="2852927"/>
            <a:ext cx="32863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A5C2E"/>
                </a:solidFill>
              </a:defRPr>
            </a:lvl1pPr>
          </a:lstStyle>
          <a:p>
            <a:pPr/>
            <a:r>
              <a:t>4.1%</a:t>
            </a:r>
          </a:p>
        </p:txBody>
      </p:sp>
      <p:sp>
        <p:nvSpPr>
          <p:cNvPr id="401" name="TextBox 22"/>
          <p:cNvSpPr txBox="1"/>
          <p:nvPr/>
        </p:nvSpPr>
        <p:spPr>
          <a:xfrm>
            <a:off x="661501" y="2865627"/>
            <a:ext cx="406848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Kraft Heinz</a:t>
            </a:r>
          </a:p>
        </p:txBody>
      </p:sp>
      <p:sp>
        <p:nvSpPr>
          <p:cNvPr id="402" name="Rectangle 23"/>
          <p:cNvSpPr/>
          <p:nvPr/>
        </p:nvSpPr>
        <p:spPr>
          <a:xfrm>
            <a:off x="246887" y="3200400"/>
            <a:ext cx="1381889" cy="384048"/>
          </a:xfrm>
          <a:prstGeom prst="rect">
            <a:avLst/>
          </a:prstGeom>
          <a:solidFill>
            <a:srgbClr val="BDBDB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24"/>
          <p:cNvSpPr txBox="1"/>
          <p:nvPr/>
        </p:nvSpPr>
        <p:spPr>
          <a:xfrm>
            <a:off x="329184" y="3273552"/>
            <a:ext cx="1235584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32.5%</a:t>
            </a:r>
          </a:p>
        </p:txBody>
      </p:sp>
      <p:sp>
        <p:nvSpPr>
          <p:cNvPr id="404" name="TextBox 25"/>
          <p:cNvSpPr txBox="1"/>
          <p:nvPr/>
        </p:nvSpPr>
        <p:spPr>
          <a:xfrm>
            <a:off x="1729359" y="3286252"/>
            <a:ext cx="286093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Others</a:t>
            </a:r>
          </a:p>
        </p:txBody>
      </p:sp>
      <p:sp>
        <p:nvSpPr>
          <p:cNvPr id="405" name="Rectangle 26"/>
          <p:cNvSpPr/>
          <p:nvPr/>
        </p:nvSpPr>
        <p:spPr>
          <a:xfrm>
            <a:off x="246888" y="3621023"/>
            <a:ext cx="437951" cy="384049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TextBox 27"/>
          <p:cNvSpPr txBox="1"/>
          <p:nvPr/>
        </p:nvSpPr>
        <p:spPr>
          <a:xfrm>
            <a:off x="367284" y="3706876"/>
            <a:ext cx="354925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2A5C2E"/>
                </a:solidFill>
              </a:defRPr>
            </a:lvl1pPr>
          </a:lstStyle>
          <a:p>
            <a:pPr/>
            <a:r>
              <a:t>?%</a:t>
            </a:r>
          </a:p>
        </p:txBody>
      </p:sp>
      <p:sp>
        <p:nvSpPr>
          <p:cNvPr id="407" name="TextBox 28"/>
          <p:cNvSpPr txBox="1"/>
          <p:nvPr/>
        </p:nvSpPr>
        <p:spPr>
          <a:xfrm>
            <a:off x="785422" y="3706876"/>
            <a:ext cx="3804865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A5C2E"/>
                </a:solidFill>
              </a:defRPr>
            </a:lvl1pPr>
          </a:lstStyle>
          <a:p>
            <a:pPr/>
            <a:r>
              <a:t>Orfeu Opportunity</a:t>
            </a:r>
          </a:p>
        </p:txBody>
      </p:sp>
      <p:sp>
        <p:nvSpPr>
          <p:cNvPr id="408" name="Rectangle 29"/>
          <p:cNvSpPr/>
          <p:nvPr/>
        </p:nvSpPr>
        <p:spPr>
          <a:xfrm>
            <a:off x="4663440" y="1051560"/>
            <a:ext cx="7397496" cy="1115568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Rectangle 30"/>
          <p:cNvSpPr/>
          <p:nvPr/>
        </p:nvSpPr>
        <p:spPr>
          <a:xfrm>
            <a:off x="4663440" y="1051560"/>
            <a:ext cx="54865" cy="111556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TextBox 31"/>
          <p:cNvSpPr txBox="1"/>
          <p:nvPr/>
        </p:nvSpPr>
        <p:spPr>
          <a:xfrm>
            <a:off x="4800599" y="1119124"/>
            <a:ext cx="71780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Mercado fragmentado fora do mainstream</a:t>
            </a:r>
          </a:p>
        </p:txBody>
      </p:sp>
      <p:sp>
        <p:nvSpPr>
          <p:cNvPr id="411" name="TextBox 32"/>
          <p:cNvSpPr txBox="1"/>
          <p:nvPr/>
        </p:nvSpPr>
        <p:spPr>
          <a:xfrm>
            <a:off x="4800599" y="1366011"/>
            <a:ext cx="71780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Os 3 grandes (KDP, JM Smucker, Nestlé) dominam categorias de massa (pods, standard ground). Fresh Coffee Beans ainda é território aberto.</a:t>
            </a:r>
          </a:p>
        </p:txBody>
      </p:sp>
      <p:sp>
        <p:nvSpPr>
          <p:cNvPr id="412" name="Rectangle 33"/>
          <p:cNvSpPr/>
          <p:nvPr/>
        </p:nvSpPr>
        <p:spPr>
          <a:xfrm>
            <a:off x="4663440" y="2221992"/>
            <a:ext cx="7397496" cy="1115569"/>
          </a:xfrm>
          <a:prstGeom prst="rect">
            <a:avLst/>
          </a:prstGeom>
          <a:solidFill>
            <a:srgbClr val="FFF3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Rectangle 34"/>
          <p:cNvSpPr/>
          <p:nvPr/>
        </p:nvSpPr>
        <p:spPr>
          <a:xfrm>
            <a:off x="4663440" y="2221992"/>
            <a:ext cx="54865" cy="111556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35"/>
          <p:cNvSpPr txBox="1"/>
          <p:nvPr/>
        </p:nvSpPr>
        <p:spPr>
          <a:xfrm>
            <a:off x="4800599" y="2289555"/>
            <a:ext cx="71780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Coffee Beans: menor concentração</a:t>
            </a:r>
          </a:p>
        </p:txBody>
      </p:sp>
      <p:sp>
        <p:nvSpPr>
          <p:cNvPr id="415" name="TextBox 36"/>
          <p:cNvSpPr txBox="1"/>
          <p:nvPr/>
        </p:nvSpPr>
        <p:spPr>
          <a:xfrm>
            <a:off x="4800599" y="2536444"/>
            <a:ext cx="71780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Nenhum player domina specialty coffee beans. Long tail de torradores artesanais. Espaço para uma marca premium internacional.</a:t>
            </a:r>
          </a:p>
        </p:txBody>
      </p:sp>
      <p:sp>
        <p:nvSpPr>
          <p:cNvPr id="416" name="Rectangle 37"/>
          <p:cNvSpPr/>
          <p:nvPr/>
        </p:nvSpPr>
        <p:spPr>
          <a:xfrm>
            <a:off x="4663440" y="3392423"/>
            <a:ext cx="7397496" cy="1115569"/>
          </a:xfrm>
          <a:prstGeom prst="rect">
            <a:avLst/>
          </a:prstGeom>
          <a:solidFill>
            <a:srgbClr val="F0F7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Rectangle 38"/>
          <p:cNvSpPr/>
          <p:nvPr/>
        </p:nvSpPr>
        <p:spPr>
          <a:xfrm>
            <a:off x="4663440" y="3392423"/>
            <a:ext cx="54865" cy="1115569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TextBox 39"/>
          <p:cNvSpPr txBox="1"/>
          <p:nvPr/>
        </p:nvSpPr>
        <p:spPr>
          <a:xfrm>
            <a:off x="4800599" y="3459988"/>
            <a:ext cx="71780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Single origin como moat competitivo</a:t>
            </a:r>
          </a:p>
        </p:txBody>
      </p:sp>
      <p:sp>
        <p:nvSpPr>
          <p:cNvPr id="419" name="TextBox 40"/>
          <p:cNvSpPr txBox="1"/>
          <p:nvPr/>
        </p:nvSpPr>
        <p:spPr>
          <a:xfrm>
            <a:off x="4800599" y="3706876"/>
            <a:ext cx="717804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Os grandes players não conseguem replicar traceability e terroir. Orfeu tem vantagem estrutural que nenhum mainstream player pode copiar.</a:t>
            </a:r>
          </a:p>
        </p:txBody>
      </p:sp>
      <p:sp>
        <p:nvSpPr>
          <p:cNvPr id="420" name="Rectangle 41"/>
          <p:cNvSpPr/>
          <p:nvPr/>
        </p:nvSpPr>
        <p:spPr>
          <a:xfrm>
            <a:off x="4663440" y="4562855"/>
            <a:ext cx="7397496" cy="1115569"/>
          </a:xfrm>
          <a:prstGeom prst="rect">
            <a:avLst/>
          </a:prstGeom>
          <a:solidFill>
            <a:srgbClr val="FFF3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Rectangle 42"/>
          <p:cNvSpPr/>
          <p:nvPr/>
        </p:nvSpPr>
        <p:spPr>
          <a:xfrm>
            <a:off x="4663440" y="4562855"/>
            <a:ext cx="54865" cy="111556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TextBox 43"/>
          <p:cNvSpPr txBox="1"/>
          <p:nvPr/>
        </p:nvSpPr>
        <p:spPr>
          <a:xfrm>
            <a:off x="4800599" y="4630420"/>
            <a:ext cx="71780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Estratégia: nicho premium, não volume</a:t>
            </a:r>
          </a:p>
        </p:txBody>
      </p:sp>
      <p:sp>
        <p:nvSpPr>
          <p:cNvPr id="423" name="TextBox 44"/>
          <p:cNvSpPr txBox="1"/>
          <p:nvPr/>
        </p:nvSpPr>
        <p:spPr>
          <a:xfrm>
            <a:off x="4800599" y="4877308"/>
            <a:ext cx="717804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Como no Brasil, não competir com Folgers ou Starbucks. Endereçar o consumidor de specialty: 5-8% do mercado, mas crescendo 2x mais rápido.</a:t>
            </a:r>
          </a:p>
        </p:txBody>
      </p:sp>
      <p:sp>
        <p:nvSpPr>
          <p:cNvPr id="424" name="TextBox 45"/>
          <p:cNvSpPr txBox="1"/>
          <p:nvPr/>
        </p:nvSpPr>
        <p:spPr>
          <a:xfrm>
            <a:off x="274319" y="6583680"/>
            <a:ext cx="1164031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Orfeu vs Tendências do Mercado Americano</a:t>
            </a:r>
          </a:p>
        </p:txBody>
      </p:sp>
      <p:sp>
        <p:nvSpPr>
          <p:cNvPr id="429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Analise de posicionamento: forcas, lacunas e onde jogar</a:t>
            </a:r>
          </a:p>
        </p:txBody>
      </p:sp>
      <p:sp>
        <p:nvSpPr>
          <p:cNvPr id="430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Rectangle 6"/>
          <p:cNvSpPr/>
          <p:nvPr/>
        </p:nvSpPr>
        <p:spPr>
          <a:xfrm>
            <a:off x="320040" y="1097280"/>
            <a:ext cx="2011679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7"/>
          <p:cNvSpPr txBox="1"/>
          <p:nvPr/>
        </p:nvSpPr>
        <p:spPr>
          <a:xfrm>
            <a:off x="457198" y="1143000"/>
            <a:ext cx="178308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DIMENSAO</a:t>
            </a:r>
          </a:p>
        </p:txBody>
      </p:sp>
      <p:sp>
        <p:nvSpPr>
          <p:cNvPr id="433" name="Rectangle 8"/>
          <p:cNvSpPr/>
          <p:nvPr/>
        </p:nvSpPr>
        <p:spPr>
          <a:xfrm>
            <a:off x="2377439" y="1097280"/>
            <a:ext cx="2560322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9"/>
          <p:cNvSpPr txBox="1"/>
          <p:nvPr/>
        </p:nvSpPr>
        <p:spPr>
          <a:xfrm>
            <a:off x="2514599" y="1143000"/>
            <a:ext cx="2331721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TENDENCIA US</a:t>
            </a:r>
          </a:p>
        </p:txBody>
      </p:sp>
      <p:sp>
        <p:nvSpPr>
          <p:cNvPr id="435" name="Rectangle 10"/>
          <p:cNvSpPr/>
          <p:nvPr/>
        </p:nvSpPr>
        <p:spPr>
          <a:xfrm>
            <a:off x="4983479" y="1097280"/>
            <a:ext cx="2560321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11"/>
          <p:cNvSpPr txBox="1"/>
          <p:nvPr/>
        </p:nvSpPr>
        <p:spPr>
          <a:xfrm>
            <a:off x="5120640" y="1143000"/>
            <a:ext cx="2331721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ORFEU HOJE</a:t>
            </a:r>
          </a:p>
        </p:txBody>
      </p:sp>
      <p:sp>
        <p:nvSpPr>
          <p:cNvPr id="437" name="Rectangle 12"/>
          <p:cNvSpPr/>
          <p:nvPr/>
        </p:nvSpPr>
        <p:spPr>
          <a:xfrm>
            <a:off x="7589519" y="1097280"/>
            <a:ext cx="4389121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13"/>
          <p:cNvSpPr txBox="1"/>
          <p:nvPr/>
        </p:nvSpPr>
        <p:spPr>
          <a:xfrm>
            <a:off x="7726679" y="1143000"/>
            <a:ext cx="4160520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GAP / OPORTUNIDADE</a:t>
            </a:r>
          </a:p>
        </p:txBody>
      </p:sp>
      <p:sp>
        <p:nvSpPr>
          <p:cNvPr id="439" name="Rectangle 14"/>
          <p:cNvSpPr/>
          <p:nvPr/>
        </p:nvSpPr>
        <p:spPr>
          <a:xfrm>
            <a:off x="320040" y="1572767"/>
            <a:ext cx="2011679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15"/>
          <p:cNvSpPr txBox="1"/>
          <p:nvPr/>
        </p:nvSpPr>
        <p:spPr>
          <a:xfrm>
            <a:off x="457200" y="1618488"/>
            <a:ext cx="178307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Status &amp; Display</a:t>
            </a:r>
          </a:p>
        </p:txBody>
      </p:sp>
      <p:sp>
        <p:nvSpPr>
          <p:cNvPr id="441" name="Rectangle 16"/>
          <p:cNvSpPr/>
          <p:nvPr/>
        </p:nvSpPr>
        <p:spPr>
          <a:xfrm>
            <a:off x="2377439" y="1572767"/>
            <a:ext cx="2560322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17"/>
          <p:cNvSpPr txBox="1"/>
          <p:nvPr/>
        </p:nvSpPr>
        <p:spPr>
          <a:xfrm>
            <a:off x="2514599" y="1618488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Café como objeto de design.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Embalagem que fica na bancada.</a:t>
            </a:r>
          </a:p>
        </p:txBody>
      </p:sp>
      <p:sp>
        <p:nvSpPr>
          <p:cNvPr id="443" name="Rectangle 18"/>
          <p:cNvSpPr/>
          <p:nvPr/>
        </p:nvSpPr>
        <p:spPr>
          <a:xfrm>
            <a:off x="4983479" y="1572767"/>
            <a:ext cx="2560321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19"/>
          <p:cNvSpPr txBox="1"/>
          <p:nvPr/>
        </p:nvSpPr>
        <p:spPr>
          <a:xfrm>
            <a:off x="5120640" y="1618488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Embalagem premium, identidade</a:t>
            </a:r>
          </a:p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visual forte. Ponto de partida sólido.</a:t>
            </a:r>
          </a:p>
        </p:txBody>
      </p:sp>
      <p:sp>
        <p:nvSpPr>
          <p:cNvPr id="445" name="Rectangle 20"/>
          <p:cNvSpPr/>
          <p:nvPr/>
        </p:nvSpPr>
        <p:spPr>
          <a:xfrm>
            <a:off x="7589519" y="1572767"/>
            <a:ext cx="4389121" cy="896113"/>
          </a:xfrm>
          <a:prstGeom prst="rect">
            <a:avLst/>
          </a:prstGeom>
          <a:solidFill>
            <a:srgbClr val="D6EBD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21"/>
          <p:cNvSpPr txBox="1"/>
          <p:nvPr/>
        </p:nvSpPr>
        <p:spPr>
          <a:xfrm>
            <a:off x="7726679" y="1618488"/>
            <a:ext cx="41605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Ampliar narrativa de display.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Edições colecionáveis. 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Design para o balcão americano.</a:t>
            </a:r>
          </a:p>
        </p:txBody>
      </p:sp>
      <p:sp>
        <p:nvSpPr>
          <p:cNvPr id="447" name="Rectangle 22"/>
          <p:cNvSpPr/>
          <p:nvPr/>
        </p:nvSpPr>
        <p:spPr>
          <a:xfrm>
            <a:off x="320040" y="2505455"/>
            <a:ext cx="2011679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TextBox 23"/>
          <p:cNvSpPr txBox="1"/>
          <p:nvPr/>
        </p:nvSpPr>
        <p:spPr>
          <a:xfrm>
            <a:off x="457200" y="2551176"/>
            <a:ext cx="178307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Origem &amp; Autenticidade</a:t>
            </a:r>
          </a:p>
        </p:txBody>
      </p:sp>
      <p:sp>
        <p:nvSpPr>
          <p:cNvPr id="449" name="Rectangle 24"/>
          <p:cNvSpPr/>
          <p:nvPr/>
        </p:nvSpPr>
        <p:spPr>
          <a:xfrm>
            <a:off x="2377439" y="2505455"/>
            <a:ext cx="2560322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25"/>
          <p:cNvSpPr txBox="1"/>
          <p:nvPr/>
        </p:nvSpPr>
        <p:spPr>
          <a:xfrm>
            <a:off x="2514599" y="2551176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Storytelling de produtor e terroir — consumidor quer saber de onde vem.</a:t>
            </a:r>
          </a:p>
        </p:txBody>
      </p:sp>
      <p:sp>
        <p:nvSpPr>
          <p:cNvPr id="451" name="Rectangle 26"/>
          <p:cNvSpPr/>
          <p:nvPr/>
        </p:nvSpPr>
        <p:spPr>
          <a:xfrm>
            <a:off x="4983479" y="2505455"/>
            <a:ext cx="2560321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27"/>
          <p:cNvSpPr txBox="1"/>
          <p:nvPr/>
        </p:nvSpPr>
        <p:spPr>
          <a:xfrm>
            <a:off x="5120640" y="2551176"/>
            <a:ext cx="23317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História de origem forte.</a:t>
            </a:r>
          </a:p>
        </p:txBody>
      </p:sp>
      <p:sp>
        <p:nvSpPr>
          <p:cNvPr id="453" name="Rectangle 28"/>
          <p:cNvSpPr/>
          <p:nvPr/>
        </p:nvSpPr>
        <p:spPr>
          <a:xfrm>
            <a:off x="7589519" y="2505455"/>
            <a:ext cx="4389121" cy="896113"/>
          </a:xfrm>
          <a:prstGeom prst="rect">
            <a:avLst/>
          </a:prstGeom>
          <a:solidFill>
            <a:srgbClr val="D6EBD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29"/>
          <p:cNvSpPr txBox="1"/>
          <p:nvPr/>
        </p:nvSpPr>
        <p:spPr>
          <a:xfrm>
            <a:off x="7726679" y="2551176"/>
            <a:ext cx="41605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Adaptar o storytelling para o consumidor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americano. Inglês fluente, mapas, QR code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para história do produto.</a:t>
            </a:r>
          </a:p>
        </p:txBody>
      </p:sp>
      <p:sp>
        <p:nvSpPr>
          <p:cNvPr id="455" name="Rectangle 30"/>
          <p:cNvSpPr/>
          <p:nvPr/>
        </p:nvSpPr>
        <p:spPr>
          <a:xfrm>
            <a:off x="320040" y="3438144"/>
            <a:ext cx="2011679" cy="896112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31"/>
          <p:cNvSpPr txBox="1"/>
          <p:nvPr/>
        </p:nvSpPr>
        <p:spPr>
          <a:xfrm>
            <a:off x="457200" y="3483864"/>
            <a:ext cx="178307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Café Funcional</a:t>
            </a:r>
          </a:p>
        </p:txBody>
      </p:sp>
      <p:sp>
        <p:nvSpPr>
          <p:cNvPr id="457" name="Rectangle 32"/>
          <p:cNvSpPr/>
          <p:nvPr/>
        </p:nvSpPr>
        <p:spPr>
          <a:xfrm>
            <a:off x="2377439" y="3438144"/>
            <a:ext cx="2560322" cy="896112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TextBox 33"/>
          <p:cNvSpPr txBox="1"/>
          <p:nvPr/>
        </p:nvSpPr>
        <p:spPr>
          <a:xfrm>
            <a:off x="2514599" y="3483864"/>
            <a:ext cx="233172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Café + colágeno, proteína, adaptógeno.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Mercado USD 1,5bi+ crescendo 25%/ano.</a:t>
            </a:r>
          </a:p>
        </p:txBody>
      </p:sp>
      <p:sp>
        <p:nvSpPr>
          <p:cNvPr id="459" name="Rectangle 34"/>
          <p:cNvSpPr/>
          <p:nvPr/>
        </p:nvSpPr>
        <p:spPr>
          <a:xfrm>
            <a:off x="4983479" y="3438144"/>
            <a:ext cx="2560321" cy="896112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35"/>
          <p:cNvSpPr txBox="1"/>
          <p:nvPr/>
        </p:nvSpPr>
        <p:spPr>
          <a:xfrm>
            <a:off x="5120640" y="3483864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Sem linha funcional atual.</a:t>
            </a:r>
          </a:p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Produto puro de origem.</a:t>
            </a:r>
          </a:p>
        </p:txBody>
      </p:sp>
      <p:sp>
        <p:nvSpPr>
          <p:cNvPr id="461" name="Rectangle 36"/>
          <p:cNvSpPr/>
          <p:nvPr/>
        </p:nvSpPr>
        <p:spPr>
          <a:xfrm>
            <a:off x="7589519" y="3438144"/>
            <a:ext cx="4389121" cy="896112"/>
          </a:xfrm>
          <a:prstGeom prst="rect">
            <a:avLst/>
          </a:prstGeom>
          <a:solidFill>
            <a:srgbClr val="F5D0D0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37"/>
          <p:cNvSpPr txBox="1"/>
          <p:nvPr/>
        </p:nvSpPr>
        <p:spPr>
          <a:xfrm>
            <a:off x="7726679" y="3483864"/>
            <a:ext cx="41605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Desenvolver 2-3 SKUs funcionais para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mercado US antes de 2027.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Parceria com marca funcional americana.</a:t>
            </a:r>
          </a:p>
        </p:txBody>
      </p:sp>
      <p:sp>
        <p:nvSpPr>
          <p:cNvPr id="463" name="Rectangle 38"/>
          <p:cNvSpPr/>
          <p:nvPr/>
        </p:nvSpPr>
        <p:spPr>
          <a:xfrm>
            <a:off x="320040" y="4370832"/>
            <a:ext cx="2011679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39"/>
          <p:cNvSpPr txBox="1"/>
          <p:nvPr/>
        </p:nvSpPr>
        <p:spPr>
          <a:xfrm>
            <a:off x="457200" y="4416552"/>
            <a:ext cx="178307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Digital &amp; Assinatura</a:t>
            </a:r>
          </a:p>
        </p:txBody>
      </p:sp>
      <p:sp>
        <p:nvSpPr>
          <p:cNvPr id="465" name="Rectangle 40"/>
          <p:cNvSpPr/>
          <p:nvPr/>
        </p:nvSpPr>
        <p:spPr>
          <a:xfrm>
            <a:off x="2377439" y="4370832"/>
            <a:ext cx="2560322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41"/>
          <p:cNvSpPr txBox="1"/>
          <p:nvPr/>
        </p:nvSpPr>
        <p:spPr>
          <a:xfrm>
            <a:off x="2514599" y="4416552"/>
            <a:ext cx="23317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D2C via assinatura e o modelo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dominante de specialty coffee nos EUA.</a:t>
            </a:r>
          </a:p>
        </p:txBody>
      </p:sp>
      <p:sp>
        <p:nvSpPr>
          <p:cNvPr id="467" name="Rectangle 42"/>
          <p:cNvSpPr/>
          <p:nvPr/>
        </p:nvSpPr>
        <p:spPr>
          <a:xfrm>
            <a:off x="4983479" y="4370832"/>
            <a:ext cx="2560321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TextBox 43"/>
          <p:cNvSpPr txBox="1"/>
          <p:nvPr/>
        </p:nvSpPr>
        <p:spPr>
          <a:xfrm>
            <a:off x="5120640" y="4416552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Assinatura incipiente no Brasil.</a:t>
            </a:r>
          </a:p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Presença digital limitada no EUA.</a:t>
            </a:r>
          </a:p>
        </p:txBody>
      </p:sp>
      <p:sp>
        <p:nvSpPr>
          <p:cNvPr id="469" name="Rectangle 44"/>
          <p:cNvSpPr/>
          <p:nvPr/>
        </p:nvSpPr>
        <p:spPr>
          <a:xfrm>
            <a:off x="7589519" y="4370832"/>
            <a:ext cx="4389121" cy="896113"/>
          </a:xfrm>
          <a:prstGeom prst="rect">
            <a:avLst/>
          </a:prstGeom>
          <a:solidFill>
            <a:srgbClr val="F5D88A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TextBox 45"/>
          <p:cNvSpPr txBox="1"/>
          <p:nvPr/>
        </p:nvSpPr>
        <p:spPr>
          <a:xfrm>
            <a:off x="7726679" y="4416552"/>
            <a:ext cx="41605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Plataforma de assinatura US com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curadoria mensal. Parceria com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Assinatura existente para entrada.</a:t>
            </a:r>
          </a:p>
        </p:txBody>
      </p:sp>
      <p:sp>
        <p:nvSpPr>
          <p:cNvPr id="471" name="Rectangle 46"/>
          <p:cNvSpPr/>
          <p:nvPr/>
        </p:nvSpPr>
        <p:spPr>
          <a:xfrm>
            <a:off x="320040" y="5303520"/>
            <a:ext cx="2011679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47"/>
          <p:cNvSpPr txBox="1"/>
          <p:nvPr/>
        </p:nvSpPr>
        <p:spPr>
          <a:xfrm>
            <a:off x="457200" y="5349240"/>
            <a:ext cx="178307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Sustentabilidade</a:t>
            </a:r>
          </a:p>
        </p:txBody>
      </p:sp>
      <p:sp>
        <p:nvSpPr>
          <p:cNvPr id="473" name="Rectangle 48"/>
          <p:cNvSpPr/>
          <p:nvPr/>
        </p:nvSpPr>
        <p:spPr>
          <a:xfrm>
            <a:off x="2377439" y="5303520"/>
            <a:ext cx="2560322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TextBox 49"/>
          <p:cNvSpPr txBox="1"/>
          <p:nvPr/>
        </p:nvSpPr>
        <p:spPr>
          <a:xfrm>
            <a:off x="2514599" y="5349240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Certificações B Corp, carbono zero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crescendo como criterio de compra.</a:t>
            </a:r>
          </a:p>
        </p:txBody>
      </p:sp>
      <p:sp>
        <p:nvSpPr>
          <p:cNvPr id="475" name="Rectangle 50"/>
          <p:cNvSpPr/>
          <p:nvPr/>
        </p:nvSpPr>
        <p:spPr>
          <a:xfrm>
            <a:off x="4983479" y="5303520"/>
            <a:ext cx="2560321" cy="896113"/>
          </a:xfrm>
          <a:prstGeom prst="rect">
            <a:avLst/>
          </a:prstGeom>
          <a:solidFill>
            <a:srgbClr val="F8F4EE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51"/>
          <p:cNvSpPr txBox="1"/>
          <p:nvPr/>
        </p:nvSpPr>
        <p:spPr>
          <a:xfrm>
            <a:off x="5120640" y="5349240"/>
            <a:ext cx="233172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Práticas sustentáveis existem.</a:t>
            </a:r>
          </a:p>
          <a:p>
            <a:pPr>
              <a:defRPr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Certificações em diferentes estágios.</a:t>
            </a:r>
          </a:p>
        </p:txBody>
      </p:sp>
      <p:sp>
        <p:nvSpPr>
          <p:cNvPr id="477" name="Rectangle 52"/>
          <p:cNvSpPr/>
          <p:nvPr/>
        </p:nvSpPr>
        <p:spPr>
          <a:xfrm>
            <a:off x="7589519" y="5303520"/>
            <a:ext cx="4389121" cy="896113"/>
          </a:xfrm>
          <a:prstGeom prst="rect">
            <a:avLst/>
          </a:prstGeom>
          <a:solidFill>
            <a:srgbClr val="F5D88A"/>
          </a:solidFill>
          <a:ln w="635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53"/>
          <p:cNvSpPr txBox="1"/>
          <p:nvPr/>
        </p:nvSpPr>
        <p:spPr>
          <a:xfrm>
            <a:off x="7726679" y="5349240"/>
            <a:ext cx="41605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Formalizar e comunicar. Certificação B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ou equivalente seria diferencial real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para o consumidor americano.</a:t>
            </a:r>
          </a:p>
        </p:txBody>
      </p:sp>
      <p:sp>
        <p:nvSpPr>
          <p:cNvPr id="479" name="TextBox 54"/>
          <p:cNvSpPr txBox="1"/>
          <p:nvPr/>
        </p:nvSpPr>
        <p:spPr>
          <a:xfrm>
            <a:off x="9395824" y="6601968"/>
            <a:ext cx="2518809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Considerações Estratégicas para Entrada no Mercado US</a:t>
            </a:r>
          </a:p>
        </p:txBody>
      </p:sp>
      <p:sp>
        <p:nvSpPr>
          <p:cNvPr id="484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 que precisa estar resolvido antes de escalar</a:t>
            </a:r>
          </a:p>
        </p:txBody>
      </p:sp>
      <p:sp>
        <p:nvSpPr>
          <p:cNvPr id="485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Rectangle 6"/>
          <p:cNvSpPr/>
          <p:nvPr/>
        </p:nvSpPr>
        <p:spPr>
          <a:xfrm>
            <a:off x="320040" y="1188719"/>
            <a:ext cx="3611880" cy="2240281"/>
          </a:xfrm>
          <a:prstGeom prst="rect">
            <a:avLst/>
          </a:prstGeom>
          <a:solidFill>
            <a:srgbClr val="F8F4EE"/>
          </a:solidFill>
          <a:ln w="1270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Rectangle 7"/>
          <p:cNvSpPr/>
          <p:nvPr/>
        </p:nvSpPr>
        <p:spPr>
          <a:xfrm>
            <a:off x="320040" y="1188719"/>
            <a:ext cx="3611880" cy="38404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8"/>
          <p:cNvSpPr txBox="1"/>
          <p:nvPr/>
        </p:nvSpPr>
        <p:spPr>
          <a:xfrm>
            <a:off x="475487" y="1243583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01  Posicionamento de Preço</a:t>
            </a:r>
          </a:p>
        </p:txBody>
      </p:sp>
      <p:sp>
        <p:nvSpPr>
          <p:cNvPr id="489" name="TextBox 9"/>
          <p:cNvSpPr txBox="1"/>
          <p:nvPr/>
        </p:nvSpPr>
        <p:spPr>
          <a:xfrm>
            <a:off x="475487" y="1664207"/>
            <a:ext cx="333756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Specialty coffee nos EUA: USD 20-35 por 250g.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Abaixo disso, não e percebido como premium.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Acima de USD 40, nicho muito pequeno.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Precificar para o posicionamento, não para o custo.</a:t>
            </a:r>
          </a:p>
        </p:txBody>
      </p:sp>
      <p:sp>
        <p:nvSpPr>
          <p:cNvPr id="490" name="Rectangle 10"/>
          <p:cNvSpPr/>
          <p:nvPr/>
        </p:nvSpPr>
        <p:spPr>
          <a:xfrm>
            <a:off x="4160520" y="1188719"/>
            <a:ext cx="3611880" cy="2240281"/>
          </a:xfrm>
          <a:prstGeom prst="rect">
            <a:avLst/>
          </a:prstGeom>
          <a:solidFill>
            <a:srgbClr val="F8F4EE"/>
          </a:solidFill>
          <a:ln w="1270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Rectangle 11"/>
          <p:cNvSpPr/>
          <p:nvPr/>
        </p:nvSpPr>
        <p:spPr>
          <a:xfrm>
            <a:off x="4160520" y="1188719"/>
            <a:ext cx="3611880" cy="38404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12"/>
          <p:cNvSpPr txBox="1"/>
          <p:nvPr/>
        </p:nvSpPr>
        <p:spPr>
          <a:xfrm>
            <a:off x="4315967" y="1243583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02  Canal Inicial Estratégico</a:t>
            </a:r>
          </a:p>
        </p:txBody>
      </p:sp>
      <p:sp>
        <p:nvSpPr>
          <p:cNvPr id="493" name="TextBox 13"/>
          <p:cNvSpPr txBox="1"/>
          <p:nvPr/>
        </p:nvSpPr>
        <p:spPr>
          <a:xfrm>
            <a:off x="4315967" y="1664207"/>
            <a:ext cx="333756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Evitar distribuição ampla no inicio — dilui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posicionamento. Começar integrado e foco geográfico.</a:t>
            </a:r>
          </a:p>
        </p:txBody>
      </p:sp>
      <p:sp>
        <p:nvSpPr>
          <p:cNvPr id="494" name="Rectangle 14"/>
          <p:cNvSpPr/>
          <p:nvPr/>
        </p:nvSpPr>
        <p:spPr>
          <a:xfrm>
            <a:off x="8001000" y="1188719"/>
            <a:ext cx="3611880" cy="2240281"/>
          </a:xfrm>
          <a:prstGeom prst="rect">
            <a:avLst/>
          </a:prstGeom>
          <a:solidFill>
            <a:srgbClr val="F8F4EE"/>
          </a:solidFill>
          <a:ln w="1270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Rectangle 15"/>
          <p:cNvSpPr/>
          <p:nvPr/>
        </p:nvSpPr>
        <p:spPr>
          <a:xfrm>
            <a:off x="8001000" y="1188719"/>
            <a:ext cx="3611880" cy="384049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16"/>
          <p:cNvSpPr txBox="1"/>
          <p:nvPr/>
        </p:nvSpPr>
        <p:spPr>
          <a:xfrm>
            <a:off x="8156446" y="1243583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03  Narrativa para o Consumidor Americano</a:t>
            </a:r>
          </a:p>
        </p:txBody>
      </p:sp>
      <p:sp>
        <p:nvSpPr>
          <p:cNvPr id="497" name="TextBox 17"/>
          <p:cNvSpPr txBox="1"/>
          <p:nvPr/>
        </p:nvSpPr>
        <p:spPr>
          <a:xfrm>
            <a:off x="8156446" y="1664207"/>
            <a:ext cx="333756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 história de "melhor café do mundo" pode não funcionar.. O que funciona: especificidade e humanidade."Feito com grãos da Fazenda, cultivados por Y a Z de altitude."</a:t>
            </a:r>
          </a:p>
        </p:txBody>
      </p:sp>
      <p:sp>
        <p:nvSpPr>
          <p:cNvPr id="498" name="Rectangle 18"/>
          <p:cNvSpPr/>
          <p:nvPr/>
        </p:nvSpPr>
        <p:spPr>
          <a:xfrm>
            <a:off x="320040" y="3657600"/>
            <a:ext cx="3611880" cy="2240280"/>
          </a:xfrm>
          <a:prstGeom prst="rect">
            <a:avLst/>
          </a:prstGeom>
          <a:solidFill>
            <a:srgbClr val="F8F4EE"/>
          </a:solidFill>
          <a:ln w="12700">
            <a:solidFill>
              <a:srgbClr val="5A3E2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Rectangle 19"/>
          <p:cNvSpPr/>
          <p:nvPr/>
        </p:nvSpPr>
        <p:spPr>
          <a:xfrm>
            <a:off x="320040" y="3657600"/>
            <a:ext cx="3611880" cy="384048"/>
          </a:xfrm>
          <a:prstGeom prst="rect">
            <a:avLst/>
          </a:prstGeom>
          <a:solidFill>
            <a:srgbClr val="5A3E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20"/>
          <p:cNvSpPr txBox="1"/>
          <p:nvPr/>
        </p:nvSpPr>
        <p:spPr>
          <a:xfrm>
            <a:off x="475487" y="3712462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04  Regulatorio e Logistica</a:t>
            </a:r>
          </a:p>
        </p:txBody>
      </p:sp>
      <p:sp>
        <p:nvSpPr>
          <p:cNvPr id="501" name="TextBox 21"/>
          <p:cNvSpPr txBox="1"/>
          <p:nvPr/>
        </p:nvSpPr>
        <p:spPr>
          <a:xfrm>
            <a:off x="475487" y="4133086"/>
            <a:ext cx="333756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FDA, USDA Organic, importação.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Prazo de shelf life no transporte. Certificações de origem e sustentabilidade que o consumidor americano reconhece.</a:t>
            </a:r>
          </a:p>
        </p:txBody>
      </p:sp>
      <p:sp>
        <p:nvSpPr>
          <p:cNvPr id="502" name="Rectangle 22"/>
          <p:cNvSpPr/>
          <p:nvPr/>
        </p:nvSpPr>
        <p:spPr>
          <a:xfrm>
            <a:off x="4160520" y="3657600"/>
            <a:ext cx="3611880" cy="2240280"/>
          </a:xfrm>
          <a:prstGeom prst="rect">
            <a:avLst/>
          </a:prstGeom>
          <a:solidFill>
            <a:srgbClr val="F8F4EE"/>
          </a:solidFill>
          <a:ln w="1270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Rectangle 23"/>
          <p:cNvSpPr/>
          <p:nvPr/>
        </p:nvSpPr>
        <p:spPr>
          <a:xfrm>
            <a:off x="4160520" y="3657600"/>
            <a:ext cx="3611880" cy="384048"/>
          </a:xfrm>
          <a:prstGeom prst="rect">
            <a:avLst/>
          </a:prstGeom>
          <a:solidFill>
            <a:srgbClr val="7A30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extBox 24"/>
          <p:cNvSpPr txBox="1"/>
          <p:nvPr/>
        </p:nvSpPr>
        <p:spPr>
          <a:xfrm>
            <a:off x="4315967" y="3712462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05  Parceiro Local</a:t>
            </a:r>
          </a:p>
        </p:txBody>
      </p:sp>
      <p:sp>
        <p:nvSpPr>
          <p:cNvPr id="505" name="TextBox 25"/>
          <p:cNvSpPr txBox="1"/>
          <p:nvPr/>
        </p:nvSpPr>
        <p:spPr>
          <a:xfrm>
            <a:off x="4315967" y="4133086"/>
            <a:ext cx="333756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Parceiro americano de distribuição ou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importação que conheça o canal de specialty.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Não e opcional no inicio — e o atalho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para credibilidade e acesso a canal.</a:t>
            </a:r>
          </a:p>
        </p:txBody>
      </p:sp>
      <p:sp>
        <p:nvSpPr>
          <p:cNvPr id="506" name="Rectangle 26"/>
          <p:cNvSpPr/>
          <p:nvPr/>
        </p:nvSpPr>
        <p:spPr>
          <a:xfrm>
            <a:off x="8001000" y="3657600"/>
            <a:ext cx="3611880" cy="2240280"/>
          </a:xfrm>
          <a:prstGeom prst="rect">
            <a:avLst/>
          </a:prstGeom>
          <a:solidFill>
            <a:srgbClr val="F8F4EE"/>
          </a:solidFill>
          <a:ln w="12700">
            <a:solidFill>
              <a:srgbClr val="2A6B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Rectangle 27"/>
          <p:cNvSpPr/>
          <p:nvPr/>
        </p:nvSpPr>
        <p:spPr>
          <a:xfrm>
            <a:off x="8001000" y="3657600"/>
            <a:ext cx="3611880" cy="384048"/>
          </a:xfrm>
          <a:prstGeom prst="rect">
            <a:avLst/>
          </a:prstGeom>
          <a:solidFill>
            <a:srgbClr val="2A6B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28"/>
          <p:cNvSpPr txBox="1"/>
          <p:nvPr/>
        </p:nvSpPr>
        <p:spPr>
          <a:xfrm>
            <a:off x="8156446" y="3712462"/>
            <a:ext cx="3337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06  Digital First</a:t>
            </a:r>
          </a:p>
        </p:txBody>
      </p:sp>
      <p:sp>
        <p:nvSpPr>
          <p:cNvPr id="509" name="TextBox 29"/>
          <p:cNvSpPr txBox="1"/>
          <p:nvPr/>
        </p:nvSpPr>
        <p:spPr>
          <a:xfrm>
            <a:off x="8156446" y="4133086"/>
            <a:ext cx="3337561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O consumidor americano de specialty coffee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compra online antes de comprar em loja.</a:t>
            </a:r>
          </a:p>
          <a:p>
            <a:pPr>
              <a:defRPr sz="11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Investir em DTC, GEO (generative), SEO, influenciadores de café e conteúdo em conjunto ou antes da distribuição.</a:t>
            </a:r>
          </a:p>
        </p:txBody>
      </p:sp>
      <p:sp>
        <p:nvSpPr>
          <p:cNvPr id="510" name="TextBox 30"/>
          <p:cNvSpPr txBox="1"/>
          <p:nvPr/>
        </p:nvSpPr>
        <p:spPr>
          <a:xfrm>
            <a:off x="9395824" y="6601968"/>
            <a:ext cx="2518809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i="1" sz="700">
                <a:solidFill>
                  <a:srgbClr val="666666"/>
                </a:solidFill>
              </a:defRPr>
            </a:lvl1pPr>
          </a:lstStyle>
          <a:p>
            <a:pPr/>
            <a:r>
              <a:t>Fonte: Euromonitor International, Coffee in the US,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Ideias &amp; Iniciativas — Scoring e Priorização</a:t>
            </a:r>
          </a:p>
        </p:txBody>
      </p:sp>
      <p:sp>
        <p:nvSpPr>
          <p:cNvPr id="515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Avaliacao por Impacto · Viabilidade · Alinhamento com Tendencias</a:t>
            </a:r>
          </a:p>
        </p:txBody>
      </p:sp>
      <p:sp>
        <p:nvSpPr>
          <p:cNvPr id="516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Rectangle 6"/>
          <p:cNvSpPr/>
          <p:nvPr/>
        </p:nvSpPr>
        <p:spPr>
          <a:xfrm>
            <a:off x="274320" y="1097280"/>
            <a:ext cx="3200401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7"/>
          <p:cNvSpPr txBox="1"/>
          <p:nvPr/>
        </p:nvSpPr>
        <p:spPr>
          <a:xfrm>
            <a:off x="374903" y="1115567"/>
            <a:ext cx="301752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INICIATIVA</a:t>
            </a:r>
          </a:p>
        </p:txBody>
      </p:sp>
      <p:sp>
        <p:nvSpPr>
          <p:cNvPr id="519" name="Rectangle 8"/>
          <p:cNvSpPr/>
          <p:nvPr/>
        </p:nvSpPr>
        <p:spPr>
          <a:xfrm>
            <a:off x="3520440" y="1097280"/>
            <a:ext cx="1005840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TextBox 9"/>
          <p:cNvSpPr txBox="1"/>
          <p:nvPr/>
        </p:nvSpPr>
        <p:spPr>
          <a:xfrm>
            <a:off x="3621023" y="1115567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MERCADO</a:t>
            </a:r>
          </a:p>
        </p:txBody>
      </p:sp>
      <p:sp>
        <p:nvSpPr>
          <p:cNvPr id="521" name="Rectangle 10"/>
          <p:cNvSpPr/>
          <p:nvPr/>
        </p:nvSpPr>
        <p:spPr>
          <a:xfrm>
            <a:off x="4553711" y="1097280"/>
            <a:ext cx="1005840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TextBox 11"/>
          <p:cNvSpPr txBox="1"/>
          <p:nvPr/>
        </p:nvSpPr>
        <p:spPr>
          <a:xfrm>
            <a:off x="4654296" y="1115567"/>
            <a:ext cx="822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IMPACTO</a:t>
            </a:r>
          </a:p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(1-5)</a:t>
            </a:r>
          </a:p>
        </p:txBody>
      </p:sp>
      <p:sp>
        <p:nvSpPr>
          <p:cNvPr id="523" name="Rectangle 12"/>
          <p:cNvSpPr/>
          <p:nvPr/>
        </p:nvSpPr>
        <p:spPr>
          <a:xfrm>
            <a:off x="5596128" y="1097280"/>
            <a:ext cx="1097281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13"/>
          <p:cNvSpPr txBox="1"/>
          <p:nvPr/>
        </p:nvSpPr>
        <p:spPr>
          <a:xfrm>
            <a:off x="5696711" y="1115567"/>
            <a:ext cx="9144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VIABILIDADE</a:t>
            </a:r>
          </a:p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(1-5)</a:t>
            </a:r>
          </a:p>
        </p:txBody>
      </p:sp>
      <p:sp>
        <p:nvSpPr>
          <p:cNvPr id="525" name="Rectangle 14"/>
          <p:cNvSpPr/>
          <p:nvPr/>
        </p:nvSpPr>
        <p:spPr>
          <a:xfrm>
            <a:off x="6720840" y="1097280"/>
            <a:ext cx="1097281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TextBox 15"/>
          <p:cNvSpPr txBox="1"/>
          <p:nvPr/>
        </p:nvSpPr>
        <p:spPr>
          <a:xfrm>
            <a:off x="6821422" y="1115567"/>
            <a:ext cx="9144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TENDENCIAS</a:t>
            </a:r>
          </a:p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(1-5)</a:t>
            </a:r>
          </a:p>
        </p:txBody>
      </p:sp>
      <p:sp>
        <p:nvSpPr>
          <p:cNvPr id="527" name="Rectangle 16"/>
          <p:cNvSpPr/>
          <p:nvPr/>
        </p:nvSpPr>
        <p:spPr>
          <a:xfrm>
            <a:off x="7845552" y="1097280"/>
            <a:ext cx="914401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17"/>
          <p:cNvSpPr txBox="1"/>
          <p:nvPr/>
        </p:nvSpPr>
        <p:spPr>
          <a:xfrm>
            <a:off x="7946135" y="1115567"/>
            <a:ext cx="7315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SCORE</a:t>
            </a:r>
          </a:p>
          <a:p>
            <a: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TOTAL</a:t>
            </a:r>
          </a:p>
        </p:txBody>
      </p:sp>
      <p:sp>
        <p:nvSpPr>
          <p:cNvPr id="529" name="Rectangle 18"/>
          <p:cNvSpPr/>
          <p:nvPr/>
        </p:nvSpPr>
        <p:spPr>
          <a:xfrm>
            <a:off x="8796528" y="1097280"/>
            <a:ext cx="1417321" cy="475488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19"/>
          <p:cNvSpPr txBox="1"/>
          <p:nvPr/>
        </p:nvSpPr>
        <p:spPr>
          <a:xfrm>
            <a:off x="8897111" y="1115567"/>
            <a:ext cx="12344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PRIORIDADE</a:t>
            </a:r>
          </a:p>
        </p:txBody>
      </p:sp>
      <p:sp>
        <p:nvSpPr>
          <p:cNvPr id="531" name="Rectangle 20"/>
          <p:cNvSpPr/>
          <p:nvPr/>
        </p:nvSpPr>
        <p:spPr>
          <a:xfrm>
            <a:off x="274320" y="1627632"/>
            <a:ext cx="320040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TextBox 21"/>
          <p:cNvSpPr txBox="1"/>
          <p:nvPr/>
        </p:nvSpPr>
        <p:spPr>
          <a:xfrm>
            <a:off x="393192" y="1664207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Assinatura Orfeu EUA — curadoria mensal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com historia do produtor e guia de preparo</a:t>
            </a:r>
          </a:p>
        </p:txBody>
      </p:sp>
      <p:sp>
        <p:nvSpPr>
          <p:cNvPr id="533" name="Rectangle 22"/>
          <p:cNvSpPr/>
          <p:nvPr/>
        </p:nvSpPr>
        <p:spPr>
          <a:xfrm>
            <a:off x="3520440" y="1627632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TextBox 23"/>
          <p:cNvSpPr txBox="1"/>
          <p:nvPr/>
        </p:nvSpPr>
        <p:spPr>
          <a:xfrm>
            <a:off x="3602735" y="1753107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EUA</a:t>
            </a:r>
          </a:p>
        </p:txBody>
      </p:sp>
      <p:sp>
        <p:nvSpPr>
          <p:cNvPr id="535" name="Rectangle 24"/>
          <p:cNvSpPr/>
          <p:nvPr/>
        </p:nvSpPr>
        <p:spPr>
          <a:xfrm>
            <a:off x="4553711" y="1627632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TextBox 25"/>
          <p:cNvSpPr txBox="1"/>
          <p:nvPr/>
        </p:nvSpPr>
        <p:spPr>
          <a:xfrm>
            <a:off x="4636008" y="1753107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37" name="Rectangle 26"/>
          <p:cNvSpPr/>
          <p:nvPr/>
        </p:nvSpPr>
        <p:spPr>
          <a:xfrm>
            <a:off x="5596128" y="1627632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TextBox 27"/>
          <p:cNvSpPr txBox="1"/>
          <p:nvPr/>
        </p:nvSpPr>
        <p:spPr>
          <a:xfrm>
            <a:off x="5678423" y="1753107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9" name="Rectangle 28"/>
          <p:cNvSpPr/>
          <p:nvPr/>
        </p:nvSpPr>
        <p:spPr>
          <a:xfrm>
            <a:off x="6720840" y="1627632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29"/>
          <p:cNvSpPr txBox="1"/>
          <p:nvPr/>
        </p:nvSpPr>
        <p:spPr>
          <a:xfrm>
            <a:off x="6803135" y="1753107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41" name="Rectangle 30"/>
          <p:cNvSpPr/>
          <p:nvPr/>
        </p:nvSpPr>
        <p:spPr>
          <a:xfrm>
            <a:off x="7845552" y="1627632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31"/>
          <p:cNvSpPr txBox="1"/>
          <p:nvPr/>
        </p:nvSpPr>
        <p:spPr>
          <a:xfrm>
            <a:off x="7927846" y="1753107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43" name="Rectangle 32"/>
          <p:cNvSpPr/>
          <p:nvPr/>
        </p:nvSpPr>
        <p:spPr>
          <a:xfrm>
            <a:off x="8796528" y="1627632"/>
            <a:ext cx="141732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TextBox 33"/>
          <p:cNvSpPr txBox="1"/>
          <p:nvPr/>
        </p:nvSpPr>
        <p:spPr>
          <a:xfrm>
            <a:off x="8878822" y="1753107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ALTA</a:t>
            </a:r>
          </a:p>
        </p:txBody>
      </p:sp>
      <p:sp>
        <p:nvSpPr>
          <p:cNvPr id="545" name="Rectangle 34"/>
          <p:cNvSpPr/>
          <p:nvPr/>
        </p:nvSpPr>
        <p:spPr>
          <a:xfrm>
            <a:off x="274320" y="2203704"/>
            <a:ext cx="320040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TextBox 35"/>
          <p:cNvSpPr txBox="1"/>
          <p:nvPr/>
        </p:nvSpPr>
        <p:spPr>
          <a:xfrm>
            <a:off x="393192" y="2240279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Linha Funcional — cafe + colágeno /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proteina / adaptogen para o mercado US</a:t>
            </a:r>
          </a:p>
        </p:txBody>
      </p:sp>
      <p:sp>
        <p:nvSpPr>
          <p:cNvPr id="547" name="Rectangle 36"/>
          <p:cNvSpPr/>
          <p:nvPr/>
        </p:nvSpPr>
        <p:spPr>
          <a:xfrm>
            <a:off x="3520440" y="2203704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TextBox 37"/>
          <p:cNvSpPr txBox="1"/>
          <p:nvPr/>
        </p:nvSpPr>
        <p:spPr>
          <a:xfrm>
            <a:off x="3602735" y="2329179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EUA</a:t>
            </a:r>
          </a:p>
        </p:txBody>
      </p:sp>
      <p:sp>
        <p:nvSpPr>
          <p:cNvPr id="549" name="Rectangle 38"/>
          <p:cNvSpPr/>
          <p:nvPr/>
        </p:nvSpPr>
        <p:spPr>
          <a:xfrm>
            <a:off x="4553711" y="2203704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TextBox 39"/>
          <p:cNvSpPr txBox="1"/>
          <p:nvPr/>
        </p:nvSpPr>
        <p:spPr>
          <a:xfrm>
            <a:off x="4636008" y="2329179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51" name="Rectangle 40"/>
          <p:cNvSpPr/>
          <p:nvPr/>
        </p:nvSpPr>
        <p:spPr>
          <a:xfrm>
            <a:off x="5596128" y="2203704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TextBox 41"/>
          <p:cNvSpPr txBox="1"/>
          <p:nvPr/>
        </p:nvSpPr>
        <p:spPr>
          <a:xfrm>
            <a:off x="5678423" y="2329179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53" name="Rectangle 42"/>
          <p:cNvSpPr/>
          <p:nvPr/>
        </p:nvSpPr>
        <p:spPr>
          <a:xfrm>
            <a:off x="6720840" y="2203704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" name="TextBox 43"/>
          <p:cNvSpPr txBox="1"/>
          <p:nvPr/>
        </p:nvSpPr>
        <p:spPr>
          <a:xfrm>
            <a:off x="6803135" y="2329179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55" name="Rectangle 44"/>
          <p:cNvSpPr/>
          <p:nvPr/>
        </p:nvSpPr>
        <p:spPr>
          <a:xfrm>
            <a:off x="7845552" y="2203704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" name="TextBox 45"/>
          <p:cNvSpPr txBox="1"/>
          <p:nvPr/>
        </p:nvSpPr>
        <p:spPr>
          <a:xfrm>
            <a:off x="7927846" y="2329179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57" name="Rectangle 46"/>
          <p:cNvSpPr/>
          <p:nvPr/>
        </p:nvSpPr>
        <p:spPr>
          <a:xfrm>
            <a:off x="8796528" y="2203704"/>
            <a:ext cx="141732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" name="TextBox 47"/>
          <p:cNvSpPr txBox="1"/>
          <p:nvPr/>
        </p:nvSpPr>
        <p:spPr>
          <a:xfrm>
            <a:off x="8878822" y="2329179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ALTA</a:t>
            </a:r>
          </a:p>
        </p:txBody>
      </p:sp>
      <p:sp>
        <p:nvSpPr>
          <p:cNvPr id="559" name="Rectangle 48"/>
          <p:cNvSpPr/>
          <p:nvPr/>
        </p:nvSpPr>
        <p:spPr>
          <a:xfrm>
            <a:off x="274320" y="2779776"/>
            <a:ext cx="320040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TextBox 49"/>
          <p:cNvSpPr txBox="1"/>
          <p:nvPr/>
        </p:nvSpPr>
        <p:spPr>
          <a:xfrm>
            <a:off x="393192" y="2816351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Microlotes Numerados — edições limitadas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com storytelling de origem e escassez</a:t>
            </a:r>
          </a:p>
        </p:txBody>
      </p:sp>
      <p:sp>
        <p:nvSpPr>
          <p:cNvPr id="561" name="Rectangle 50"/>
          <p:cNvSpPr/>
          <p:nvPr/>
        </p:nvSpPr>
        <p:spPr>
          <a:xfrm>
            <a:off x="3520440" y="2779776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TextBox 51"/>
          <p:cNvSpPr txBox="1"/>
          <p:nvPr/>
        </p:nvSpPr>
        <p:spPr>
          <a:xfrm>
            <a:off x="3602735" y="2905251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BRA+EUA</a:t>
            </a:r>
          </a:p>
        </p:txBody>
      </p:sp>
      <p:sp>
        <p:nvSpPr>
          <p:cNvPr id="563" name="Rectangle 52"/>
          <p:cNvSpPr/>
          <p:nvPr/>
        </p:nvSpPr>
        <p:spPr>
          <a:xfrm>
            <a:off x="4553711" y="2779776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" name="TextBox 53"/>
          <p:cNvSpPr txBox="1"/>
          <p:nvPr/>
        </p:nvSpPr>
        <p:spPr>
          <a:xfrm>
            <a:off x="4636008" y="2905251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5" name="Rectangle 54"/>
          <p:cNvSpPr/>
          <p:nvPr/>
        </p:nvSpPr>
        <p:spPr>
          <a:xfrm>
            <a:off x="5596128" y="2779776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55"/>
          <p:cNvSpPr txBox="1"/>
          <p:nvPr/>
        </p:nvSpPr>
        <p:spPr>
          <a:xfrm>
            <a:off x="5678423" y="2905251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7" name="Rectangle 56"/>
          <p:cNvSpPr/>
          <p:nvPr/>
        </p:nvSpPr>
        <p:spPr>
          <a:xfrm>
            <a:off x="6720840" y="2779776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TextBox 57"/>
          <p:cNvSpPr txBox="1"/>
          <p:nvPr/>
        </p:nvSpPr>
        <p:spPr>
          <a:xfrm>
            <a:off x="6803135" y="2905251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69" name="Rectangle 58"/>
          <p:cNvSpPr/>
          <p:nvPr/>
        </p:nvSpPr>
        <p:spPr>
          <a:xfrm>
            <a:off x="7845552" y="2779776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0" name="TextBox 59"/>
          <p:cNvSpPr txBox="1"/>
          <p:nvPr/>
        </p:nvSpPr>
        <p:spPr>
          <a:xfrm>
            <a:off x="7927846" y="2905251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71" name="Rectangle 60"/>
          <p:cNvSpPr/>
          <p:nvPr/>
        </p:nvSpPr>
        <p:spPr>
          <a:xfrm>
            <a:off x="8796528" y="2779776"/>
            <a:ext cx="141732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TextBox 61"/>
          <p:cNvSpPr txBox="1"/>
          <p:nvPr/>
        </p:nvSpPr>
        <p:spPr>
          <a:xfrm>
            <a:off x="8878822" y="2905251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ALTA</a:t>
            </a:r>
          </a:p>
        </p:txBody>
      </p:sp>
      <p:sp>
        <p:nvSpPr>
          <p:cNvPr id="573" name="Rectangle 62"/>
          <p:cNvSpPr/>
          <p:nvPr/>
        </p:nvSpPr>
        <p:spPr>
          <a:xfrm>
            <a:off x="274320" y="3355847"/>
            <a:ext cx="320040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4" name="TextBox 63"/>
          <p:cNvSpPr txBox="1"/>
          <p:nvPr/>
        </p:nvSpPr>
        <p:spPr>
          <a:xfrm>
            <a:off x="393192" y="3392423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Kit Presenteável Premium — caixa curada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para gifting corporativo e pessoal</a:t>
            </a:r>
          </a:p>
        </p:txBody>
      </p:sp>
      <p:sp>
        <p:nvSpPr>
          <p:cNvPr id="575" name="Rectangle 64"/>
          <p:cNvSpPr/>
          <p:nvPr/>
        </p:nvSpPr>
        <p:spPr>
          <a:xfrm>
            <a:off x="3520440" y="3355847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6" name="TextBox 65"/>
          <p:cNvSpPr txBox="1"/>
          <p:nvPr/>
        </p:nvSpPr>
        <p:spPr>
          <a:xfrm>
            <a:off x="3602735" y="3481323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BRA</a:t>
            </a:r>
          </a:p>
        </p:txBody>
      </p:sp>
      <p:sp>
        <p:nvSpPr>
          <p:cNvPr id="577" name="Rectangle 66"/>
          <p:cNvSpPr/>
          <p:nvPr/>
        </p:nvSpPr>
        <p:spPr>
          <a:xfrm>
            <a:off x="4553711" y="3355847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TextBox 67"/>
          <p:cNvSpPr txBox="1"/>
          <p:nvPr/>
        </p:nvSpPr>
        <p:spPr>
          <a:xfrm>
            <a:off x="4636008" y="3481323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79" name="Rectangle 68"/>
          <p:cNvSpPr/>
          <p:nvPr/>
        </p:nvSpPr>
        <p:spPr>
          <a:xfrm>
            <a:off x="5596128" y="3355847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TextBox 69"/>
          <p:cNvSpPr txBox="1"/>
          <p:nvPr/>
        </p:nvSpPr>
        <p:spPr>
          <a:xfrm>
            <a:off x="5678423" y="3481323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1" name="Rectangle 70"/>
          <p:cNvSpPr/>
          <p:nvPr/>
        </p:nvSpPr>
        <p:spPr>
          <a:xfrm>
            <a:off x="6720840" y="3355847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71"/>
          <p:cNvSpPr txBox="1"/>
          <p:nvPr/>
        </p:nvSpPr>
        <p:spPr>
          <a:xfrm>
            <a:off x="6803135" y="3481323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83" name="Rectangle 72"/>
          <p:cNvSpPr/>
          <p:nvPr/>
        </p:nvSpPr>
        <p:spPr>
          <a:xfrm>
            <a:off x="7845552" y="3355847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4" name="TextBox 73"/>
          <p:cNvSpPr txBox="1"/>
          <p:nvPr/>
        </p:nvSpPr>
        <p:spPr>
          <a:xfrm>
            <a:off x="7927846" y="3481323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85" name="Rectangle 74"/>
          <p:cNvSpPr/>
          <p:nvPr/>
        </p:nvSpPr>
        <p:spPr>
          <a:xfrm>
            <a:off x="8796528" y="3355847"/>
            <a:ext cx="1417321" cy="566929"/>
          </a:xfrm>
          <a:prstGeom prst="rect">
            <a:avLst/>
          </a:prstGeom>
          <a:solidFill>
            <a:srgbClr val="D6EBD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6" name="TextBox 75"/>
          <p:cNvSpPr txBox="1"/>
          <p:nvPr/>
        </p:nvSpPr>
        <p:spPr>
          <a:xfrm>
            <a:off x="8878822" y="3481323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ALTA</a:t>
            </a:r>
          </a:p>
        </p:txBody>
      </p:sp>
      <p:sp>
        <p:nvSpPr>
          <p:cNvPr id="587" name="Rectangle 76"/>
          <p:cNvSpPr/>
          <p:nvPr/>
        </p:nvSpPr>
        <p:spPr>
          <a:xfrm>
            <a:off x="274320" y="3931920"/>
            <a:ext cx="3200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8" name="TextBox 77"/>
          <p:cNvSpPr txBox="1"/>
          <p:nvPr/>
        </p:nvSpPr>
        <p:spPr>
          <a:xfrm>
            <a:off x="393192" y="3968496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Parceria D2C com assinatura US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(ex: Trade Coffee, Atlas Coffee Club)</a:t>
            </a:r>
          </a:p>
        </p:txBody>
      </p:sp>
      <p:sp>
        <p:nvSpPr>
          <p:cNvPr id="589" name="Rectangle 78"/>
          <p:cNvSpPr/>
          <p:nvPr/>
        </p:nvSpPr>
        <p:spPr>
          <a:xfrm>
            <a:off x="3520440" y="3931920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79"/>
          <p:cNvSpPr txBox="1"/>
          <p:nvPr/>
        </p:nvSpPr>
        <p:spPr>
          <a:xfrm>
            <a:off x="3602735" y="4057396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EUA</a:t>
            </a:r>
          </a:p>
        </p:txBody>
      </p:sp>
      <p:sp>
        <p:nvSpPr>
          <p:cNvPr id="591" name="Rectangle 80"/>
          <p:cNvSpPr/>
          <p:nvPr/>
        </p:nvSpPr>
        <p:spPr>
          <a:xfrm>
            <a:off x="4553711" y="3931920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TextBox 81"/>
          <p:cNvSpPr txBox="1"/>
          <p:nvPr/>
        </p:nvSpPr>
        <p:spPr>
          <a:xfrm>
            <a:off x="4636008" y="4057396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93" name="Rectangle 82"/>
          <p:cNvSpPr/>
          <p:nvPr/>
        </p:nvSpPr>
        <p:spPr>
          <a:xfrm>
            <a:off x="5596128" y="3931920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83"/>
          <p:cNvSpPr txBox="1"/>
          <p:nvPr/>
        </p:nvSpPr>
        <p:spPr>
          <a:xfrm>
            <a:off x="5678423" y="4057396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5" name="Rectangle 84"/>
          <p:cNvSpPr/>
          <p:nvPr/>
        </p:nvSpPr>
        <p:spPr>
          <a:xfrm>
            <a:off x="6720840" y="3931920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6" name="TextBox 85"/>
          <p:cNvSpPr txBox="1"/>
          <p:nvPr/>
        </p:nvSpPr>
        <p:spPr>
          <a:xfrm>
            <a:off x="6803135" y="4057396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97" name="Rectangle 86"/>
          <p:cNvSpPr/>
          <p:nvPr/>
        </p:nvSpPr>
        <p:spPr>
          <a:xfrm>
            <a:off x="7845552" y="3931920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TextBox 87"/>
          <p:cNvSpPr txBox="1"/>
          <p:nvPr/>
        </p:nvSpPr>
        <p:spPr>
          <a:xfrm>
            <a:off x="7927846" y="4057396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99" name="Rectangle 88"/>
          <p:cNvSpPr/>
          <p:nvPr/>
        </p:nvSpPr>
        <p:spPr>
          <a:xfrm>
            <a:off x="8796528" y="3931920"/>
            <a:ext cx="1417321" cy="566929"/>
          </a:xfrm>
          <a:prstGeom prst="rect">
            <a:avLst/>
          </a:prstGeom>
          <a:solidFill>
            <a:srgbClr val="F5D88A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TextBox 89"/>
          <p:cNvSpPr txBox="1"/>
          <p:nvPr/>
        </p:nvSpPr>
        <p:spPr>
          <a:xfrm>
            <a:off x="8878822" y="4057396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MEDIA</a:t>
            </a:r>
          </a:p>
        </p:txBody>
      </p:sp>
      <p:sp>
        <p:nvSpPr>
          <p:cNvPr id="601" name="Rectangle 90"/>
          <p:cNvSpPr/>
          <p:nvPr/>
        </p:nvSpPr>
        <p:spPr>
          <a:xfrm>
            <a:off x="274320" y="4507991"/>
            <a:ext cx="3200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TextBox 91"/>
          <p:cNvSpPr txBox="1"/>
          <p:nvPr/>
        </p:nvSpPr>
        <p:spPr>
          <a:xfrm>
            <a:off x="393192" y="4544567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Linha Descafeinado Premium — posicionamento de bem-estar</a:t>
            </a:r>
          </a:p>
        </p:txBody>
      </p:sp>
      <p:sp>
        <p:nvSpPr>
          <p:cNvPr id="603" name="Rectangle 92"/>
          <p:cNvSpPr/>
          <p:nvPr/>
        </p:nvSpPr>
        <p:spPr>
          <a:xfrm>
            <a:off x="3520440" y="4507991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TextBox 93"/>
          <p:cNvSpPr txBox="1"/>
          <p:nvPr/>
        </p:nvSpPr>
        <p:spPr>
          <a:xfrm>
            <a:off x="3602735" y="4633467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BRA+EUA</a:t>
            </a:r>
          </a:p>
        </p:txBody>
      </p:sp>
      <p:sp>
        <p:nvSpPr>
          <p:cNvPr id="605" name="Rectangle 94"/>
          <p:cNvSpPr/>
          <p:nvPr/>
        </p:nvSpPr>
        <p:spPr>
          <a:xfrm>
            <a:off x="4553711" y="4507991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TextBox 95"/>
          <p:cNvSpPr txBox="1"/>
          <p:nvPr/>
        </p:nvSpPr>
        <p:spPr>
          <a:xfrm>
            <a:off x="4636008" y="4633467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7" name="Rectangle 96"/>
          <p:cNvSpPr/>
          <p:nvPr/>
        </p:nvSpPr>
        <p:spPr>
          <a:xfrm>
            <a:off x="5596128" y="4507991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TextBox 97"/>
          <p:cNvSpPr txBox="1"/>
          <p:nvPr/>
        </p:nvSpPr>
        <p:spPr>
          <a:xfrm>
            <a:off x="5678423" y="4633467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09" name="Rectangle 98"/>
          <p:cNvSpPr/>
          <p:nvPr/>
        </p:nvSpPr>
        <p:spPr>
          <a:xfrm>
            <a:off x="6720840" y="4507991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TextBox 99"/>
          <p:cNvSpPr txBox="1"/>
          <p:nvPr/>
        </p:nvSpPr>
        <p:spPr>
          <a:xfrm>
            <a:off x="6803135" y="4633467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11" name="Rectangle 100"/>
          <p:cNvSpPr/>
          <p:nvPr/>
        </p:nvSpPr>
        <p:spPr>
          <a:xfrm>
            <a:off x="7845552" y="4507991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TextBox 101"/>
          <p:cNvSpPr txBox="1"/>
          <p:nvPr/>
        </p:nvSpPr>
        <p:spPr>
          <a:xfrm>
            <a:off x="7927846" y="4633467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13" name="Rectangle 102"/>
          <p:cNvSpPr/>
          <p:nvPr/>
        </p:nvSpPr>
        <p:spPr>
          <a:xfrm>
            <a:off x="8796528" y="4507991"/>
            <a:ext cx="1417321" cy="566929"/>
          </a:xfrm>
          <a:prstGeom prst="rect">
            <a:avLst/>
          </a:prstGeom>
          <a:solidFill>
            <a:srgbClr val="F5D88A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TextBox 103"/>
          <p:cNvSpPr txBox="1"/>
          <p:nvPr/>
        </p:nvSpPr>
        <p:spPr>
          <a:xfrm>
            <a:off x="8878822" y="4633467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MEDIA</a:t>
            </a:r>
          </a:p>
        </p:txBody>
      </p:sp>
      <p:sp>
        <p:nvSpPr>
          <p:cNvPr id="615" name="Rectangle 104"/>
          <p:cNvSpPr/>
          <p:nvPr/>
        </p:nvSpPr>
        <p:spPr>
          <a:xfrm>
            <a:off x="274320" y="5084064"/>
            <a:ext cx="3200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TextBox 105"/>
          <p:cNvSpPr txBox="1"/>
          <p:nvPr/>
        </p:nvSpPr>
        <p:spPr>
          <a:xfrm>
            <a:off x="393192" y="5120640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Pop-up Experiencia em Hotel/Rest. para testar posicionamento e colher feedback</a:t>
            </a:r>
          </a:p>
        </p:txBody>
      </p:sp>
      <p:sp>
        <p:nvSpPr>
          <p:cNvPr id="617" name="Rectangle 106"/>
          <p:cNvSpPr/>
          <p:nvPr/>
        </p:nvSpPr>
        <p:spPr>
          <a:xfrm>
            <a:off x="3520440" y="5084064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TextBox 107"/>
          <p:cNvSpPr txBox="1"/>
          <p:nvPr/>
        </p:nvSpPr>
        <p:spPr>
          <a:xfrm>
            <a:off x="3602735" y="5209540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EUA</a:t>
            </a:r>
          </a:p>
        </p:txBody>
      </p:sp>
      <p:sp>
        <p:nvSpPr>
          <p:cNvPr id="619" name="Rectangle 108"/>
          <p:cNvSpPr/>
          <p:nvPr/>
        </p:nvSpPr>
        <p:spPr>
          <a:xfrm>
            <a:off x="4553711" y="5084064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0" name="TextBox 109"/>
          <p:cNvSpPr txBox="1"/>
          <p:nvPr/>
        </p:nvSpPr>
        <p:spPr>
          <a:xfrm>
            <a:off x="4636008" y="5209540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1" name="Rectangle 110"/>
          <p:cNvSpPr/>
          <p:nvPr/>
        </p:nvSpPr>
        <p:spPr>
          <a:xfrm>
            <a:off x="5596128" y="5084064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TextBox 111"/>
          <p:cNvSpPr txBox="1"/>
          <p:nvPr/>
        </p:nvSpPr>
        <p:spPr>
          <a:xfrm>
            <a:off x="5678423" y="5209540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3" name="Rectangle 112"/>
          <p:cNvSpPr/>
          <p:nvPr/>
        </p:nvSpPr>
        <p:spPr>
          <a:xfrm>
            <a:off x="6720840" y="5084064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TextBox 113"/>
          <p:cNvSpPr txBox="1"/>
          <p:nvPr/>
        </p:nvSpPr>
        <p:spPr>
          <a:xfrm>
            <a:off x="6803135" y="5209540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5" name="Rectangle 114"/>
          <p:cNvSpPr/>
          <p:nvPr/>
        </p:nvSpPr>
        <p:spPr>
          <a:xfrm>
            <a:off x="7845552" y="5084064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TextBox 115"/>
          <p:cNvSpPr txBox="1"/>
          <p:nvPr/>
        </p:nvSpPr>
        <p:spPr>
          <a:xfrm>
            <a:off x="7927846" y="5209540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27" name="Rectangle 116"/>
          <p:cNvSpPr/>
          <p:nvPr/>
        </p:nvSpPr>
        <p:spPr>
          <a:xfrm>
            <a:off x="8796528" y="5084064"/>
            <a:ext cx="1417321" cy="566929"/>
          </a:xfrm>
          <a:prstGeom prst="rect">
            <a:avLst/>
          </a:prstGeom>
          <a:solidFill>
            <a:srgbClr val="F5D88A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TextBox 117"/>
          <p:cNvSpPr txBox="1"/>
          <p:nvPr/>
        </p:nvSpPr>
        <p:spPr>
          <a:xfrm>
            <a:off x="8878822" y="5209540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MEDIA</a:t>
            </a:r>
          </a:p>
        </p:txBody>
      </p:sp>
      <p:sp>
        <p:nvSpPr>
          <p:cNvPr id="629" name="Rectangle 118"/>
          <p:cNvSpPr/>
          <p:nvPr/>
        </p:nvSpPr>
        <p:spPr>
          <a:xfrm>
            <a:off x="274320" y="5660135"/>
            <a:ext cx="3200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TextBox 119"/>
          <p:cNvSpPr txBox="1"/>
          <p:nvPr/>
        </p:nvSpPr>
        <p:spPr>
          <a:xfrm>
            <a:off x="393192" y="5696711"/>
            <a:ext cx="2999233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Certificação B Corp — diferencial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de sustentabilidade para consumidor US</a:t>
            </a:r>
          </a:p>
        </p:txBody>
      </p:sp>
      <p:sp>
        <p:nvSpPr>
          <p:cNvPr id="631" name="Rectangle 120"/>
          <p:cNvSpPr/>
          <p:nvPr/>
        </p:nvSpPr>
        <p:spPr>
          <a:xfrm>
            <a:off x="3520440" y="5660135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TextBox 121"/>
          <p:cNvSpPr txBox="1"/>
          <p:nvPr/>
        </p:nvSpPr>
        <p:spPr>
          <a:xfrm>
            <a:off x="3602735" y="5785611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EUA</a:t>
            </a:r>
          </a:p>
        </p:txBody>
      </p:sp>
      <p:sp>
        <p:nvSpPr>
          <p:cNvPr id="633" name="Rectangle 122"/>
          <p:cNvSpPr/>
          <p:nvPr/>
        </p:nvSpPr>
        <p:spPr>
          <a:xfrm>
            <a:off x="4553711" y="5660135"/>
            <a:ext cx="1005840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123"/>
          <p:cNvSpPr txBox="1"/>
          <p:nvPr/>
        </p:nvSpPr>
        <p:spPr>
          <a:xfrm>
            <a:off x="4636008" y="5785611"/>
            <a:ext cx="84124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35" name="Rectangle 124"/>
          <p:cNvSpPr/>
          <p:nvPr/>
        </p:nvSpPr>
        <p:spPr>
          <a:xfrm>
            <a:off x="5596128" y="5660135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125"/>
          <p:cNvSpPr txBox="1"/>
          <p:nvPr/>
        </p:nvSpPr>
        <p:spPr>
          <a:xfrm>
            <a:off x="5678423" y="5785611"/>
            <a:ext cx="9326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7" name="Rectangle 126"/>
          <p:cNvSpPr/>
          <p:nvPr/>
        </p:nvSpPr>
        <p:spPr>
          <a:xfrm>
            <a:off x="6720840" y="5660135"/>
            <a:ext cx="109728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TextBox 127"/>
          <p:cNvSpPr txBox="1"/>
          <p:nvPr/>
        </p:nvSpPr>
        <p:spPr>
          <a:xfrm>
            <a:off x="6803135" y="5785611"/>
            <a:ext cx="93268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39" name="Rectangle 128"/>
          <p:cNvSpPr/>
          <p:nvPr/>
        </p:nvSpPr>
        <p:spPr>
          <a:xfrm>
            <a:off x="7845552" y="5660135"/>
            <a:ext cx="914401" cy="566929"/>
          </a:xfrm>
          <a:prstGeom prst="rect">
            <a:avLst/>
          </a:prstGeom>
          <a:solidFill>
            <a:srgbClr val="F8F4EE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TextBox 129"/>
          <p:cNvSpPr txBox="1"/>
          <p:nvPr/>
        </p:nvSpPr>
        <p:spPr>
          <a:xfrm>
            <a:off x="7927846" y="5785611"/>
            <a:ext cx="749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41" name="Rectangle 130"/>
          <p:cNvSpPr/>
          <p:nvPr/>
        </p:nvSpPr>
        <p:spPr>
          <a:xfrm>
            <a:off x="8796528" y="5660135"/>
            <a:ext cx="1417321" cy="566929"/>
          </a:xfrm>
          <a:prstGeom prst="rect">
            <a:avLst/>
          </a:prstGeom>
          <a:solidFill>
            <a:srgbClr val="F5D0D0"/>
          </a:solidFill>
          <a:ln w="381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TextBox 131"/>
          <p:cNvSpPr txBox="1"/>
          <p:nvPr/>
        </p:nvSpPr>
        <p:spPr>
          <a:xfrm>
            <a:off x="8878822" y="5785611"/>
            <a:ext cx="12527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BAIXA</a:t>
            </a:r>
          </a:p>
        </p:txBody>
      </p:sp>
      <p:sp>
        <p:nvSpPr>
          <p:cNvPr id="643" name="TextBox 132"/>
          <p:cNvSpPr txBox="1"/>
          <p:nvPr/>
        </p:nvSpPr>
        <p:spPr>
          <a:xfrm>
            <a:off x="320039" y="6446520"/>
            <a:ext cx="114300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Score = Impacto + Viabilidade + Alinhamento com tendencias (max 15). Alta &gt;= 12 · Media 9-11 · Baixa &lt;= 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Matriz de Priorização — Impacto vs Esforço</a:t>
            </a:r>
          </a:p>
        </p:txBody>
      </p:sp>
      <p:sp>
        <p:nvSpPr>
          <p:cNvPr id="648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Onde concentrar energia nos proximos 12 meses</a:t>
            </a:r>
          </a:p>
        </p:txBody>
      </p:sp>
      <p:sp>
        <p:nvSpPr>
          <p:cNvPr id="649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0" name="Rectangle 6"/>
          <p:cNvSpPr/>
          <p:nvPr/>
        </p:nvSpPr>
        <p:spPr>
          <a:xfrm>
            <a:off x="320039" y="1188719"/>
            <a:ext cx="5303522" cy="5029201"/>
          </a:xfrm>
          <a:prstGeom prst="rect">
            <a:avLst/>
          </a:prstGeom>
          <a:solidFill>
            <a:srgbClr val="D6EBDE"/>
          </a:solidFill>
          <a:ln w="10160">
            <a:solidFill>
              <a:srgbClr val="2A6B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Rectangle 7"/>
          <p:cNvSpPr/>
          <p:nvPr/>
        </p:nvSpPr>
        <p:spPr>
          <a:xfrm>
            <a:off x="5760720" y="1188719"/>
            <a:ext cx="6080761" cy="5029201"/>
          </a:xfrm>
          <a:prstGeom prst="rect">
            <a:avLst/>
          </a:prstGeom>
          <a:solidFill>
            <a:srgbClr val="F5D88A"/>
          </a:solidFill>
          <a:ln w="10160">
            <a:solidFill>
              <a:srgbClr val="C9A84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Rectangle 8"/>
          <p:cNvSpPr/>
          <p:nvPr/>
        </p:nvSpPr>
        <p:spPr>
          <a:xfrm>
            <a:off x="320039" y="3246120"/>
            <a:ext cx="5303522" cy="2971801"/>
          </a:xfrm>
          <a:prstGeom prst="rect">
            <a:avLst/>
          </a:prstGeom>
          <a:solidFill>
            <a:srgbClr val="F8F4EE"/>
          </a:solidFill>
          <a:ln w="10160">
            <a:solidFill>
              <a:srgbClr val="E8E2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Rectangle 9"/>
          <p:cNvSpPr/>
          <p:nvPr/>
        </p:nvSpPr>
        <p:spPr>
          <a:xfrm>
            <a:off x="5760720" y="3246120"/>
            <a:ext cx="6080761" cy="2971801"/>
          </a:xfrm>
          <a:prstGeom prst="rect">
            <a:avLst/>
          </a:prstGeom>
          <a:solidFill>
            <a:srgbClr val="F5D0D0"/>
          </a:solidFill>
          <a:ln w="1016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4" name="TextBox 10"/>
          <p:cNvSpPr txBox="1"/>
          <p:nvPr/>
        </p:nvSpPr>
        <p:spPr>
          <a:xfrm>
            <a:off x="1417319" y="1234439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A6B4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ALTO IMPACTO</a:t>
            </a:r>
          </a:p>
        </p:txBody>
      </p:sp>
      <p:sp>
        <p:nvSpPr>
          <p:cNvPr id="655" name="TextBox 11"/>
          <p:cNvSpPr txBox="1"/>
          <p:nvPr/>
        </p:nvSpPr>
        <p:spPr>
          <a:xfrm>
            <a:off x="1417319" y="5852159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BAIXO IMPACTO</a:t>
            </a:r>
          </a:p>
        </p:txBody>
      </p:sp>
      <p:sp>
        <p:nvSpPr>
          <p:cNvPr id="656" name="TextBox 12"/>
          <p:cNvSpPr txBox="1"/>
          <p:nvPr/>
        </p:nvSpPr>
        <p:spPr>
          <a:xfrm>
            <a:off x="5989320" y="1234439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MENOR ESFORCO</a:t>
            </a:r>
          </a:p>
        </p:txBody>
      </p:sp>
      <p:sp>
        <p:nvSpPr>
          <p:cNvPr id="657" name="TextBox 13"/>
          <p:cNvSpPr txBox="1"/>
          <p:nvPr/>
        </p:nvSpPr>
        <p:spPr>
          <a:xfrm>
            <a:off x="9189719" y="1234439"/>
            <a:ext cx="246888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MAIOR ESFORCO</a:t>
            </a:r>
          </a:p>
        </p:txBody>
      </p:sp>
      <p:sp>
        <p:nvSpPr>
          <p:cNvPr id="658" name="TextBox 14"/>
          <p:cNvSpPr txBox="1"/>
          <p:nvPr/>
        </p:nvSpPr>
        <p:spPr>
          <a:xfrm>
            <a:off x="502919" y="1417319"/>
            <a:ext cx="246888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A6B4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QUICK WINS</a:t>
            </a:r>
          </a:p>
          <a:p>
            <a:pPr>
              <a:defRPr b="1" sz="1000">
                <a:solidFill>
                  <a:srgbClr val="2A6B4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(Prioridade 1)</a:t>
            </a:r>
          </a:p>
        </p:txBody>
      </p:sp>
      <p:sp>
        <p:nvSpPr>
          <p:cNvPr id="659" name="TextBox 15"/>
          <p:cNvSpPr txBox="1"/>
          <p:nvPr/>
        </p:nvSpPr>
        <p:spPr>
          <a:xfrm>
            <a:off x="5989320" y="1417319"/>
            <a:ext cx="24688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PROJETOS</a:t>
            </a:r>
          </a:p>
          <a:p>
            <a: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ESTRATEGICOS</a:t>
            </a:r>
          </a:p>
          <a:p>
            <a: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(Prioridade 2)</a:t>
            </a:r>
          </a:p>
        </p:txBody>
      </p:sp>
      <p:sp>
        <p:nvSpPr>
          <p:cNvPr id="660" name="TextBox 16"/>
          <p:cNvSpPr txBox="1"/>
          <p:nvPr/>
        </p:nvSpPr>
        <p:spPr>
          <a:xfrm>
            <a:off x="502919" y="5852159"/>
            <a:ext cx="246888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FILL-INS</a:t>
            </a:r>
          </a:p>
          <a:p>
            <a:pPr>
              <a:defRPr b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(Baixa prioridade)</a:t>
            </a:r>
          </a:p>
        </p:txBody>
      </p:sp>
      <p:sp>
        <p:nvSpPr>
          <p:cNvPr id="661" name="TextBox 17"/>
          <p:cNvSpPr txBox="1"/>
          <p:nvPr/>
        </p:nvSpPr>
        <p:spPr>
          <a:xfrm>
            <a:off x="5989320" y="5852159"/>
            <a:ext cx="246888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RECONSIDERAR</a:t>
            </a:r>
          </a:p>
          <a:p>
            <a:pPr>
              <a:defRPr b="1" sz="9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(Nao agora)</a:t>
            </a:r>
          </a:p>
        </p:txBody>
      </p:sp>
      <p:sp>
        <p:nvSpPr>
          <p:cNvPr id="662" name="Rectangle 18"/>
          <p:cNvSpPr/>
          <p:nvPr/>
        </p:nvSpPr>
        <p:spPr>
          <a:xfrm>
            <a:off x="2240279" y="1645920"/>
            <a:ext cx="1371601" cy="685801"/>
          </a:xfrm>
          <a:prstGeom prst="rect">
            <a:avLst/>
          </a:prstGeom>
          <a:solidFill>
            <a:srgbClr val="D6EBDE"/>
          </a:solidFill>
          <a:ln w="1524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3" name="TextBox 19"/>
          <p:cNvSpPr txBox="1"/>
          <p:nvPr/>
        </p:nvSpPr>
        <p:spPr>
          <a:xfrm>
            <a:off x="2286000" y="1664207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Microlotes</a:t>
            </a:r>
          </a:p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Numerados</a:t>
            </a:r>
          </a:p>
        </p:txBody>
      </p:sp>
      <p:sp>
        <p:nvSpPr>
          <p:cNvPr id="664" name="Rectangle 20"/>
          <p:cNvSpPr/>
          <p:nvPr/>
        </p:nvSpPr>
        <p:spPr>
          <a:xfrm>
            <a:off x="3611879" y="2011679"/>
            <a:ext cx="1371601" cy="685801"/>
          </a:xfrm>
          <a:prstGeom prst="rect">
            <a:avLst/>
          </a:prstGeom>
          <a:solidFill>
            <a:srgbClr val="D6EBDE"/>
          </a:solidFill>
          <a:ln w="1524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TextBox 21"/>
          <p:cNvSpPr txBox="1"/>
          <p:nvPr/>
        </p:nvSpPr>
        <p:spPr>
          <a:xfrm>
            <a:off x="3657600" y="2029966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Kit Presente</a:t>
            </a:r>
          </a:p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Premium</a:t>
            </a:r>
          </a:p>
        </p:txBody>
      </p:sp>
      <p:sp>
        <p:nvSpPr>
          <p:cNvPr id="666" name="Rectangle 22"/>
          <p:cNvSpPr/>
          <p:nvPr/>
        </p:nvSpPr>
        <p:spPr>
          <a:xfrm>
            <a:off x="7269480" y="1737360"/>
            <a:ext cx="1371601" cy="685801"/>
          </a:xfrm>
          <a:prstGeom prst="rect">
            <a:avLst/>
          </a:prstGeom>
          <a:solidFill>
            <a:srgbClr val="F5D88A"/>
          </a:solidFill>
          <a:ln w="1524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TextBox 23"/>
          <p:cNvSpPr txBox="1"/>
          <p:nvPr/>
        </p:nvSpPr>
        <p:spPr>
          <a:xfrm>
            <a:off x="7315200" y="1755648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Assinatura</a:t>
            </a:r>
          </a:p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EUA</a:t>
            </a:r>
          </a:p>
        </p:txBody>
      </p:sp>
      <p:sp>
        <p:nvSpPr>
          <p:cNvPr id="668" name="Rectangle 24"/>
          <p:cNvSpPr/>
          <p:nvPr/>
        </p:nvSpPr>
        <p:spPr>
          <a:xfrm>
            <a:off x="9098280" y="2103120"/>
            <a:ext cx="1371601" cy="685801"/>
          </a:xfrm>
          <a:prstGeom prst="rect">
            <a:avLst/>
          </a:prstGeom>
          <a:solidFill>
            <a:srgbClr val="F5D88A"/>
          </a:solidFill>
          <a:ln w="1524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TextBox 25"/>
          <p:cNvSpPr txBox="1"/>
          <p:nvPr/>
        </p:nvSpPr>
        <p:spPr>
          <a:xfrm>
            <a:off x="9144000" y="2121407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Linha</a:t>
            </a:r>
          </a:p>
          <a:p>
            <a:pPr algn="ctr">
              <a:defRPr b="1" sz="8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Funcional</a:t>
            </a:r>
          </a:p>
        </p:txBody>
      </p:sp>
      <p:sp>
        <p:nvSpPr>
          <p:cNvPr id="670" name="Rectangle 26"/>
          <p:cNvSpPr/>
          <p:nvPr/>
        </p:nvSpPr>
        <p:spPr>
          <a:xfrm>
            <a:off x="8183878" y="3840479"/>
            <a:ext cx="1371601" cy="685801"/>
          </a:xfrm>
          <a:prstGeom prst="rect">
            <a:avLst/>
          </a:prstGeom>
          <a:solidFill>
            <a:srgbClr val="F5D0D0"/>
          </a:solidFill>
          <a:ln w="1524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TextBox 27"/>
          <p:cNvSpPr txBox="1"/>
          <p:nvPr/>
        </p:nvSpPr>
        <p:spPr>
          <a:xfrm>
            <a:off x="8229598" y="3858767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Parceria</a:t>
            </a:r>
          </a:p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D2C EUA</a:t>
            </a:r>
          </a:p>
        </p:txBody>
      </p:sp>
      <p:sp>
        <p:nvSpPr>
          <p:cNvPr id="672" name="Rectangle 28"/>
          <p:cNvSpPr/>
          <p:nvPr/>
        </p:nvSpPr>
        <p:spPr>
          <a:xfrm>
            <a:off x="2697479" y="3840479"/>
            <a:ext cx="1371601" cy="685801"/>
          </a:xfrm>
          <a:prstGeom prst="rect">
            <a:avLst/>
          </a:prstGeom>
          <a:solidFill>
            <a:srgbClr val="F8F4EE"/>
          </a:solidFill>
          <a:ln w="15240">
            <a:solidFill>
              <a:srgbClr val="90857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3" name="TextBox 29"/>
          <p:cNvSpPr txBox="1"/>
          <p:nvPr/>
        </p:nvSpPr>
        <p:spPr>
          <a:xfrm>
            <a:off x="2743200" y="3858767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Desc.</a:t>
            </a:r>
          </a:p>
          <a:p>
            <a:pPr algn="ctr">
              <a:defRPr b="1" sz="8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Premium</a:t>
            </a:r>
          </a:p>
        </p:txBody>
      </p:sp>
      <p:sp>
        <p:nvSpPr>
          <p:cNvPr id="674" name="Rectangle 30"/>
          <p:cNvSpPr/>
          <p:nvPr/>
        </p:nvSpPr>
        <p:spPr>
          <a:xfrm>
            <a:off x="9372600" y="4754879"/>
            <a:ext cx="1371600" cy="685801"/>
          </a:xfrm>
          <a:prstGeom prst="rect">
            <a:avLst/>
          </a:prstGeom>
          <a:solidFill>
            <a:srgbClr val="F5D0D0"/>
          </a:solidFill>
          <a:ln w="1524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TextBox 31"/>
          <p:cNvSpPr txBox="1"/>
          <p:nvPr/>
        </p:nvSpPr>
        <p:spPr>
          <a:xfrm>
            <a:off x="9418319" y="4773167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 Corp</a:t>
            </a:r>
          </a:p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Cert.</a:t>
            </a:r>
          </a:p>
        </p:txBody>
      </p:sp>
      <p:sp>
        <p:nvSpPr>
          <p:cNvPr id="676" name="Rectangle 32"/>
          <p:cNvSpPr/>
          <p:nvPr/>
        </p:nvSpPr>
        <p:spPr>
          <a:xfrm>
            <a:off x="7726678" y="5029200"/>
            <a:ext cx="1371601" cy="685800"/>
          </a:xfrm>
          <a:prstGeom prst="rect">
            <a:avLst/>
          </a:prstGeom>
          <a:solidFill>
            <a:srgbClr val="F5D0D0"/>
          </a:solidFill>
          <a:ln w="15240">
            <a:solidFill>
              <a:srgbClr val="7A30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" name="TextBox 33"/>
          <p:cNvSpPr txBox="1"/>
          <p:nvPr/>
        </p:nvSpPr>
        <p:spPr>
          <a:xfrm>
            <a:off x="7772398" y="5047488"/>
            <a:ext cx="1280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Pop-up</a:t>
            </a:r>
          </a:p>
          <a:p>
            <a:pPr algn="ctr">
              <a:defRPr b="1" sz="800">
                <a:solidFill>
                  <a:srgbClr val="7A3030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NY</a:t>
            </a:r>
          </a:p>
        </p:txBody>
      </p:sp>
      <p:sp>
        <p:nvSpPr>
          <p:cNvPr id="678" name="TextBox 34"/>
          <p:cNvSpPr txBox="1"/>
          <p:nvPr/>
        </p:nvSpPr>
        <p:spPr>
          <a:xfrm>
            <a:off x="365759" y="6446520"/>
            <a:ext cx="114300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Eixo horizontal: Esforco (tempo, investimento, complexidade) · Eixo vertical: Impacto potencial no negocio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2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Roadmap Proposto — 3 Fases</a:t>
            </a:r>
          </a:p>
        </p:txBody>
      </p:sp>
      <p:sp>
        <p:nvSpPr>
          <p:cNvPr id="683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Da fundacao a escala no mercado americano</a:t>
            </a:r>
          </a:p>
        </p:txBody>
      </p:sp>
      <p:sp>
        <p:nvSpPr>
          <p:cNvPr id="684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5" name="Rectangle 6"/>
          <p:cNvSpPr/>
          <p:nvPr/>
        </p:nvSpPr>
        <p:spPr>
          <a:xfrm>
            <a:off x="320040" y="1142999"/>
            <a:ext cx="3749040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Rectangle 7"/>
          <p:cNvSpPr/>
          <p:nvPr/>
        </p:nvSpPr>
        <p:spPr>
          <a:xfrm>
            <a:off x="320040" y="1143000"/>
            <a:ext cx="3749040" cy="914400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TextBox 8"/>
          <p:cNvSpPr txBox="1"/>
          <p:nvPr/>
        </p:nvSpPr>
        <p:spPr>
          <a:xfrm>
            <a:off x="502919" y="1170432"/>
            <a:ext cx="34290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FASE 1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0–6 MESES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Fundacao</a:t>
            </a:r>
          </a:p>
        </p:txBody>
      </p:sp>
      <p:sp>
        <p:nvSpPr>
          <p:cNvPr id="688" name="TextBox 9"/>
          <p:cNvSpPr txBox="1"/>
          <p:nvPr/>
        </p:nvSpPr>
        <p:spPr>
          <a:xfrm>
            <a:off x="502919" y="2148839"/>
            <a:ext cx="34290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Produto &amp; Narrativa</a:t>
            </a:r>
          </a:p>
        </p:txBody>
      </p:sp>
      <p:sp>
        <p:nvSpPr>
          <p:cNvPr id="689" name="TextBox 10"/>
          <p:cNvSpPr txBox="1"/>
          <p:nvPr/>
        </p:nvSpPr>
        <p:spPr>
          <a:xfrm>
            <a:off x="502919" y="2542032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Definir SKUs para o mercado US (2-3 produtos)</a:t>
            </a:r>
          </a:p>
        </p:txBody>
      </p:sp>
      <p:sp>
        <p:nvSpPr>
          <p:cNvPr id="690" name="TextBox 11"/>
          <p:cNvSpPr txBox="1"/>
          <p:nvPr/>
        </p:nvSpPr>
        <p:spPr>
          <a:xfrm>
            <a:off x="502919" y="2980944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Desenvolver embalagem e identidade visual US-ready</a:t>
            </a:r>
          </a:p>
        </p:txBody>
      </p:sp>
      <p:sp>
        <p:nvSpPr>
          <p:cNvPr id="691" name="TextBox 12"/>
          <p:cNvSpPr txBox="1"/>
          <p:nvPr/>
        </p:nvSpPr>
        <p:spPr>
          <a:xfrm>
            <a:off x="502919" y="3419855"/>
            <a:ext cx="338328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Criar storytelling de origem em ingles (produtor, terroir, processo)</a:t>
            </a:r>
          </a:p>
        </p:txBody>
      </p:sp>
      <p:sp>
        <p:nvSpPr>
          <p:cNvPr id="692" name="TextBox 13"/>
          <p:cNvSpPr txBox="1"/>
          <p:nvPr/>
        </p:nvSpPr>
        <p:spPr>
          <a:xfrm>
            <a:off x="502919" y="3858767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Resolver operacional: importação, FDA, shelf life</a:t>
            </a:r>
          </a:p>
        </p:txBody>
      </p:sp>
      <p:sp>
        <p:nvSpPr>
          <p:cNvPr id="693" name="TextBox 14"/>
          <p:cNvSpPr txBox="1"/>
          <p:nvPr/>
        </p:nvSpPr>
        <p:spPr>
          <a:xfrm>
            <a:off x="502919" y="4297679"/>
            <a:ext cx="338328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Testar assinatura D2C em escala pequena (100-500 clientes)</a:t>
            </a:r>
          </a:p>
        </p:txBody>
      </p:sp>
      <p:sp>
        <p:nvSpPr>
          <p:cNvPr id="694" name="Rectangle 15"/>
          <p:cNvSpPr/>
          <p:nvPr/>
        </p:nvSpPr>
        <p:spPr>
          <a:xfrm>
            <a:off x="4251959" y="1142999"/>
            <a:ext cx="3749040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5" name="Rectangle 16"/>
          <p:cNvSpPr/>
          <p:nvPr/>
        </p:nvSpPr>
        <p:spPr>
          <a:xfrm>
            <a:off x="4251959" y="1143000"/>
            <a:ext cx="3749040" cy="914400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17"/>
          <p:cNvSpPr txBox="1"/>
          <p:nvPr/>
        </p:nvSpPr>
        <p:spPr>
          <a:xfrm>
            <a:off x="4434840" y="1170432"/>
            <a:ext cx="34290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FASE 2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6–12 MESES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Entrada</a:t>
            </a:r>
          </a:p>
        </p:txBody>
      </p:sp>
      <p:sp>
        <p:nvSpPr>
          <p:cNvPr id="697" name="TextBox 18"/>
          <p:cNvSpPr txBox="1"/>
          <p:nvPr/>
        </p:nvSpPr>
        <p:spPr>
          <a:xfrm>
            <a:off x="4434840" y="2148839"/>
            <a:ext cx="34290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Canal &amp; Lançamento</a:t>
            </a:r>
          </a:p>
        </p:txBody>
      </p:sp>
      <p:sp>
        <p:nvSpPr>
          <p:cNvPr id="698" name="TextBox 19"/>
          <p:cNvSpPr txBox="1"/>
          <p:nvPr/>
        </p:nvSpPr>
        <p:spPr>
          <a:xfrm>
            <a:off x="4434840" y="2542032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Parcerias com 1-2 specialty retailers de prestígio</a:t>
            </a:r>
          </a:p>
        </p:txBody>
      </p:sp>
      <p:sp>
        <p:nvSpPr>
          <p:cNvPr id="699" name="TextBox 20"/>
          <p:cNvSpPr txBox="1"/>
          <p:nvPr/>
        </p:nvSpPr>
        <p:spPr>
          <a:xfrm>
            <a:off x="4434840" y="2980944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Lançar assinatura Orfeu US com curadoria mensal</a:t>
            </a:r>
          </a:p>
        </p:txBody>
      </p:sp>
      <p:sp>
        <p:nvSpPr>
          <p:cNvPr id="700" name="TextBox 21"/>
          <p:cNvSpPr txBox="1"/>
          <p:nvPr/>
        </p:nvSpPr>
        <p:spPr>
          <a:xfrm>
            <a:off x="4434840" y="3419855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Pop-up em hotel/restaurante de referencia em NY ou LA</a:t>
            </a:r>
          </a:p>
        </p:txBody>
      </p:sp>
      <p:sp>
        <p:nvSpPr>
          <p:cNvPr id="701" name="TextBox 22"/>
          <p:cNvSpPr txBox="1"/>
          <p:nvPr/>
        </p:nvSpPr>
        <p:spPr>
          <a:xfrm>
            <a:off x="4434840" y="3858767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Influenciadores de cafe e food culture para amplificação</a:t>
            </a:r>
          </a:p>
        </p:txBody>
      </p:sp>
      <p:sp>
        <p:nvSpPr>
          <p:cNvPr id="702" name="TextBox 23"/>
          <p:cNvSpPr txBox="1"/>
          <p:nvPr/>
        </p:nvSpPr>
        <p:spPr>
          <a:xfrm>
            <a:off x="4434840" y="4297679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Testar linha funcional (1 SKU piloto)</a:t>
            </a:r>
          </a:p>
        </p:txBody>
      </p:sp>
      <p:sp>
        <p:nvSpPr>
          <p:cNvPr id="703" name="Rectangle 24"/>
          <p:cNvSpPr/>
          <p:nvPr/>
        </p:nvSpPr>
        <p:spPr>
          <a:xfrm>
            <a:off x="8183878" y="1142999"/>
            <a:ext cx="3749040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4" name="Rectangle 25"/>
          <p:cNvSpPr/>
          <p:nvPr/>
        </p:nvSpPr>
        <p:spPr>
          <a:xfrm>
            <a:off x="8183878" y="1143000"/>
            <a:ext cx="3749040" cy="914400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TextBox 26"/>
          <p:cNvSpPr txBox="1"/>
          <p:nvPr/>
        </p:nvSpPr>
        <p:spPr>
          <a:xfrm>
            <a:off x="8366759" y="1170432"/>
            <a:ext cx="34290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FASE 3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12–24 MESES</a:t>
            </a:r>
          </a:p>
          <a:p>
            <a:pPr>
              <a:defRPr b="1" sz="11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Escala</a:t>
            </a:r>
          </a:p>
        </p:txBody>
      </p:sp>
      <p:sp>
        <p:nvSpPr>
          <p:cNvPr id="706" name="TextBox 27"/>
          <p:cNvSpPr txBox="1"/>
          <p:nvPr/>
        </p:nvSpPr>
        <p:spPr>
          <a:xfrm>
            <a:off x="8366759" y="2148839"/>
            <a:ext cx="34290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E3A6E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Portfolio &amp; Parceiros</a:t>
            </a:r>
          </a:p>
        </p:txBody>
      </p:sp>
      <p:sp>
        <p:nvSpPr>
          <p:cNvPr id="707" name="TextBox 28"/>
          <p:cNvSpPr txBox="1"/>
          <p:nvPr/>
        </p:nvSpPr>
        <p:spPr>
          <a:xfrm>
            <a:off x="8366759" y="2542032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Expandir linha funcional com 2-3 SKUs validados</a:t>
            </a:r>
          </a:p>
        </p:txBody>
      </p:sp>
      <p:sp>
        <p:nvSpPr>
          <p:cNvPr id="708" name="TextBox 29"/>
          <p:cNvSpPr txBox="1"/>
          <p:nvPr/>
        </p:nvSpPr>
        <p:spPr>
          <a:xfrm>
            <a:off x="8366759" y="2980944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Microlotes numerados como produto de status/escassez</a:t>
            </a:r>
          </a:p>
        </p:txBody>
      </p:sp>
      <p:sp>
        <p:nvSpPr>
          <p:cNvPr id="709" name="TextBox 30"/>
          <p:cNvSpPr txBox="1"/>
          <p:nvPr/>
        </p:nvSpPr>
        <p:spPr>
          <a:xfrm>
            <a:off x="8366759" y="3419855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Ampliar base de assinantes para 2.000-5.000 clientes</a:t>
            </a:r>
          </a:p>
        </p:txBody>
      </p:sp>
      <p:sp>
        <p:nvSpPr>
          <p:cNvPr id="710" name="TextBox 31"/>
          <p:cNvSpPr txBox="1"/>
          <p:nvPr/>
        </p:nvSpPr>
        <p:spPr>
          <a:xfrm>
            <a:off x="8366759" y="3858767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Avaliar entrada em canal food service premium (B2B)</a:t>
            </a:r>
          </a:p>
        </p:txBody>
      </p:sp>
      <p:sp>
        <p:nvSpPr>
          <p:cNvPr id="711" name="TextBox 32"/>
          <p:cNvSpPr txBox="1"/>
          <p:nvPr/>
        </p:nvSpPr>
        <p:spPr>
          <a:xfrm>
            <a:off x="8366759" y="4297679"/>
            <a:ext cx="3383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• Iniciar processo de certificação B Corp ou equivalente</a:t>
            </a:r>
          </a:p>
        </p:txBody>
      </p:sp>
      <p:sp>
        <p:nvSpPr>
          <p:cNvPr id="712" name="TextBox 33"/>
          <p:cNvSpPr txBox="1"/>
          <p:nvPr/>
        </p:nvSpPr>
        <p:spPr>
          <a:xfrm>
            <a:off x="365759" y="6446520"/>
            <a:ext cx="11430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Metas 2030: R$500M faturamento · 40% MC · 20% EBITDA · 20% receita internacional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6" name="TextBox 3"/>
          <p:cNvSpPr txBox="1"/>
          <p:nvPr/>
        </p:nvSpPr>
        <p:spPr>
          <a:xfrm>
            <a:off x="457200" y="137160"/>
            <a:ext cx="9509760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Próximos Passos Imediatos</a:t>
            </a:r>
          </a:p>
        </p:txBody>
      </p:sp>
      <p:sp>
        <p:nvSpPr>
          <p:cNvPr id="717" name="TextBox 4"/>
          <p:cNvSpPr txBox="1"/>
          <p:nvPr/>
        </p:nvSpPr>
        <p:spPr>
          <a:xfrm>
            <a:off x="457200" y="685800"/>
            <a:ext cx="95097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C9A84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Os 5 movimentos para os proximos 30-60-90 dias</a:t>
            </a:r>
          </a:p>
        </p:txBody>
      </p:sp>
      <p:sp>
        <p:nvSpPr>
          <p:cNvPr id="718" name="Rectangle 5"/>
          <p:cNvSpPr/>
          <p:nvPr/>
        </p:nvSpPr>
        <p:spPr>
          <a:xfrm>
            <a:off x="-1" y="6748271"/>
            <a:ext cx="12188954" cy="109729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9" name="Rectangle 6"/>
          <p:cNvSpPr/>
          <p:nvPr/>
        </p:nvSpPr>
        <p:spPr>
          <a:xfrm>
            <a:off x="320039" y="1142999"/>
            <a:ext cx="2194562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1A3A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0" name="Rectangle 7"/>
          <p:cNvSpPr/>
          <p:nvPr/>
        </p:nvSpPr>
        <p:spPr>
          <a:xfrm>
            <a:off x="320039" y="1143000"/>
            <a:ext cx="2194562" cy="411481"/>
          </a:xfrm>
          <a:prstGeom prst="rect">
            <a:avLst/>
          </a:prstGeom>
          <a:solidFill>
            <a:srgbClr val="1A3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1" name="TextBox 8"/>
          <p:cNvSpPr txBox="1"/>
          <p:nvPr/>
        </p:nvSpPr>
        <p:spPr>
          <a:xfrm>
            <a:off x="457199" y="1188719"/>
            <a:ext cx="1920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30 DIAS</a:t>
            </a:r>
          </a:p>
        </p:txBody>
      </p:sp>
      <p:sp>
        <p:nvSpPr>
          <p:cNvPr id="722" name="Rectangle 9"/>
          <p:cNvSpPr/>
          <p:nvPr/>
        </p:nvSpPr>
        <p:spPr>
          <a:xfrm>
            <a:off x="320039" y="1581911"/>
            <a:ext cx="2194562" cy="457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TextBox 10"/>
          <p:cNvSpPr txBox="1"/>
          <p:nvPr/>
        </p:nvSpPr>
        <p:spPr>
          <a:xfrm>
            <a:off x="457199" y="1627632"/>
            <a:ext cx="193852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3A2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Definir Territorio de Entrada EUA</a:t>
            </a:r>
          </a:p>
        </p:txBody>
      </p:sp>
      <p:sp>
        <p:nvSpPr>
          <p:cNvPr id="724" name="TextBox 11"/>
          <p:cNvSpPr txBox="1"/>
          <p:nvPr/>
        </p:nvSpPr>
        <p:spPr>
          <a:xfrm>
            <a:off x="457199" y="2103120"/>
            <a:ext cx="1938529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Escolher 1-2 canais prioritários para o mercado US.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D2C própria vs parceria com subscription box existente.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Não tentar todos os canais ao mesmo tempo.</a:t>
            </a:r>
          </a:p>
        </p:txBody>
      </p:sp>
      <p:sp>
        <p:nvSpPr>
          <p:cNvPr id="725" name="Rectangle 12"/>
          <p:cNvSpPr/>
          <p:nvPr/>
        </p:nvSpPr>
        <p:spPr>
          <a:xfrm>
            <a:off x="2606039" y="1142999"/>
            <a:ext cx="2194561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Rectangle 13"/>
          <p:cNvSpPr/>
          <p:nvPr/>
        </p:nvSpPr>
        <p:spPr>
          <a:xfrm>
            <a:off x="2606039" y="1143000"/>
            <a:ext cx="2194561" cy="411481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7" name="TextBox 14"/>
          <p:cNvSpPr txBox="1"/>
          <p:nvPr/>
        </p:nvSpPr>
        <p:spPr>
          <a:xfrm>
            <a:off x="2743200" y="1188719"/>
            <a:ext cx="192023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30 DIAS</a:t>
            </a:r>
          </a:p>
        </p:txBody>
      </p:sp>
      <p:sp>
        <p:nvSpPr>
          <p:cNvPr id="728" name="Rectangle 15"/>
          <p:cNvSpPr/>
          <p:nvPr/>
        </p:nvSpPr>
        <p:spPr>
          <a:xfrm>
            <a:off x="2606039" y="1581911"/>
            <a:ext cx="2194561" cy="457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9" name="TextBox 16"/>
          <p:cNvSpPr txBox="1"/>
          <p:nvPr/>
        </p:nvSpPr>
        <p:spPr>
          <a:xfrm>
            <a:off x="2743200" y="1627632"/>
            <a:ext cx="1938528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Encomendar Embalagem US-Ready</a:t>
            </a:r>
          </a:p>
        </p:txBody>
      </p:sp>
      <p:sp>
        <p:nvSpPr>
          <p:cNvPr id="730" name="TextBox 17"/>
          <p:cNvSpPr txBox="1"/>
          <p:nvPr/>
        </p:nvSpPr>
        <p:spPr>
          <a:xfrm>
            <a:off x="2743200" y="2103120"/>
            <a:ext cx="193852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Brief de design para versão americana das embalagens.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Ingles, storytelling visual, formato compatível com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standards de varejo americano.</a:t>
            </a:r>
          </a:p>
        </p:txBody>
      </p:sp>
      <p:sp>
        <p:nvSpPr>
          <p:cNvPr id="731" name="Rectangle 18"/>
          <p:cNvSpPr/>
          <p:nvPr/>
        </p:nvSpPr>
        <p:spPr>
          <a:xfrm>
            <a:off x="4892040" y="1142999"/>
            <a:ext cx="2194561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1E3A6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Rectangle 19"/>
          <p:cNvSpPr/>
          <p:nvPr/>
        </p:nvSpPr>
        <p:spPr>
          <a:xfrm>
            <a:off x="4892040" y="1143000"/>
            <a:ext cx="2194561" cy="411481"/>
          </a:xfrm>
          <a:prstGeom prst="rect">
            <a:avLst/>
          </a:prstGeom>
          <a:solidFill>
            <a:srgbClr val="1E3A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TextBox 20"/>
          <p:cNvSpPr txBox="1"/>
          <p:nvPr/>
        </p:nvSpPr>
        <p:spPr>
          <a:xfrm>
            <a:off x="5029199" y="1188719"/>
            <a:ext cx="1920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60 DIAS</a:t>
            </a:r>
          </a:p>
        </p:txBody>
      </p:sp>
      <p:sp>
        <p:nvSpPr>
          <p:cNvPr id="734" name="Rectangle 21"/>
          <p:cNvSpPr/>
          <p:nvPr/>
        </p:nvSpPr>
        <p:spPr>
          <a:xfrm>
            <a:off x="4892040" y="1581911"/>
            <a:ext cx="2194561" cy="457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5" name="TextBox 22"/>
          <p:cNvSpPr txBox="1"/>
          <p:nvPr/>
        </p:nvSpPr>
        <p:spPr>
          <a:xfrm>
            <a:off x="5029199" y="1627632"/>
            <a:ext cx="19385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E3A6E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Prototipar 1 SKU Funcional</a:t>
            </a:r>
          </a:p>
        </p:txBody>
      </p:sp>
      <p:sp>
        <p:nvSpPr>
          <p:cNvPr id="736" name="TextBox 23"/>
          <p:cNvSpPr txBox="1"/>
          <p:nvPr/>
        </p:nvSpPr>
        <p:spPr>
          <a:xfrm>
            <a:off x="5029199" y="2103120"/>
            <a:ext cx="1938529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Escolher o funcional com maior alinhamento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(colágeno ou proteínas — ambos tem mercado grande).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Piloto para teste com 50-100 consumidores.</a:t>
            </a:r>
          </a:p>
        </p:txBody>
      </p:sp>
      <p:sp>
        <p:nvSpPr>
          <p:cNvPr id="737" name="Rectangle 24"/>
          <p:cNvSpPr/>
          <p:nvPr/>
        </p:nvSpPr>
        <p:spPr>
          <a:xfrm>
            <a:off x="7178040" y="1142999"/>
            <a:ext cx="2194561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5A3E2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8" name="Rectangle 25"/>
          <p:cNvSpPr/>
          <p:nvPr/>
        </p:nvSpPr>
        <p:spPr>
          <a:xfrm>
            <a:off x="7178040" y="1143000"/>
            <a:ext cx="2194561" cy="411481"/>
          </a:xfrm>
          <a:prstGeom prst="rect">
            <a:avLst/>
          </a:prstGeom>
          <a:solidFill>
            <a:srgbClr val="5A3E2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9" name="TextBox 26"/>
          <p:cNvSpPr txBox="1"/>
          <p:nvPr/>
        </p:nvSpPr>
        <p:spPr>
          <a:xfrm>
            <a:off x="7315198" y="1188719"/>
            <a:ext cx="1920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60 DIAS</a:t>
            </a:r>
          </a:p>
        </p:txBody>
      </p:sp>
      <p:sp>
        <p:nvSpPr>
          <p:cNvPr id="740" name="Rectangle 27"/>
          <p:cNvSpPr/>
          <p:nvPr/>
        </p:nvSpPr>
        <p:spPr>
          <a:xfrm>
            <a:off x="7178040" y="1581911"/>
            <a:ext cx="2194561" cy="457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1" name="TextBox 28"/>
          <p:cNvSpPr txBox="1"/>
          <p:nvPr/>
        </p:nvSpPr>
        <p:spPr>
          <a:xfrm>
            <a:off x="7315198" y="1627632"/>
            <a:ext cx="193852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5A3E28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Produzir Conteúdo de Origem</a:t>
            </a:r>
          </a:p>
        </p:txBody>
      </p:sp>
      <p:sp>
        <p:nvSpPr>
          <p:cNvPr id="742" name="TextBox 29"/>
          <p:cNvSpPr txBox="1"/>
          <p:nvPr/>
        </p:nvSpPr>
        <p:spPr>
          <a:xfrm>
            <a:off x="7315198" y="2103120"/>
            <a:ext cx="1938529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Videos curtos com produtores. Historia da fazenda.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Guia de preparo e notas de prova em ingles.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Base de conteúdo para digital e assinatura.</a:t>
            </a:r>
          </a:p>
        </p:txBody>
      </p:sp>
      <p:sp>
        <p:nvSpPr>
          <p:cNvPr id="743" name="Rectangle 30"/>
          <p:cNvSpPr/>
          <p:nvPr/>
        </p:nvSpPr>
        <p:spPr>
          <a:xfrm>
            <a:off x="9464040" y="1142999"/>
            <a:ext cx="2194561" cy="5349242"/>
          </a:xfrm>
          <a:prstGeom prst="rect">
            <a:avLst/>
          </a:prstGeom>
          <a:solidFill>
            <a:srgbClr val="F8F4EE"/>
          </a:solidFill>
          <a:ln w="19050">
            <a:solidFill>
              <a:srgbClr val="8B5E3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Rectangle 31"/>
          <p:cNvSpPr/>
          <p:nvPr/>
        </p:nvSpPr>
        <p:spPr>
          <a:xfrm>
            <a:off x="9464040" y="1143000"/>
            <a:ext cx="2194561" cy="411481"/>
          </a:xfrm>
          <a:prstGeom prst="rect">
            <a:avLst/>
          </a:prstGeom>
          <a:solidFill>
            <a:srgbClr val="8B5E3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32"/>
          <p:cNvSpPr txBox="1"/>
          <p:nvPr/>
        </p:nvSpPr>
        <p:spPr>
          <a:xfrm>
            <a:off x="9601200" y="1188719"/>
            <a:ext cx="1920239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90 DIAS</a:t>
            </a:r>
          </a:p>
        </p:txBody>
      </p:sp>
      <p:sp>
        <p:nvSpPr>
          <p:cNvPr id="746" name="Rectangle 33"/>
          <p:cNvSpPr/>
          <p:nvPr/>
        </p:nvSpPr>
        <p:spPr>
          <a:xfrm>
            <a:off x="9464040" y="1581911"/>
            <a:ext cx="2194561" cy="457201"/>
          </a:xfrm>
          <a:prstGeom prst="rect">
            <a:avLst/>
          </a:prstGeom>
          <a:solidFill>
            <a:srgbClr val="E8E2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" name="TextBox 34"/>
          <p:cNvSpPr txBox="1"/>
          <p:nvPr/>
        </p:nvSpPr>
        <p:spPr>
          <a:xfrm>
            <a:off x="9601200" y="1627632"/>
            <a:ext cx="193852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8B5E3C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Lançar Assinatura US em Beta</a:t>
            </a:r>
          </a:p>
        </p:txBody>
      </p:sp>
      <p:sp>
        <p:nvSpPr>
          <p:cNvPr id="748" name="TextBox 35"/>
          <p:cNvSpPr txBox="1"/>
          <p:nvPr/>
        </p:nvSpPr>
        <p:spPr>
          <a:xfrm>
            <a:off x="9601200" y="2103120"/>
            <a:ext cx="1938528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MVP de assinatura com 100-500 clientes.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Curadoria mensal + carta do sommelier.</a:t>
            </a:r>
          </a:p>
          <a:p>
            <a:pPr>
              <a:defRPr sz="1000">
                <a:solidFill>
                  <a:srgbClr val="221A12"/>
                </a:solidFill>
                <a:latin typeface="Figtree"/>
                <a:ea typeface="Figtree"/>
                <a:cs typeface="Figtree"/>
                <a:sym typeface="Figtree"/>
              </a:defRPr>
            </a:pPr>
            <a:r>
              <a:t>Medir: retenção, NPS, ticket medio.</a:t>
            </a:r>
          </a:p>
        </p:txBody>
      </p:sp>
      <p:sp>
        <p:nvSpPr>
          <p:cNvPr id="749" name="TextBox 36"/>
          <p:cNvSpPr txBox="1"/>
          <p:nvPr/>
        </p:nvSpPr>
        <p:spPr>
          <a:xfrm>
            <a:off x="365759" y="6446520"/>
            <a:ext cx="11430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0857A"/>
                </a:solidFill>
                <a:latin typeface="Figtree"/>
                <a:ea typeface="Figtree"/>
                <a:cs typeface="Figtree"/>
                <a:sym typeface="Figtree"/>
              </a:defRPr>
            </a:lvl1pPr>
          </a:lstStyle>
          <a:p>
            <a:pPr/>
            <a:r>
              <a:t>Orfeu 2030: R$500M · 40% MC · 20% EBITDA · 20% internacional · alquemia.co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2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3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4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55" name="TextBox 5"/>
          <p:cNvSpPr txBox="1"/>
          <p:nvPr/>
        </p:nvSpPr>
        <p:spPr>
          <a:xfrm>
            <a:off x="426275" y="88826"/>
            <a:ext cx="11570336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ESTRATÉGIA DE CANAL · FORMATO SINGLE-SERVE · EUA</a:t>
            </a:r>
          </a:p>
        </p:txBody>
      </p:sp>
      <p:sp>
        <p:nvSpPr>
          <p:cNvPr id="756" name="TextBox 6"/>
          <p:cNvSpPr txBox="1"/>
          <p:nvPr/>
        </p:nvSpPr>
        <p:spPr>
          <a:xfrm>
            <a:off x="426275" y="344592"/>
            <a:ext cx="11570336" cy="42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K-Cup como Vetor de Entrada no Mercado Americano</a:t>
            </a:r>
          </a:p>
        </p:txBody>
      </p:sp>
      <p:sp>
        <p:nvSpPr>
          <p:cNvPr id="757" name="TextBox 7"/>
          <p:cNvSpPr txBox="1"/>
          <p:nvPr/>
        </p:nvSpPr>
        <p:spPr>
          <a:xfrm>
            <a:off x="426275" y="1026633"/>
            <a:ext cx="11570336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Mercado totalmente aberto após expiração de patentes · Casos de sucesso internacionais validam o modelo</a:t>
            </a:r>
          </a:p>
        </p:txBody>
      </p:sp>
      <p:sp>
        <p:nvSpPr>
          <p:cNvPr id="758" name="TextBox 8"/>
          <p:cNvSpPr txBox="1"/>
          <p:nvPr/>
        </p:nvSpPr>
        <p:spPr>
          <a:xfrm>
            <a:off x="426275" y="6525587"/>
            <a:ext cx="11448543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759" name="Rectangle 9"/>
          <p:cNvSpPr/>
          <p:nvPr/>
        </p:nvSpPr>
        <p:spPr>
          <a:xfrm>
            <a:off x="219227" y="1440729"/>
            <a:ext cx="2253171" cy="998703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60" name="TextBox 10"/>
          <p:cNvSpPr txBox="1"/>
          <p:nvPr/>
        </p:nvSpPr>
        <p:spPr>
          <a:xfrm>
            <a:off x="377558" y="1538163"/>
            <a:ext cx="1936509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2800">
                <a:solidFill>
                  <a:srgbClr val="2A5C2E"/>
                </a:solidFill>
              </a:defRPr>
            </a:lvl1pPr>
          </a:lstStyle>
          <a:p>
            <a:pPr/>
            <a:r>
              <a:t>USD 12Bi</a:t>
            </a:r>
          </a:p>
        </p:txBody>
      </p:sp>
      <p:sp>
        <p:nvSpPr>
          <p:cNvPr id="761" name="TextBox 11"/>
          <p:cNvSpPr txBox="1"/>
          <p:nvPr/>
        </p:nvSpPr>
        <p:spPr>
          <a:xfrm>
            <a:off x="353199" y="2074052"/>
            <a:ext cx="1985227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Mercado cápsulas US</a:t>
            </a:r>
          </a:p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(2024)</a:t>
            </a:r>
          </a:p>
        </p:txBody>
      </p:sp>
      <p:sp>
        <p:nvSpPr>
          <p:cNvPr id="762" name="Rectangle 12"/>
          <p:cNvSpPr/>
          <p:nvPr/>
        </p:nvSpPr>
        <p:spPr>
          <a:xfrm>
            <a:off x="2557652" y="1440729"/>
            <a:ext cx="2253172" cy="998703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63" name="TextBox 13"/>
          <p:cNvSpPr txBox="1"/>
          <p:nvPr/>
        </p:nvSpPr>
        <p:spPr>
          <a:xfrm>
            <a:off x="2715984" y="1538163"/>
            <a:ext cx="1936509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2800">
                <a:solidFill>
                  <a:srgbClr val="2A5C2E"/>
                </a:solidFill>
              </a:defRPr>
            </a:lvl1pPr>
          </a:lstStyle>
          <a:p>
            <a:pPr/>
            <a:r>
              <a:t>38%</a:t>
            </a:r>
          </a:p>
        </p:txBody>
      </p:sp>
      <p:sp>
        <p:nvSpPr>
          <p:cNvPr id="764" name="TextBox 14"/>
          <p:cNvSpPr txBox="1"/>
          <p:nvPr/>
        </p:nvSpPr>
        <p:spPr>
          <a:xfrm>
            <a:off x="2691625" y="2074052"/>
            <a:ext cx="1985227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Share do valor</a:t>
            </a:r>
          </a:p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retail de café</a:t>
            </a:r>
          </a:p>
        </p:txBody>
      </p:sp>
      <p:sp>
        <p:nvSpPr>
          <p:cNvPr id="765" name="Rectangle 15"/>
          <p:cNvSpPr/>
          <p:nvPr/>
        </p:nvSpPr>
        <p:spPr>
          <a:xfrm>
            <a:off x="4896077" y="1440729"/>
            <a:ext cx="2253171" cy="998703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66" name="TextBox 16"/>
          <p:cNvSpPr txBox="1"/>
          <p:nvPr/>
        </p:nvSpPr>
        <p:spPr>
          <a:xfrm>
            <a:off x="5054408" y="1538163"/>
            <a:ext cx="1936510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2800">
                <a:solidFill>
                  <a:srgbClr val="C07028"/>
                </a:solidFill>
              </a:defRPr>
            </a:lvl1pPr>
          </a:lstStyle>
          <a:p>
            <a:pPr/>
            <a:r>
              <a:t>+5.3%</a:t>
            </a:r>
          </a:p>
        </p:txBody>
      </p:sp>
      <p:sp>
        <p:nvSpPr>
          <p:cNvPr id="767" name="TextBox 17"/>
          <p:cNvSpPr txBox="1"/>
          <p:nvPr/>
        </p:nvSpPr>
        <p:spPr>
          <a:xfrm>
            <a:off x="5030049" y="2074052"/>
            <a:ext cx="1985227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CAGR single origin</a:t>
            </a:r>
          </a:p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2025→2034</a:t>
            </a:r>
          </a:p>
        </p:txBody>
      </p:sp>
      <p:sp>
        <p:nvSpPr>
          <p:cNvPr id="768" name="Rectangle 18"/>
          <p:cNvSpPr/>
          <p:nvPr/>
        </p:nvSpPr>
        <p:spPr>
          <a:xfrm>
            <a:off x="7234504" y="1440729"/>
            <a:ext cx="2253171" cy="998703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69" name="TextBox 19"/>
          <p:cNvSpPr txBox="1"/>
          <p:nvPr/>
        </p:nvSpPr>
        <p:spPr>
          <a:xfrm>
            <a:off x="7392835" y="1538163"/>
            <a:ext cx="1936510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2800">
                <a:solidFill>
                  <a:srgbClr val="2A5C2E"/>
                </a:solidFill>
              </a:defRPr>
            </a:lvl1pPr>
          </a:lstStyle>
          <a:p>
            <a:pPr/>
            <a:r>
              <a:t>2012</a:t>
            </a:r>
          </a:p>
        </p:txBody>
      </p:sp>
      <p:sp>
        <p:nvSpPr>
          <p:cNvPr id="770" name="TextBox 20"/>
          <p:cNvSpPr txBox="1"/>
          <p:nvPr/>
        </p:nvSpPr>
        <p:spPr>
          <a:xfrm>
            <a:off x="7368476" y="2074052"/>
            <a:ext cx="1985227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Patente K-Cup expirou</a:t>
            </a:r>
          </a:p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Mercado aberto p/ todos</a:t>
            </a:r>
          </a:p>
        </p:txBody>
      </p:sp>
      <p:sp>
        <p:nvSpPr>
          <p:cNvPr id="771" name="Rectangle 21"/>
          <p:cNvSpPr/>
          <p:nvPr/>
        </p:nvSpPr>
        <p:spPr>
          <a:xfrm>
            <a:off x="9572929" y="1440729"/>
            <a:ext cx="2253172" cy="998703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72" name="TextBox 22"/>
          <p:cNvSpPr txBox="1"/>
          <p:nvPr/>
        </p:nvSpPr>
        <p:spPr>
          <a:xfrm>
            <a:off x="9731260" y="1538163"/>
            <a:ext cx="1936510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2800">
                <a:solidFill>
                  <a:srgbClr val="C07028"/>
                </a:solidFill>
              </a:defRPr>
            </a:lvl1pPr>
          </a:lstStyle>
          <a:p>
            <a:pPr/>
            <a:r>
              <a:t>3–4 meses</a:t>
            </a:r>
          </a:p>
        </p:txBody>
      </p:sp>
      <p:sp>
        <p:nvSpPr>
          <p:cNvPr id="773" name="TextBox 23"/>
          <p:cNvSpPr txBox="1"/>
          <p:nvPr/>
        </p:nvSpPr>
        <p:spPr>
          <a:xfrm>
            <a:off x="9706901" y="2074052"/>
            <a:ext cx="1985227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Prazo: decisão →</a:t>
            </a:r>
          </a:p>
          <a:p>
            <a:pPr algn="ctr" defTabSz="609600">
              <a:defRPr sz="1000">
                <a:solidFill>
                  <a:srgbClr val="555555"/>
                </a:solidFill>
              </a:defRPr>
            </a:pPr>
            <a:r>
              <a:t>1ª carga pronta para venda</a:t>
            </a:r>
          </a:p>
        </p:txBody>
      </p:sp>
      <p:sp>
        <p:nvSpPr>
          <p:cNvPr id="774" name="Rectangle 24"/>
          <p:cNvSpPr/>
          <p:nvPr/>
        </p:nvSpPr>
        <p:spPr>
          <a:xfrm>
            <a:off x="219227" y="2561224"/>
            <a:ext cx="11753025" cy="2436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75" name="Rectangle 25"/>
          <p:cNvSpPr/>
          <p:nvPr/>
        </p:nvSpPr>
        <p:spPr>
          <a:xfrm>
            <a:off x="219227" y="2658659"/>
            <a:ext cx="3775584" cy="26794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76" name="TextBox 26"/>
          <p:cNvSpPr txBox="1"/>
          <p:nvPr/>
        </p:nvSpPr>
        <p:spPr>
          <a:xfrm>
            <a:off x="377558" y="2707376"/>
            <a:ext cx="350763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CASES INTERNACIONAIS — QUEM JÁ FEZ</a:t>
            </a:r>
          </a:p>
        </p:txBody>
      </p:sp>
      <p:sp>
        <p:nvSpPr>
          <p:cNvPr id="777" name="Rectangle 27"/>
          <p:cNvSpPr/>
          <p:nvPr/>
        </p:nvSpPr>
        <p:spPr>
          <a:xfrm>
            <a:off x="219227" y="2926603"/>
            <a:ext cx="3775584" cy="3239695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78" name="TextBox 28"/>
          <p:cNvSpPr txBox="1"/>
          <p:nvPr/>
        </p:nvSpPr>
        <p:spPr>
          <a:xfrm>
            <a:off x="401916" y="2987500"/>
            <a:ext cx="3434564" cy="3064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Lavazza (Itália)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K-Cup compatible + rede de varejo nacional. Crescimento +26,9% no mercado norte-americano em 2025. Playbook: cápsulas como porta de entrada em massa; sistema próprio para o topo.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Illy (Itália)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"Arabica Selection Brasile" em K-Cup — single origin brasileiro posicionado como luxo acessível. Distribuição illy.com + grandes redes.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Ethical Bean (Canadá)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Orgânico + fair trade + compatible pod. Prova de que marcas não-americanas constroem posição de valor no mercado US sem parceria com a Keurig.</a:t>
            </a:r>
          </a:p>
        </p:txBody>
      </p:sp>
      <p:sp>
        <p:nvSpPr>
          <p:cNvPr id="779" name="Rectangle 29"/>
          <p:cNvSpPr/>
          <p:nvPr/>
        </p:nvSpPr>
        <p:spPr>
          <a:xfrm>
            <a:off x="4177499" y="2658659"/>
            <a:ext cx="3775584" cy="26794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0" name="TextBox 30"/>
          <p:cNvSpPr txBox="1"/>
          <p:nvPr/>
        </p:nvSpPr>
        <p:spPr>
          <a:xfrm>
            <a:off x="4335830" y="2707376"/>
            <a:ext cx="3507640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BRASIL EM K-CUP — O TERRITÓRIO AINDA VAZIO</a:t>
            </a:r>
          </a:p>
        </p:txBody>
      </p:sp>
      <p:sp>
        <p:nvSpPr>
          <p:cNvPr id="781" name="Rectangle 31"/>
          <p:cNvSpPr/>
          <p:nvPr/>
        </p:nvSpPr>
        <p:spPr>
          <a:xfrm>
            <a:off x="4177499" y="2926603"/>
            <a:ext cx="3775584" cy="3239695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2" name="TextBox 32"/>
          <p:cNvSpPr txBox="1"/>
          <p:nvPr/>
        </p:nvSpPr>
        <p:spPr>
          <a:xfrm>
            <a:off x="4360189" y="2987500"/>
            <a:ext cx="3434564" cy="305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Café brasileiro já vende bem em formato K-Cup. Mas quem vende são torrefadores americanos, não marcas brasileiras: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C07028"/>
                </a:solidFill>
              </a:defRPr>
            </a:pPr>
            <a:r>
              <a:t>• Peet's Coffee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"Single Origin Brazil" K-Cup — vendido no Keurig.com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C07028"/>
                </a:solidFill>
              </a:defRPr>
            </a:pPr>
            <a:r>
              <a:t>• Illy 'Arabica Brasile'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K-Cup posicionado como premium de origem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C07028"/>
                </a:solidFill>
              </a:defRPr>
            </a:pPr>
            <a:r>
              <a:t>• Community Coffee + Café Bustelo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Blends com origem brasileira em pod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A Orfeu seria a PRIMEIRA marca brasileira,</a:t>
            </a:r>
          </a:p>
          <a:p>
            <a:pPr defTabSz="609600">
              <a:spcBef>
                <a:spcPts val="100"/>
              </a:spcBef>
              <a:defRPr i="1" sz="1200">
                <a:solidFill>
                  <a:srgbClr val="2A5C2E"/>
                </a:solidFill>
              </a:defRPr>
            </a:pPr>
            <a:r>
              <a:t>nascida no Brasil, com single origin próprio,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a entrar nesse mercado como produtora.</a:t>
            </a:r>
          </a:p>
        </p:txBody>
      </p:sp>
      <p:sp>
        <p:nvSpPr>
          <p:cNvPr id="783" name="Rectangle 33"/>
          <p:cNvSpPr/>
          <p:nvPr/>
        </p:nvSpPr>
        <p:spPr>
          <a:xfrm>
            <a:off x="8135772" y="2658659"/>
            <a:ext cx="3775584" cy="267945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4" name="TextBox 34"/>
          <p:cNvSpPr txBox="1"/>
          <p:nvPr/>
        </p:nvSpPr>
        <p:spPr>
          <a:xfrm>
            <a:off x="8294103" y="2707376"/>
            <a:ext cx="350763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TIERS DE PREÇO POR CÁPSULA (USD)</a:t>
            </a:r>
          </a:p>
        </p:txBody>
      </p:sp>
      <p:sp>
        <p:nvSpPr>
          <p:cNvPr id="785" name="Rectangle 35"/>
          <p:cNvSpPr/>
          <p:nvPr/>
        </p:nvSpPr>
        <p:spPr>
          <a:xfrm>
            <a:off x="8135772" y="2926603"/>
            <a:ext cx="3775584" cy="323969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6" name="TextBox 36"/>
          <p:cNvSpPr txBox="1"/>
          <p:nvPr/>
        </p:nvSpPr>
        <p:spPr>
          <a:xfrm>
            <a:off x="8318462" y="2987500"/>
            <a:ext cx="3434563" cy="2467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555555"/>
                </a:solidFill>
              </a:defRPr>
            </a:pPr>
            <a:r>
              <a:t>Commodity (Folgers, Dunkin')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$ 0,40 – 0,60 / cápsula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555555"/>
                </a:solidFill>
              </a:defRPr>
            </a:pPr>
            <a:r>
              <a:t>Premium Specialty (Lavazza, Peet's, Illy)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$ 0,75 – 1,25 / cápsula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Ultra-Premium / Single Origin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  $ 1,00 – 1,75 / cápsula  ← ORFEU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Margem bruta estimada: 55–65%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após custo de produção + co-packer + logística. Sem royalty para a Keurig no modelo compatible.</a:t>
            </a:r>
          </a:p>
        </p:txBody>
      </p:sp>
      <p:sp>
        <p:nvSpPr>
          <p:cNvPr id="787" name="Rectangle 37"/>
          <p:cNvSpPr/>
          <p:nvPr/>
        </p:nvSpPr>
        <p:spPr>
          <a:xfrm>
            <a:off x="219227" y="6251552"/>
            <a:ext cx="11753025" cy="243587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88" name="TextBox 38"/>
          <p:cNvSpPr txBox="1"/>
          <p:nvPr/>
        </p:nvSpPr>
        <p:spPr>
          <a:xfrm>
            <a:off x="365379" y="6263731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SCA National Coffee Data Trends 2024 · Euromonitor 2026 · Keurig Dr Pepper Annual Reports · NoltPak, Three Rivers, Pod Pack (co-packers) · Lavazza Annual Report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91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92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93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94" name="TextBox 5"/>
          <p:cNvSpPr txBox="1"/>
          <p:nvPr/>
        </p:nvSpPr>
        <p:spPr>
          <a:xfrm>
            <a:off x="426275" y="88826"/>
            <a:ext cx="11570336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ROADMAP DE ENTRADA · FORMATO K-CUP COMPATIBLE</a:t>
            </a:r>
          </a:p>
        </p:txBody>
      </p:sp>
      <p:sp>
        <p:nvSpPr>
          <p:cNvPr id="795" name="TextBox 6"/>
          <p:cNvSpPr txBox="1"/>
          <p:nvPr/>
        </p:nvSpPr>
        <p:spPr>
          <a:xfrm>
            <a:off x="426275" y="344592"/>
            <a:ext cx="11570336" cy="42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Como a Orfeu Pode Entrar no Formato K-Cup em 4 Meses</a:t>
            </a:r>
          </a:p>
        </p:txBody>
      </p:sp>
      <p:sp>
        <p:nvSpPr>
          <p:cNvPr id="796" name="TextBox 7"/>
          <p:cNvSpPr txBox="1"/>
          <p:nvPr/>
        </p:nvSpPr>
        <p:spPr>
          <a:xfrm>
            <a:off x="426275" y="1026633"/>
            <a:ext cx="11570336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Modelo compatible (sem licença Keurig): menor barreira, total liberdade de posicionamento e canal</a:t>
            </a:r>
          </a:p>
        </p:txBody>
      </p:sp>
      <p:sp>
        <p:nvSpPr>
          <p:cNvPr id="797" name="TextBox 8"/>
          <p:cNvSpPr txBox="1"/>
          <p:nvPr/>
        </p:nvSpPr>
        <p:spPr>
          <a:xfrm>
            <a:off x="426275" y="6525587"/>
            <a:ext cx="11448543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798" name="Rectangle 9"/>
          <p:cNvSpPr/>
          <p:nvPr/>
        </p:nvSpPr>
        <p:spPr>
          <a:xfrm>
            <a:off x="219227" y="1440729"/>
            <a:ext cx="3653791" cy="292304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99" name="TextBox 10"/>
          <p:cNvSpPr txBox="1"/>
          <p:nvPr/>
        </p:nvSpPr>
        <p:spPr>
          <a:xfrm>
            <a:off x="377558" y="1489446"/>
            <a:ext cx="338584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OPÇÃO A — Compatible (Recomendado)</a:t>
            </a:r>
          </a:p>
        </p:txBody>
      </p:sp>
      <p:sp>
        <p:nvSpPr>
          <p:cNvPr id="800" name="Rectangle 11"/>
          <p:cNvSpPr/>
          <p:nvPr/>
        </p:nvSpPr>
        <p:spPr>
          <a:xfrm>
            <a:off x="219227" y="1733032"/>
            <a:ext cx="3653791" cy="986524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01" name="TextBox 12"/>
          <p:cNvSpPr txBox="1"/>
          <p:nvPr/>
        </p:nvSpPr>
        <p:spPr>
          <a:xfrm>
            <a:off x="401917" y="1793928"/>
            <a:ext cx="3312770" cy="850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lvl1pPr>
          </a:lstStyle>
          <a:p>
            <a:pPr/>
            <a:r>
              <a:t>Produz cápsula compatible com todos os Keurig. Sem licença, sem royalty, sem dependência. Lança DTC + Amazon + specialty retail em 3–4 meses. Cases: Lavazza, Illy, Ethical Bean.</a:t>
            </a:r>
          </a:p>
        </p:txBody>
      </p:sp>
      <p:sp>
        <p:nvSpPr>
          <p:cNvPr id="802" name="Rectangle 13"/>
          <p:cNvSpPr/>
          <p:nvPr/>
        </p:nvSpPr>
        <p:spPr>
          <a:xfrm>
            <a:off x="4116603" y="1440729"/>
            <a:ext cx="3653791" cy="292304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03" name="TextBox 14"/>
          <p:cNvSpPr txBox="1"/>
          <p:nvPr/>
        </p:nvSpPr>
        <p:spPr>
          <a:xfrm>
            <a:off x="4274934" y="1489446"/>
            <a:ext cx="338584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OPÇÃO B — Parceria Licenciada Keurig</a:t>
            </a:r>
          </a:p>
        </p:txBody>
      </p:sp>
      <p:sp>
        <p:nvSpPr>
          <p:cNvPr id="804" name="Rectangle 15"/>
          <p:cNvSpPr/>
          <p:nvPr/>
        </p:nvSpPr>
        <p:spPr>
          <a:xfrm>
            <a:off x="4116603" y="1733032"/>
            <a:ext cx="3653791" cy="986524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05" name="TextBox 16"/>
          <p:cNvSpPr txBox="1"/>
          <p:nvPr/>
        </p:nvSpPr>
        <p:spPr>
          <a:xfrm>
            <a:off x="4299292" y="1793928"/>
            <a:ext cx="3312771" cy="850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lvl1pPr>
          </a:lstStyle>
          <a:p>
            <a:pPr/>
            <a:r>
              <a:t>Entra como "K-Cup" oficial, com presença no keurig.com. Exige acordo formal, volume mínimo, processo mais longo. Indicada após validar vendas no modelo compatible.</a:t>
            </a:r>
          </a:p>
        </p:txBody>
      </p:sp>
      <p:sp>
        <p:nvSpPr>
          <p:cNvPr id="806" name="Rectangle 17"/>
          <p:cNvSpPr/>
          <p:nvPr/>
        </p:nvSpPr>
        <p:spPr>
          <a:xfrm>
            <a:off x="8013979" y="1440729"/>
            <a:ext cx="3653791" cy="292304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07" name="TextBox 18"/>
          <p:cNvSpPr txBox="1"/>
          <p:nvPr/>
        </p:nvSpPr>
        <p:spPr>
          <a:xfrm>
            <a:off x="8172310" y="1489446"/>
            <a:ext cx="338584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OPÇÃO C — Private Label com Retailer</a:t>
            </a:r>
          </a:p>
        </p:txBody>
      </p:sp>
      <p:sp>
        <p:nvSpPr>
          <p:cNvPr id="808" name="Rectangle 19"/>
          <p:cNvSpPr/>
          <p:nvPr/>
        </p:nvSpPr>
        <p:spPr>
          <a:xfrm>
            <a:off x="8013979" y="1733032"/>
            <a:ext cx="3653791" cy="986524"/>
          </a:xfrm>
          <a:prstGeom prst="rect">
            <a:avLst/>
          </a:prstGeom>
          <a:solidFill>
            <a:srgbClr val="E8EC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09" name="TextBox 20"/>
          <p:cNvSpPr txBox="1"/>
          <p:nvPr/>
        </p:nvSpPr>
        <p:spPr>
          <a:xfrm>
            <a:off x="8196668" y="1793928"/>
            <a:ext cx="3312771" cy="850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lvl1pPr>
          </a:lstStyle>
          <a:p>
            <a:pPr/>
            <a:r>
              <a:t>Produz sob marca de um varejista (Whole Foods, Williams-Sonoma). Menor risco de capital, menor construção de marca. Bom como teste de gosto de mercado antes de escalar com a marca própria.</a:t>
            </a:r>
          </a:p>
        </p:txBody>
      </p:sp>
      <p:sp>
        <p:nvSpPr>
          <p:cNvPr id="810" name="Rectangle 21"/>
          <p:cNvSpPr/>
          <p:nvPr/>
        </p:nvSpPr>
        <p:spPr>
          <a:xfrm>
            <a:off x="2448039" y="3572106"/>
            <a:ext cx="328842" cy="73077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1" name="Rectangle 22"/>
          <p:cNvSpPr/>
          <p:nvPr/>
        </p:nvSpPr>
        <p:spPr>
          <a:xfrm>
            <a:off x="219227" y="2902245"/>
            <a:ext cx="2228811" cy="41409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2" name="TextBox 23"/>
          <p:cNvSpPr txBox="1"/>
          <p:nvPr/>
        </p:nvSpPr>
        <p:spPr>
          <a:xfrm>
            <a:off x="377558" y="2924520"/>
            <a:ext cx="1960868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1  REGULATÓRIO</a:t>
            </a:r>
          </a:p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(semanas 1–2)</a:t>
            </a:r>
          </a:p>
        </p:txBody>
      </p:sp>
      <p:sp>
        <p:nvSpPr>
          <p:cNvPr id="813" name="Rectangle 24"/>
          <p:cNvSpPr/>
          <p:nvPr/>
        </p:nvSpPr>
        <p:spPr>
          <a:xfrm>
            <a:off x="219227" y="3316341"/>
            <a:ext cx="2228811" cy="202176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4" name="TextBox 25"/>
          <p:cNvSpPr txBox="1"/>
          <p:nvPr/>
        </p:nvSpPr>
        <p:spPr>
          <a:xfrm>
            <a:off x="377558" y="3389417"/>
            <a:ext cx="1936509" cy="1118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Registrar Orfeu como food facility FDA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Prior Notice para importação de grãos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Definir NCM/HTS para importação</a:t>
            </a:r>
          </a:p>
        </p:txBody>
      </p:sp>
      <p:sp>
        <p:nvSpPr>
          <p:cNvPr id="815" name="Rectangle 26"/>
          <p:cNvSpPr/>
          <p:nvPr/>
        </p:nvSpPr>
        <p:spPr>
          <a:xfrm>
            <a:off x="4786464" y="3572106"/>
            <a:ext cx="328842" cy="73077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6" name="Rectangle 27"/>
          <p:cNvSpPr/>
          <p:nvPr/>
        </p:nvSpPr>
        <p:spPr>
          <a:xfrm>
            <a:off x="2557652" y="2902245"/>
            <a:ext cx="2228812" cy="414097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7" name="TextBox 28"/>
          <p:cNvSpPr txBox="1"/>
          <p:nvPr/>
        </p:nvSpPr>
        <p:spPr>
          <a:xfrm>
            <a:off x="2715984" y="2924520"/>
            <a:ext cx="1960868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2  CO-PACKER</a:t>
            </a:r>
          </a:p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(semanas 2–4)</a:t>
            </a:r>
          </a:p>
        </p:txBody>
      </p:sp>
      <p:sp>
        <p:nvSpPr>
          <p:cNvPr id="818" name="Rectangle 29"/>
          <p:cNvSpPr/>
          <p:nvPr/>
        </p:nvSpPr>
        <p:spPr>
          <a:xfrm>
            <a:off x="2557652" y="3316341"/>
            <a:ext cx="2228812" cy="202176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19" name="TextBox 30"/>
          <p:cNvSpPr txBox="1"/>
          <p:nvPr/>
        </p:nvSpPr>
        <p:spPr>
          <a:xfrm>
            <a:off x="2715984" y="3389417"/>
            <a:ext cx="1936509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Escolher co-packer US: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  NoltPak / Three Rivers / Pod Pack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Enviar grãos verdes p/ torrefação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Validar grind + nitrogen flush</a:t>
            </a:r>
          </a:p>
        </p:txBody>
      </p:sp>
      <p:sp>
        <p:nvSpPr>
          <p:cNvPr id="820" name="Rectangle 31"/>
          <p:cNvSpPr/>
          <p:nvPr/>
        </p:nvSpPr>
        <p:spPr>
          <a:xfrm>
            <a:off x="7124889" y="3572106"/>
            <a:ext cx="328842" cy="73077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1" name="Rectangle 32"/>
          <p:cNvSpPr/>
          <p:nvPr/>
        </p:nvSpPr>
        <p:spPr>
          <a:xfrm>
            <a:off x="4896077" y="2902245"/>
            <a:ext cx="2228811" cy="41409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2" name="TextBox 33"/>
          <p:cNvSpPr txBox="1"/>
          <p:nvPr/>
        </p:nvSpPr>
        <p:spPr>
          <a:xfrm>
            <a:off x="5054408" y="2924520"/>
            <a:ext cx="1960868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3  PRODUTO</a:t>
            </a:r>
          </a:p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(semanas 4–8)</a:t>
            </a:r>
          </a:p>
        </p:txBody>
      </p:sp>
      <p:sp>
        <p:nvSpPr>
          <p:cNvPr id="823" name="Rectangle 34"/>
          <p:cNvSpPr/>
          <p:nvPr/>
        </p:nvSpPr>
        <p:spPr>
          <a:xfrm>
            <a:off x="4896077" y="3316341"/>
            <a:ext cx="2228811" cy="202176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4" name="TextBox 35"/>
          <p:cNvSpPr txBox="1"/>
          <p:nvPr/>
        </p:nvSpPr>
        <p:spPr>
          <a:xfrm>
            <a:off x="5054408" y="3389417"/>
            <a:ext cx="1936510" cy="1135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MOQ inicial: 5.000–10.000 unidades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Embalagem com FDA compliance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Shelf life: 12–18 meses (nitrogen)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Teste de extração em Keurig</a:t>
            </a:r>
          </a:p>
        </p:txBody>
      </p:sp>
      <p:sp>
        <p:nvSpPr>
          <p:cNvPr id="825" name="Rectangle 36"/>
          <p:cNvSpPr/>
          <p:nvPr/>
        </p:nvSpPr>
        <p:spPr>
          <a:xfrm>
            <a:off x="9463316" y="3572106"/>
            <a:ext cx="328842" cy="73077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6" name="Rectangle 37"/>
          <p:cNvSpPr/>
          <p:nvPr/>
        </p:nvSpPr>
        <p:spPr>
          <a:xfrm>
            <a:off x="7234504" y="2902245"/>
            <a:ext cx="2228811" cy="41409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7" name="TextBox 38"/>
          <p:cNvSpPr txBox="1"/>
          <p:nvPr/>
        </p:nvSpPr>
        <p:spPr>
          <a:xfrm>
            <a:off x="7392835" y="2924520"/>
            <a:ext cx="1960868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4  CANAL</a:t>
            </a:r>
          </a:p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(semanas 8–12)</a:t>
            </a:r>
          </a:p>
        </p:txBody>
      </p:sp>
      <p:sp>
        <p:nvSpPr>
          <p:cNvPr id="828" name="Rectangle 39"/>
          <p:cNvSpPr/>
          <p:nvPr/>
        </p:nvSpPr>
        <p:spPr>
          <a:xfrm>
            <a:off x="7234504" y="3316341"/>
            <a:ext cx="2228811" cy="202176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29" name="TextBox 40"/>
          <p:cNvSpPr txBox="1"/>
          <p:nvPr/>
        </p:nvSpPr>
        <p:spPr>
          <a:xfrm>
            <a:off x="7392835" y="3389417"/>
            <a:ext cx="1936510" cy="1135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Lançar: Amazon.com + orfeu.com.br/us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Pitch: Whole Foods, Williams-Sonoma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Assessoria de imprensa café US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Sample program: 500 unidades</a:t>
            </a:r>
          </a:p>
        </p:txBody>
      </p:sp>
      <p:sp>
        <p:nvSpPr>
          <p:cNvPr id="830" name="Rectangle 41"/>
          <p:cNvSpPr/>
          <p:nvPr/>
        </p:nvSpPr>
        <p:spPr>
          <a:xfrm>
            <a:off x="9572929" y="2902245"/>
            <a:ext cx="2228812" cy="414097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31" name="TextBox 42"/>
          <p:cNvSpPr txBox="1"/>
          <p:nvPr/>
        </p:nvSpPr>
        <p:spPr>
          <a:xfrm>
            <a:off x="9731260" y="2924520"/>
            <a:ext cx="1960868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5  ESCALA</a:t>
            </a:r>
          </a:p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t>(meses 4–12)</a:t>
            </a:r>
          </a:p>
        </p:txBody>
      </p:sp>
      <p:sp>
        <p:nvSpPr>
          <p:cNvPr id="832" name="Rectangle 43"/>
          <p:cNvSpPr/>
          <p:nvPr/>
        </p:nvSpPr>
        <p:spPr>
          <a:xfrm>
            <a:off x="9572929" y="3316341"/>
            <a:ext cx="2228812" cy="202176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33" name="TextBox 44"/>
          <p:cNvSpPr txBox="1"/>
          <p:nvPr/>
        </p:nvSpPr>
        <p:spPr>
          <a:xfrm>
            <a:off x="9731260" y="3389417"/>
            <a:ext cx="1936510" cy="130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Validar NPS e sell-through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Negociar parceria Keurig se vol. justificar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Expandir SKUs (Cerrado / Sul de Minas)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Usar pod como alavanca para o flagship</a:t>
            </a:r>
          </a:p>
        </p:txBody>
      </p:sp>
      <p:sp>
        <p:nvSpPr>
          <p:cNvPr id="834" name="Rectangle 45"/>
          <p:cNvSpPr/>
          <p:nvPr/>
        </p:nvSpPr>
        <p:spPr>
          <a:xfrm>
            <a:off x="219227" y="5423360"/>
            <a:ext cx="11753025" cy="6333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35" name="TextBox 46"/>
          <p:cNvSpPr txBox="1"/>
          <p:nvPr/>
        </p:nvSpPr>
        <p:spPr>
          <a:xfrm>
            <a:off x="426275" y="5472077"/>
            <a:ext cx="6576823" cy="659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FFFFFF"/>
                </a:solidFill>
              </a:defRPr>
            </a:lvl1pPr>
          </a:lstStyle>
          <a:p>
            <a:pPr/>
            <a:r>
              <a:t>"Do cerrado brasileiro ao seu Keurig." A Orfeu seria a primeira marca brasileira de origem única a vender diretamente no mercado americano em formato single-serve — sem intermediário de torra, sem diluição de narrativa.</a:t>
            </a:r>
          </a:p>
        </p:txBody>
      </p:sp>
      <p:sp>
        <p:nvSpPr>
          <p:cNvPr id="836" name="Rectangle 47"/>
          <p:cNvSpPr/>
          <p:nvPr/>
        </p:nvSpPr>
        <p:spPr>
          <a:xfrm>
            <a:off x="7124890" y="5423360"/>
            <a:ext cx="4871721" cy="633323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37" name="TextBox 48"/>
          <p:cNvSpPr txBox="1"/>
          <p:nvPr/>
        </p:nvSpPr>
        <p:spPr>
          <a:xfrm>
            <a:off x="7307580" y="5472077"/>
            <a:ext cx="4567238" cy="605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QUALIDADE: Nitrogen flush 99.5% → 12–18 meses de vida útil.</a:t>
            </a:r>
          </a:p>
          <a:p>
            <a:pPr defTabSz="609600">
              <a:spcBef>
                <a:spcPts val="100"/>
              </a:spcBef>
              <a:defRPr i="1" sz="1000">
                <a:solidFill>
                  <a:srgbClr val="CCE8CC"/>
                </a:solidFill>
              </a:defRPr>
            </a:pPr>
            <a:r>
              <a:t>Cápsulas premium entregam ~80% da qualidade do café specialty coado. Grind calibrado p/ Keurig.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40" name="Rectangle 2"/>
          <p:cNvSpPr/>
          <p:nvPr/>
        </p:nvSpPr>
        <p:spPr>
          <a:xfrm>
            <a:off x="-1" y="3571"/>
            <a:ext cx="12179302" cy="7307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41" name="Rectangle 3"/>
          <p:cNvSpPr/>
          <p:nvPr/>
        </p:nvSpPr>
        <p:spPr>
          <a:xfrm>
            <a:off x="-1" y="3571"/>
            <a:ext cx="73077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42" name="Rectangle 4"/>
          <p:cNvSpPr/>
          <p:nvPr/>
        </p:nvSpPr>
        <p:spPr>
          <a:xfrm>
            <a:off x="-1" y="6781352"/>
            <a:ext cx="12179302" cy="7307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43" name="TextBox 5"/>
          <p:cNvSpPr txBox="1"/>
          <p:nvPr/>
        </p:nvSpPr>
        <p:spPr>
          <a:xfrm>
            <a:off x="1522412" y="673433"/>
            <a:ext cx="9378061" cy="278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200">
                <a:solidFill>
                  <a:srgbClr val="555555"/>
                </a:solidFill>
              </a:defRPr>
            </a:lvl1pPr>
          </a:lstStyle>
          <a:p>
            <a:pPr/>
            <a:r>
              <a:t>ORFEU · ALQUEMIA CONSULTING</a:t>
            </a:r>
          </a:p>
        </p:txBody>
      </p:sp>
      <p:sp>
        <p:nvSpPr>
          <p:cNvPr id="844" name="TextBox 6"/>
          <p:cNvSpPr txBox="1"/>
          <p:nvPr/>
        </p:nvSpPr>
        <p:spPr>
          <a:xfrm>
            <a:off x="913447" y="1221501"/>
            <a:ext cx="10352406" cy="1324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b="1" sz="4200">
                <a:solidFill>
                  <a:srgbClr val="2A5C2E"/>
                </a:solidFill>
              </a:defRPr>
            </a:pPr>
            <a:r>
              <a:t>Influenciadores &amp; Presença Digital</a:t>
            </a:r>
          </a:p>
          <a:p>
            <a:pPr algn="ctr" defTabSz="609600">
              <a:defRPr b="1" sz="4200">
                <a:solidFill>
                  <a:srgbClr val="2A5C2E"/>
                </a:solidFill>
              </a:defRPr>
            </a:pPr>
            <a:r>
              <a:t>no Mercado de Café</a:t>
            </a:r>
          </a:p>
        </p:txBody>
      </p:sp>
      <p:sp>
        <p:nvSpPr>
          <p:cNvPr id="845" name="Rectangle 7"/>
          <p:cNvSpPr/>
          <p:nvPr/>
        </p:nvSpPr>
        <p:spPr>
          <a:xfrm>
            <a:off x="4262754" y="3474672"/>
            <a:ext cx="3653792" cy="4871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46" name="TextBox 8"/>
          <p:cNvSpPr txBox="1"/>
          <p:nvPr/>
        </p:nvSpPr>
        <p:spPr>
          <a:xfrm>
            <a:off x="913447" y="3718258"/>
            <a:ext cx="10352406" cy="31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sz="1400">
                <a:solidFill>
                  <a:srgbClr val="555555"/>
                </a:solidFill>
              </a:defRPr>
            </a:lvl1pPr>
          </a:lstStyle>
          <a:p>
            <a:pPr/>
            <a:r>
              <a:t>YouTube · Instagram · TikTok · Lifestyle · Arte · Gastronomia · Wellness</a:t>
            </a:r>
          </a:p>
        </p:txBody>
      </p:sp>
      <p:sp>
        <p:nvSpPr>
          <p:cNvPr id="847" name="TextBox 9"/>
          <p:cNvSpPr txBox="1"/>
          <p:nvPr/>
        </p:nvSpPr>
        <p:spPr>
          <a:xfrm>
            <a:off x="913447" y="4327223"/>
            <a:ext cx="10352406" cy="469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algn="ctr" defTabSz="609600">
              <a:defRPr i="1" sz="1200">
                <a:solidFill>
                  <a:srgbClr val="555555"/>
                </a:solidFill>
              </a:defRPr>
            </a:pPr>
            <a:r>
              <a:t>Quem são os principais criadores, o que as marcas líderes estão fazendo</a:t>
            </a:r>
          </a:p>
          <a:p>
            <a:pPr algn="ctr" defTabSz="609600">
              <a:defRPr i="1" sz="1200">
                <a:solidFill>
                  <a:srgbClr val="555555"/>
                </a:solidFill>
              </a:defRPr>
            </a:pPr>
            <a:r>
              <a:t>e onde está a oportunidade para a Orfeu no ecossistema digital americano</a:t>
            </a:r>
          </a:p>
        </p:txBody>
      </p:sp>
      <p:sp>
        <p:nvSpPr>
          <p:cNvPr id="848" name="TextBox 10"/>
          <p:cNvSpPr txBox="1"/>
          <p:nvPr/>
        </p:nvSpPr>
        <p:spPr>
          <a:xfrm>
            <a:off x="913447" y="6062773"/>
            <a:ext cx="1035240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sz="1000">
                <a:solidFill>
                  <a:srgbClr val="BBBBBB"/>
                </a:solidFill>
              </a:defRPr>
            </a:lvl1pPr>
          </a:lstStyle>
          <a:p>
            <a:pPr/>
            <a:r>
              <a:t>Julho 2026  ·  Documento Estratégico Interno  ·  Confidencial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1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2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3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4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CONTEXTO · ECOSSISTEMA DIGITAL DE CAFÉ</a:t>
            </a:r>
          </a:p>
        </p:txBody>
      </p:sp>
      <p:sp>
        <p:nvSpPr>
          <p:cNvPr id="855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Por Que Criadores São Centrais para Café Premium</a:t>
            </a:r>
          </a:p>
        </p:txBody>
      </p:sp>
      <p:sp>
        <p:nvSpPr>
          <p:cNvPr id="856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#CoffeeTok ultrapassa 4 bilhões de views · O café é um dos nichos de maior engajamento no digital</a:t>
            </a:r>
          </a:p>
        </p:txBody>
      </p:sp>
      <p:sp>
        <p:nvSpPr>
          <p:cNvPr id="857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858" name="Rectangle 9"/>
          <p:cNvSpPr/>
          <p:nvPr/>
        </p:nvSpPr>
        <p:spPr>
          <a:xfrm>
            <a:off x="219227" y="1489446"/>
            <a:ext cx="2679445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59" name="TextBox 10"/>
          <p:cNvSpPr txBox="1"/>
          <p:nvPr/>
        </p:nvSpPr>
        <p:spPr>
          <a:xfrm>
            <a:off x="401916" y="1538163"/>
            <a:ext cx="2387144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4B+ views</a:t>
            </a:r>
          </a:p>
        </p:txBody>
      </p:sp>
      <p:sp>
        <p:nvSpPr>
          <p:cNvPr id="860" name="Rectangle 11"/>
          <p:cNvSpPr/>
          <p:nvPr/>
        </p:nvSpPr>
        <p:spPr>
          <a:xfrm>
            <a:off x="219227" y="1806108"/>
            <a:ext cx="2679445" cy="633323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61" name="TextBox 12"/>
          <p:cNvSpPr txBox="1"/>
          <p:nvPr/>
        </p:nvSpPr>
        <p:spPr>
          <a:xfrm>
            <a:off x="401916" y="1854825"/>
            <a:ext cx="2362786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#CoffeeTok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no TikTok</a:t>
            </a:r>
          </a:p>
        </p:txBody>
      </p:sp>
      <p:sp>
        <p:nvSpPr>
          <p:cNvPr id="862" name="Rectangle 13"/>
          <p:cNvSpPr/>
          <p:nvPr/>
        </p:nvSpPr>
        <p:spPr>
          <a:xfrm>
            <a:off x="3044824" y="1489446"/>
            <a:ext cx="2679446" cy="31666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63" name="TextBox 14"/>
          <p:cNvSpPr txBox="1"/>
          <p:nvPr/>
        </p:nvSpPr>
        <p:spPr>
          <a:xfrm>
            <a:off x="3227514" y="1538163"/>
            <a:ext cx="2387144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6–7%</a:t>
            </a:r>
          </a:p>
        </p:txBody>
      </p:sp>
      <p:sp>
        <p:nvSpPr>
          <p:cNvPr id="864" name="Rectangle 15"/>
          <p:cNvSpPr/>
          <p:nvPr/>
        </p:nvSpPr>
        <p:spPr>
          <a:xfrm>
            <a:off x="3044824" y="1806108"/>
            <a:ext cx="2679446" cy="633323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65" name="TextBox 16"/>
          <p:cNvSpPr txBox="1"/>
          <p:nvPr/>
        </p:nvSpPr>
        <p:spPr>
          <a:xfrm>
            <a:off x="3227514" y="1854825"/>
            <a:ext cx="2362785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Engajamento médio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micro-criadores de café</a:t>
            </a:r>
          </a:p>
        </p:txBody>
      </p:sp>
      <p:sp>
        <p:nvSpPr>
          <p:cNvPr id="866" name="Rectangle 17"/>
          <p:cNvSpPr/>
          <p:nvPr/>
        </p:nvSpPr>
        <p:spPr>
          <a:xfrm>
            <a:off x="5870422" y="1489446"/>
            <a:ext cx="2679446" cy="316661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67" name="TextBox 18"/>
          <p:cNvSpPr txBox="1"/>
          <p:nvPr/>
        </p:nvSpPr>
        <p:spPr>
          <a:xfrm>
            <a:off x="6053112" y="1538163"/>
            <a:ext cx="2387144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USD 119</a:t>
            </a:r>
          </a:p>
        </p:txBody>
      </p:sp>
      <p:sp>
        <p:nvSpPr>
          <p:cNvPr id="868" name="Rectangle 19"/>
          <p:cNvSpPr/>
          <p:nvPr/>
        </p:nvSpPr>
        <p:spPr>
          <a:xfrm>
            <a:off x="5870422" y="1806108"/>
            <a:ext cx="2679446" cy="633323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69" name="TextBox 20"/>
          <p:cNvSpPr txBox="1"/>
          <p:nvPr/>
        </p:nvSpPr>
        <p:spPr>
          <a:xfrm>
            <a:off x="6053112" y="1854825"/>
            <a:ext cx="2362785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CPM médio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criadores de specialty</a:t>
            </a:r>
          </a:p>
        </p:txBody>
      </p:sp>
      <p:sp>
        <p:nvSpPr>
          <p:cNvPr id="870" name="Rectangle 21"/>
          <p:cNvSpPr/>
          <p:nvPr/>
        </p:nvSpPr>
        <p:spPr>
          <a:xfrm>
            <a:off x="8696020" y="1489446"/>
            <a:ext cx="2679446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71" name="TextBox 22"/>
          <p:cNvSpPr txBox="1"/>
          <p:nvPr/>
        </p:nvSpPr>
        <p:spPr>
          <a:xfrm>
            <a:off x="8878709" y="1538163"/>
            <a:ext cx="2387144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USD 24Bi</a:t>
            </a:r>
          </a:p>
        </p:txBody>
      </p:sp>
      <p:sp>
        <p:nvSpPr>
          <p:cNvPr id="872" name="Rectangle 23"/>
          <p:cNvSpPr/>
          <p:nvPr/>
        </p:nvSpPr>
        <p:spPr>
          <a:xfrm>
            <a:off x="8696020" y="1806108"/>
            <a:ext cx="2679446" cy="633323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73" name="TextBox 24"/>
          <p:cNvSpPr txBox="1"/>
          <p:nvPr/>
        </p:nvSpPr>
        <p:spPr>
          <a:xfrm>
            <a:off x="8878709" y="1854825"/>
            <a:ext cx="2362786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Mercado global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influencer marketing 2025</a:t>
            </a:r>
          </a:p>
        </p:txBody>
      </p:sp>
      <p:sp>
        <p:nvSpPr>
          <p:cNvPr id="874" name="Rectangle 25"/>
          <p:cNvSpPr/>
          <p:nvPr/>
        </p:nvSpPr>
        <p:spPr>
          <a:xfrm>
            <a:off x="219227" y="2561224"/>
            <a:ext cx="11753025" cy="2436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75" name="Rectangle 26"/>
          <p:cNvSpPr/>
          <p:nvPr/>
        </p:nvSpPr>
        <p:spPr>
          <a:xfrm>
            <a:off x="219227" y="2658659"/>
            <a:ext cx="3751225" cy="341021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76" name="TextBox 27"/>
          <p:cNvSpPr txBox="1"/>
          <p:nvPr/>
        </p:nvSpPr>
        <p:spPr>
          <a:xfrm>
            <a:off x="377558" y="2707376"/>
            <a:ext cx="348328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POR QUÊ O CAFÉ FUNCIONA TÃO BEM NO DIGITAL</a:t>
            </a:r>
          </a:p>
        </p:txBody>
      </p:sp>
      <p:sp>
        <p:nvSpPr>
          <p:cNvPr id="877" name="Rectangle 28"/>
          <p:cNvSpPr/>
          <p:nvPr/>
        </p:nvSpPr>
        <p:spPr>
          <a:xfrm>
            <a:off x="219227" y="2999679"/>
            <a:ext cx="3751225" cy="3166619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78" name="TextBox 29"/>
          <p:cNvSpPr txBox="1"/>
          <p:nvPr/>
        </p:nvSpPr>
        <p:spPr>
          <a:xfrm>
            <a:off x="401916" y="3060576"/>
            <a:ext cx="3410205" cy="285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O ritual é visual e repetível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A xícara, o vapor, o pour-over, o latte art — cada preparo é fotogênico. O café é o único produto de consumo cotidiano com ritual tão rico e esteticamente carregado.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Educação gera lealdade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Ao contrário de outros produtos, quem aprende sobre café (origens, torra, preparo) tende a pagar mais e comprar de forma mais fiel. O criador que ensina vira parceiro de compra.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Micro &gt; Macro para especialidade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Criadores com 50K–500K entregam 6–7% de engajamento e audiência qualificada (home baristas, consumidores premium) vs. mega-influenciadores com &lt;1% de engajamento.</a:t>
            </a:r>
          </a:p>
        </p:txBody>
      </p:sp>
      <p:sp>
        <p:nvSpPr>
          <p:cNvPr id="879" name="Rectangle 30"/>
          <p:cNvSpPr/>
          <p:nvPr/>
        </p:nvSpPr>
        <p:spPr>
          <a:xfrm>
            <a:off x="4177499" y="2658659"/>
            <a:ext cx="3751226" cy="34102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0" name="TextBox 31"/>
          <p:cNvSpPr txBox="1"/>
          <p:nvPr/>
        </p:nvSpPr>
        <p:spPr>
          <a:xfrm>
            <a:off x="4335830" y="2707376"/>
            <a:ext cx="348328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O QUE AS MARCAS LÍDERES JÁ ENTENDERAM</a:t>
            </a:r>
          </a:p>
        </p:txBody>
      </p:sp>
      <p:sp>
        <p:nvSpPr>
          <p:cNvPr id="881" name="Rectangle 32"/>
          <p:cNvSpPr/>
          <p:nvPr/>
        </p:nvSpPr>
        <p:spPr>
          <a:xfrm>
            <a:off x="4177499" y="2999679"/>
            <a:ext cx="3751226" cy="3166619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2" name="TextBox 33"/>
          <p:cNvSpPr txBox="1"/>
          <p:nvPr/>
        </p:nvSpPr>
        <p:spPr>
          <a:xfrm>
            <a:off x="4360189" y="3060576"/>
            <a:ext cx="3410205" cy="2520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Blue Bottle: café como cultura, não produto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"Produção cultural onde influenciadores participam organicamente" — a marca cria o espaço, criadores chegam sem ser pagos.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Onyx Coffee Lab: criadores como colaboradores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Drink build videos com ingredientes exatos. Jimmy Butler (NBA) foi à Colômbia — viagem documentada como conteúdo. Parceria com campeã de barista.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Nespresso: prestígio top-down + comunidade bottom-up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George Clooney para o prestígio. Programa de creators com barista kits para alcance. Programa "Nespresso Talents" para criadores emergentes.</a:t>
            </a:r>
          </a:p>
        </p:txBody>
      </p:sp>
      <p:sp>
        <p:nvSpPr>
          <p:cNvPr id="883" name="Rectangle 34"/>
          <p:cNvSpPr/>
          <p:nvPr/>
        </p:nvSpPr>
        <p:spPr>
          <a:xfrm>
            <a:off x="8135772" y="2658659"/>
            <a:ext cx="3751225" cy="34102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4" name="TextBox 35"/>
          <p:cNvSpPr txBox="1"/>
          <p:nvPr/>
        </p:nvSpPr>
        <p:spPr>
          <a:xfrm>
            <a:off x="8294103" y="2707376"/>
            <a:ext cx="348328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O QUE AINDA FALTA NO ECOSSISTEMA</a:t>
            </a:r>
          </a:p>
        </p:txBody>
      </p:sp>
      <p:sp>
        <p:nvSpPr>
          <p:cNvPr id="885" name="Rectangle 36"/>
          <p:cNvSpPr/>
          <p:nvPr/>
        </p:nvSpPr>
        <p:spPr>
          <a:xfrm>
            <a:off x="8135772" y="2999679"/>
            <a:ext cx="3751225" cy="3166619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6" name="TextBox 37"/>
          <p:cNvSpPr txBox="1"/>
          <p:nvPr/>
        </p:nvSpPr>
        <p:spPr>
          <a:xfrm>
            <a:off x="8318462" y="3060576"/>
            <a:ext cx="3410205" cy="285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Brasil ausente como origem narrativa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Etiópia, Colômbia e Quênia já são percebidas como origens premium nos EUA. O Brasil é visto como commodity — nenhuma marca brasileira está construindo o contrário no digital americano.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Nenhum "James Hoffmann do Brasil"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Não existe um criador de referência global que conecte a excelência do café brasileiro a um público de especialidade internacional.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Oportunidade de first-mover real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A Orfeu tem ativos únicos: fazendas, processos, terroir, família, prêmios internacionais. Nenhuma marca brasileira está contando essa história para o consumidor americano de especialidade.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89" name="Rectangle 2"/>
          <p:cNvSpPr/>
          <p:nvPr/>
        </p:nvSpPr>
        <p:spPr>
          <a:xfrm>
            <a:off x="-1" y="3571"/>
            <a:ext cx="4628136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90" name="Rectangle 3"/>
          <p:cNvSpPr/>
          <p:nvPr/>
        </p:nvSpPr>
        <p:spPr>
          <a:xfrm>
            <a:off x="4628134" y="3571"/>
            <a:ext cx="73076" cy="685085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91" name="TextBox 4"/>
          <p:cNvSpPr txBox="1"/>
          <p:nvPr/>
        </p:nvSpPr>
        <p:spPr>
          <a:xfrm>
            <a:off x="365378" y="490743"/>
            <a:ext cx="389737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CE8CC"/>
                </a:solidFill>
              </a:defRPr>
            </a:lvl1pPr>
          </a:lstStyle>
          <a:p>
            <a:pPr/>
            <a:r>
              <a:t>BLOCO 1 · PLATAFORMAS</a:t>
            </a:r>
          </a:p>
        </p:txBody>
      </p:sp>
      <p:sp>
        <p:nvSpPr>
          <p:cNvPr id="892" name="TextBox 5"/>
          <p:cNvSpPr txBox="1"/>
          <p:nvPr/>
        </p:nvSpPr>
        <p:spPr>
          <a:xfrm>
            <a:off x="365378" y="1038812"/>
            <a:ext cx="3897378" cy="906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YouTube</a:t>
            </a:r>
          </a:p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Criadores de Referência</a:t>
            </a:r>
          </a:p>
        </p:txBody>
      </p:sp>
      <p:sp>
        <p:nvSpPr>
          <p:cNvPr id="893" name="TextBox 6"/>
          <p:cNvSpPr txBox="1"/>
          <p:nvPr/>
        </p:nvSpPr>
        <p:spPr>
          <a:xfrm>
            <a:off x="365378" y="3900947"/>
            <a:ext cx="3897378" cy="469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Canais de café, especialidade, lifestyle e culinária com audiência relevante para o público-alvo da Orfeu</a:t>
            </a:r>
          </a:p>
        </p:txBody>
      </p:sp>
      <p:sp>
        <p:nvSpPr>
          <p:cNvPr id="894" name="TextBox 7"/>
          <p:cNvSpPr txBox="1"/>
          <p:nvPr/>
        </p:nvSpPr>
        <p:spPr>
          <a:xfrm>
            <a:off x="365378" y="6184566"/>
            <a:ext cx="3897378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99CC99"/>
                </a:solidFill>
              </a:defRPr>
            </a:lvl1pPr>
          </a:lstStyle>
          <a:p>
            <a:pPr/>
            <a:r>
              <a:t>Fontes: YouTube · Social Blade · Perfect Daily Grind · Coffee Intelligence · Lattery.org</a:t>
            </a:r>
          </a:p>
        </p:txBody>
      </p:sp>
      <p:sp>
        <p:nvSpPr>
          <p:cNvPr id="895" name="Rectangle 8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96" name="TextBox 9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99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00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01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02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YOUTUBE · CRIADORES DE CAFÉ E LIFESTYLE</a:t>
            </a:r>
          </a:p>
        </p:txBody>
      </p:sp>
      <p:sp>
        <p:nvSpPr>
          <p:cNvPr id="903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Principais Canais — Especialidade, Técnica e Cultura do Café</a:t>
            </a:r>
          </a:p>
        </p:txBody>
      </p:sp>
      <p:sp>
        <p:nvSpPr>
          <p:cNvPr id="904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Canais com audiência americana relevante e alinhamento com posicionamento premium</a:t>
            </a:r>
          </a:p>
        </p:txBody>
      </p:sp>
      <p:sp>
        <p:nvSpPr>
          <p:cNvPr id="905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906" name="Rectangle 9"/>
          <p:cNvSpPr/>
          <p:nvPr/>
        </p:nvSpPr>
        <p:spPr>
          <a:xfrm>
            <a:off x="219227" y="1489446"/>
            <a:ext cx="11753025" cy="36538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07" name="TextBox 10"/>
          <p:cNvSpPr txBox="1"/>
          <p:nvPr/>
        </p:nvSpPr>
        <p:spPr>
          <a:xfrm>
            <a:off x="328841" y="1562522"/>
            <a:ext cx="2435861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CANAL / CRIADOR</a:t>
            </a:r>
          </a:p>
        </p:txBody>
      </p:sp>
      <p:sp>
        <p:nvSpPr>
          <p:cNvPr id="908" name="TextBox 11"/>
          <p:cNvSpPr txBox="1"/>
          <p:nvPr/>
        </p:nvSpPr>
        <p:spPr>
          <a:xfrm>
            <a:off x="2959569" y="1562522"/>
            <a:ext cx="974345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909" name="TextBox 12"/>
          <p:cNvSpPr txBox="1"/>
          <p:nvPr/>
        </p:nvSpPr>
        <p:spPr>
          <a:xfrm>
            <a:off x="4140962" y="1562522"/>
            <a:ext cx="535889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CONTEÚDO &amp; POSICIONAMENTO</a:t>
            </a:r>
          </a:p>
        </p:txBody>
      </p:sp>
      <p:sp>
        <p:nvSpPr>
          <p:cNvPr id="910" name="TextBox 13"/>
          <p:cNvSpPr txBox="1"/>
          <p:nvPr/>
        </p:nvSpPr>
        <p:spPr>
          <a:xfrm>
            <a:off x="9682542" y="1562522"/>
            <a:ext cx="219227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PARCERIAS / RELEVÂNCIA</a:t>
            </a:r>
          </a:p>
        </p:txBody>
      </p:sp>
      <p:sp>
        <p:nvSpPr>
          <p:cNvPr id="911" name="Rectangle 14"/>
          <p:cNvSpPr/>
          <p:nvPr/>
        </p:nvSpPr>
        <p:spPr>
          <a:xfrm>
            <a:off x="219227" y="1854825"/>
            <a:ext cx="11753025" cy="621145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12" name="Rectangle 15"/>
          <p:cNvSpPr/>
          <p:nvPr/>
        </p:nvSpPr>
        <p:spPr>
          <a:xfrm>
            <a:off x="243585" y="2025335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13" name="TextBox 16"/>
          <p:cNvSpPr txBox="1"/>
          <p:nvPr/>
        </p:nvSpPr>
        <p:spPr>
          <a:xfrm>
            <a:off x="474992" y="1903542"/>
            <a:ext cx="231406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@JamesHoffmann</a:t>
            </a:r>
          </a:p>
        </p:txBody>
      </p:sp>
      <p:sp>
        <p:nvSpPr>
          <p:cNvPr id="914" name="TextBox 17"/>
          <p:cNvSpPr txBox="1"/>
          <p:nvPr/>
        </p:nvSpPr>
        <p:spPr>
          <a:xfrm>
            <a:off x="2959569" y="1903542"/>
            <a:ext cx="998704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2,4M inscritos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357M+ views</a:t>
            </a:r>
          </a:p>
        </p:txBody>
      </p:sp>
      <p:sp>
        <p:nvSpPr>
          <p:cNvPr id="915" name="TextBox 18"/>
          <p:cNvSpPr txBox="1"/>
          <p:nvPr/>
        </p:nvSpPr>
        <p:spPr>
          <a:xfrm>
            <a:off x="4140962" y="1903542"/>
            <a:ext cx="5358892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Ciência do café, origens, torra, ensaios em vídeo. Co-fundador Square Mile Coffee (Londres). Tom: intelectual, educativo profundo. O maior criador de specialty do mundo.</a:t>
            </a:r>
          </a:p>
        </p:txBody>
      </p:sp>
      <p:sp>
        <p:nvSpPr>
          <p:cNvPr id="916" name="TextBox 19"/>
          <p:cNvSpPr txBox="1"/>
          <p:nvPr/>
        </p:nvSpPr>
        <p:spPr>
          <a:xfrm>
            <a:off x="9658184" y="1903542"/>
            <a:ext cx="2192275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Victoria Arduino · Nespresso · Illy · Bellwether Coffee</a:t>
            </a:r>
          </a:p>
        </p:txBody>
      </p:sp>
      <p:sp>
        <p:nvSpPr>
          <p:cNvPr id="917" name="Rectangle 20"/>
          <p:cNvSpPr/>
          <p:nvPr/>
        </p:nvSpPr>
        <p:spPr>
          <a:xfrm>
            <a:off x="219227" y="2475969"/>
            <a:ext cx="11753025" cy="621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18" name="Rectangle 21"/>
          <p:cNvSpPr/>
          <p:nvPr/>
        </p:nvSpPr>
        <p:spPr>
          <a:xfrm>
            <a:off x="243585" y="2646480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19" name="TextBox 22"/>
          <p:cNvSpPr txBox="1"/>
          <p:nvPr/>
        </p:nvSpPr>
        <p:spPr>
          <a:xfrm>
            <a:off x="474992" y="2524686"/>
            <a:ext cx="2314068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pPr>
            <a:r>
              <a:t>@morgandrinkscoffee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pPr>
            <a:r>
              <a:t>Morgan Eckroth</a:t>
            </a:r>
          </a:p>
        </p:txBody>
      </p:sp>
      <p:sp>
        <p:nvSpPr>
          <p:cNvPr id="920" name="TextBox 23"/>
          <p:cNvSpPr txBox="1"/>
          <p:nvPr/>
        </p:nvSpPr>
        <p:spPr>
          <a:xfrm>
            <a:off x="2959569" y="2524686"/>
            <a:ext cx="998704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500K+ YT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6,1M TikTok</a:t>
            </a:r>
          </a:p>
        </p:txBody>
      </p:sp>
      <p:sp>
        <p:nvSpPr>
          <p:cNvPr id="921" name="TextBox 24"/>
          <p:cNvSpPr txBox="1"/>
          <p:nvPr/>
        </p:nvSpPr>
        <p:spPr>
          <a:xfrm>
            <a:off x="4140962" y="2524686"/>
            <a:ext cx="5358892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Campeã EUA Barista Championship. Especialidade com humor e acessibilidade. Receitas criativas, vida de barista. Audiência jovem e engajada nos EUA.</a:t>
            </a:r>
          </a:p>
        </p:txBody>
      </p:sp>
      <p:sp>
        <p:nvSpPr>
          <p:cNvPr id="922" name="TextBox 25"/>
          <p:cNvSpPr txBox="1"/>
          <p:nvPr/>
        </p:nvSpPr>
        <p:spPr>
          <a:xfrm>
            <a:off x="9658184" y="2524686"/>
            <a:ext cx="2192275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Wrecking Ball Coffee (collab de produto) · Onyx Coffee Lab · Vessi</a:t>
            </a:r>
          </a:p>
        </p:txBody>
      </p:sp>
      <p:sp>
        <p:nvSpPr>
          <p:cNvPr id="923" name="Rectangle 26"/>
          <p:cNvSpPr/>
          <p:nvPr/>
        </p:nvSpPr>
        <p:spPr>
          <a:xfrm>
            <a:off x="219227" y="3097114"/>
            <a:ext cx="11753025" cy="621145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24" name="Rectangle 27"/>
          <p:cNvSpPr/>
          <p:nvPr/>
        </p:nvSpPr>
        <p:spPr>
          <a:xfrm>
            <a:off x="243585" y="3267624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25" name="TextBox 28"/>
          <p:cNvSpPr txBox="1"/>
          <p:nvPr/>
        </p:nvSpPr>
        <p:spPr>
          <a:xfrm>
            <a:off x="474992" y="3145831"/>
            <a:ext cx="2314068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@LanceHedrick</a:t>
            </a:r>
          </a:p>
        </p:txBody>
      </p:sp>
      <p:sp>
        <p:nvSpPr>
          <p:cNvPr id="926" name="TextBox 29"/>
          <p:cNvSpPr txBox="1"/>
          <p:nvPr/>
        </p:nvSpPr>
        <p:spPr>
          <a:xfrm>
            <a:off x="2959569" y="3145831"/>
            <a:ext cx="998704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~500K inscritos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124K Instagram</a:t>
            </a:r>
          </a:p>
        </p:txBody>
      </p:sp>
      <p:sp>
        <p:nvSpPr>
          <p:cNvPr id="927" name="TextBox 30"/>
          <p:cNvSpPr txBox="1"/>
          <p:nvPr/>
        </p:nvSpPr>
        <p:spPr>
          <a:xfrm>
            <a:off x="4140962" y="3145831"/>
            <a:ext cx="5358892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Bicampeão Latte Art. Tutoriais de espresso, análise de equipamentos (entrada a ultra-premium), latte art. Audiência: 31% EUA. Home barista sério.</a:t>
            </a:r>
          </a:p>
        </p:txBody>
      </p:sp>
      <p:sp>
        <p:nvSpPr>
          <p:cNvPr id="928" name="TextBox 31"/>
          <p:cNvSpPr txBox="1"/>
          <p:nvPr/>
        </p:nvSpPr>
        <p:spPr>
          <a:xfrm>
            <a:off x="9658184" y="3145831"/>
            <a:ext cx="219227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Diversas marcas de equipamentos. Audiência: 8% Brasil — dado relevante.</a:t>
            </a:r>
          </a:p>
        </p:txBody>
      </p:sp>
      <p:sp>
        <p:nvSpPr>
          <p:cNvPr id="929" name="Rectangle 32"/>
          <p:cNvSpPr/>
          <p:nvPr/>
        </p:nvSpPr>
        <p:spPr>
          <a:xfrm>
            <a:off x="219227" y="3718258"/>
            <a:ext cx="11753025" cy="621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30" name="Rectangle 33"/>
          <p:cNvSpPr/>
          <p:nvPr/>
        </p:nvSpPr>
        <p:spPr>
          <a:xfrm>
            <a:off x="243585" y="3888768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31" name="TextBox 34"/>
          <p:cNvSpPr txBox="1"/>
          <p:nvPr/>
        </p:nvSpPr>
        <p:spPr>
          <a:xfrm>
            <a:off x="474992" y="3766975"/>
            <a:ext cx="231406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European Coffee Trip</a:t>
            </a:r>
          </a:p>
        </p:txBody>
      </p:sp>
      <p:sp>
        <p:nvSpPr>
          <p:cNvPr id="932" name="TextBox 35"/>
          <p:cNvSpPr txBox="1"/>
          <p:nvPr/>
        </p:nvSpPr>
        <p:spPr>
          <a:xfrm>
            <a:off x="2959569" y="3766975"/>
            <a:ext cx="998704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389K inscritos</a:t>
            </a:r>
          </a:p>
        </p:txBody>
      </p:sp>
      <p:sp>
        <p:nvSpPr>
          <p:cNvPr id="933" name="TextBox 36"/>
          <p:cNvSpPr txBox="1"/>
          <p:nvPr/>
        </p:nvSpPr>
        <p:spPr>
          <a:xfrm>
            <a:off x="4140962" y="3766975"/>
            <a:ext cx="5358892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Guias de cidades de café na Europa, entrevistas com indústria, tutoriais de preparo. Tom documental / cultural. Percebido como editorial independente — alta credibilidade.</a:t>
            </a:r>
          </a:p>
        </p:txBody>
      </p:sp>
      <p:sp>
        <p:nvSpPr>
          <p:cNvPr id="934" name="TextBox 37"/>
          <p:cNvSpPr txBox="1"/>
          <p:nvPr/>
        </p:nvSpPr>
        <p:spPr>
          <a:xfrm>
            <a:off x="9658184" y="3766975"/>
            <a:ext cx="2192275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Sem parcerias comerciais declaradas. Alta credibilidade editorial.</a:t>
            </a:r>
          </a:p>
        </p:txBody>
      </p:sp>
      <p:sp>
        <p:nvSpPr>
          <p:cNvPr id="935" name="Rectangle 38"/>
          <p:cNvSpPr/>
          <p:nvPr/>
        </p:nvSpPr>
        <p:spPr>
          <a:xfrm>
            <a:off x="219227" y="4339402"/>
            <a:ext cx="11753025" cy="621146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36" name="Rectangle 39"/>
          <p:cNvSpPr/>
          <p:nvPr/>
        </p:nvSpPr>
        <p:spPr>
          <a:xfrm>
            <a:off x="243585" y="4509912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37" name="TextBox 40"/>
          <p:cNvSpPr txBox="1"/>
          <p:nvPr/>
        </p:nvSpPr>
        <p:spPr>
          <a:xfrm>
            <a:off x="474992" y="4388120"/>
            <a:ext cx="2314068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pPr>
            <a:r>
              <a:t>@Sprometheus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pPr>
            <a:r>
              <a:t>(The Real Sprometheus)</a:t>
            </a:r>
          </a:p>
        </p:txBody>
      </p:sp>
      <p:sp>
        <p:nvSpPr>
          <p:cNvPr id="938" name="TextBox 41"/>
          <p:cNvSpPr txBox="1"/>
          <p:nvPr/>
        </p:nvSpPr>
        <p:spPr>
          <a:xfrm>
            <a:off x="2959569" y="4388120"/>
            <a:ext cx="998704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55K Instagram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Micro-canal</a:t>
            </a:r>
          </a:p>
        </p:txBody>
      </p:sp>
      <p:sp>
        <p:nvSpPr>
          <p:cNvPr id="939" name="TextBox 42"/>
          <p:cNvSpPr txBox="1"/>
          <p:nvPr/>
        </p:nvSpPr>
        <p:spPr>
          <a:xfrm>
            <a:off x="4140962" y="4388120"/>
            <a:ext cx="5358892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"Brutally honest" reviews de espresso e equipamentos. Sem patrocínio declarado. Microtorradora própria "Little Giant Coffee". Referência entre home baristas sérios.</a:t>
            </a:r>
          </a:p>
        </p:txBody>
      </p:sp>
      <p:sp>
        <p:nvSpPr>
          <p:cNvPr id="940" name="TextBox 43"/>
          <p:cNvSpPr txBox="1"/>
          <p:nvPr/>
        </p:nvSpPr>
        <p:spPr>
          <a:xfrm>
            <a:off x="9658184" y="4388120"/>
            <a:ext cx="219227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Zero parcerias pagas declaradas — máxima credibilidade. Nicho altamente qualificado.</a:t>
            </a:r>
          </a:p>
        </p:txBody>
      </p:sp>
      <p:sp>
        <p:nvSpPr>
          <p:cNvPr id="941" name="Rectangle 44"/>
          <p:cNvSpPr/>
          <p:nvPr/>
        </p:nvSpPr>
        <p:spPr>
          <a:xfrm>
            <a:off x="219227" y="4960547"/>
            <a:ext cx="11753025" cy="621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42" name="Rectangle 45"/>
          <p:cNvSpPr/>
          <p:nvPr/>
        </p:nvSpPr>
        <p:spPr>
          <a:xfrm>
            <a:off x="243585" y="5131057"/>
            <a:ext cx="121794" cy="292304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43" name="TextBox 46"/>
          <p:cNvSpPr txBox="1"/>
          <p:nvPr/>
        </p:nvSpPr>
        <p:spPr>
          <a:xfrm>
            <a:off x="474992" y="5009264"/>
            <a:ext cx="231406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La Marzocco (canal institucional)</a:t>
            </a:r>
          </a:p>
        </p:txBody>
      </p:sp>
      <p:sp>
        <p:nvSpPr>
          <p:cNvPr id="944" name="TextBox 47"/>
          <p:cNvSpPr txBox="1"/>
          <p:nvPr/>
        </p:nvSpPr>
        <p:spPr>
          <a:xfrm>
            <a:off x="2959569" y="5009264"/>
            <a:ext cx="998704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800K+ Instagram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canalintegrativo</a:t>
            </a:r>
          </a:p>
        </p:txBody>
      </p:sp>
      <p:sp>
        <p:nvSpPr>
          <p:cNvPr id="945" name="TextBox 48"/>
          <p:cNvSpPr txBox="1"/>
          <p:nvPr/>
        </p:nvSpPr>
        <p:spPr>
          <a:xfrm>
            <a:off x="4140962" y="5009264"/>
            <a:ext cx="5358892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Exemplo de marca usando seu próprio canal como mídia editorial. Máquinas de espresso + lifestyle: ciclismo, viagem, cultura italiana. Modelo de conteúdo aspiracional.</a:t>
            </a:r>
          </a:p>
        </p:txBody>
      </p:sp>
      <p:sp>
        <p:nvSpPr>
          <p:cNvPr id="946" name="TextBox 49"/>
          <p:cNvSpPr txBox="1"/>
          <p:nvPr/>
        </p:nvSpPr>
        <p:spPr>
          <a:xfrm>
            <a:off x="9658184" y="5009264"/>
            <a:ext cx="2192275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Referência de como uma marca de equipamentos constrói cultura no digital.</a:t>
            </a:r>
          </a:p>
        </p:txBody>
      </p:sp>
      <p:sp>
        <p:nvSpPr>
          <p:cNvPr id="947" name="Rectangle 50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48" name="TextBox 51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YouTube Analytics · Coffee Intelligence (jul/2025) · Perfect Daily Grind · Latterly.org · Sprudge · AInfluencer top-25 coffee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1" name="Rectangle 2"/>
          <p:cNvSpPr/>
          <p:nvPr/>
        </p:nvSpPr>
        <p:spPr>
          <a:xfrm>
            <a:off x="-1" y="3571"/>
            <a:ext cx="4628136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2" name="Rectangle 3"/>
          <p:cNvSpPr/>
          <p:nvPr/>
        </p:nvSpPr>
        <p:spPr>
          <a:xfrm>
            <a:off x="4628134" y="3571"/>
            <a:ext cx="73076" cy="685085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3" name="TextBox 4"/>
          <p:cNvSpPr txBox="1"/>
          <p:nvPr/>
        </p:nvSpPr>
        <p:spPr>
          <a:xfrm>
            <a:off x="365378" y="490743"/>
            <a:ext cx="389737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CE8CC"/>
                </a:solidFill>
              </a:defRPr>
            </a:lvl1pPr>
          </a:lstStyle>
          <a:p>
            <a:pPr/>
            <a:r>
              <a:t>BLOCO 1 · PLATAFORMAS</a:t>
            </a:r>
          </a:p>
        </p:txBody>
      </p:sp>
      <p:sp>
        <p:nvSpPr>
          <p:cNvPr id="954" name="TextBox 5"/>
          <p:cNvSpPr txBox="1"/>
          <p:nvPr/>
        </p:nvSpPr>
        <p:spPr>
          <a:xfrm>
            <a:off x="365378" y="1038812"/>
            <a:ext cx="3897378" cy="133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Instagram</a:t>
            </a:r>
          </a:p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Café, Lifestyle &amp; Comunidade</a:t>
            </a:r>
          </a:p>
        </p:txBody>
      </p:sp>
      <p:sp>
        <p:nvSpPr>
          <p:cNvPr id="955" name="TextBox 6"/>
          <p:cNvSpPr txBox="1"/>
          <p:nvPr/>
        </p:nvSpPr>
        <p:spPr>
          <a:xfrm>
            <a:off x="365378" y="3900947"/>
            <a:ext cx="3897378" cy="469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Perfis de café de especialidade, wellness, arte e estética com forte presença do café como elemento central</a:t>
            </a:r>
          </a:p>
        </p:txBody>
      </p:sp>
      <p:sp>
        <p:nvSpPr>
          <p:cNvPr id="956" name="TextBox 7"/>
          <p:cNvSpPr txBox="1"/>
          <p:nvPr/>
        </p:nvSpPr>
        <p:spPr>
          <a:xfrm>
            <a:off x="365378" y="6184566"/>
            <a:ext cx="389737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99CC99"/>
                </a:solidFill>
              </a:defRPr>
            </a:lvl1pPr>
          </a:lstStyle>
          <a:p>
            <a:pPr/>
            <a:r>
              <a:t>Fontes: Instagram · Coffee Intelligence · Influencer Marketing Hub · IZEA · jul 2026</a:t>
            </a:r>
          </a:p>
        </p:txBody>
      </p:sp>
      <p:sp>
        <p:nvSpPr>
          <p:cNvPr id="957" name="Rectangle 8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58" name="TextBox 9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61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62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63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64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INSTAGRAM · CRIADORES DE CAFÉ E ESPECIALIDADE</a:t>
            </a:r>
          </a:p>
        </p:txBody>
      </p:sp>
      <p:sp>
        <p:nvSpPr>
          <p:cNvPr id="965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Perfis Prioritários — Specialty, Estética e Lifestyle do Café</a:t>
            </a:r>
          </a:p>
        </p:txBody>
      </p:sp>
      <p:sp>
        <p:nvSpPr>
          <p:cNvPr id="966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Seguidores, estilo de conteúdo, audiência relevante e parcerias documentadas</a:t>
            </a:r>
          </a:p>
        </p:txBody>
      </p:sp>
      <p:sp>
        <p:nvSpPr>
          <p:cNvPr id="967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968" name="Rectangle 9"/>
          <p:cNvSpPr/>
          <p:nvPr/>
        </p:nvSpPr>
        <p:spPr>
          <a:xfrm>
            <a:off x="219227" y="1489446"/>
            <a:ext cx="11753025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69" name="TextBox 10"/>
          <p:cNvSpPr txBox="1"/>
          <p:nvPr/>
        </p:nvSpPr>
        <p:spPr>
          <a:xfrm>
            <a:off x="328840" y="1550342"/>
            <a:ext cx="1948690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PERFIL</a:t>
            </a:r>
          </a:p>
        </p:txBody>
      </p:sp>
      <p:sp>
        <p:nvSpPr>
          <p:cNvPr id="970" name="TextBox 11"/>
          <p:cNvSpPr txBox="1"/>
          <p:nvPr/>
        </p:nvSpPr>
        <p:spPr>
          <a:xfrm>
            <a:off x="2496756" y="1550342"/>
            <a:ext cx="194868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SEGUIDORES</a:t>
            </a:r>
          </a:p>
        </p:txBody>
      </p:sp>
      <p:sp>
        <p:nvSpPr>
          <p:cNvPr id="971" name="TextBox 12"/>
          <p:cNvSpPr txBox="1"/>
          <p:nvPr/>
        </p:nvSpPr>
        <p:spPr>
          <a:xfrm>
            <a:off x="3836479" y="1550342"/>
            <a:ext cx="194868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CONTEÚDO &amp; POSICIONAMENTO</a:t>
            </a:r>
          </a:p>
        </p:txBody>
      </p:sp>
      <p:sp>
        <p:nvSpPr>
          <p:cNvPr id="972" name="TextBox 13"/>
          <p:cNvSpPr txBox="1"/>
          <p:nvPr/>
        </p:nvSpPr>
        <p:spPr>
          <a:xfrm>
            <a:off x="9378060" y="1550342"/>
            <a:ext cx="194868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AUDIÊNCIA / PARCERIAS</a:t>
            </a:r>
          </a:p>
        </p:txBody>
      </p:sp>
      <p:sp>
        <p:nvSpPr>
          <p:cNvPr id="973" name="Rectangle 14"/>
          <p:cNvSpPr/>
          <p:nvPr/>
        </p:nvSpPr>
        <p:spPr>
          <a:xfrm>
            <a:off x="219227" y="1806108"/>
            <a:ext cx="11753025" cy="535890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74" name="Rectangle 15"/>
          <p:cNvSpPr/>
          <p:nvPr/>
        </p:nvSpPr>
        <p:spPr>
          <a:xfrm>
            <a:off x="243585" y="1927901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75" name="TextBox 16"/>
          <p:cNvSpPr txBox="1"/>
          <p:nvPr/>
        </p:nvSpPr>
        <p:spPr>
          <a:xfrm>
            <a:off x="450633" y="1854825"/>
            <a:ext cx="188779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@dina_kalanta</a:t>
            </a:r>
          </a:p>
        </p:txBody>
      </p:sp>
      <p:sp>
        <p:nvSpPr>
          <p:cNvPr id="976" name="TextBox 17"/>
          <p:cNvSpPr txBox="1"/>
          <p:nvPr/>
        </p:nvSpPr>
        <p:spPr>
          <a:xfrm>
            <a:off x="2496756" y="1854825"/>
            <a:ext cx="1096138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1,7M Instagram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6M TikTok</a:t>
            </a:r>
          </a:p>
        </p:txBody>
      </p:sp>
      <p:sp>
        <p:nvSpPr>
          <p:cNvPr id="977" name="TextBox 18"/>
          <p:cNvSpPr txBox="1"/>
          <p:nvPr/>
        </p:nvSpPr>
        <p:spPr>
          <a:xfrm>
            <a:off x="3836479" y="1854825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"World's #1 coffee blogger". Café em recipientes criativos, slow-motion pours, edição minimalista. Tendência-setter global de café estético.</a:t>
            </a:r>
          </a:p>
        </p:txBody>
      </p:sp>
      <p:sp>
        <p:nvSpPr>
          <p:cNvPr id="978" name="TextBox 19"/>
          <p:cNvSpPr txBox="1"/>
          <p:nvPr/>
        </p:nvSpPr>
        <p:spPr>
          <a:xfrm>
            <a:off x="9378060" y="1854825"/>
            <a:ext cx="249675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16% EUA · 10% Índia</a:t>
            </a:r>
          </a:p>
        </p:txBody>
      </p:sp>
      <p:sp>
        <p:nvSpPr>
          <p:cNvPr id="979" name="Rectangle 20"/>
          <p:cNvSpPr/>
          <p:nvPr/>
        </p:nvSpPr>
        <p:spPr>
          <a:xfrm>
            <a:off x="219227" y="2341997"/>
            <a:ext cx="11753025" cy="53589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0" name="Rectangle 21"/>
          <p:cNvSpPr/>
          <p:nvPr/>
        </p:nvSpPr>
        <p:spPr>
          <a:xfrm>
            <a:off x="243585" y="2463790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1" name="TextBox 22"/>
          <p:cNvSpPr txBox="1"/>
          <p:nvPr/>
        </p:nvSpPr>
        <p:spPr>
          <a:xfrm>
            <a:off x="450633" y="2390714"/>
            <a:ext cx="188779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@tannercolsoncoffee</a:t>
            </a:r>
          </a:p>
        </p:txBody>
      </p:sp>
      <p:sp>
        <p:nvSpPr>
          <p:cNvPr id="982" name="TextBox 23"/>
          <p:cNvSpPr txBox="1"/>
          <p:nvPr/>
        </p:nvSpPr>
        <p:spPr>
          <a:xfrm>
            <a:off x="2496756" y="2390714"/>
            <a:ext cx="109613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1,7M Instagram</a:t>
            </a:r>
          </a:p>
        </p:txBody>
      </p:sp>
      <p:sp>
        <p:nvSpPr>
          <p:cNvPr id="983" name="TextBox 24"/>
          <p:cNvSpPr txBox="1"/>
          <p:nvPr/>
        </p:nvSpPr>
        <p:spPr>
          <a:xfrm>
            <a:off x="3836479" y="2390714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Equipamentos, torras, técnicas de preparo. Audiência fortemente americana e brasileira — ponte natural entre os dois mercados.</a:t>
            </a:r>
          </a:p>
        </p:txBody>
      </p:sp>
      <p:sp>
        <p:nvSpPr>
          <p:cNvPr id="984" name="TextBox 25"/>
          <p:cNvSpPr txBox="1"/>
          <p:nvPr/>
        </p:nvSpPr>
        <p:spPr>
          <a:xfrm>
            <a:off x="9378060" y="2390714"/>
            <a:ext cx="249675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i="1" sz="900">
                <a:solidFill>
                  <a:srgbClr val="2A5C2E"/>
                </a:solidFill>
              </a:defRPr>
            </a:lvl1pPr>
          </a:lstStyle>
          <a:p>
            <a:pPr/>
            <a:r>
              <a:t>32% EUA · 8% BRASIL ← relevante para Orfeu</a:t>
            </a:r>
          </a:p>
        </p:txBody>
      </p:sp>
      <p:sp>
        <p:nvSpPr>
          <p:cNvPr id="985" name="Rectangle 26"/>
          <p:cNvSpPr/>
          <p:nvPr/>
        </p:nvSpPr>
        <p:spPr>
          <a:xfrm>
            <a:off x="219227" y="2877886"/>
            <a:ext cx="11753025" cy="535890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6" name="Rectangle 27"/>
          <p:cNvSpPr/>
          <p:nvPr/>
        </p:nvSpPr>
        <p:spPr>
          <a:xfrm>
            <a:off x="243585" y="2999679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87" name="TextBox 28"/>
          <p:cNvSpPr txBox="1"/>
          <p:nvPr/>
        </p:nvSpPr>
        <p:spPr>
          <a:xfrm>
            <a:off x="450633" y="2926603"/>
            <a:ext cx="188779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@themacrobarista</a:t>
            </a:r>
          </a:p>
        </p:txBody>
      </p:sp>
      <p:sp>
        <p:nvSpPr>
          <p:cNvPr id="988" name="TextBox 29"/>
          <p:cNvSpPr txBox="1"/>
          <p:nvPr/>
        </p:nvSpPr>
        <p:spPr>
          <a:xfrm>
            <a:off x="2496756" y="2926603"/>
            <a:ext cx="109613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1,3M Instagram</a:t>
            </a:r>
          </a:p>
        </p:txBody>
      </p:sp>
      <p:sp>
        <p:nvSpPr>
          <p:cNvPr id="989" name="TextBox 30"/>
          <p:cNvSpPr txBox="1"/>
          <p:nvPr/>
        </p:nvSpPr>
        <p:spPr>
          <a:xfrm>
            <a:off x="3836479" y="2926603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Ex-barista Starbucks. Receitas de café saudáveis, versões sem excesso de açúcar de bebidas de grandes redes. Audiência massivamente americana.</a:t>
            </a:r>
          </a:p>
        </p:txBody>
      </p:sp>
      <p:sp>
        <p:nvSpPr>
          <p:cNvPr id="990" name="TextBox 31"/>
          <p:cNvSpPr txBox="1"/>
          <p:nvPr/>
        </p:nvSpPr>
        <p:spPr>
          <a:xfrm>
            <a:off x="9378060" y="2926603"/>
            <a:ext cx="249675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89% EUA · Wellness + Café</a:t>
            </a:r>
          </a:p>
        </p:txBody>
      </p:sp>
      <p:sp>
        <p:nvSpPr>
          <p:cNvPr id="991" name="Rectangle 32"/>
          <p:cNvSpPr/>
          <p:nvPr/>
        </p:nvSpPr>
        <p:spPr>
          <a:xfrm>
            <a:off x="219227" y="3413775"/>
            <a:ext cx="11753025" cy="53589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92" name="Rectangle 33"/>
          <p:cNvSpPr/>
          <p:nvPr/>
        </p:nvSpPr>
        <p:spPr>
          <a:xfrm>
            <a:off x="243585" y="3535568"/>
            <a:ext cx="97436" cy="292305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93" name="TextBox 34"/>
          <p:cNvSpPr txBox="1"/>
          <p:nvPr/>
        </p:nvSpPr>
        <p:spPr>
          <a:xfrm>
            <a:off x="450633" y="3462493"/>
            <a:ext cx="188779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@ethanrode</a:t>
            </a:r>
          </a:p>
        </p:txBody>
      </p:sp>
      <p:sp>
        <p:nvSpPr>
          <p:cNvPr id="994" name="TextBox 35"/>
          <p:cNvSpPr txBox="1"/>
          <p:nvPr/>
        </p:nvSpPr>
        <p:spPr>
          <a:xfrm>
            <a:off x="2496756" y="3462493"/>
            <a:ext cx="1096138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1,1M Instagram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2,9M TikTok</a:t>
            </a:r>
          </a:p>
        </p:txBody>
      </p:sp>
      <p:sp>
        <p:nvSpPr>
          <p:cNvPr id="995" name="TextBox 36"/>
          <p:cNvSpPr txBox="1"/>
          <p:nvPr/>
        </p:nvSpPr>
        <p:spPr>
          <a:xfrm>
            <a:off x="3836479" y="3462493"/>
            <a:ext cx="535889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Café + lifestyle. Conteúdo estético com forte cobertura americana. Engajamento: 0,56%.</a:t>
            </a:r>
          </a:p>
        </p:txBody>
      </p:sp>
      <p:sp>
        <p:nvSpPr>
          <p:cNvPr id="996" name="TextBox 37"/>
          <p:cNvSpPr txBox="1"/>
          <p:nvPr/>
        </p:nvSpPr>
        <p:spPr>
          <a:xfrm>
            <a:off x="9378060" y="3462493"/>
            <a:ext cx="2496758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39% EUA · 7% UK</a:t>
            </a:r>
          </a:p>
        </p:txBody>
      </p:sp>
      <p:sp>
        <p:nvSpPr>
          <p:cNvPr id="997" name="Rectangle 38"/>
          <p:cNvSpPr/>
          <p:nvPr/>
        </p:nvSpPr>
        <p:spPr>
          <a:xfrm>
            <a:off x="219227" y="3949665"/>
            <a:ext cx="11753025" cy="53589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98" name="Rectangle 39"/>
          <p:cNvSpPr/>
          <p:nvPr/>
        </p:nvSpPr>
        <p:spPr>
          <a:xfrm>
            <a:off x="243585" y="4071458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999" name="TextBox 40"/>
          <p:cNvSpPr txBox="1"/>
          <p:nvPr/>
        </p:nvSpPr>
        <p:spPr>
          <a:xfrm>
            <a:off x="450633" y="3998382"/>
            <a:ext cx="18877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@co.nfused</a:t>
            </a:r>
          </a:p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Christopher</a:t>
            </a:r>
          </a:p>
        </p:txBody>
      </p:sp>
      <p:sp>
        <p:nvSpPr>
          <p:cNvPr id="1000" name="TextBox 41"/>
          <p:cNvSpPr txBox="1"/>
          <p:nvPr/>
        </p:nvSpPr>
        <p:spPr>
          <a:xfrm>
            <a:off x="2496756" y="3998382"/>
            <a:ext cx="1096138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409K Instagram</a:t>
            </a:r>
          </a:p>
        </p:txBody>
      </p:sp>
      <p:sp>
        <p:nvSpPr>
          <p:cNvPr id="1001" name="TextBox 42"/>
          <p:cNvSpPr txBox="1"/>
          <p:nvPr/>
        </p:nvSpPr>
        <p:spPr>
          <a:xfrm>
            <a:off x="3836479" y="3998382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Lifestyle, viagem, estética "academic aesthetic". Engajamento 1,38% — acima da média para o porte. Audiência dual BR+US, exatamente o perfil para Orfeu.</a:t>
            </a:r>
          </a:p>
        </p:txBody>
      </p:sp>
      <p:sp>
        <p:nvSpPr>
          <p:cNvPr id="1002" name="TextBox 43"/>
          <p:cNvSpPr txBox="1"/>
          <p:nvPr/>
        </p:nvSpPr>
        <p:spPr>
          <a:xfrm>
            <a:off x="9378060" y="3998382"/>
            <a:ext cx="2496758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i="1" sz="900">
                <a:solidFill>
                  <a:srgbClr val="2A5C2E"/>
                </a:solidFill>
              </a:defRPr>
            </a:lvl1pPr>
          </a:lstStyle>
          <a:p>
            <a:pPr/>
            <a:r>
              <a:t>16% EUA · 7% BRASIL ← perfil ideal</a:t>
            </a:r>
          </a:p>
        </p:txBody>
      </p:sp>
      <p:sp>
        <p:nvSpPr>
          <p:cNvPr id="1003" name="Rectangle 44"/>
          <p:cNvSpPr/>
          <p:nvPr/>
        </p:nvSpPr>
        <p:spPr>
          <a:xfrm>
            <a:off x="219227" y="4485554"/>
            <a:ext cx="11753025" cy="53589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04" name="Rectangle 45"/>
          <p:cNvSpPr/>
          <p:nvPr/>
        </p:nvSpPr>
        <p:spPr>
          <a:xfrm>
            <a:off x="243585" y="4607347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05" name="TextBox 46"/>
          <p:cNvSpPr txBox="1"/>
          <p:nvPr/>
        </p:nvSpPr>
        <p:spPr>
          <a:xfrm>
            <a:off x="450633" y="4534271"/>
            <a:ext cx="188779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@onyxcoffeelab</a:t>
            </a:r>
          </a:p>
        </p:txBody>
      </p:sp>
      <p:sp>
        <p:nvSpPr>
          <p:cNvPr id="1006" name="TextBox 47"/>
          <p:cNvSpPr txBox="1"/>
          <p:nvPr/>
        </p:nvSpPr>
        <p:spPr>
          <a:xfrm>
            <a:off x="2496756" y="4534271"/>
            <a:ext cx="1096138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900">
                <a:solidFill>
                  <a:srgbClr val="555555"/>
                </a:solidFill>
              </a:defRPr>
            </a:pPr>
            <a:r>
              <a:t>285K Instagram</a:t>
            </a:r>
          </a:p>
          <a:p>
            <a:pPr defTabSz="609600">
              <a:defRPr sz="900">
                <a:solidFill>
                  <a:srgbClr val="555555"/>
                </a:solidFill>
              </a:defRPr>
            </a:pPr>
            <a:r>
              <a:t>26,2K TikTok</a:t>
            </a:r>
          </a:p>
        </p:txBody>
      </p:sp>
      <p:sp>
        <p:nvSpPr>
          <p:cNvPr id="1007" name="TextBox 48"/>
          <p:cNvSpPr txBox="1"/>
          <p:nvPr/>
        </p:nvSpPr>
        <p:spPr>
          <a:xfrm>
            <a:off x="3836479" y="4534271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Drink build videos com ingredientes exatos, bastidores da torra, guias bilíngues. 8.213+ posts. Referência de como uma torra de specialty constrói comunidade editorial.</a:t>
            </a:r>
          </a:p>
        </p:txBody>
      </p:sp>
      <p:sp>
        <p:nvSpPr>
          <p:cNvPr id="1008" name="TextBox 49"/>
          <p:cNvSpPr txBox="1"/>
          <p:nvPr/>
        </p:nvSpPr>
        <p:spPr>
          <a:xfrm>
            <a:off x="9378060" y="4534271"/>
            <a:ext cx="249675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Jimmy Butler (NBA collab) · Morgan Eckroth</a:t>
            </a:r>
          </a:p>
        </p:txBody>
      </p:sp>
      <p:sp>
        <p:nvSpPr>
          <p:cNvPr id="1009" name="Rectangle 50"/>
          <p:cNvSpPr/>
          <p:nvPr/>
        </p:nvSpPr>
        <p:spPr>
          <a:xfrm>
            <a:off x="219227" y="5021443"/>
            <a:ext cx="11753025" cy="535890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10" name="Rectangle 51"/>
          <p:cNvSpPr/>
          <p:nvPr/>
        </p:nvSpPr>
        <p:spPr>
          <a:xfrm>
            <a:off x="243585" y="5143236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11" name="TextBox 52"/>
          <p:cNvSpPr txBox="1"/>
          <p:nvPr/>
        </p:nvSpPr>
        <p:spPr>
          <a:xfrm>
            <a:off x="450633" y="5070160"/>
            <a:ext cx="188779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@lancehedrick</a:t>
            </a:r>
          </a:p>
        </p:txBody>
      </p:sp>
      <p:sp>
        <p:nvSpPr>
          <p:cNvPr id="1012" name="TextBox 53"/>
          <p:cNvSpPr txBox="1"/>
          <p:nvPr/>
        </p:nvSpPr>
        <p:spPr>
          <a:xfrm>
            <a:off x="2496756" y="5070160"/>
            <a:ext cx="109613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124K Instagram</a:t>
            </a:r>
          </a:p>
        </p:txBody>
      </p:sp>
      <p:sp>
        <p:nvSpPr>
          <p:cNvPr id="1013" name="TextBox 54"/>
          <p:cNvSpPr txBox="1"/>
          <p:nvPr/>
        </p:nvSpPr>
        <p:spPr>
          <a:xfrm>
            <a:off x="3836479" y="5070160"/>
            <a:ext cx="535889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Latte art, espresso premium. Técnica de alto nível para público de home baristas sérios. Audiência 31% EUA, 9% Indonésia.</a:t>
            </a:r>
          </a:p>
        </p:txBody>
      </p:sp>
      <p:sp>
        <p:nvSpPr>
          <p:cNvPr id="1014" name="TextBox 55"/>
          <p:cNvSpPr txBox="1"/>
          <p:nvPr/>
        </p:nvSpPr>
        <p:spPr>
          <a:xfrm>
            <a:off x="9378060" y="5070160"/>
            <a:ext cx="249675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Marcas de equipamentos de espresso</a:t>
            </a:r>
          </a:p>
        </p:txBody>
      </p:sp>
      <p:sp>
        <p:nvSpPr>
          <p:cNvPr id="1015" name="Rectangle 56"/>
          <p:cNvSpPr/>
          <p:nvPr/>
        </p:nvSpPr>
        <p:spPr>
          <a:xfrm>
            <a:off x="219227" y="5557332"/>
            <a:ext cx="11753025" cy="535891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16" name="Rectangle 57"/>
          <p:cNvSpPr/>
          <p:nvPr/>
        </p:nvSpPr>
        <p:spPr>
          <a:xfrm>
            <a:off x="243585" y="5679125"/>
            <a:ext cx="97436" cy="292304"/>
          </a:xfrm>
          <a:prstGeom prst="rect">
            <a:avLst/>
          </a:prstGeom>
          <a:solidFill>
            <a:srgbClr val="C0306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17" name="TextBox 58"/>
          <p:cNvSpPr txBox="1"/>
          <p:nvPr/>
        </p:nvSpPr>
        <p:spPr>
          <a:xfrm>
            <a:off x="450633" y="5606050"/>
            <a:ext cx="188779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@sprometheus</a:t>
            </a:r>
          </a:p>
        </p:txBody>
      </p:sp>
      <p:sp>
        <p:nvSpPr>
          <p:cNvPr id="1018" name="TextBox 59"/>
          <p:cNvSpPr txBox="1"/>
          <p:nvPr/>
        </p:nvSpPr>
        <p:spPr>
          <a:xfrm>
            <a:off x="2496756" y="5606050"/>
            <a:ext cx="1096138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55K Instagram</a:t>
            </a:r>
          </a:p>
        </p:txBody>
      </p:sp>
      <p:sp>
        <p:nvSpPr>
          <p:cNvPr id="1019" name="TextBox 60"/>
          <p:cNvSpPr txBox="1"/>
          <p:nvPr/>
        </p:nvSpPr>
        <p:spPr>
          <a:xfrm>
            <a:off x="3836479" y="5606050"/>
            <a:ext cx="5358893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Reviews não patrocinados de espresso e gear. Alta credibilidade, audiência de nicho extremamente qualificada. Zero parcerias declaradas.</a:t>
            </a:r>
          </a:p>
        </p:txBody>
      </p:sp>
      <p:sp>
        <p:nvSpPr>
          <p:cNvPr id="1020" name="TextBox 61"/>
          <p:cNvSpPr txBox="1"/>
          <p:nvPr/>
        </p:nvSpPr>
        <p:spPr>
          <a:xfrm>
            <a:off x="9378060" y="5606050"/>
            <a:ext cx="2496758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Sem parcerias — máxima credibilidade editorial</a:t>
            </a:r>
          </a:p>
        </p:txBody>
      </p:sp>
      <p:sp>
        <p:nvSpPr>
          <p:cNvPr id="1021" name="Rectangle 62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22" name="TextBox 63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Instagram · Influencer Marketing Hub · Coffee Intelligence · IZEA · AInfluencer top-25 coffee creators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25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26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27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28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INSTAGRAM · PERFIS ADJACENTES COM FORTE PRESENÇA DE CAFÉ</a:t>
            </a:r>
          </a:p>
        </p:txBody>
      </p:sp>
      <p:sp>
        <p:nvSpPr>
          <p:cNvPr id="1029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Wellness, Arte, Gastronomia e Lifestyle — Café como Elemento Central</a:t>
            </a:r>
          </a:p>
        </p:txBody>
      </p:sp>
      <p:sp>
        <p:nvSpPr>
          <p:cNvPr id="1030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Perfis que não são "sobre café" mas têm café no centro do seu universo visual e narrativo</a:t>
            </a:r>
          </a:p>
        </p:txBody>
      </p:sp>
      <p:sp>
        <p:nvSpPr>
          <p:cNvPr id="1031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032" name="Rectangle 9"/>
          <p:cNvSpPr/>
          <p:nvPr/>
        </p:nvSpPr>
        <p:spPr>
          <a:xfrm>
            <a:off x="219227" y="1489446"/>
            <a:ext cx="3751225" cy="31666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33" name="TextBox 10"/>
          <p:cNvSpPr txBox="1"/>
          <p:nvPr/>
        </p:nvSpPr>
        <p:spPr>
          <a:xfrm>
            <a:off x="377558" y="1538163"/>
            <a:ext cx="3483281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WELLNESS &amp; MORNING RITUAL</a:t>
            </a:r>
          </a:p>
        </p:txBody>
      </p:sp>
      <p:sp>
        <p:nvSpPr>
          <p:cNvPr id="1034" name="Rectangle 11"/>
          <p:cNvSpPr/>
          <p:nvPr/>
        </p:nvSpPr>
        <p:spPr>
          <a:xfrm>
            <a:off x="219227" y="1806108"/>
            <a:ext cx="3751225" cy="4262756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35" name="TextBox 12"/>
          <p:cNvSpPr txBox="1"/>
          <p:nvPr/>
        </p:nvSpPr>
        <p:spPr>
          <a:xfrm>
            <a:off x="401916" y="1879184"/>
            <a:ext cx="3410205" cy="306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i="1" sz="1100">
                <a:solidFill>
                  <a:srgbClr val="555555"/>
                </a:solidFill>
              </a:defRPr>
            </a:pPr>
            <a:r>
              <a:t>Contas de morning routine, mindfulness e wellness integram café como símbolo de intenção e presença. Não vendem café — mas criam o contexto aspiracional em que uma marca como a Orfeu pode aparecer organicamente.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Jay Shetty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21M seguidores · mindfulness, manhã estruturada, propósito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Rachel Brathen / @yoga_girl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2,7M · yoga + família + rituais matinais com café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C07028"/>
                </a:solidFill>
              </a:defRPr>
            </a:pPr>
            <a:r>
              <a:t>Morning Brew Accounts (categoria)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Centenas de contas com 100K–500K que fazem "o café da manhã perfeito" como conteúdo diário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→ Oportunidade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Product placement orgânico via gifting sem brief — o café aparece na xícara, não na legenda.</a:t>
            </a:r>
          </a:p>
        </p:txBody>
      </p:sp>
      <p:sp>
        <p:nvSpPr>
          <p:cNvPr id="1036" name="Rectangle 13"/>
          <p:cNvSpPr/>
          <p:nvPr/>
        </p:nvSpPr>
        <p:spPr>
          <a:xfrm>
            <a:off x="4177499" y="1489446"/>
            <a:ext cx="3751226" cy="316661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37" name="TextBox 14"/>
          <p:cNvSpPr txBox="1"/>
          <p:nvPr/>
        </p:nvSpPr>
        <p:spPr>
          <a:xfrm>
            <a:off x="4335830" y="1538163"/>
            <a:ext cx="3483281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ARTE, CULTURA &amp; DESIGN</a:t>
            </a:r>
          </a:p>
        </p:txBody>
      </p:sp>
      <p:sp>
        <p:nvSpPr>
          <p:cNvPr id="1038" name="Rectangle 15"/>
          <p:cNvSpPr/>
          <p:nvPr/>
        </p:nvSpPr>
        <p:spPr>
          <a:xfrm>
            <a:off x="4177499" y="1806108"/>
            <a:ext cx="3751226" cy="4262756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39" name="TextBox 16"/>
          <p:cNvSpPr txBox="1"/>
          <p:nvPr/>
        </p:nvSpPr>
        <p:spPr>
          <a:xfrm>
            <a:off x="4360189" y="1879184"/>
            <a:ext cx="3410205" cy="3727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i="1" sz="1100">
                <a:solidFill>
                  <a:srgbClr val="555555"/>
                </a:solidFill>
              </a:defRPr>
            </a:pPr>
            <a:r>
              <a:t>Contas de arte, design de interiores, arquitetura e cultura urbana frequentemente usam cafeterias e café como cenário. A estética do café de especialidade se alinha a um público que valoriza craft e curadoria.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Cafés como cenário de arte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Fotógrafos de arquitetura e design visitam e publicam cafeterias como Blue Bottle, Sightglass — a cafeteria vira content peg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Contas de "cidade certa"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Perfis de NYC, LA, SF que documentam "the best in the city" — incluem café specialty como pauta editorial recorrente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1A3C7A"/>
                </a:solidFill>
              </a:defRPr>
            </a:pPr>
            <a:r>
              <a:t>Marcas de lifestyle premium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Aesop, Le Labo, Byredo — marcas que usam café esporadicamente como vetor de identidade cultural (sem parceria de produto)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→ Oportunidade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A Orfeu como "o café que uma galeria de arte serviria". Gifting editorial, não advertising.</a:t>
            </a:r>
          </a:p>
        </p:txBody>
      </p:sp>
      <p:sp>
        <p:nvSpPr>
          <p:cNvPr id="1040" name="Rectangle 17"/>
          <p:cNvSpPr/>
          <p:nvPr/>
        </p:nvSpPr>
        <p:spPr>
          <a:xfrm>
            <a:off x="8135772" y="1489446"/>
            <a:ext cx="3751225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41" name="TextBox 18"/>
          <p:cNvSpPr txBox="1"/>
          <p:nvPr/>
        </p:nvSpPr>
        <p:spPr>
          <a:xfrm>
            <a:off x="8294103" y="1538163"/>
            <a:ext cx="3483281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GASTRONOMIA &amp; CULINÁRIA</a:t>
            </a:r>
          </a:p>
        </p:txBody>
      </p:sp>
      <p:sp>
        <p:nvSpPr>
          <p:cNvPr id="1042" name="Rectangle 19"/>
          <p:cNvSpPr/>
          <p:nvPr/>
        </p:nvSpPr>
        <p:spPr>
          <a:xfrm>
            <a:off x="8135772" y="1806108"/>
            <a:ext cx="3751225" cy="4262756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43" name="TextBox 20"/>
          <p:cNvSpPr txBox="1"/>
          <p:nvPr/>
        </p:nvSpPr>
        <p:spPr>
          <a:xfrm>
            <a:off x="8318462" y="1879184"/>
            <a:ext cx="3410205" cy="3397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i="1" sz="1100">
                <a:solidFill>
                  <a:srgbClr val="555555"/>
                </a:solidFill>
              </a:defRPr>
            </a:pPr>
            <a:r>
              <a:t>Food influencers e chefs que têm café como ingrediente ou pano de fundo. Receitas com café, maridamentos, cafés no pós-refeição. Audiência premium com interesse em origem e qualidade.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Chefs e food critics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Eric Ripert, David Chang (Momofuku tem parceria histórica com Stumptown) — chef + café premium = validação de qualidade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Food photographers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Contas de 200K–1M que fotografam café specialty como objeto gastronômico — composição, cor, textura</a:t>
            </a: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Padarias premium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Tartine (SF), Bread Alone (NY) — parceria natural: pão artesanal + café de origem = alinhamento de valores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100">
                <a:solidFill>
                  <a:srgbClr val="2A5C2E"/>
                </a:solidFill>
              </a:defRPr>
            </a:pPr>
            <a:r>
              <a:t>→ Oportunidade</a:t>
            </a:r>
          </a:p>
          <a:p>
            <a:pPr defTabSz="609600">
              <a:spcBef>
                <a:spcPts val="100"/>
              </a:spcBef>
              <a:defRPr sz="1100">
                <a:solidFill>
                  <a:srgbClr val="2D2D2D"/>
                </a:solidFill>
              </a:defRPr>
            </a:pPr>
            <a:r>
              <a:t>Orfeu como "o café de padaria premium brasileira". Collab com chefs para recipe content com café de origem.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46" name="Rectangle 2"/>
          <p:cNvSpPr/>
          <p:nvPr/>
        </p:nvSpPr>
        <p:spPr>
          <a:xfrm>
            <a:off x="-1" y="3571"/>
            <a:ext cx="4628136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47" name="Rectangle 3"/>
          <p:cNvSpPr/>
          <p:nvPr/>
        </p:nvSpPr>
        <p:spPr>
          <a:xfrm>
            <a:off x="4628134" y="3571"/>
            <a:ext cx="73076" cy="685085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48" name="TextBox 4"/>
          <p:cNvSpPr txBox="1"/>
          <p:nvPr/>
        </p:nvSpPr>
        <p:spPr>
          <a:xfrm>
            <a:off x="365378" y="490743"/>
            <a:ext cx="389737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CE8CC"/>
                </a:solidFill>
              </a:defRPr>
            </a:lvl1pPr>
          </a:lstStyle>
          <a:p>
            <a:pPr/>
            <a:r>
              <a:t>BLOCO 1 · PLATAFORMAS</a:t>
            </a:r>
          </a:p>
        </p:txBody>
      </p:sp>
      <p:sp>
        <p:nvSpPr>
          <p:cNvPr id="1049" name="TextBox 5"/>
          <p:cNvSpPr txBox="1"/>
          <p:nvPr/>
        </p:nvSpPr>
        <p:spPr>
          <a:xfrm>
            <a:off x="365378" y="1038812"/>
            <a:ext cx="3897378" cy="906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TikTok</a:t>
            </a:r>
          </a:p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&amp; #CoffeeTok</a:t>
            </a:r>
          </a:p>
        </p:txBody>
      </p:sp>
      <p:sp>
        <p:nvSpPr>
          <p:cNvPr id="1050" name="TextBox 6"/>
          <p:cNvSpPr txBox="1"/>
          <p:nvPr/>
        </p:nvSpPr>
        <p:spPr>
          <a:xfrm>
            <a:off x="365378" y="3900947"/>
            <a:ext cx="3897378" cy="469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4B+ views · O maior polo de descoberta de café para Millennials e Gen Z americanos</a:t>
            </a:r>
          </a:p>
        </p:txBody>
      </p:sp>
      <p:sp>
        <p:nvSpPr>
          <p:cNvPr id="1051" name="TextBox 7"/>
          <p:cNvSpPr txBox="1"/>
          <p:nvPr/>
        </p:nvSpPr>
        <p:spPr>
          <a:xfrm>
            <a:off x="365378" y="6184566"/>
            <a:ext cx="389737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99CC99"/>
                </a:solidFill>
              </a:defRPr>
            </a:lvl1pPr>
          </a:lstStyle>
          <a:p>
            <a:pPr/>
            <a:r>
              <a:t>Fontes: TikTok · Coffee Intelligence · IZEA · Stack Influence · jul 2026</a:t>
            </a:r>
          </a:p>
        </p:txBody>
      </p:sp>
      <p:sp>
        <p:nvSpPr>
          <p:cNvPr id="1052" name="Rectangle 8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3" name="TextBox 9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6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7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8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59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TIKTOK · #COFFEETOK — CRIADORES E FORMATOS</a:t>
            </a:r>
          </a:p>
        </p:txBody>
      </p:sp>
      <p:sp>
        <p:nvSpPr>
          <p:cNvPr id="1060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Os Principais Criadores e o Que Está Funcionando no TikTok</a:t>
            </a:r>
          </a:p>
        </p:txBody>
      </p:sp>
      <p:sp>
        <p:nvSpPr>
          <p:cNvPr id="1061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Formatos predominantes: receitas rápidas, morning rituals, café shop vlogs, latte art reveals, "what I ordered at X"</a:t>
            </a:r>
          </a:p>
        </p:txBody>
      </p:sp>
      <p:sp>
        <p:nvSpPr>
          <p:cNvPr id="1062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063" name="Rectangle 9"/>
          <p:cNvSpPr/>
          <p:nvPr/>
        </p:nvSpPr>
        <p:spPr>
          <a:xfrm>
            <a:off x="219227" y="1489446"/>
            <a:ext cx="7063995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64" name="TextBox 10"/>
          <p:cNvSpPr txBox="1"/>
          <p:nvPr/>
        </p:nvSpPr>
        <p:spPr>
          <a:xfrm>
            <a:off x="377558" y="1538163"/>
            <a:ext cx="669861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CRIADORES PRIORITÁRIOS</a:t>
            </a:r>
          </a:p>
        </p:txBody>
      </p:sp>
      <p:sp>
        <p:nvSpPr>
          <p:cNvPr id="1065" name="Rectangle 11"/>
          <p:cNvSpPr/>
          <p:nvPr/>
        </p:nvSpPr>
        <p:spPr>
          <a:xfrm>
            <a:off x="219227" y="1806108"/>
            <a:ext cx="7063995" cy="584607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66" name="Rectangle 12"/>
          <p:cNvSpPr/>
          <p:nvPr/>
        </p:nvSpPr>
        <p:spPr>
          <a:xfrm>
            <a:off x="243585" y="1952259"/>
            <a:ext cx="97436" cy="304484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67" name="TextBox 13"/>
          <p:cNvSpPr txBox="1"/>
          <p:nvPr/>
        </p:nvSpPr>
        <p:spPr>
          <a:xfrm>
            <a:off x="474992" y="1854825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@morgandrinkscoffee</a:t>
            </a:r>
          </a:p>
        </p:txBody>
      </p:sp>
      <p:sp>
        <p:nvSpPr>
          <p:cNvPr id="1068" name="TextBox 14"/>
          <p:cNvSpPr txBox="1"/>
          <p:nvPr/>
        </p:nvSpPr>
        <p:spPr>
          <a:xfrm>
            <a:off x="474992" y="2122770"/>
            <a:ext cx="170510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6,1M seguidores</a:t>
            </a:r>
          </a:p>
        </p:txBody>
      </p:sp>
      <p:sp>
        <p:nvSpPr>
          <p:cNvPr id="1069" name="TextBox 15"/>
          <p:cNvSpPr txBox="1"/>
          <p:nvPr/>
        </p:nvSpPr>
        <p:spPr>
          <a:xfrm>
            <a:off x="2399322" y="1867004"/>
            <a:ext cx="4689031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Campeã EUA. Specialty com humor e receitas acessíveis. O criador de café com maior credencial profissional + maior alcance jovem.</a:t>
            </a:r>
          </a:p>
        </p:txBody>
      </p:sp>
      <p:sp>
        <p:nvSpPr>
          <p:cNvPr id="1070" name="Rectangle 16"/>
          <p:cNvSpPr/>
          <p:nvPr/>
        </p:nvSpPr>
        <p:spPr>
          <a:xfrm>
            <a:off x="219227" y="2390714"/>
            <a:ext cx="7063995" cy="584607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71" name="Rectangle 17"/>
          <p:cNvSpPr/>
          <p:nvPr/>
        </p:nvSpPr>
        <p:spPr>
          <a:xfrm>
            <a:off x="243585" y="2536866"/>
            <a:ext cx="97436" cy="304483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72" name="TextBox 18"/>
          <p:cNvSpPr txBox="1"/>
          <p:nvPr/>
        </p:nvSpPr>
        <p:spPr>
          <a:xfrm>
            <a:off x="474992" y="2439431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@dina_kalanta</a:t>
            </a:r>
          </a:p>
        </p:txBody>
      </p:sp>
      <p:sp>
        <p:nvSpPr>
          <p:cNvPr id="1073" name="TextBox 19"/>
          <p:cNvSpPr txBox="1"/>
          <p:nvPr/>
        </p:nvSpPr>
        <p:spPr>
          <a:xfrm>
            <a:off x="474992" y="2707376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6M seguidores</a:t>
            </a:r>
          </a:p>
        </p:txBody>
      </p:sp>
      <p:sp>
        <p:nvSpPr>
          <p:cNvPr id="1074" name="TextBox 20"/>
          <p:cNvSpPr txBox="1"/>
          <p:nvPr/>
        </p:nvSpPr>
        <p:spPr>
          <a:xfrm>
            <a:off x="2399322" y="2451611"/>
            <a:ext cx="4689031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"World's #1 coffee blogger". Café estético, viral por slow-motion e criatividade visual. Trendsetter global.</a:t>
            </a:r>
          </a:p>
        </p:txBody>
      </p:sp>
      <p:sp>
        <p:nvSpPr>
          <p:cNvPr id="1075" name="Rectangle 21"/>
          <p:cNvSpPr/>
          <p:nvPr/>
        </p:nvSpPr>
        <p:spPr>
          <a:xfrm>
            <a:off x="219227" y="2975320"/>
            <a:ext cx="7063995" cy="584608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76" name="Rectangle 22"/>
          <p:cNvSpPr/>
          <p:nvPr/>
        </p:nvSpPr>
        <p:spPr>
          <a:xfrm>
            <a:off x="243585" y="3121472"/>
            <a:ext cx="97436" cy="304484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77" name="TextBox 23"/>
          <p:cNvSpPr txBox="1"/>
          <p:nvPr/>
        </p:nvSpPr>
        <p:spPr>
          <a:xfrm>
            <a:off x="474992" y="3024038"/>
            <a:ext cx="170510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@ethanrode</a:t>
            </a:r>
          </a:p>
        </p:txBody>
      </p:sp>
      <p:sp>
        <p:nvSpPr>
          <p:cNvPr id="1078" name="TextBox 24"/>
          <p:cNvSpPr txBox="1"/>
          <p:nvPr/>
        </p:nvSpPr>
        <p:spPr>
          <a:xfrm>
            <a:off x="474992" y="3291982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2,9M seguidores</a:t>
            </a:r>
          </a:p>
        </p:txBody>
      </p:sp>
      <p:sp>
        <p:nvSpPr>
          <p:cNvPr id="1079" name="TextBox 25"/>
          <p:cNvSpPr txBox="1"/>
          <p:nvPr/>
        </p:nvSpPr>
        <p:spPr>
          <a:xfrm>
            <a:off x="2399322" y="3036217"/>
            <a:ext cx="4689031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Café + lifestyle premium. Audiência jovem americana e britânica.</a:t>
            </a:r>
          </a:p>
        </p:txBody>
      </p:sp>
      <p:sp>
        <p:nvSpPr>
          <p:cNvPr id="1080" name="Rectangle 26"/>
          <p:cNvSpPr/>
          <p:nvPr/>
        </p:nvSpPr>
        <p:spPr>
          <a:xfrm>
            <a:off x="219227" y="3559927"/>
            <a:ext cx="7063995" cy="584607"/>
          </a:xfrm>
          <a:prstGeom prst="rect">
            <a:avLst/>
          </a:prstGeom>
          <a:solidFill>
            <a:srgbClr val="F3EAF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1" name="Rectangle 27"/>
          <p:cNvSpPr/>
          <p:nvPr/>
        </p:nvSpPr>
        <p:spPr>
          <a:xfrm>
            <a:off x="243585" y="3706079"/>
            <a:ext cx="97436" cy="304483"/>
          </a:xfrm>
          <a:prstGeom prst="rect">
            <a:avLst/>
          </a:prstGeom>
          <a:solidFill>
            <a:srgbClr val="6E3A9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2" name="TextBox 28"/>
          <p:cNvSpPr txBox="1"/>
          <p:nvPr/>
        </p:nvSpPr>
        <p:spPr>
          <a:xfrm>
            <a:off x="474992" y="3608644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@coffeebae97 · Vivian</a:t>
            </a:r>
          </a:p>
        </p:txBody>
      </p:sp>
      <p:sp>
        <p:nvSpPr>
          <p:cNvPr id="1083" name="TextBox 29"/>
          <p:cNvSpPr txBox="1"/>
          <p:nvPr/>
        </p:nvSpPr>
        <p:spPr>
          <a:xfrm>
            <a:off x="474992" y="3876589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~967K seguidores</a:t>
            </a:r>
          </a:p>
        </p:txBody>
      </p:sp>
      <p:sp>
        <p:nvSpPr>
          <p:cNvPr id="1084" name="TextBox 30"/>
          <p:cNvSpPr txBox="1"/>
          <p:nvPr/>
        </p:nvSpPr>
        <p:spPr>
          <a:xfrm>
            <a:off x="2399322" y="3620823"/>
            <a:ext cx="4689031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Receitas criativas de café, iced lattes coloridas, sobremesas. Público jovem americano. Lançou linha própria de sabores.</a:t>
            </a:r>
          </a:p>
        </p:txBody>
      </p:sp>
      <p:sp>
        <p:nvSpPr>
          <p:cNvPr id="1085" name="Rectangle 31"/>
          <p:cNvSpPr/>
          <p:nvPr/>
        </p:nvSpPr>
        <p:spPr>
          <a:xfrm>
            <a:off x="219227" y="4144533"/>
            <a:ext cx="7063995" cy="584608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6" name="Rectangle 32"/>
          <p:cNvSpPr/>
          <p:nvPr/>
        </p:nvSpPr>
        <p:spPr>
          <a:xfrm>
            <a:off x="243585" y="4290685"/>
            <a:ext cx="97436" cy="304484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87" name="TextBox 33"/>
          <p:cNvSpPr txBox="1"/>
          <p:nvPr/>
        </p:nvSpPr>
        <p:spPr>
          <a:xfrm>
            <a:off x="474992" y="4193250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James Hoffmann</a:t>
            </a:r>
          </a:p>
        </p:txBody>
      </p:sp>
      <p:sp>
        <p:nvSpPr>
          <p:cNvPr id="1088" name="TextBox 34"/>
          <p:cNvSpPr txBox="1"/>
          <p:nvPr/>
        </p:nvSpPr>
        <p:spPr>
          <a:xfrm>
            <a:off x="474992" y="4461195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~400K seguidores</a:t>
            </a:r>
          </a:p>
        </p:txBody>
      </p:sp>
      <p:sp>
        <p:nvSpPr>
          <p:cNvPr id="1089" name="TextBox 35"/>
          <p:cNvSpPr txBox="1"/>
          <p:nvPr/>
        </p:nvSpPr>
        <p:spPr>
          <a:xfrm>
            <a:off x="2399322" y="4205430"/>
            <a:ext cx="4689031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Conteúdo educativo adaptado para formato curto. Nicho mas altamente influente entre quem decide comprar café premium.</a:t>
            </a:r>
          </a:p>
        </p:txBody>
      </p:sp>
      <p:sp>
        <p:nvSpPr>
          <p:cNvPr id="1090" name="Rectangle 36"/>
          <p:cNvSpPr/>
          <p:nvPr/>
        </p:nvSpPr>
        <p:spPr>
          <a:xfrm>
            <a:off x="219227" y="4729140"/>
            <a:ext cx="7063995" cy="584607"/>
          </a:xfrm>
          <a:prstGeom prst="rect">
            <a:avLst/>
          </a:prstGeom>
          <a:solidFill>
            <a:srgbClr val="E0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91" name="Rectangle 37"/>
          <p:cNvSpPr/>
          <p:nvPr/>
        </p:nvSpPr>
        <p:spPr>
          <a:xfrm>
            <a:off x="243585" y="4875291"/>
            <a:ext cx="97436" cy="304484"/>
          </a:xfrm>
          <a:prstGeom prst="rect">
            <a:avLst/>
          </a:prstGeom>
          <a:solidFill>
            <a:srgbClr val="007A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92" name="TextBox 38"/>
          <p:cNvSpPr txBox="1"/>
          <p:nvPr/>
        </p:nvSpPr>
        <p:spPr>
          <a:xfrm>
            <a:off x="474992" y="4777857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@therookiebarista · Annie</a:t>
            </a:r>
          </a:p>
        </p:txBody>
      </p:sp>
      <p:sp>
        <p:nvSpPr>
          <p:cNvPr id="1093" name="TextBox 39"/>
          <p:cNvSpPr txBox="1"/>
          <p:nvPr/>
        </p:nvSpPr>
        <p:spPr>
          <a:xfrm>
            <a:off x="474992" y="5045801"/>
            <a:ext cx="170510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234K seguidores</a:t>
            </a:r>
          </a:p>
        </p:txBody>
      </p:sp>
      <p:sp>
        <p:nvSpPr>
          <p:cNvPr id="1094" name="TextBox 40"/>
          <p:cNvSpPr txBox="1"/>
          <p:nvPr/>
        </p:nvSpPr>
        <p:spPr>
          <a:xfrm>
            <a:off x="2399322" y="4790036"/>
            <a:ext cx="4689031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Barista de Orlando. Conteúdo estético "dia a dia" de uma barista. Acessível e íntimo. Bom para parcerias de produto autênticas.</a:t>
            </a:r>
          </a:p>
        </p:txBody>
      </p:sp>
      <p:sp>
        <p:nvSpPr>
          <p:cNvPr id="1095" name="Rectangle 41"/>
          <p:cNvSpPr/>
          <p:nvPr/>
        </p:nvSpPr>
        <p:spPr>
          <a:xfrm>
            <a:off x="7526807" y="1489446"/>
            <a:ext cx="4445444" cy="31666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96" name="TextBox 42"/>
          <p:cNvSpPr txBox="1"/>
          <p:nvPr/>
        </p:nvSpPr>
        <p:spPr>
          <a:xfrm>
            <a:off x="7685138" y="1538163"/>
            <a:ext cx="414096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FORMATOS QUE FUNCIONAM NO #COFFEETOK</a:t>
            </a:r>
          </a:p>
        </p:txBody>
      </p:sp>
      <p:sp>
        <p:nvSpPr>
          <p:cNvPr id="1097" name="Rectangle 43"/>
          <p:cNvSpPr/>
          <p:nvPr/>
        </p:nvSpPr>
        <p:spPr>
          <a:xfrm>
            <a:off x="7526807" y="1806108"/>
            <a:ext cx="4445444" cy="633323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098" name="TextBox 44"/>
          <p:cNvSpPr txBox="1"/>
          <p:nvPr/>
        </p:nvSpPr>
        <p:spPr>
          <a:xfrm>
            <a:off x="7685138" y="1816725"/>
            <a:ext cx="414096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Receitas em 30–60s</a:t>
            </a:r>
          </a:p>
        </p:txBody>
      </p:sp>
      <p:sp>
        <p:nvSpPr>
          <p:cNvPr id="1099" name="TextBox 45"/>
          <p:cNvSpPr txBox="1"/>
          <p:nvPr/>
        </p:nvSpPr>
        <p:spPr>
          <a:xfrm>
            <a:off x="7685138" y="1996811"/>
            <a:ext cx="414096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Como fazer o dalgona, o iced latte, o café vietnamita — vídeo curto com ingredientes visíveis. Maior taxa de salvamento da plataforma.</a:t>
            </a:r>
          </a:p>
        </p:txBody>
      </p:sp>
      <p:sp>
        <p:nvSpPr>
          <p:cNvPr id="1100" name="Rectangle 46"/>
          <p:cNvSpPr/>
          <p:nvPr/>
        </p:nvSpPr>
        <p:spPr>
          <a:xfrm>
            <a:off x="7526807" y="2439431"/>
            <a:ext cx="4445444" cy="6333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01" name="TextBox 47"/>
          <p:cNvSpPr txBox="1"/>
          <p:nvPr/>
        </p:nvSpPr>
        <p:spPr>
          <a:xfrm>
            <a:off x="7685138" y="2450049"/>
            <a:ext cx="414096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Morning ritual</a:t>
            </a:r>
          </a:p>
        </p:txBody>
      </p:sp>
      <p:sp>
        <p:nvSpPr>
          <p:cNvPr id="1102" name="TextBox 48"/>
          <p:cNvSpPr txBox="1"/>
          <p:nvPr/>
        </p:nvSpPr>
        <p:spPr>
          <a:xfrm>
            <a:off x="7685138" y="2630135"/>
            <a:ext cx="4140963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"Minha rotina de manhã" com café como centro. Combina com wellness e mindfulness. Alto engajamento pela rotina partilhável.</a:t>
            </a:r>
          </a:p>
        </p:txBody>
      </p:sp>
      <p:sp>
        <p:nvSpPr>
          <p:cNvPr id="1103" name="Rectangle 49"/>
          <p:cNvSpPr/>
          <p:nvPr/>
        </p:nvSpPr>
        <p:spPr>
          <a:xfrm>
            <a:off x="7526807" y="3072755"/>
            <a:ext cx="4445444" cy="633323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04" name="TextBox 50"/>
          <p:cNvSpPr txBox="1"/>
          <p:nvPr/>
        </p:nvSpPr>
        <p:spPr>
          <a:xfrm>
            <a:off x="7685138" y="3083372"/>
            <a:ext cx="414096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Café shop vlog</a:t>
            </a:r>
          </a:p>
        </p:txBody>
      </p:sp>
      <p:sp>
        <p:nvSpPr>
          <p:cNvPr id="1105" name="TextBox 51"/>
          <p:cNvSpPr txBox="1"/>
          <p:nvPr/>
        </p:nvSpPr>
        <p:spPr>
          <a:xfrm>
            <a:off x="7685138" y="3263458"/>
            <a:ext cx="414096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"Fui a X cafeteria" — jornada de descoberta. Gera tráfego para o local + associa o criador a uma cena de qualidade.</a:t>
            </a:r>
          </a:p>
        </p:txBody>
      </p:sp>
      <p:sp>
        <p:nvSpPr>
          <p:cNvPr id="1106" name="Rectangle 52"/>
          <p:cNvSpPr/>
          <p:nvPr/>
        </p:nvSpPr>
        <p:spPr>
          <a:xfrm>
            <a:off x="7526807" y="3706079"/>
            <a:ext cx="4445444" cy="6333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07" name="TextBox 53"/>
          <p:cNvSpPr txBox="1"/>
          <p:nvPr/>
        </p:nvSpPr>
        <p:spPr>
          <a:xfrm>
            <a:off x="7685138" y="3716696"/>
            <a:ext cx="414096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Latte art reveal</a:t>
            </a:r>
          </a:p>
        </p:txBody>
      </p:sp>
      <p:sp>
        <p:nvSpPr>
          <p:cNvPr id="1108" name="TextBox 54"/>
          <p:cNvSpPr txBox="1"/>
          <p:nvPr/>
        </p:nvSpPr>
        <p:spPr>
          <a:xfrm>
            <a:off x="7685138" y="3896782"/>
            <a:ext cx="414096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Close na xícara, revelação do desenho, reação ao primeiro gole. Muito compartilhável, alto alcance orgânico.</a:t>
            </a:r>
          </a:p>
        </p:txBody>
      </p:sp>
      <p:sp>
        <p:nvSpPr>
          <p:cNvPr id="1109" name="Rectangle 55"/>
          <p:cNvSpPr/>
          <p:nvPr/>
        </p:nvSpPr>
        <p:spPr>
          <a:xfrm>
            <a:off x="7526807" y="4339402"/>
            <a:ext cx="4445444" cy="633324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10" name="TextBox 56"/>
          <p:cNvSpPr txBox="1"/>
          <p:nvPr/>
        </p:nvSpPr>
        <p:spPr>
          <a:xfrm>
            <a:off x="7685138" y="4350020"/>
            <a:ext cx="414096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"What I ordered at X"</a:t>
            </a:r>
          </a:p>
        </p:txBody>
      </p:sp>
      <p:sp>
        <p:nvSpPr>
          <p:cNvPr id="1111" name="TextBox 57"/>
          <p:cNvSpPr txBox="1"/>
          <p:nvPr/>
        </p:nvSpPr>
        <p:spPr>
          <a:xfrm>
            <a:off x="7685138" y="4530105"/>
            <a:ext cx="414096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Crítica rápida de produto, comparativos, tier lists. Formato honesto que gera comentários e reshares.</a:t>
            </a:r>
          </a:p>
        </p:txBody>
      </p:sp>
      <p:sp>
        <p:nvSpPr>
          <p:cNvPr id="1112" name="Rectangle 58"/>
          <p:cNvSpPr/>
          <p:nvPr/>
        </p:nvSpPr>
        <p:spPr>
          <a:xfrm>
            <a:off x="7526807" y="4972726"/>
            <a:ext cx="4445444" cy="6333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13" name="TextBox 59"/>
          <p:cNvSpPr txBox="1"/>
          <p:nvPr/>
        </p:nvSpPr>
        <p:spPr>
          <a:xfrm>
            <a:off x="7685138" y="4983343"/>
            <a:ext cx="414096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7028"/>
                </a:solidFill>
              </a:defRPr>
            </a:lvl1pPr>
          </a:lstStyle>
          <a:p>
            <a:pPr/>
            <a:r>
              <a:t>Behind the scenes de torra</a:t>
            </a:r>
          </a:p>
        </p:txBody>
      </p:sp>
      <p:sp>
        <p:nvSpPr>
          <p:cNvPr id="1114" name="TextBox 60"/>
          <p:cNvSpPr txBox="1"/>
          <p:nvPr/>
        </p:nvSpPr>
        <p:spPr>
          <a:xfrm>
            <a:off x="7685138" y="5163429"/>
            <a:ext cx="4140963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Processo de torra artesanal — grãos, fumaça, cor, aroma descrito. Funciona especialmente para marcas de specialty.</a:t>
            </a:r>
          </a:p>
        </p:txBody>
      </p:sp>
      <p:sp>
        <p:nvSpPr>
          <p:cNvPr id="1115" name="Rectangle 61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16" name="TextBox 62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TikTok · Coffee Intelligence · IZEA top TikTok coffee · Stack Influence · Perfect Daily Grind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19" name="Rectangle 2"/>
          <p:cNvSpPr/>
          <p:nvPr/>
        </p:nvSpPr>
        <p:spPr>
          <a:xfrm>
            <a:off x="-1" y="3571"/>
            <a:ext cx="4628136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20" name="Rectangle 3"/>
          <p:cNvSpPr/>
          <p:nvPr/>
        </p:nvSpPr>
        <p:spPr>
          <a:xfrm>
            <a:off x="4628134" y="3571"/>
            <a:ext cx="73076" cy="685085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21" name="TextBox 4"/>
          <p:cNvSpPr txBox="1"/>
          <p:nvPr/>
        </p:nvSpPr>
        <p:spPr>
          <a:xfrm>
            <a:off x="365378" y="490743"/>
            <a:ext cx="389737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CE8CC"/>
                </a:solidFill>
              </a:defRPr>
            </a:lvl1pPr>
          </a:lstStyle>
          <a:p>
            <a:pPr/>
            <a:r>
              <a:t>BLOCO 2 · MARCAS</a:t>
            </a:r>
          </a:p>
        </p:txBody>
      </p:sp>
      <p:sp>
        <p:nvSpPr>
          <p:cNvPr id="1122" name="TextBox 5"/>
          <p:cNvSpPr txBox="1"/>
          <p:nvPr/>
        </p:nvSpPr>
        <p:spPr>
          <a:xfrm>
            <a:off x="365378" y="1038812"/>
            <a:ext cx="3897378" cy="906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O Que as Marcas</a:t>
            </a:r>
          </a:p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Líderes Fazem Bem</a:t>
            </a:r>
          </a:p>
        </p:txBody>
      </p:sp>
      <p:sp>
        <p:nvSpPr>
          <p:cNvPr id="1123" name="TextBox 6"/>
          <p:cNvSpPr txBox="1"/>
          <p:nvPr/>
        </p:nvSpPr>
        <p:spPr>
          <a:xfrm>
            <a:off x="365378" y="3900947"/>
            <a:ext cx="3897378" cy="469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Cases de estratégia digital de café premium — modelos e anti-modelos para a Orfeu</a:t>
            </a:r>
          </a:p>
        </p:txBody>
      </p:sp>
      <p:sp>
        <p:nvSpPr>
          <p:cNvPr id="1124" name="TextBox 7"/>
          <p:cNvSpPr txBox="1"/>
          <p:nvPr/>
        </p:nvSpPr>
        <p:spPr>
          <a:xfrm>
            <a:off x="365378" y="6184566"/>
            <a:ext cx="3897378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99CC99"/>
                </a:solidFill>
              </a:defRPr>
            </a:lvl1pPr>
          </a:lstStyle>
          <a:p>
            <a:pPr/>
            <a:r>
              <a:t>Fontes: Coffee Intelligence · Latterly.org · Influencer Marketing Hub · Perfect Daily Grind · relatórios anuais · jul 2026</a:t>
            </a:r>
          </a:p>
        </p:txBody>
      </p:sp>
      <p:sp>
        <p:nvSpPr>
          <p:cNvPr id="1125" name="Rectangle 8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26" name="TextBox 9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29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30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31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32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CASES DE MARCA · ESTRATÉGIAS OPOSTAS, IGUAL RESULTADO</a:t>
            </a:r>
          </a:p>
        </p:txBody>
      </p:sp>
      <p:sp>
        <p:nvSpPr>
          <p:cNvPr id="1133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Nespresso vs Blue Bottle — Dois Modelos de Sucesso</a:t>
            </a:r>
          </a:p>
        </p:txBody>
      </p:sp>
      <p:sp>
        <p:nvSpPr>
          <p:cNvPr id="1134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Prestígio top-down vs. cultura bottom-up: ambos constroem percepção premium, por caminhos opostos</a:t>
            </a:r>
          </a:p>
        </p:txBody>
      </p:sp>
      <p:sp>
        <p:nvSpPr>
          <p:cNvPr id="1135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136" name="Rectangle 9"/>
          <p:cNvSpPr/>
          <p:nvPr/>
        </p:nvSpPr>
        <p:spPr>
          <a:xfrm>
            <a:off x="219227" y="1489446"/>
            <a:ext cx="5724272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37" name="TextBox 10"/>
          <p:cNvSpPr txBox="1"/>
          <p:nvPr/>
        </p:nvSpPr>
        <p:spPr>
          <a:xfrm>
            <a:off x="401916" y="1525984"/>
            <a:ext cx="5431969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NESPRESSO  ·  Prestígio Top-Down + Comunidade Bottom-Up</a:t>
            </a:r>
          </a:p>
        </p:txBody>
      </p:sp>
      <p:sp>
        <p:nvSpPr>
          <p:cNvPr id="1138" name="Rectangle 11"/>
          <p:cNvSpPr/>
          <p:nvPr/>
        </p:nvSpPr>
        <p:spPr>
          <a:xfrm>
            <a:off x="219227" y="1806108"/>
            <a:ext cx="5724272" cy="4506342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39" name="TextBox 12"/>
          <p:cNvSpPr txBox="1"/>
          <p:nvPr/>
        </p:nvSpPr>
        <p:spPr>
          <a:xfrm>
            <a:off x="401916" y="1879183"/>
            <a:ext cx="5383252" cy="2743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ÂNCORA DE PRESTÍGIO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George Clooney desde 2006: dezenas de milhões de views. "What else?" tornou-se jingle cultural da marca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Penélope Cruz, Matt Damon para alcance regional. Cada mercado tem seu embaixador de status</a:t>
            </a:r>
          </a:p>
          <a:p>
            <a:pPr defTabSz="609600">
              <a:spcBef>
                <a:spcPts val="100"/>
              </a:spcBef>
              <a:defRPr sz="5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PROGRAMA DE CREATORS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Barista kits enviados a creators com acesso antecipado a cápsulas sazonais → conteúdo autêntico de produto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"Nespresso Talents": programa global de curta-metragem com criadores emergentes sobre sustentabilidade e comunidade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Escala: 62 mercados, 1 agência de social. 1,8M Instagram. TikTok com receitas + creators jovens</a:t>
            </a:r>
          </a:p>
          <a:p>
            <a:pPr defTabSz="609600">
              <a:spcBef>
                <a:spcPts val="100"/>
              </a:spcBef>
              <a:defRPr sz="5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LIÇÃO PARA ORFEU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→ Marca de prestígio precisa de âncora cultural de alto status + programa de creators em paralelo.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2A5C2E"/>
                </a:solidFill>
              </a:defRPr>
            </a:pPr>
            <a:r>
              <a:t>→ O "George Clooney da Orfeu" não precisa ser celebridade — precisa ser a pessoa mais respeitada no mundo de café specialty.</a:t>
            </a:r>
          </a:p>
        </p:txBody>
      </p:sp>
      <p:sp>
        <p:nvSpPr>
          <p:cNvPr id="1140" name="Rectangle 13"/>
          <p:cNvSpPr/>
          <p:nvPr/>
        </p:nvSpPr>
        <p:spPr>
          <a:xfrm>
            <a:off x="6211443" y="1489446"/>
            <a:ext cx="5724272" cy="316661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41" name="TextBox 14"/>
          <p:cNvSpPr txBox="1"/>
          <p:nvPr/>
        </p:nvSpPr>
        <p:spPr>
          <a:xfrm>
            <a:off x="6394132" y="1525984"/>
            <a:ext cx="5431969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BLUE BOTTLE COFFEE  ·  Produção Cultural Orgânica (sem hard selling)</a:t>
            </a:r>
          </a:p>
        </p:txBody>
      </p:sp>
      <p:sp>
        <p:nvSpPr>
          <p:cNvPr id="1142" name="Rectangle 15"/>
          <p:cNvSpPr/>
          <p:nvPr/>
        </p:nvSpPr>
        <p:spPr>
          <a:xfrm>
            <a:off x="6211443" y="1806108"/>
            <a:ext cx="5724272" cy="4506342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43" name="TextBox 16"/>
          <p:cNvSpPr txBox="1"/>
          <p:nvPr/>
        </p:nvSpPr>
        <p:spPr>
          <a:xfrm>
            <a:off x="6394132" y="1879183"/>
            <a:ext cx="5383252" cy="2760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1A3C7A"/>
                </a:solidFill>
              </a:defRPr>
            </a:pPr>
            <a:r>
              <a:t>MODELO SEM INFLUENCER TRADICIONAL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Colaborações com baristas e educadores que enfatizam técnica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Designers e arquitetos: cafeterias como artefatos culturais (não lojas)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Chefs e padarias: menus limitados em pop-ups, cuppings sazonais</a:t>
            </a:r>
          </a:p>
          <a:p>
            <a:pPr defTabSz="609600">
              <a:spcBef>
                <a:spcPts val="100"/>
              </a:spcBef>
              <a:defRPr sz="5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1A3C7A"/>
                </a:solidFill>
              </a:defRPr>
            </a:pPr>
            <a:r>
              <a:t>CONTEÚDO COMO CULTURA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TikTok: clipes calmos e processuais que desmistificam o preparo com design sonoro impecável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YouTube: documentários de origem e tutoriais de equipamentos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• A loja física como mídia: cuppings, aulas, eventos geram advocacy local medido por redemption codes</a:t>
            </a:r>
          </a:p>
          <a:p>
            <a:pPr defTabSz="609600">
              <a:spcBef>
                <a:spcPts val="100"/>
              </a:spcBef>
              <a:defRPr sz="5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000">
                <a:solidFill>
                  <a:srgbClr val="1A3C7A"/>
                </a:solidFill>
              </a:defRPr>
            </a:pPr>
            <a:r>
              <a:t>LIÇÃO PARA ORFEU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1A3C7A"/>
                </a:solidFill>
              </a:defRPr>
            </a:pPr>
            <a:r>
              <a:t>→ A Blue Bottle não vende através de influenciadores — cria espaço cultural onde influenciadores participam organicamente.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1A3C7A"/>
                </a:solidFill>
              </a:defRPr>
            </a:pPr>
            <a:r>
              <a:t>→ Orfeu pode fazer o mesmo: a fazenda, o processo de torra, a origem brasileira são o "espaço cultural" a ser criado.</a:t>
            </a:r>
          </a:p>
        </p:txBody>
      </p:sp>
      <p:sp>
        <p:nvSpPr>
          <p:cNvPr id="1144" name="Rectangle 17"/>
          <p:cNvSpPr/>
          <p:nvPr/>
        </p:nvSpPr>
        <p:spPr>
          <a:xfrm>
            <a:off x="5906960" y="1489446"/>
            <a:ext cx="97436" cy="4871721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45" name="Rectangle 18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46" name="TextBox 19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Latterly.org · Coffee Intelligence (ago 2024) · Blue Bottle Social Reports · Nespresso Annual Report 2025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49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0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1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2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CASES DE MARCA · MODELOS COMPLEMENTARES</a:t>
            </a:r>
          </a:p>
        </p:txBody>
      </p:sp>
      <p:sp>
        <p:nvSpPr>
          <p:cNvPr id="1153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Onyx · Chamberlain · Death Wish · Intelligentsia — O Que Cada Um Ensina</a:t>
            </a:r>
          </a:p>
        </p:txBody>
      </p:sp>
      <p:sp>
        <p:nvSpPr>
          <p:cNvPr id="1154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Da especialidade comunitária ao viral de micro-influenciadores: diferentes escalas, mesma lógica de autenticidade</a:t>
            </a:r>
          </a:p>
        </p:txBody>
      </p:sp>
      <p:sp>
        <p:nvSpPr>
          <p:cNvPr id="1155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156" name="Rectangle 9"/>
          <p:cNvSpPr/>
          <p:nvPr/>
        </p:nvSpPr>
        <p:spPr>
          <a:xfrm>
            <a:off x="219227" y="1489446"/>
            <a:ext cx="2776880" cy="41409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7" name="TextBox 10"/>
          <p:cNvSpPr txBox="1"/>
          <p:nvPr/>
        </p:nvSpPr>
        <p:spPr>
          <a:xfrm>
            <a:off x="377558" y="1525984"/>
            <a:ext cx="2508935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ONYX COFFEE LAB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Criadores como Colaboradores</a:t>
            </a:r>
          </a:p>
        </p:txBody>
      </p:sp>
      <p:sp>
        <p:nvSpPr>
          <p:cNvPr id="1158" name="Rectangle 11"/>
          <p:cNvSpPr/>
          <p:nvPr/>
        </p:nvSpPr>
        <p:spPr>
          <a:xfrm>
            <a:off x="219227" y="1903542"/>
            <a:ext cx="2776880" cy="4408908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59" name="TextBox 12"/>
          <p:cNvSpPr txBox="1"/>
          <p:nvPr/>
        </p:nvSpPr>
        <p:spPr>
          <a:xfrm>
            <a:off x="401916" y="1964439"/>
            <a:ext cx="2435860" cy="283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Jimmy Butler (NBA)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Viagem à Colômbia em agosto/2022, documentada como conteúdo editorial. Não foi "endosso" — foi co-criação.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Morgan Eckroth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Parceira no US Barista Championship. Drink build videos com ingredientes exatos (o cliente aprende E compra).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Lição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Construir relações de longa duração com criadores como colaboradores, não contratos de campanha.</a:t>
            </a:r>
          </a:p>
        </p:txBody>
      </p:sp>
      <p:sp>
        <p:nvSpPr>
          <p:cNvPr id="1160" name="Rectangle 13"/>
          <p:cNvSpPr/>
          <p:nvPr/>
        </p:nvSpPr>
        <p:spPr>
          <a:xfrm>
            <a:off x="3105721" y="1489446"/>
            <a:ext cx="2776880" cy="414097"/>
          </a:xfrm>
          <a:prstGeom prst="rect">
            <a:avLst/>
          </a:prstGeom>
          <a:solidFill>
            <a:srgbClr val="6E3A9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1" name="TextBox 14"/>
          <p:cNvSpPr txBox="1"/>
          <p:nvPr/>
        </p:nvSpPr>
        <p:spPr>
          <a:xfrm>
            <a:off x="3264052" y="1525984"/>
            <a:ext cx="2508935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CHAMBERLAIN COFFEE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O Modelo Criador-Fundador</a:t>
            </a:r>
          </a:p>
        </p:txBody>
      </p:sp>
      <p:sp>
        <p:nvSpPr>
          <p:cNvPr id="1162" name="Rectangle 15"/>
          <p:cNvSpPr/>
          <p:nvPr/>
        </p:nvSpPr>
        <p:spPr>
          <a:xfrm>
            <a:off x="3105721" y="1903542"/>
            <a:ext cx="2776880" cy="4408908"/>
          </a:xfrm>
          <a:prstGeom prst="rect">
            <a:avLst/>
          </a:prstGeom>
          <a:solidFill>
            <a:srgbClr val="F3EAF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3" name="TextBox 16"/>
          <p:cNvSpPr txBox="1"/>
          <p:nvPr/>
        </p:nvSpPr>
        <p:spPr>
          <a:xfrm>
            <a:off x="3288411" y="1964439"/>
            <a:ext cx="2435859" cy="283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6E3A9C"/>
                </a:solidFill>
              </a:defRPr>
            </a:pPr>
            <a:r>
              <a:t>Emma Chamberlain: 12M+ inscritos YouTube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Transformados em marca de café em 2020. Club Chamberlain: programa de embaixadores com links de desconto 30% que incentivam posts contínuos.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Criou um loop loyalty-to-advocacy.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6E3A9C"/>
                </a:solidFill>
              </a:defRPr>
            </a:pPr>
            <a:r>
              <a:t>Lição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Orfeu não precisa de Emma — precisa de 10–15 criadores certos transformados em sócios editoriais, não porta-vozes pagos.</a:t>
            </a:r>
          </a:p>
        </p:txBody>
      </p:sp>
      <p:sp>
        <p:nvSpPr>
          <p:cNvPr id="1164" name="Rectangle 17"/>
          <p:cNvSpPr/>
          <p:nvPr/>
        </p:nvSpPr>
        <p:spPr>
          <a:xfrm>
            <a:off x="5992215" y="1489446"/>
            <a:ext cx="2776880" cy="41409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5" name="TextBox 18"/>
          <p:cNvSpPr txBox="1"/>
          <p:nvPr/>
        </p:nvSpPr>
        <p:spPr>
          <a:xfrm>
            <a:off x="6150546" y="1525984"/>
            <a:ext cx="2508936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DEATH WISH COFFEE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O Modelo Viral de Micro-Influenciadores</a:t>
            </a:r>
          </a:p>
        </p:txBody>
      </p:sp>
      <p:sp>
        <p:nvSpPr>
          <p:cNvPr id="1166" name="Rectangle 19"/>
          <p:cNvSpPr/>
          <p:nvPr/>
        </p:nvSpPr>
        <p:spPr>
          <a:xfrm>
            <a:off x="5992215" y="1903542"/>
            <a:ext cx="2776880" cy="4408908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7" name="TextBox 20"/>
          <p:cNvSpPr txBox="1"/>
          <p:nvPr/>
        </p:nvSpPr>
        <p:spPr>
          <a:xfrm>
            <a:off x="6174905" y="1964439"/>
            <a:ext cx="2435859" cy="3064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Estratégia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Enviou caixas de cold brew para micro-influenciadores de fitness e games sem briefing, sem exigência de post.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Resultado: ROI de 605%.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Parcerias com bandas de heavy metal alinhadas à identidade da marca.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Lição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Autenticidade não-dirigida supera brief elaborado — mas requer produto que fala por si.</a:t>
            </a:r>
          </a:p>
        </p:txBody>
      </p:sp>
      <p:sp>
        <p:nvSpPr>
          <p:cNvPr id="1168" name="Rectangle 21"/>
          <p:cNvSpPr/>
          <p:nvPr/>
        </p:nvSpPr>
        <p:spPr>
          <a:xfrm>
            <a:off x="8878709" y="1489446"/>
            <a:ext cx="2776881" cy="414097"/>
          </a:xfrm>
          <a:prstGeom prst="rect">
            <a:avLst/>
          </a:prstGeom>
          <a:solidFill>
            <a:srgbClr val="007A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69" name="TextBox 22"/>
          <p:cNvSpPr txBox="1"/>
          <p:nvPr/>
        </p:nvSpPr>
        <p:spPr>
          <a:xfrm>
            <a:off x="9037040" y="1525984"/>
            <a:ext cx="2508936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INTELLIGENTSIA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Credibilidade Técnica + Lifestyle</a:t>
            </a:r>
          </a:p>
        </p:txBody>
      </p:sp>
      <p:sp>
        <p:nvSpPr>
          <p:cNvPr id="1170" name="Rectangle 23"/>
          <p:cNvSpPr/>
          <p:nvPr/>
        </p:nvSpPr>
        <p:spPr>
          <a:xfrm>
            <a:off x="8878709" y="1903542"/>
            <a:ext cx="2776881" cy="4408908"/>
          </a:xfrm>
          <a:prstGeom prst="rect">
            <a:avLst/>
          </a:prstGeom>
          <a:solidFill>
            <a:srgbClr val="E0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71" name="TextBox 24"/>
          <p:cNvSpPr txBox="1"/>
          <p:nvPr/>
        </p:nvSpPr>
        <p:spPr>
          <a:xfrm>
            <a:off x="9061399" y="1964439"/>
            <a:ext cx="2435859" cy="303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007A7A"/>
                </a:solidFill>
              </a:defRPr>
            </a:pPr>
            <a:r>
              <a:t>Scott Rao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Especialista em extração reconhecido globalmente. Conteúdo educacional de alto nível. Valida a qualidade técnica da marca para o público de specialty.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Food bloggers + baristas + lifestyle influencers para extensão.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007A7A"/>
                </a:solidFill>
              </a:defRPr>
            </a:pPr>
            <a:r>
              <a:t>Lição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Ancorar em autoridade técnica (o "especialista mais respeitado") + distribuir via lifestyle. A credibilidade do especialista transfere para a marca.</a:t>
            </a:r>
          </a:p>
        </p:txBody>
      </p:sp>
      <p:sp>
        <p:nvSpPr>
          <p:cNvPr id="1172" name="Rectangle 25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73" name="TextBox 26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Coffee Intelligence · Sprudge · Latterly.org · Perfect Daily Grind · Influencer Marketing Hub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76" name="Rectangle 2"/>
          <p:cNvSpPr/>
          <p:nvPr/>
        </p:nvSpPr>
        <p:spPr>
          <a:xfrm>
            <a:off x="-1" y="3571"/>
            <a:ext cx="4628136" cy="6850858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77" name="Rectangle 3"/>
          <p:cNvSpPr/>
          <p:nvPr/>
        </p:nvSpPr>
        <p:spPr>
          <a:xfrm>
            <a:off x="4628134" y="3571"/>
            <a:ext cx="73076" cy="685085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78" name="TextBox 4"/>
          <p:cNvSpPr txBox="1"/>
          <p:nvPr/>
        </p:nvSpPr>
        <p:spPr>
          <a:xfrm>
            <a:off x="365378" y="490743"/>
            <a:ext cx="389737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CE8CC"/>
                </a:solidFill>
              </a:defRPr>
            </a:lvl1pPr>
          </a:lstStyle>
          <a:p>
            <a:pPr/>
            <a:r>
              <a:t>BLOCO 3 · ORFEU</a:t>
            </a:r>
          </a:p>
        </p:txBody>
      </p:sp>
      <p:sp>
        <p:nvSpPr>
          <p:cNvPr id="1179" name="TextBox 5"/>
          <p:cNvSpPr txBox="1"/>
          <p:nvPr/>
        </p:nvSpPr>
        <p:spPr>
          <a:xfrm>
            <a:off x="365378" y="1038812"/>
            <a:ext cx="3897378" cy="906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O Gap e a</a:t>
            </a:r>
          </a:p>
          <a:p>
            <a:pPr defTabSz="609600">
              <a:defRPr b="1" sz="2800">
                <a:solidFill>
                  <a:srgbClr val="FFFFFF"/>
                </a:solidFill>
              </a:defRPr>
            </a:pPr>
            <a:r>
              <a:t>Oportunidade da Orfeu</a:t>
            </a:r>
          </a:p>
        </p:txBody>
      </p:sp>
      <p:sp>
        <p:nvSpPr>
          <p:cNvPr id="1180" name="TextBox 6"/>
          <p:cNvSpPr txBox="1"/>
          <p:nvPr/>
        </p:nvSpPr>
        <p:spPr>
          <a:xfrm>
            <a:off x="365378" y="3900947"/>
            <a:ext cx="3897378" cy="659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Nenhuma marca brasileira de café premium está executando estratégia de criadores no mercado americano — essa é a oportunidade</a:t>
            </a:r>
          </a:p>
        </p:txBody>
      </p:sp>
      <p:sp>
        <p:nvSpPr>
          <p:cNvPr id="1181" name="TextBox 7"/>
          <p:cNvSpPr txBox="1"/>
          <p:nvPr/>
        </p:nvSpPr>
        <p:spPr>
          <a:xfrm>
            <a:off x="365378" y="6184566"/>
            <a:ext cx="3897378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99CC99"/>
                </a:solidFill>
              </a:defRPr>
            </a:lvl1pPr>
          </a:lstStyle>
          <a:p>
            <a:pPr/>
            <a:r>
              <a:t>Análise Alquemia Consulting para Orfeu · jul 2026</a:t>
            </a:r>
          </a:p>
        </p:txBody>
      </p:sp>
      <p:sp>
        <p:nvSpPr>
          <p:cNvPr id="1182" name="Rectangle 8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3" name="TextBox 9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6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7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8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89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GAP DE MERCADO · BRASIL NO ECOSSISTEMA DIGITAL DE CAFÉ EUA</a:t>
            </a:r>
          </a:p>
        </p:txBody>
      </p:sp>
      <p:sp>
        <p:nvSpPr>
          <p:cNvPr id="1190" name="TextBox 6"/>
          <p:cNvSpPr txBox="1"/>
          <p:nvPr/>
        </p:nvSpPr>
        <p:spPr>
          <a:xfrm>
            <a:off x="401916" y="332412"/>
            <a:ext cx="11631233" cy="791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 Brasil É o Maior Produtor de Arábica do Mundo — e Está Ausente da Conversa de Specialty</a:t>
            </a:r>
          </a:p>
        </p:txBody>
      </p:sp>
      <p:sp>
        <p:nvSpPr>
          <p:cNvPr id="1191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Enquanto Etiópia, Colômbia e Quênia são percebidas como origens premium, o Brasil segue associado a commodity</a:t>
            </a:r>
          </a:p>
        </p:txBody>
      </p:sp>
      <p:sp>
        <p:nvSpPr>
          <p:cNvPr id="1192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193" name="Rectangle 9"/>
          <p:cNvSpPr/>
          <p:nvPr/>
        </p:nvSpPr>
        <p:spPr>
          <a:xfrm>
            <a:off x="219227" y="1489446"/>
            <a:ext cx="5602479" cy="316661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94" name="TextBox 10"/>
          <p:cNvSpPr txBox="1"/>
          <p:nvPr/>
        </p:nvSpPr>
        <p:spPr>
          <a:xfrm>
            <a:off x="377558" y="1525984"/>
            <a:ext cx="5237098" cy="276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 </a:t>
            </a:r>
            <a:r>
              <a:t>O PRECONCEITO EXISTENTE</a:t>
            </a:r>
          </a:p>
        </p:txBody>
      </p:sp>
      <p:sp>
        <p:nvSpPr>
          <p:cNvPr id="1195" name="Rectangle 11"/>
          <p:cNvSpPr/>
          <p:nvPr/>
        </p:nvSpPr>
        <p:spPr>
          <a:xfrm>
            <a:off x="219227" y="1806108"/>
            <a:ext cx="5602479" cy="4530700"/>
          </a:xfrm>
          <a:prstGeom prst="rect">
            <a:avLst/>
          </a:prstGeom>
          <a:solidFill>
            <a:srgbClr val="FDECE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96" name="TextBox 12"/>
          <p:cNvSpPr txBox="1"/>
          <p:nvPr/>
        </p:nvSpPr>
        <p:spPr>
          <a:xfrm>
            <a:off x="377558" y="1879183"/>
            <a:ext cx="5237098" cy="332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3020"/>
                </a:solidFill>
              </a:defRPr>
            </a:pPr>
            <a:r>
              <a:t>No ecossistema digital americano de café specialty: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• Brasil = commodity, blends, Folgers, volume massivo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• Etiópia = florais, fermentados, micro-lots, artesanal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• Colômbia = origens diversas, SCA-approved, premium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• Quênia = AA grade, auction lots, jornalismo de café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3020"/>
                </a:solidFill>
              </a:defRPr>
            </a:pPr>
            <a:r>
              <a:t>Nenhum criador de referência conta a história do café brasileiro como objeto de specialty.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Nenhuma marca brasileira está presente no ecossistema de criadores americanos de café premium.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O café brasileiro aparece no menu de grandes torrefadores (Peet's, Stumptown, Counter Culture) como single origin — mas a narrativa é construída pelo torrefador americano, não pela fazenda ou marca brasileira.</a:t>
            </a:r>
          </a:p>
        </p:txBody>
      </p:sp>
      <p:sp>
        <p:nvSpPr>
          <p:cNvPr id="1197" name="Rectangle 13"/>
          <p:cNvSpPr/>
          <p:nvPr/>
        </p:nvSpPr>
        <p:spPr>
          <a:xfrm>
            <a:off x="6065291" y="1489446"/>
            <a:ext cx="5906962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198" name="TextBox 14"/>
          <p:cNvSpPr txBox="1"/>
          <p:nvPr/>
        </p:nvSpPr>
        <p:spPr>
          <a:xfrm>
            <a:off x="6223622" y="1525984"/>
            <a:ext cx="5541582" cy="27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O QUE A ORFEU TEM E NINGUÉM MAIS TEM</a:t>
            </a:r>
          </a:p>
        </p:txBody>
      </p:sp>
      <p:sp>
        <p:nvSpPr>
          <p:cNvPr id="1199" name="Rectangle 15"/>
          <p:cNvSpPr/>
          <p:nvPr/>
        </p:nvSpPr>
        <p:spPr>
          <a:xfrm>
            <a:off x="6065291" y="1806108"/>
            <a:ext cx="5906962" cy="453070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0" name="TextBox 16"/>
          <p:cNvSpPr txBox="1"/>
          <p:nvPr/>
        </p:nvSpPr>
        <p:spPr>
          <a:xfrm>
            <a:off x="6223622" y="1879183"/>
            <a:ext cx="5541582" cy="392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Ativos narrativos únicos para o mercado de specialty: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História de fazenda e família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Rastreabilidade total, origem verificada, décadas de relação com o produtor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Terroir brasileiro real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Cerrado Mineiro, Sul de Minas, Mantiqueira — cada origem com características distintas não exploradas no digital US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Processo de torra autoral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Torra artesanal, controle de temperatura, desenvolvimento de perfil — conteúdo rico e diferenciado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Prêmios internacionais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SCA e BSCA validam a qualidade — credencial para o público de specialty que valoriza reconhecimento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Narrativa de luxo discreto brasileiro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→ "Brasilidade" como diferencial — não o Brasil estereotipado, mas a sofisticação que o consumidor americano premium ainda não conhece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i="1" sz="1200">
                <a:solidFill>
                  <a:srgbClr val="2A5C2E"/>
                </a:solidFill>
              </a:defRPr>
            </a:pPr>
            <a:r>
              <a:t>→ A Orfeu seria a primeira marca brasileira a contar essa história diretamente ao consumidor americano de specialty.</a:t>
            </a:r>
          </a:p>
        </p:txBody>
      </p:sp>
      <p:sp>
        <p:nvSpPr>
          <p:cNvPr id="1201" name="Rectangle 17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2" name="TextBox 18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Análise: Alquemia Consulting com base em Coffee Intelligence, Perfect Daily Grind e mapeamento do ecossistema digital americano de café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5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6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7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08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MAPA DE CRIADORES · ABORDAGEM EM 3 CAMADAS</a:t>
            </a:r>
          </a:p>
        </p:txBody>
      </p:sp>
      <p:sp>
        <p:nvSpPr>
          <p:cNvPr id="1209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Quem São os Parceiros Prioritários para a Orfeu no Mercado Americano</a:t>
            </a:r>
          </a:p>
        </p:txBody>
      </p:sp>
      <p:sp>
        <p:nvSpPr>
          <p:cNvPr id="1210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Modelo Aesop/Blue Bottle híbrido: credibilidade técnica + alcance + lifestyle adjacente</a:t>
            </a:r>
          </a:p>
        </p:txBody>
      </p:sp>
      <p:sp>
        <p:nvSpPr>
          <p:cNvPr id="1211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212" name="Rectangle 9"/>
          <p:cNvSpPr/>
          <p:nvPr/>
        </p:nvSpPr>
        <p:spPr>
          <a:xfrm>
            <a:off x="219227" y="1489446"/>
            <a:ext cx="3751225" cy="41409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13" name="TextBox 10"/>
          <p:cNvSpPr txBox="1"/>
          <p:nvPr/>
        </p:nvSpPr>
        <p:spPr>
          <a:xfrm>
            <a:off x="259410" y="1513805"/>
            <a:ext cx="389738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14" name="TextBox 11"/>
          <p:cNvSpPr txBox="1"/>
          <p:nvPr/>
        </p:nvSpPr>
        <p:spPr>
          <a:xfrm>
            <a:off x="718578" y="1538163"/>
            <a:ext cx="3093543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CAMADA 1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CREDIBILIDADE DE SPECIALTY</a:t>
            </a:r>
          </a:p>
        </p:txBody>
      </p:sp>
      <p:sp>
        <p:nvSpPr>
          <p:cNvPr id="1215" name="Rectangle 12"/>
          <p:cNvSpPr/>
          <p:nvPr/>
        </p:nvSpPr>
        <p:spPr>
          <a:xfrm>
            <a:off x="219227" y="1903542"/>
            <a:ext cx="3751225" cy="4238398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16" name="TextBox 13"/>
          <p:cNvSpPr txBox="1"/>
          <p:nvPr/>
        </p:nvSpPr>
        <p:spPr>
          <a:xfrm>
            <a:off x="401916" y="1952259"/>
            <a:ext cx="3410205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Objetivo: construir reputação técnica e endosso editorial</a:t>
            </a:r>
          </a:p>
        </p:txBody>
      </p:sp>
      <p:sp>
        <p:nvSpPr>
          <p:cNvPr id="1217" name="TextBox 14"/>
          <p:cNvSpPr txBox="1"/>
          <p:nvPr/>
        </p:nvSpPr>
        <p:spPr>
          <a:xfrm>
            <a:off x="401916" y="2244562"/>
            <a:ext cx="3410205" cy="308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James Hoffmann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@JamesHoffmann · 2,4M YT · co-fundador Square Mile · validação global de torra e origem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Lance Hedrick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@lancehedrick · 500K YT + 124K IG · bicampeão latte art · 8% audiência Brasil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Sprometheus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@sprometheus · 55K IG · "brutally honest" reviews · zero parcerias → máxima credibilidade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Modelo de abordagem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Envio editorial sem brief: "enviamos nosso café, sem obrigação de post". Se postam → orgânico. Esse perfil é muito influente entre quem compra café premium.</a:t>
            </a:r>
          </a:p>
        </p:txBody>
      </p:sp>
      <p:sp>
        <p:nvSpPr>
          <p:cNvPr id="1218" name="Rectangle 15"/>
          <p:cNvSpPr/>
          <p:nvPr/>
        </p:nvSpPr>
        <p:spPr>
          <a:xfrm>
            <a:off x="219227" y="6141939"/>
            <a:ext cx="3751225" cy="243587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19" name="TextBox 16"/>
          <p:cNvSpPr txBox="1"/>
          <p:nvPr/>
        </p:nvSpPr>
        <p:spPr>
          <a:xfrm>
            <a:off x="377558" y="6166297"/>
            <a:ext cx="3483281" cy="25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★ Alta credibilidade · Baixo alcance · Alta conversão no nicho</a:t>
            </a:r>
          </a:p>
        </p:txBody>
      </p:sp>
      <p:sp>
        <p:nvSpPr>
          <p:cNvPr id="1220" name="Rectangle 17"/>
          <p:cNvSpPr/>
          <p:nvPr/>
        </p:nvSpPr>
        <p:spPr>
          <a:xfrm>
            <a:off x="4177499" y="1489446"/>
            <a:ext cx="3751226" cy="41409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21" name="TextBox 18"/>
          <p:cNvSpPr txBox="1"/>
          <p:nvPr/>
        </p:nvSpPr>
        <p:spPr>
          <a:xfrm>
            <a:off x="4217682" y="1513805"/>
            <a:ext cx="389739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22" name="TextBox 19"/>
          <p:cNvSpPr txBox="1"/>
          <p:nvPr/>
        </p:nvSpPr>
        <p:spPr>
          <a:xfrm>
            <a:off x="4676851" y="1538163"/>
            <a:ext cx="3093543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CAMADA 2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ALCANCE + DESCOBERTA</a:t>
            </a:r>
          </a:p>
        </p:txBody>
      </p:sp>
      <p:sp>
        <p:nvSpPr>
          <p:cNvPr id="1223" name="Rectangle 20"/>
          <p:cNvSpPr/>
          <p:nvPr/>
        </p:nvSpPr>
        <p:spPr>
          <a:xfrm>
            <a:off x="4177499" y="1903542"/>
            <a:ext cx="3751226" cy="4238398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24" name="TextBox 21"/>
          <p:cNvSpPr txBox="1"/>
          <p:nvPr/>
        </p:nvSpPr>
        <p:spPr>
          <a:xfrm>
            <a:off x="4360189" y="1952259"/>
            <a:ext cx="3410205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Objetivo: awareness, viralidade de origem, conteúdo co-criado</a:t>
            </a:r>
          </a:p>
        </p:txBody>
      </p:sp>
      <p:sp>
        <p:nvSpPr>
          <p:cNvPr id="1225" name="TextBox 22"/>
          <p:cNvSpPr txBox="1"/>
          <p:nvPr/>
        </p:nvSpPr>
        <p:spPr>
          <a:xfrm>
            <a:off x="4360189" y="2244562"/>
            <a:ext cx="3410205" cy="2890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Morgan Eckroth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@morgandrinkscoffee · 6,1M TikTok + 500K YT · campeã EUA · credencial + alcance jovem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Christopher @co.nfused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409K IG · 16% EUA + 7% Brasil · lifestyle academic aesthetic · engajamento 1,38%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Dina Kalanta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@dina_kalanta · 1,7M IG + 6M TikTok · café estético viral · trendsetter global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Modelo de abordagem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Collab estruturada: produto + viagem à fazenda documentada (como Onyx/Jimmy Butler) → conteúdo rico de origem em formato TikTok/Reels.</a:t>
            </a:r>
          </a:p>
        </p:txBody>
      </p:sp>
      <p:sp>
        <p:nvSpPr>
          <p:cNvPr id="1226" name="Rectangle 23"/>
          <p:cNvSpPr/>
          <p:nvPr/>
        </p:nvSpPr>
        <p:spPr>
          <a:xfrm>
            <a:off x="4177499" y="6141939"/>
            <a:ext cx="3751226" cy="243587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27" name="TextBox 24"/>
          <p:cNvSpPr txBox="1"/>
          <p:nvPr/>
        </p:nvSpPr>
        <p:spPr>
          <a:xfrm>
            <a:off x="4335830" y="6166297"/>
            <a:ext cx="3483281" cy="25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★★ Alto alcance · Credencial de café · Audiência dual BR+US</a:t>
            </a:r>
          </a:p>
        </p:txBody>
      </p:sp>
      <p:sp>
        <p:nvSpPr>
          <p:cNvPr id="1228" name="Rectangle 25"/>
          <p:cNvSpPr/>
          <p:nvPr/>
        </p:nvSpPr>
        <p:spPr>
          <a:xfrm>
            <a:off x="8135772" y="1489446"/>
            <a:ext cx="3751225" cy="414097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29" name="TextBox 26"/>
          <p:cNvSpPr txBox="1"/>
          <p:nvPr/>
        </p:nvSpPr>
        <p:spPr>
          <a:xfrm>
            <a:off x="8175955" y="1513805"/>
            <a:ext cx="389738" cy="36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30" name="TextBox 27"/>
          <p:cNvSpPr txBox="1"/>
          <p:nvPr/>
        </p:nvSpPr>
        <p:spPr>
          <a:xfrm>
            <a:off x="8635123" y="1538163"/>
            <a:ext cx="3093544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CAMADA 3</a:t>
            </a:r>
          </a:p>
          <a:p>
            <a:pPr defTabSz="609600">
              <a:spcBef>
                <a:spcPts val="100"/>
              </a:spcBef>
              <a:defRPr b="1" sz="1000">
                <a:solidFill>
                  <a:srgbClr val="FFFFFF"/>
                </a:solidFill>
              </a:defRPr>
            </a:pPr>
            <a:r>
              <a:t>LIFESTYLE ADJACENTE</a:t>
            </a:r>
          </a:p>
        </p:txBody>
      </p:sp>
      <p:sp>
        <p:nvSpPr>
          <p:cNvPr id="1231" name="Rectangle 28"/>
          <p:cNvSpPr/>
          <p:nvPr/>
        </p:nvSpPr>
        <p:spPr>
          <a:xfrm>
            <a:off x="8135772" y="1903542"/>
            <a:ext cx="3751225" cy="4238398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2" name="TextBox 29"/>
          <p:cNvSpPr txBox="1"/>
          <p:nvPr/>
        </p:nvSpPr>
        <p:spPr>
          <a:xfrm>
            <a:off x="8318462" y="1952259"/>
            <a:ext cx="3410205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Objetivo: posicionar Orfeu no universo aspiracional além do café</a:t>
            </a:r>
          </a:p>
        </p:txBody>
      </p:sp>
      <p:sp>
        <p:nvSpPr>
          <p:cNvPr id="1233" name="TextBox 30"/>
          <p:cNvSpPr txBox="1"/>
          <p:nvPr/>
        </p:nvSpPr>
        <p:spPr>
          <a:xfrm>
            <a:off x="8318462" y="2244562"/>
            <a:ext cx="3410205" cy="2890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Morning Ritual / Wellness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Jay Shetty, Rachel Brathen — café como parte de vida intencional. Gifting sem brief.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Arte e Cultura Urbana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Fotógrafos de NY/SF/LA que documentam specialty cafés como artefatos culturais.</a:t>
            </a:r>
          </a:p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Gastronomia Premium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Chefs, padarias premium (Tartine, Bread Alone) — alinhamento de valores, não publicidade.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Modelo de abordagem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Ativações de espaço: café da Orfeu em eventos de arte, culinária e lifestyle premium. A marca aparece como curadoria, não advertising.</a:t>
            </a:r>
          </a:p>
        </p:txBody>
      </p:sp>
      <p:sp>
        <p:nvSpPr>
          <p:cNvPr id="1234" name="Rectangle 31"/>
          <p:cNvSpPr/>
          <p:nvPr/>
        </p:nvSpPr>
        <p:spPr>
          <a:xfrm>
            <a:off x="8135772" y="6141939"/>
            <a:ext cx="3751225" cy="243587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5" name="TextBox 32"/>
          <p:cNvSpPr txBox="1"/>
          <p:nvPr/>
        </p:nvSpPr>
        <p:spPr>
          <a:xfrm>
            <a:off x="8294103" y="6166297"/>
            <a:ext cx="3483281" cy="257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★★★ Alto alcance · Lifestyle aspiracional · Posicionamento de marca</a:t>
            </a:r>
          </a:p>
        </p:txBody>
      </p:sp>
      <p:sp>
        <p:nvSpPr>
          <p:cNvPr id="1236" name="Rectangle 33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7" name="TextBox 34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Análise: Alquemia Consulting · Baseado em mapeamento de plataformas, dados de audiência e cases documentados de marcas de café premium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0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1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2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3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FORMATOS &amp; CONTEÚDO · O QUE FUNCIONA PARA CAFÉ PREMIUM DE ORIGEM ÚNICA</a:t>
            </a:r>
          </a:p>
        </p:txBody>
      </p:sp>
      <p:sp>
        <p:nvSpPr>
          <p:cNvPr id="1244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Tipos de Conteúdo por Objetivo e Plataforma</a:t>
            </a:r>
          </a:p>
        </p:txBody>
      </p:sp>
      <p:sp>
        <p:nvSpPr>
          <p:cNvPr id="1245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YouTube: credibilidade · TikTok: descoberta · Instagram: comunidade aspiracional</a:t>
            </a:r>
          </a:p>
        </p:txBody>
      </p:sp>
      <p:sp>
        <p:nvSpPr>
          <p:cNvPr id="1246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247" name="Rectangle 9"/>
          <p:cNvSpPr/>
          <p:nvPr/>
        </p:nvSpPr>
        <p:spPr>
          <a:xfrm>
            <a:off x="219227" y="1489446"/>
            <a:ext cx="11753025" cy="36538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8" name="TextBox 10"/>
          <p:cNvSpPr txBox="1"/>
          <p:nvPr/>
        </p:nvSpPr>
        <p:spPr>
          <a:xfrm>
            <a:off x="328840" y="1550342"/>
            <a:ext cx="1826897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TIPO DE CONTEÚDO</a:t>
            </a:r>
          </a:p>
        </p:txBody>
      </p:sp>
      <p:sp>
        <p:nvSpPr>
          <p:cNvPr id="1249" name="TextBox 11"/>
          <p:cNvSpPr txBox="1"/>
          <p:nvPr/>
        </p:nvSpPr>
        <p:spPr>
          <a:xfrm>
            <a:off x="3592893" y="1550342"/>
            <a:ext cx="182689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PLATAFORMA IDEAL</a:t>
            </a:r>
          </a:p>
        </p:txBody>
      </p:sp>
      <p:sp>
        <p:nvSpPr>
          <p:cNvPr id="1250" name="TextBox 12"/>
          <p:cNvSpPr txBox="1"/>
          <p:nvPr/>
        </p:nvSpPr>
        <p:spPr>
          <a:xfrm>
            <a:off x="5541581" y="1550342"/>
            <a:ext cx="182689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OBJETIVO</a:t>
            </a:r>
          </a:p>
        </p:txBody>
      </p:sp>
      <p:sp>
        <p:nvSpPr>
          <p:cNvPr id="1251" name="TextBox 13"/>
          <p:cNvSpPr txBox="1"/>
          <p:nvPr/>
        </p:nvSpPr>
        <p:spPr>
          <a:xfrm>
            <a:off x="7977441" y="1550342"/>
            <a:ext cx="182689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EXEMPLO</a:t>
            </a:r>
          </a:p>
        </p:txBody>
      </p:sp>
      <p:sp>
        <p:nvSpPr>
          <p:cNvPr id="1252" name="TextBox 14"/>
          <p:cNvSpPr txBox="1"/>
          <p:nvPr/>
        </p:nvSpPr>
        <p:spPr>
          <a:xfrm>
            <a:off x="10656885" y="1550342"/>
            <a:ext cx="182689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PARA A ORFEU</a:t>
            </a:r>
          </a:p>
        </p:txBody>
      </p:sp>
      <p:sp>
        <p:nvSpPr>
          <p:cNvPr id="1253" name="Rectangle 15"/>
          <p:cNvSpPr/>
          <p:nvPr/>
        </p:nvSpPr>
        <p:spPr>
          <a:xfrm>
            <a:off x="219227" y="1854825"/>
            <a:ext cx="11753025" cy="53589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54" name="TextBox 16"/>
          <p:cNvSpPr txBox="1"/>
          <p:nvPr/>
        </p:nvSpPr>
        <p:spPr>
          <a:xfrm>
            <a:off x="328841" y="1903542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Origem &amp; Fazenda</a:t>
            </a:r>
          </a:p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(documentário)</a:t>
            </a:r>
          </a:p>
        </p:txBody>
      </p:sp>
      <p:sp>
        <p:nvSpPr>
          <p:cNvPr id="1255" name="TextBox 17"/>
          <p:cNvSpPr txBox="1"/>
          <p:nvPr/>
        </p:nvSpPr>
        <p:spPr>
          <a:xfrm>
            <a:off x="3592893" y="1903542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YouTube (10–20min)</a:t>
            </a:r>
          </a:p>
        </p:txBody>
      </p:sp>
      <p:sp>
        <p:nvSpPr>
          <p:cNvPr id="1256" name="TextBox 18"/>
          <p:cNvSpPr txBox="1"/>
          <p:nvPr/>
        </p:nvSpPr>
        <p:spPr>
          <a:xfrm>
            <a:off x="5541581" y="1903542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Credibilidade, consideração de compra</a:t>
            </a:r>
          </a:p>
        </p:txBody>
      </p:sp>
      <p:sp>
        <p:nvSpPr>
          <p:cNvPr id="1257" name="TextBox 19"/>
          <p:cNvSpPr txBox="1"/>
          <p:nvPr/>
        </p:nvSpPr>
        <p:spPr>
          <a:xfrm>
            <a:off x="7977441" y="1903542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James Hoffmann visita farm</a:t>
            </a:r>
          </a:p>
        </p:txBody>
      </p:sp>
      <p:sp>
        <p:nvSpPr>
          <p:cNvPr id="1258" name="TextBox 20"/>
          <p:cNvSpPr txBox="1"/>
          <p:nvPr/>
        </p:nvSpPr>
        <p:spPr>
          <a:xfrm>
            <a:off x="10656885" y="1903542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Vídeo na fazenda: colheita, processamento, torra artesanal</a:t>
            </a:r>
          </a:p>
        </p:txBody>
      </p:sp>
      <p:sp>
        <p:nvSpPr>
          <p:cNvPr id="1259" name="Rectangle 21"/>
          <p:cNvSpPr/>
          <p:nvPr/>
        </p:nvSpPr>
        <p:spPr>
          <a:xfrm>
            <a:off x="219227" y="2390714"/>
            <a:ext cx="11753025" cy="53589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60" name="TextBox 22"/>
          <p:cNvSpPr txBox="1"/>
          <p:nvPr/>
        </p:nvSpPr>
        <p:spPr>
          <a:xfrm>
            <a:off x="328841" y="2439431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Torra ao vivo</a:t>
            </a:r>
          </a:p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(processo)</a:t>
            </a:r>
          </a:p>
        </p:txBody>
      </p:sp>
      <p:sp>
        <p:nvSpPr>
          <p:cNvPr id="1261" name="TextBox 23"/>
          <p:cNvSpPr txBox="1"/>
          <p:nvPr/>
        </p:nvSpPr>
        <p:spPr>
          <a:xfrm>
            <a:off x="3592893" y="2439431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Instagram Reels + TikTok</a:t>
            </a:r>
          </a:p>
        </p:txBody>
      </p:sp>
      <p:sp>
        <p:nvSpPr>
          <p:cNvPr id="1262" name="TextBox 24"/>
          <p:cNvSpPr txBox="1"/>
          <p:nvPr/>
        </p:nvSpPr>
        <p:spPr>
          <a:xfrm>
            <a:off x="5541581" y="2439431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Awareness, fascínio pelo craft</a:t>
            </a:r>
          </a:p>
        </p:txBody>
      </p:sp>
      <p:sp>
        <p:nvSpPr>
          <p:cNvPr id="1263" name="TextBox 25"/>
          <p:cNvSpPr txBox="1"/>
          <p:nvPr/>
        </p:nvSpPr>
        <p:spPr>
          <a:xfrm>
            <a:off x="7977441" y="2439431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Onyx bastidores de torra</a:t>
            </a:r>
          </a:p>
        </p:txBody>
      </p:sp>
      <p:sp>
        <p:nvSpPr>
          <p:cNvPr id="1264" name="TextBox 26"/>
          <p:cNvSpPr txBox="1"/>
          <p:nvPr/>
        </p:nvSpPr>
        <p:spPr>
          <a:xfrm>
            <a:off x="10656885" y="2439431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Slow-mo dos grãos na máquina de torra. Antes/depois de cor e aroma</a:t>
            </a:r>
          </a:p>
        </p:txBody>
      </p:sp>
      <p:sp>
        <p:nvSpPr>
          <p:cNvPr id="1265" name="Rectangle 27"/>
          <p:cNvSpPr/>
          <p:nvPr/>
        </p:nvSpPr>
        <p:spPr>
          <a:xfrm>
            <a:off x="219227" y="2926603"/>
            <a:ext cx="11753025" cy="535891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66" name="TextBox 28"/>
          <p:cNvSpPr txBox="1"/>
          <p:nvPr/>
        </p:nvSpPr>
        <p:spPr>
          <a:xfrm>
            <a:off x="328841" y="2975320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Receita criativa</a:t>
            </a:r>
          </a:p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(60s)</a:t>
            </a:r>
          </a:p>
        </p:txBody>
      </p:sp>
      <p:sp>
        <p:nvSpPr>
          <p:cNvPr id="1267" name="TextBox 29"/>
          <p:cNvSpPr txBox="1"/>
          <p:nvPr/>
        </p:nvSpPr>
        <p:spPr>
          <a:xfrm>
            <a:off x="3592893" y="2975320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TikTok &gt; Instagram</a:t>
            </a:r>
          </a:p>
        </p:txBody>
      </p:sp>
      <p:sp>
        <p:nvSpPr>
          <p:cNvPr id="1268" name="TextBox 30"/>
          <p:cNvSpPr txBox="1"/>
          <p:nvPr/>
        </p:nvSpPr>
        <p:spPr>
          <a:xfrm>
            <a:off x="5541581" y="2975320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Descoberta, viralidade, salvamento</a:t>
            </a:r>
          </a:p>
        </p:txBody>
      </p:sp>
      <p:sp>
        <p:nvSpPr>
          <p:cNvPr id="1269" name="TextBox 31"/>
          <p:cNvSpPr txBox="1"/>
          <p:nvPr/>
        </p:nvSpPr>
        <p:spPr>
          <a:xfrm>
            <a:off x="7977441" y="2975320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Morgan Eckroth receitas</a:t>
            </a:r>
          </a:p>
        </p:txBody>
      </p:sp>
      <p:sp>
        <p:nvSpPr>
          <p:cNvPr id="1270" name="TextBox 32"/>
          <p:cNvSpPr txBox="1"/>
          <p:nvPr/>
        </p:nvSpPr>
        <p:spPr>
          <a:xfrm>
            <a:off x="10656885" y="2975320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"O espresso perfeito com café Cerrado Mineiro" — simples e replicável</a:t>
            </a:r>
          </a:p>
        </p:txBody>
      </p:sp>
      <p:sp>
        <p:nvSpPr>
          <p:cNvPr id="1271" name="Rectangle 33"/>
          <p:cNvSpPr/>
          <p:nvPr/>
        </p:nvSpPr>
        <p:spPr>
          <a:xfrm>
            <a:off x="219227" y="3462493"/>
            <a:ext cx="11753025" cy="53589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72" name="TextBox 34"/>
          <p:cNvSpPr txBox="1"/>
          <p:nvPr/>
        </p:nvSpPr>
        <p:spPr>
          <a:xfrm>
            <a:off x="328841" y="3511210"/>
            <a:ext cx="3044826" cy="423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Morning ritual</a:t>
            </a:r>
          </a:p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(lifestyle)</a:t>
            </a:r>
          </a:p>
        </p:txBody>
      </p:sp>
      <p:sp>
        <p:nvSpPr>
          <p:cNvPr id="1273" name="TextBox 35"/>
          <p:cNvSpPr txBox="1"/>
          <p:nvPr/>
        </p:nvSpPr>
        <p:spPr>
          <a:xfrm>
            <a:off x="3592893" y="3511210"/>
            <a:ext cx="1729462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Instagram Stories/Reels</a:t>
            </a:r>
          </a:p>
        </p:txBody>
      </p:sp>
      <p:sp>
        <p:nvSpPr>
          <p:cNvPr id="1274" name="TextBox 36"/>
          <p:cNvSpPr txBox="1"/>
          <p:nvPr/>
        </p:nvSpPr>
        <p:spPr>
          <a:xfrm>
            <a:off x="5541581" y="3511210"/>
            <a:ext cx="2192275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Lifestyle aspiracional, awareness</a:t>
            </a:r>
          </a:p>
        </p:txBody>
      </p:sp>
      <p:sp>
        <p:nvSpPr>
          <p:cNvPr id="1275" name="TextBox 37"/>
          <p:cNvSpPr txBox="1"/>
          <p:nvPr/>
        </p:nvSpPr>
        <p:spPr>
          <a:xfrm>
            <a:off x="7977441" y="3511210"/>
            <a:ext cx="2435861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@co.nfused routine</a:t>
            </a:r>
          </a:p>
        </p:txBody>
      </p:sp>
      <p:sp>
        <p:nvSpPr>
          <p:cNvPr id="1276" name="TextBox 38"/>
          <p:cNvSpPr txBox="1"/>
          <p:nvPr/>
        </p:nvSpPr>
        <p:spPr>
          <a:xfrm>
            <a:off x="10656885" y="3511210"/>
            <a:ext cx="1217930" cy="655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Café Orfeu como objeto de uma manhã intencional e sofisticada</a:t>
            </a:r>
          </a:p>
        </p:txBody>
      </p:sp>
      <p:sp>
        <p:nvSpPr>
          <p:cNvPr id="1277" name="Rectangle 39"/>
          <p:cNvSpPr/>
          <p:nvPr/>
        </p:nvSpPr>
        <p:spPr>
          <a:xfrm>
            <a:off x="219227" y="3998382"/>
            <a:ext cx="11753025" cy="53589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78" name="TextBox 40"/>
          <p:cNvSpPr txBox="1"/>
          <p:nvPr/>
        </p:nvSpPr>
        <p:spPr>
          <a:xfrm>
            <a:off x="328841" y="4047099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Cupping educativo</a:t>
            </a:r>
          </a:p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(série)</a:t>
            </a:r>
          </a:p>
        </p:txBody>
      </p:sp>
      <p:sp>
        <p:nvSpPr>
          <p:cNvPr id="1279" name="TextBox 41"/>
          <p:cNvSpPr txBox="1"/>
          <p:nvPr/>
        </p:nvSpPr>
        <p:spPr>
          <a:xfrm>
            <a:off x="3592893" y="4047099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YouTube (5–10min)</a:t>
            </a:r>
          </a:p>
        </p:txBody>
      </p:sp>
      <p:sp>
        <p:nvSpPr>
          <p:cNvPr id="1280" name="TextBox 42"/>
          <p:cNvSpPr txBox="1"/>
          <p:nvPr/>
        </p:nvSpPr>
        <p:spPr>
          <a:xfrm>
            <a:off x="5541581" y="4047099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Educação, lealdade, comunidade</a:t>
            </a:r>
          </a:p>
        </p:txBody>
      </p:sp>
      <p:sp>
        <p:nvSpPr>
          <p:cNvPr id="1281" name="TextBox 43"/>
          <p:cNvSpPr txBox="1"/>
          <p:nvPr/>
        </p:nvSpPr>
        <p:spPr>
          <a:xfrm>
            <a:off x="7977441" y="4047099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European Coffee Trip</a:t>
            </a:r>
          </a:p>
        </p:txBody>
      </p:sp>
      <p:sp>
        <p:nvSpPr>
          <p:cNvPr id="1282" name="TextBox 44"/>
          <p:cNvSpPr txBox="1"/>
          <p:nvPr/>
        </p:nvSpPr>
        <p:spPr>
          <a:xfrm>
            <a:off x="10656885" y="4047099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Série "As 5 Fazendas da Orfeu" — aprender a diferenciar origens brasileiras</a:t>
            </a:r>
          </a:p>
        </p:txBody>
      </p:sp>
      <p:sp>
        <p:nvSpPr>
          <p:cNvPr id="1283" name="Rectangle 45"/>
          <p:cNvSpPr/>
          <p:nvPr/>
        </p:nvSpPr>
        <p:spPr>
          <a:xfrm>
            <a:off x="219227" y="4534271"/>
            <a:ext cx="11753025" cy="53589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84" name="TextBox 46"/>
          <p:cNvSpPr txBox="1"/>
          <p:nvPr/>
        </p:nvSpPr>
        <p:spPr>
          <a:xfrm>
            <a:off x="328841" y="4582988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Product review</a:t>
            </a:r>
          </a:p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não-patrocinado</a:t>
            </a:r>
          </a:p>
        </p:txBody>
      </p:sp>
      <p:sp>
        <p:nvSpPr>
          <p:cNvPr id="1285" name="TextBox 47"/>
          <p:cNvSpPr txBox="1"/>
          <p:nvPr/>
        </p:nvSpPr>
        <p:spPr>
          <a:xfrm>
            <a:off x="3592893" y="4582988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YouTube + TikTok</a:t>
            </a:r>
          </a:p>
        </p:txBody>
      </p:sp>
      <p:sp>
        <p:nvSpPr>
          <p:cNvPr id="1286" name="TextBox 48"/>
          <p:cNvSpPr txBox="1"/>
          <p:nvPr/>
        </p:nvSpPr>
        <p:spPr>
          <a:xfrm>
            <a:off x="5541581" y="4582988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Credibilidade máxima, conversão</a:t>
            </a:r>
          </a:p>
        </p:txBody>
      </p:sp>
      <p:sp>
        <p:nvSpPr>
          <p:cNvPr id="1287" name="TextBox 49"/>
          <p:cNvSpPr txBox="1"/>
          <p:nvPr/>
        </p:nvSpPr>
        <p:spPr>
          <a:xfrm>
            <a:off x="7977441" y="4582988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Sprometheus reviews</a:t>
            </a:r>
          </a:p>
        </p:txBody>
      </p:sp>
      <p:sp>
        <p:nvSpPr>
          <p:cNvPr id="1288" name="TextBox 50"/>
          <p:cNvSpPr txBox="1"/>
          <p:nvPr/>
        </p:nvSpPr>
        <p:spPr>
          <a:xfrm>
            <a:off x="10656885" y="4582988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Envio sem brief para Sprometheus e Lance Hedrick: conteúdo orgânico</a:t>
            </a:r>
          </a:p>
        </p:txBody>
      </p:sp>
      <p:sp>
        <p:nvSpPr>
          <p:cNvPr id="1289" name="Rectangle 51"/>
          <p:cNvSpPr/>
          <p:nvPr/>
        </p:nvSpPr>
        <p:spPr>
          <a:xfrm>
            <a:off x="219227" y="5070160"/>
            <a:ext cx="11753025" cy="535890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90" name="TextBox 52"/>
          <p:cNvSpPr txBox="1"/>
          <p:nvPr/>
        </p:nvSpPr>
        <p:spPr>
          <a:xfrm>
            <a:off x="328841" y="5118877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Collab de produto</a:t>
            </a:r>
          </a:p>
          <a:p>
            <a:pPr defTabSz="609600">
              <a:defRPr b="1" sz="1000">
                <a:solidFill>
                  <a:srgbClr val="2D2D2D"/>
                </a:solidFill>
              </a:defRPr>
            </a:pPr>
            <a:r>
              <a:t>(co-criado)</a:t>
            </a:r>
          </a:p>
        </p:txBody>
      </p:sp>
      <p:sp>
        <p:nvSpPr>
          <p:cNvPr id="1291" name="TextBox 53"/>
          <p:cNvSpPr txBox="1"/>
          <p:nvPr/>
        </p:nvSpPr>
        <p:spPr>
          <a:xfrm>
            <a:off x="3592893" y="5118877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Todas as plataformas</a:t>
            </a:r>
          </a:p>
        </p:txBody>
      </p:sp>
      <p:sp>
        <p:nvSpPr>
          <p:cNvPr id="1292" name="TextBox 54"/>
          <p:cNvSpPr txBox="1"/>
          <p:nvPr/>
        </p:nvSpPr>
        <p:spPr>
          <a:xfrm>
            <a:off x="5541581" y="5118877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Awareness + vendas diretas</a:t>
            </a:r>
          </a:p>
        </p:txBody>
      </p:sp>
      <p:sp>
        <p:nvSpPr>
          <p:cNvPr id="1293" name="TextBox 55"/>
          <p:cNvSpPr txBox="1"/>
          <p:nvPr/>
        </p:nvSpPr>
        <p:spPr>
          <a:xfrm>
            <a:off x="7977441" y="5118877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Morgan × Wrecking Ball</a:t>
            </a:r>
          </a:p>
        </p:txBody>
      </p:sp>
      <p:sp>
        <p:nvSpPr>
          <p:cNvPr id="1294" name="TextBox 56"/>
          <p:cNvSpPr txBox="1"/>
          <p:nvPr/>
        </p:nvSpPr>
        <p:spPr>
          <a:xfrm>
            <a:off x="10656885" y="5118877"/>
            <a:ext cx="1217930" cy="65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Orfeu × Morgan Eckroth: blend "Seleção Barista" co-desenvolvido</a:t>
            </a:r>
          </a:p>
        </p:txBody>
      </p:sp>
      <p:sp>
        <p:nvSpPr>
          <p:cNvPr id="1295" name="Rectangle 57"/>
          <p:cNvSpPr/>
          <p:nvPr/>
        </p:nvSpPr>
        <p:spPr>
          <a:xfrm>
            <a:off x="219227" y="5606050"/>
            <a:ext cx="11753025" cy="53589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96" name="TextBox 58"/>
          <p:cNvSpPr txBox="1"/>
          <p:nvPr/>
        </p:nvSpPr>
        <p:spPr>
          <a:xfrm>
            <a:off x="328841" y="5654766"/>
            <a:ext cx="304482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Lifestyle adjacente</a:t>
            </a:r>
          </a:p>
          <a:p>
            <a:pPr defTabSz="609600">
              <a:defRPr sz="1000">
                <a:solidFill>
                  <a:srgbClr val="2D2D2D"/>
                </a:solidFill>
              </a:defRPr>
            </a:pPr>
            <a:r>
              <a:t>(arte/gastronomia)</a:t>
            </a:r>
          </a:p>
        </p:txBody>
      </p:sp>
      <p:sp>
        <p:nvSpPr>
          <p:cNvPr id="1297" name="TextBox 59"/>
          <p:cNvSpPr txBox="1"/>
          <p:nvPr/>
        </p:nvSpPr>
        <p:spPr>
          <a:xfrm>
            <a:off x="3592893" y="5654766"/>
            <a:ext cx="1729462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1000">
                <a:solidFill>
                  <a:srgbClr val="1A3C7A"/>
                </a:solidFill>
              </a:defRPr>
            </a:lvl1pPr>
          </a:lstStyle>
          <a:p>
            <a:pPr/>
            <a:r>
              <a:t>Instagram + Pinterest</a:t>
            </a:r>
          </a:p>
        </p:txBody>
      </p:sp>
      <p:sp>
        <p:nvSpPr>
          <p:cNvPr id="1298" name="TextBox 60"/>
          <p:cNvSpPr txBox="1"/>
          <p:nvPr/>
        </p:nvSpPr>
        <p:spPr>
          <a:xfrm>
            <a:off x="5541581" y="5654766"/>
            <a:ext cx="219227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Posicionamento premium, brand love</a:t>
            </a:r>
          </a:p>
        </p:txBody>
      </p:sp>
      <p:sp>
        <p:nvSpPr>
          <p:cNvPr id="1299" name="TextBox 61"/>
          <p:cNvSpPr txBox="1"/>
          <p:nvPr/>
        </p:nvSpPr>
        <p:spPr>
          <a:xfrm>
            <a:off x="7977441" y="5654766"/>
            <a:ext cx="2435861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Blue Bottle pop-ups</a:t>
            </a:r>
          </a:p>
        </p:txBody>
      </p:sp>
      <p:sp>
        <p:nvSpPr>
          <p:cNvPr id="1300" name="TextBox 62"/>
          <p:cNvSpPr txBox="1"/>
          <p:nvPr/>
        </p:nvSpPr>
        <p:spPr>
          <a:xfrm>
            <a:off x="10656885" y="5654766"/>
            <a:ext cx="1217930" cy="515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2A5C2E"/>
                </a:solidFill>
              </a:defRPr>
            </a:lvl1pPr>
          </a:lstStyle>
          <a:p>
            <a:pPr/>
            <a:r>
              <a:t>Orfeu como "o café que uma galeria de arte serviria"</a:t>
            </a:r>
          </a:p>
        </p:txBody>
      </p:sp>
      <p:sp>
        <p:nvSpPr>
          <p:cNvPr id="1301" name="Rectangle 63"/>
          <p:cNvSpPr/>
          <p:nvPr/>
        </p:nvSpPr>
        <p:spPr>
          <a:xfrm>
            <a:off x="219227" y="6184566"/>
            <a:ext cx="11753025" cy="219228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2" name="TextBox 64"/>
          <p:cNvSpPr txBox="1"/>
          <p:nvPr/>
        </p:nvSpPr>
        <p:spPr>
          <a:xfrm>
            <a:off x="365379" y="6196745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Análise: Alquemia Consulting · Baseado em performance de criadores documentada por Coffee Intelligence, IZEA, Perfect Daily Grind e Stack Influence · jul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5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6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7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08" name="TextBox 5"/>
          <p:cNvSpPr txBox="1"/>
          <p:nvPr/>
        </p:nvSpPr>
        <p:spPr>
          <a:xfrm>
            <a:off x="401916" y="88826"/>
            <a:ext cx="11631233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REFLEXÕES · PERGUNTAS PARA O TIME ORFEU</a:t>
            </a:r>
          </a:p>
        </p:txBody>
      </p:sp>
      <p:sp>
        <p:nvSpPr>
          <p:cNvPr id="1309" name="TextBox 6"/>
          <p:cNvSpPr txBox="1"/>
          <p:nvPr/>
        </p:nvSpPr>
        <p:spPr>
          <a:xfrm>
            <a:off x="401916" y="332412"/>
            <a:ext cx="11631233" cy="42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 Que Este Mapeamento Levanta — Não Respostas, Perguntas</a:t>
            </a:r>
          </a:p>
        </p:txBody>
      </p:sp>
      <p:sp>
        <p:nvSpPr>
          <p:cNvPr id="1310" name="TextBox 7"/>
          <p:cNvSpPr txBox="1"/>
          <p:nvPr/>
        </p:nvSpPr>
        <p:spPr>
          <a:xfrm>
            <a:off x="401916" y="1026633"/>
            <a:ext cx="11631233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Material de pré-read para a próxima sessão de alinhamento estratégico</a:t>
            </a:r>
          </a:p>
        </p:txBody>
      </p:sp>
      <p:sp>
        <p:nvSpPr>
          <p:cNvPr id="1311" name="TextBox 8"/>
          <p:cNvSpPr txBox="1"/>
          <p:nvPr/>
        </p:nvSpPr>
        <p:spPr>
          <a:xfrm>
            <a:off x="401916" y="6525587"/>
            <a:ext cx="11570336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312" name="Rectangle 9"/>
          <p:cNvSpPr/>
          <p:nvPr/>
        </p:nvSpPr>
        <p:spPr>
          <a:xfrm>
            <a:off x="219227" y="1489446"/>
            <a:ext cx="11753025" cy="2435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13" name="Rectangle 10"/>
          <p:cNvSpPr/>
          <p:nvPr/>
        </p:nvSpPr>
        <p:spPr>
          <a:xfrm>
            <a:off x="219227" y="1586880"/>
            <a:ext cx="3751225" cy="31666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14" name="TextBox 11"/>
          <p:cNvSpPr txBox="1"/>
          <p:nvPr/>
        </p:nvSpPr>
        <p:spPr>
          <a:xfrm>
            <a:off x="377558" y="1635598"/>
            <a:ext cx="3483281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SOBRE POSICIONAMENTO DIGITAL</a:t>
            </a:r>
          </a:p>
        </p:txBody>
      </p:sp>
      <p:sp>
        <p:nvSpPr>
          <p:cNvPr id="1315" name="Rectangle 12"/>
          <p:cNvSpPr/>
          <p:nvPr/>
        </p:nvSpPr>
        <p:spPr>
          <a:xfrm>
            <a:off x="219227" y="1903542"/>
            <a:ext cx="3751225" cy="4628135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16" name="TextBox 13"/>
          <p:cNvSpPr txBox="1"/>
          <p:nvPr/>
        </p:nvSpPr>
        <p:spPr>
          <a:xfrm>
            <a:off x="401916" y="1976618"/>
            <a:ext cx="3410205" cy="2251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Qual é a história que a Orfeu quer contar no digital americano?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Fazenda familiar? Torra artesanal? Origem única? Brasilidade sofisticada? A escolha da narrativa define os criadores, os formatos e os canais.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Quem é o "James Hoffmann da Orfeu" — o criador que vai construir credibilidade técnica?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Não precisa ser o maior — precisa ser o mais respeitado no nicho de specialty americano que ainda não tem um brasileiro favorito.</a:t>
            </a:r>
          </a:p>
        </p:txBody>
      </p:sp>
      <p:sp>
        <p:nvSpPr>
          <p:cNvPr id="1317" name="Rectangle 14"/>
          <p:cNvSpPr/>
          <p:nvPr/>
        </p:nvSpPr>
        <p:spPr>
          <a:xfrm>
            <a:off x="4177499" y="1586880"/>
            <a:ext cx="3751226" cy="316662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18" name="TextBox 15"/>
          <p:cNvSpPr txBox="1"/>
          <p:nvPr/>
        </p:nvSpPr>
        <p:spPr>
          <a:xfrm>
            <a:off x="4335830" y="1635598"/>
            <a:ext cx="3483281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SOBRE MODELO DE PARCERIA</a:t>
            </a:r>
          </a:p>
        </p:txBody>
      </p:sp>
      <p:sp>
        <p:nvSpPr>
          <p:cNvPr id="1319" name="Rectangle 16"/>
          <p:cNvSpPr/>
          <p:nvPr/>
        </p:nvSpPr>
        <p:spPr>
          <a:xfrm>
            <a:off x="4177499" y="1903542"/>
            <a:ext cx="3751226" cy="4628135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20" name="TextBox 17"/>
          <p:cNvSpPr txBox="1"/>
          <p:nvPr/>
        </p:nvSpPr>
        <p:spPr>
          <a:xfrm>
            <a:off x="4360189" y="1976618"/>
            <a:ext cx="3410205" cy="2441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Qual é o orçamento e o apetite de risco para parcerias de criadores?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Micro-criadores de nicho (Camada 1) podem custar USD 500–2.000 por post. Morgan Eckroth (Camada 2) pode ser estruturado como collab de produto, não publicidade paga.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A Orfeu tem produto e embalagem prontos para o mercado americano?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Gifting editorial exige embalagem em inglês, informações nutricionais FDA-compliant e capability de envio internacional. Isso está mapeado?</a:t>
            </a:r>
          </a:p>
        </p:txBody>
      </p:sp>
      <p:sp>
        <p:nvSpPr>
          <p:cNvPr id="1321" name="Rectangle 18"/>
          <p:cNvSpPr/>
          <p:nvPr/>
        </p:nvSpPr>
        <p:spPr>
          <a:xfrm>
            <a:off x="8135772" y="1586880"/>
            <a:ext cx="3751225" cy="316662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22" name="TextBox 19"/>
          <p:cNvSpPr txBox="1"/>
          <p:nvPr/>
        </p:nvSpPr>
        <p:spPr>
          <a:xfrm>
            <a:off x="8294103" y="1635598"/>
            <a:ext cx="3483281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SOBRE PRIORIDADE DE PLATAFORMA</a:t>
            </a:r>
          </a:p>
        </p:txBody>
      </p:sp>
      <p:sp>
        <p:nvSpPr>
          <p:cNvPr id="1323" name="Rectangle 20"/>
          <p:cNvSpPr/>
          <p:nvPr/>
        </p:nvSpPr>
        <p:spPr>
          <a:xfrm>
            <a:off x="8135772" y="1903542"/>
            <a:ext cx="3751225" cy="4628135"/>
          </a:xfrm>
          <a:prstGeom prst="rect">
            <a:avLst/>
          </a:prstGeom>
          <a:solidFill>
            <a:srgbClr val="E8ECF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24" name="TextBox 21"/>
          <p:cNvSpPr txBox="1"/>
          <p:nvPr/>
        </p:nvSpPr>
        <p:spPr>
          <a:xfrm>
            <a:off x="8318462" y="1976618"/>
            <a:ext cx="3410205" cy="263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Por onde começar — YouTube (credibilidade longa) ou TikTok (descoberta rápida)?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Recomendação geral: YouTube + newsletter/email para construir base fiel. TikTok/Reels para awareness. Mas depende do perfil do primeiro consumidor americano que a Orfeu quer alcançar.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1A3C7A"/>
                </a:solidFill>
              </a:defRPr>
            </a:pPr>
            <a:r>
              <a:t>Existe audiência brasileira nos EUA que pode ser a ponte?</a:t>
            </a:r>
          </a:p>
          <a:p>
            <a:pPr defTabSz="609600">
              <a:spcBef>
                <a:spcPts val="100"/>
              </a:spcBef>
              <a:defRPr sz="1200">
                <a:solidFill>
                  <a:srgbClr val="2D2D2D"/>
                </a:solidFill>
              </a:defRPr>
            </a:pPr>
            <a:r>
              <a:t>@tannercolsoncoffee tem 8% de audiência brasileira. @co.nfused tem 7%. Usuários brasileiros nos EUA podem ser early adopters naturais antes de cruzar para o público americano.</a:t>
            </a:r>
          </a:p>
        </p:txBody>
      </p:sp>
      <p:sp>
        <p:nvSpPr>
          <p:cNvPr id="1325" name="Rectangle 22"/>
          <p:cNvSpPr/>
          <p:nvPr/>
        </p:nvSpPr>
        <p:spPr>
          <a:xfrm>
            <a:off x="219227" y="6148028"/>
            <a:ext cx="11753025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26" name="TextBox 23"/>
          <p:cNvSpPr txBox="1"/>
          <p:nvPr/>
        </p:nvSpPr>
        <p:spPr>
          <a:xfrm>
            <a:off x="401917" y="6172387"/>
            <a:ext cx="11204956" cy="278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FFFFFF"/>
                </a:solidFill>
              </a:defRPr>
            </a:lvl1pPr>
          </a:lstStyle>
          <a:p>
            <a:pPr/>
            <a:r>
              <a:t>Este material é base para discussão — não contém recomendações ou plano de ação. As decisões serão tomadas junto com o time Orfeu na próxima sessão.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29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30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31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32" name="TextBox 5"/>
          <p:cNvSpPr txBox="1"/>
          <p:nvPr/>
        </p:nvSpPr>
        <p:spPr>
          <a:xfrm>
            <a:off x="426275" y="88826"/>
            <a:ext cx="11570336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CONTEXTO REGULATÓRIO · IMPORTAÇÃO DE CAFÉ NOS EUA · 2018–2025</a:t>
            </a:r>
          </a:p>
        </p:txBody>
      </p:sp>
      <p:sp>
        <p:nvSpPr>
          <p:cNvPr id="1333" name="TextBox 6"/>
          <p:cNvSpPr txBox="1"/>
          <p:nvPr/>
        </p:nvSpPr>
        <p:spPr>
          <a:xfrm>
            <a:off x="426275" y="344592"/>
            <a:ext cx="11570336" cy="42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Tarifas de Importação: Movimentos Recentes e Mapa de Competitividade</a:t>
            </a:r>
          </a:p>
        </p:txBody>
      </p:sp>
      <p:sp>
        <p:nvSpPr>
          <p:cNvPr id="1334" name="TextBox 7"/>
          <p:cNvSpPr txBox="1"/>
          <p:nvPr/>
        </p:nvSpPr>
        <p:spPr>
          <a:xfrm>
            <a:off x="426275" y="1026633"/>
            <a:ext cx="11570336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Café verde tinha tarifa 0% (MFN) para todos os países — 2025 mudou tudo, e depois voltou parcialmente</a:t>
            </a:r>
          </a:p>
        </p:txBody>
      </p:sp>
      <p:sp>
        <p:nvSpPr>
          <p:cNvPr id="1335" name="TextBox 8"/>
          <p:cNvSpPr txBox="1"/>
          <p:nvPr/>
        </p:nvSpPr>
        <p:spPr>
          <a:xfrm>
            <a:off x="426275" y="6525587"/>
            <a:ext cx="11448543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336" name="Rectangle 9"/>
          <p:cNvSpPr/>
          <p:nvPr/>
        </p:nvSpPr>
        <p:spPr>
          <a:xfrm>
            <a:off x="219227" y="1440729"/>
            <a:ext cx="2265351" cy="365380"/>
          </a:xfrm>
          <a:prstGeom prst="rect">
            <a:avLst/>
          </a:prstGeom>
          <a:solidFill>
            <a:srgbClr val="1A3C7A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37" name="TextBox 10"/>
          <p:cNvSpPr txBox="1"/>
          <p:nvPr/>
        </p:nvSpPr>
        <p:spPr>
          <a:xfrm>
            <a:off x="365378" y="1477267"/>
            <a:ext cx="20217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PRÉ-2025</a:t>
            </a:r>
          </a:p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Base histórica</a:t>
            </a:r>
          </a:p>
        </p:txBody>
      </p:sp>
      <p:sp>
        <p:nvSpPr>
          <p:cNvPr id="1338" name="Rectangle 11"/>
          <p:cNvSpPr/>
          <p:nvPr/>
        </p:nvSpPr>
        <p:spPr>
          <a:xfrm>
            <a:off x="219227" y="1806108"/>
            <a:ext cx="2265351" cy="124228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39" name="TextBox 12"/>
          <p:cNvSpPr txBox="1"/>
          <p:nvPr/>
        </p:nvSpPr>
        <p:spPr>
          <a:xfrm>
            <a:off x="377558" y="1867004"/>
            <a:ext cx="1973047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Tarifa MFN = 0% para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todos os países.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FTAs reforçam: Colômbia,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CAFTA-DR, AGOA, USMCA.</a:t>
            </a:r>
          </a:p>
        </p:txBody>
      </p:sp>
      <p:sp>
        <p:nvSpPr>
          <p:cNvPr id="1340" name="Rectangle 14"/>
          <p:cNvSpPr/>
          <p:nvPr/>
        </p:nvSpPr>
        <p:spPr>
          <a:xfrm>
            <a:off x="2569832" y="1440729"/>
            <a:ext cx="2265351" cy="365380"/>
          </a:xfrm>
          <a:prstGeom prst="rect">
            <a:avLst/>
          </a:prstGeom>
          <a:solidFill>
            <a:srgbClr val="F5C50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41" name="TextBox 15"/>
          <p:cNvSpPr txBox="1"/>
          <p:nvPr/>
        </p:nvSpPr>
        <p:spPr>
          <a:xfrm>
            <a:off x="2715984" y="1477267"/>
            <a:ext cx="2021764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JAN 2025</a:t>
            </a:r>
          </a:p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Crise Colômbia</a:t>
            </a:r>
          </a:p>
        </p:txBody>
      </p:sp>
      <p:sp>
        <p:nvSpPr>
          <p:cNvPr id="1342" name="Rectangle 16"/>
          <p:cNvSpPr/>
          <p:nvPr/>
        </p:nvSpPr>
        <p:spPr>
          <a:xfrm>
            <a:off x="2569832" y="1806108"/>
            <a:ext cx="2265351" cy="1242289"/>
          </a:xfrm>
          <a:prstGeom prst="rect">
            <a:avLst/>
          </a:prstGeom>
          <a:solidFill>
            <a:srgbClr val="FFF8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43" name="TextBox 17"/>
          <p:cNvSpPr txBox="1"/>
          <p:nvPr/>
        </p:nvSpPr>
        <p:spPr>
          <a:xfrm>
            <a:off x="2728162" y="1867004"/>
            <a:ext cx="1973048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Trump ameaça 25%→50%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sobre produtos colombianos.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Colômbia capitulou em 24h.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Impacto real: zero.</a:t>
            </a:r>
          </a:p>
        </p:txBody>
      </p:sp>
      <p:sp>
        <p:nvSpPr>
          <p:cNvPr id="1344" name="Rectangle 19"/>
          <p:cNvSpPr/>
          <p:nvPr/>
        </p:nvSpPr>
        <p:spPr>
          <a:xfrm>
            <a:off x="4920437" y="1440729"/>
            <a:ext cx="2265351" cy="365380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45" name="TextBox 20"/>
          <p:cNvSpPr txBox="1"/>
          <p:nvPr/>
        </p:nvSpPr>
        <p:spPr>
          <a:xfrm>
            <a:off x="5066589" y="1477267"/>
            <a:ext cx="20217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2 ABR 2025</a:t>
            </a:r>
          </a:p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"Liberation Day"</a:t>
            </a:r>
          </a:p>
        </p:txBody>
      </p:sp>
      <p:sp>
        <p:nvSpPr>
          <p:cNvPr id="1346" name="Rectangle 21"/>
          <p:cNvSpPr/>
          <p:nvPr/>
        </p:nvSpPr>
        <p:spPr>
          <a:xfrm>
            <a:off x="4920437" y="1806108"/>
            <a:ext cx="2265351" cy="1242289"/>
          </a:xfrm>
          <a:prstGeom prst="rect">
            <a:avLst/>
          </a:prstGeom>
          <a:solidFill>
            <a:srgbClr val="FDE8E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47" name="TextBox 22"/>
          <p:cNvSpPr txBox="1"/>
          <p:nvPr/>
        </p:nvSpPr>
        <p:spPr>
          <a:xfrm>
            <a:off x="5078768" y="1867004"/>
            <a:ext cx="1973048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Universal 10% baseline.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Tarifas por país anunciadas: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Vietnam 46% · Indonesia 32%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Brasil 10% (base)</a:t>
            </a:r>
          </a:p>
        </p:txBody>
      </p:sp>
      <p:sp>
        <p:nvSpPr>
          <p:cNvPr id="1348" name="Rectangle 24"/>
          <p:cNvSpPr/>
          <p:nvPr/>
        </p:nvSpPr>
        <p:spPr>
          <a:xfrm>
            <a:off x="7271042" y="1440729"/>
            <a:ext cx="2265350" cy="365380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49" name="TextBox 25"/>
          <p:cNvSpPr txBox="1"/>
          <p:nvPr/>
        </p:nvSpPr>
        <p:spPr>
          <a:xfrm>
            <a:off x="7417193" y="1477267"/>
            <a:ext cx="20217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9 ABR – JUL 2025</a:t>
            </a:r>
          </a:p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Pausa 90 dias</a:t>
            </a:r>
          </a:p>
        </p:txBody>
      </p:sp>
      <p:sp>
        <p:nvSpPr>
          <p:cNvPr id="1350" name="Rectangle 26"/>
          <p:cNvSpPr/>
          <p:nvPr/>
        </p:nvSpPr>
        <p:spPr>
          <a:xfrm>
            <a:off x="7271042" y="1806108"/>
            <a:ext cx="2265350" cy="1242289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51" name="TextBox 27"/>
          <p:cNvSpPr txBox="1"/>
          <p:nvPr/>
        </p:nvSpPr>
        <p:spPr>
          <a:xfrm>
            <a:off x="7429373" y="1867004"/>
            <a:ext cx="1973047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Tarifas altas pausadas.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10% universal mantido.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Brasil: 10%+40% em agosto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→ Café brasileiro = 50%!</a:t>
            </a:r>
          </a:p>
        </p:txBody>
      </p:sp>
      <p:sp>
        <p:nvSpPr>
          <p:cNvPr id="1352" name="Rectangle 29"/>
          <p:cNvSpPr/>
          <p:nvPr/>
        </p:nvSpPr>
        <p:spPr>
          <a:xfrm>
            <a:off x="9621645" y="1440729"/>
            <a:ext cx="2265351" cy="36538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53" name="TextBox 30"/>
          <p:cNvSpPr txBox="1"/>
          <p:nvPr/>
        </p:nvSpPr>
        <p:spPr>
          <a:xfrm>
            <a:off x="9767796" y="1477267"/>
            <a:ext cx="20217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NOV 2025</a:t>
            </a:r>
          </a:p>
          <a:p>
            <a:pPr defTabSz="609600">
              <a:defRPr b="1" sz="900">
                <a:solidFill>
                  <a:srgbClr val="FFFFFF"/>
                </a:solidFill>
              </a:defRPr>
            </a:pPr>
            <a:r>
              <a:t>Isenção agrícola</a:t>
            </a:r>
          </a:p>
        </p:txBody>
      </p:sp>
      <p:sp>
        <p:nvSpPr>
          <p:cNvPr id="1354" name="Rectangle 31"/>
          <p:cNvSpPr/>
          <p:nvPr/>
        </p:nvSpPr>
        <p:spPr>
          <a:xfrm>
            <a:off x="9621645" y="1806108"/>
            <a:ext cx="2265351" cy="1242289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55" name="TextBox 32"/>
          <p:cNvSpPr txBox="1"/>
          <p:nvPr/>
        </p:nvSpPr>
        <p:spPr>
          <a:xfrm>
            <a:off x="9779976" y="1867004"/>
            <a:ext cx="1973048" cy="80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EO remove café verde de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todas as tarifas IEEPA.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Voltou quase a 0%, mas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sem proteção legal firme.</a:t>
            </a:r>
          </a:p>
        </p:txBody>
      </p:sp>
      <p:sp>
        <p:nvSpPr>
          <p:cNvPr id="1356" name="Rectangle 33"/>
          <p:cNvSpPr/>
          <p:nvPr/>
        </p:nvSpPr>
        <p:spPr>
          <a:xfrm>
            <a:off x="219227" y="3145831"/>
            <a:ext cx="11753025" cy="2435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57" name="Rectangle 34"/>
          <p:cNvSpPr/>
          <p:nvPr/>
        </p:nvSpPr>
        <p:spPr>
          <a:xfrm>
            <a:off x="219227" y="3231086"/>
            <a:ext cx="5785168" cy="31666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58" name="TextBox 35"/>
          <p:cNvSpPr txBox="1"/>
          <p:nvPr/>
        </p:nvSpPr>
        <p:spPr>
          <a:xfrm>
            <a:off x="401916" y="3279803"/>
            <a:ext cx="5492866" cy="27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FICARAM MAIS COMPETITIVOS</a:t>
            </a:r>
          </a:p>
        </p:txBody>
      </p:sp>
      <p:sp>
        <p:nvSpPr>
          <p:cNvPr id="1359" name="Rectangle 36"/>
          <p:cNvSpPr/>
          <p:nvPr/>
        </p:nvSpPr>
        <p:spPr>
          <a:xfrm>
            <a:off x="219227" y="3547748"/>
            <a:ext cx="5785168" cy="645504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60" name="TextBox 37"/>
          <p:cNvSpPr txBox="1"/>
          <p:nvPr/>
        </p:nvSpPr>
        <p:spPr>
          <a:xfrm>
            <a:off x="377558" y="3596465"/>
            <a:ext cx="2070482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México (USMCA)</a:t>
            </a:r>
          </a:p>
        </p:txBody>
      </p:sp>
      <p:sp>
        <p:nvSpPr>
          <p:cNvPr id="1361" name="TextBox 38"/>
          <p:cNvSpPr txBox="1"/>
          <p:nvPr/>
        </p:nvSpPr>
        <p:spPr>
          <a:xfrm>
            <a:off x="2594190" y="3596465"/>
            <a:ext cx="1303186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0%</a:t>
            </a:r>
          </a:p>
        </p:txBody>
      </p:sp>
      <p:sp>
        <p:nvSpPr>
          <p:cNvPr id="1362" name="TextBox 39"/>
          <p:cNvSpPr txBox="1"/>
          <p:nvPr/>
        </p:nvSpPr>
        <p:spPr>
          <a:xfrm>
            <a:off x="377558" y="3840051"/>
            <a:ext cx="5492865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Único com proteção legal firme. Não foi afetado em nenhum momento. Tornou-se rota de transbordo estratégica.</a:t>
            </a:r>
          </a:p>
        </p:txBody>
      </p:sp>
      <p:sp>
        <p:nvSpPr>
          <p:cNvPr id="1363" name="Rectangle 40"/>
          <p:cNvSpPr/>
          <p:nvPr/>
        </p:nvSpPr>
        <p:spPr>
          <a:xfrm>
            <a:off x="219227" y="4193250"/>
            <a:ext cx="5785168" cy="6455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64" name="TextBox 41"/>
          <p:cNvSpPr txBox="1"/>
          <p:nvPr/>
        </p:nvSpPr>
        <p:spPr>
          <a:xfrm>
            <a:off x="377558" y="4241968"/>
            <a:ext cx="2070482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Colômbia (FTA 2012)</a:t>
            </a:r>
          </a:p>
        </p:txBody>
      </p:sp>
      <p:sp>
        <p:nvSpPr>
          <p:cNvPr id="1365" name="TextBox 42"/>
          <p:cNvSpPr txBox="1"/>
          <p:nvPr/>
        </p:nvSpPr>
        <p:spPr>
          <a:xfrm>
            <a:off x="2594190" y="4241968"/>
            <a:ext cx="1303186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0% → 10% (base)</a:t>
            </a:r>
          </a:p>
        </p:txBody>
      </p:sp>
      <p:sp>
        <p:nvSpPr>
          <p:cNvPr id="1366" name="TextBox 43"/>
          <p:cNvSpPr txBox="1"/>
          <p:nvPr/>
        </p:nvSpPr>
        <p:spPr>
          <a:xfrm>
            <a:off x="377558" y="4485554"/>
            <a:ext cx="54928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FTA funciona como backstop. Crise de jan/2025 resolvida em 24h. Origens colombianas ganharam atratividade vs. Brasil em ago–nov.</a:t>
            </a:r>
          </a:p>
        </p:txBody>
      </p:sp>
      <p:sp>
        <p:nvSpPr>
          <p:cNvPr id="1367" name="Rectangle 44"/>
          <p:cNvSpPr/>
          <p:nvPr/>
        </p:nvSpPr>
        <p:spPr>
          <a:xfrm>
            <a:off x="219227" y="4838753"/>
            <a:ext cx="5785168" cy="645504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68" name="TextBox 45"/>
          <p:cNvSpPr txBox="1"/>
          <p:nvPr/>
        </p:nvSpPr>
        <p:spPr>
          <a:xfrm>
            <a:off x="377558" y="4887471"/>
            <a:ext cx="2070482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Honduras / Guatemala (CAFTA-DR)</a:t>
            </a:r>
          </a:p>
        </p:txBody>
      </p:sp>
      <p:sp>
        <p:nvSpPr>
          <p:cNvPr id="1369" name="TextBox 46"/>
          <p:cNvSpPr txBox="1"/>
          <p:nvPr/>
        </p:nvSpPr>
        <p:spPr>
          <a:xfrm>
            <a:off x="2594190" y="4887471"/>
            <a:ext cx="1303186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0% → 10% (base)</a:t>
            </a:r>
          </a:p>
        </p:txBody>
      </p:sp>
      <p:sp>
        <p:nvSpPr>
          <p:cNvPr id="1370" name="TextBox 47"/>
          <p:cNvSpPr txBox="1"/>
          <p:nvPr/>
        </p:nvSpPr>
        <p:spPr>
          <a:xfrm>
            <a:off x="377558" y="5131057"/>
            <a:ext cx="54928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Nunca foram além dos 10% base. CAFTA oferece proteção estrutural. Cresceram em relevância durante a crise brasileira.</a:t>
            </a:r>
          </a:p>
        </p:txBody>
      </p:sp>
      <p:sp>
        <p:nvSpPr>
          <p:cNvPr id="1371" name="Rectangle 48"/>
          <p:cNvSpPr/>
          <p:nvPr/>
        </p:nvSpPr>
        <p:spPr>
          <a:xfrm>
            <a:off x="219227" y="5484256"/>
            <a:ext cx="5785168" cy="6455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72" name="TextBox 49"/>
          <p:cNvSpPr txBox="1"/>
          <p:nvPr/>
        </p:nvSpPr>
        <p:spPr>
          <a:xfrm>
            <a:off x="377558" y="5532974"/>
            <a:ext cx="2070482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Etiópia / Quênia (AGOA)</a:t>
            </a:r>
          </a:p>
        </p:txBody>
      </p:sp>
      <p:sp>
        <p:nvSpPr>
          <p:cNvPr id="1373" name="TextBox 50"/>
          <p:cNvSpPr txBox="1"/>
          <p:nvPr/>
        </p:nvSpPr>
        <p:spPr>
          <a:xfrm>
            <a:off x="2594190" y="5532974"/>
            <a:ext cx="1303186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0% (prorrogado)</a:t>
            </a:r>
          </a:p>
        </p:txBody>
      </p:sp>
      <p:sp>
        <p:nvSpPr>
          <p:cNvPr id="1374" name="TextBox 51"/>
          <p:cNvSpPr txBox="1"/>
          <p:nvPr/>
        </p:nvSpPr>
        <p:spPr>
          <a:xfrm>
            <a:off x="377558" y="5776560"/>
            <a:ext cx="5492865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AGOA estendido por 1 ano (fev/2026). Origens africanas ganharam market share de torra durante a crise Brasil ago–nov/2025.</a:t>
            </a:r>
          </a:p>
        </p:txBody>
      </p:sp>
      <p:sp>
        <p:nvSpPr>
          <p:cNvPr id="1375" name="Rectangle 52"/>
          <p:cNvSpPr/>
          <p:nvPr/>
        </p:nvSpPr>
        <p:spPr>
          <a:xfrm>
            <a:off x="6114008" y="3231086"/>
            <a:ext cx="48718" cy="2898674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76" name="Rectangle 53"/>
          <p:cNvSpPr/>
          <p:nvPr/>
        </p:nvSpPr>
        <p:spPr>
          <a:xfrm>
            <a:off x="6211443" y="3231086"/>
            <a:ext cx="5785168" cy="316661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54"/>
          <p:cNvSpPr txBox="1"/>
          <p:nvPr/>
        </p:nvSpPr>
        <p:spPr>
          <a:xfrm>
            <a:off x="6394132" y="3279803"/>
            <a:ext cx="5492865" cy="276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 </a:t>
            </a:r>
            <a:r>
              <a:t>FICARAM MENOS COMPETITIVOS (2025)</a:t>
            </a:r>
          </a:p>
        </p:txBody>
      </p:sp>
      <p:sp>
        <p:nvSpPr>
          <p:cNvPr id="1378" name="Rectangle 55"/>
          <p:cNvSpPr/>
          <p:nvPr/>
        </p:nvSpPr>
        <p:spPr>
          <a:xfrm>
            <a:off x="6211443" y="3547748"/>
            <a:ext cx="5785168" cy="852552"/>
          </a:xfrm>
          <a:prstGeom prst="rect">
            <a:avLst/>
          </a:prstGeom>
          <a:solidFill>
            <a:srgbClr val="FDE8E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79" name="TextBox 56"/>
          <p:cNvSpPr txBox="1"/>
          <p:nvPr/>
        </p:nvSpPr>
        <p:spPr>
          <a:xfrm>
            <a:off x="6369773" y="3596465"/>
            <a:ext cx="2070483" cy="26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C03020"/>
                </a:solidFill>
              </a:defRPr>
            </a:pPr>
            <a:r>
              <a:t>Brasil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⚠</a:t>
            </a:r>
          </a:p>
        </p:txBody>
      </p:sp>
      <p:sp>
        <p:nvSpPr>
          <p:cNvPr id="1380" name="TextBox 57"/>
          <p:cNvSpPr txBox="1"/>
          <p:nvPr/>
        </p:nvSpPr>
        <p:spPr>
          <a:xfrm>
            <a:off x="8586406" y="3596465"/>
            <a:ext cx="1096138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C03020"/>
                </a:solidFill>
              </a:defRPr>
            </a:lvl1pPr>
          </a:lstStyle>
          <a:p>
            <a:pPr/>
            <a:r>
              <a:t>0% → 50%* → 0%</a:t>
            </a:r>
          </a:p>
        </p:txBody>
      </p:sp>
      <p:sp>
        <p:nvSpPr>
          <p:cNvPr id="1381" name="TextBox 58"/>
          <p:cNvSpPr txBox="1"/>
          <p:nvPr/>
        </p:nvSpPr>
        <p:spPr>
          <a:xfrm>
            <a:off x="6369773" y="3888768"/>
            <a:ext cx="5492866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Maior produtor de arábica mundial. 50% de tarifa ago–nov/2025 foi disruptivo. Voltou a 0% por EO, mas sem proteção legal — pode ser re-atingido por razão política.</a:t>
            </a:r>
          </a:p>
        </p:txBody>
      </p:sp>
      <p:sp>
        <p:nvSpPr>
          <p:cNvPr id="1382" name="Rectangle 59"/>
          <p:cNvSpPr/>
          <p:nvPr/>
        </p:nvSpPr>
        <p:spPr>
          <a:xfrm>
            <a:off x="6211443" y="4400299"/>
            <a:ext cx="5785168" cy="85255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83" name="TextBox 60"/>
          <p:cNvSpPr txBox="1"/>
          <p:nvPr/>
        </p:nvSpPr>
        <p:spPr>
          <a:xfrm>
            <a:off x="6369773" y="4449016"/>
            <a:ext cx="2070483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3020"/>
                </a:solidFill>
              </a:defRPr>
            </a:lvl1pPr>
          </a:lstStyle>
          <a:p>
            <a:pPr/>
            <a:r>
              <a:t>Vietnam</a:t>
            </a:r>
          </a:p>
        </p:txBody>
      </p:sp>
      <p:sp>
        <p:nvSpPr>
          <p:cNvPr id="1384" name="TextBox 61"/>
          <p:cNvSpPr txBox="1"/>
          <p:nvPr/>
        </p:nvSpPr>
        <p:spPr>
          <a:xfrm>
            <a:off x="8586406" y="4449016"/>
            <a:ext cx="1096138" cy="258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C03020"/>
                </a:solidFill>
              </a:defRPr>
            </a:lvl1pPr>
          </a:lstStyle>
          <a:p>
            <a:pPr/>
            <a:r>
              <a:t>0% → 46% → 20%</a:t>
            </a:r>
          </a:p>
        </p:txBody>
      </p:sp>
      <p:sp>
        <p:nvSpPr>
          <p:cNvPr id="1385" name="TextBox 62"/>
          <p:cNvSpPr txBox="1"/>
          <p:nvPr/>
        </p:nvSpPr>
        <p:spPr>
          <a:xfrm>
            <a:off x="6369773" y="4741319"/>
            <a:ext cx="5492866" cy="375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Maior exportador de robusta. 46% tornou café invendível no US por meses. Agora a 20% + isenção verde. Cadeias de suprimento danificadas.</a:t>
            </a:r>
          </a:p>
        </p:txBody>
      </p:sp>
      <p:sp>
        <p:nvSpPr>
          <p:cNvPr id="1386" name="Rectangle 63"/>
          <p:cNvSpPr/>
          <p:nvPr/>
        </p:nvSpPr>
        <p:spPr>
          <a:xfrm>
            <a:off x="6211443" y="5252850"/>
            <a:ext cx="5785168" cy="852552"/>
          </a:xfrm>
          <a:prstGeom prst="rect">
            <a:avLst/>
          </a:prstGeom>
          <a:solidFill>
            <a:srgbClr val="FDE8E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87" name="TextBox 64"/>
          <p:cNvSpPr txBox="1"/>
          <p:nvPr/>
        </p:nvSpPr>
        <p:spPr>
          <a:xfrm>
            <a:off x="6369773" y="5301567"/>
            <a:ext cx="2070483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C03020"/>
                </a:solidFill>
              </a:defRPr>
            </a:lvl1pPr>
          </a:lstStyle>
          <a:p>
            <a:pPr/>
            <a:r>
              <a:t>Indonésia</a:t>
            </a:r>
          </a:p>
        </p:txBody>
      </p:sp>
      <p:sp>
        <p:nvSpPr>
          <p:cNvPr id="1388" name="TextBox 65"/>
          <p:cNvSpPr txBox="1"/>
          <p:nvPr/>
        </p:nvSpPr>
        <p:spPr>
          <a:xfrm>
            <a:off x="8586406" y="5301567"/>
            <a:ext cx="1096138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algn="ctr" defTabSz="609600">
              <a:defRPr b="1" sz="1000">
                <a:solidFill>
                  <a:srgbClr val="C03020"/>
                </a:solidFill>
              </a:defRPr>
            </a:lvl1pPr>
          </a:lstStyle>
          <a:p>
            <a:pPr/>
            <a:r>
              <a:t>0% → 32% → 0%</a:t>
            </a:r>
          </a:p>
        </p:txBody>
      </p:sp>
      <p:sp>
        <p:nvSpPr>
          <p:cNvPr id="1389" name="TextBox 66"/>
          <p:cNvSpPr txBox="1"/>
          <p:nvPr/>
        </p:nvSpPr>
        <p:spPr>
          <a:xfrm>
            <a:off x="6369773" y="5593870"/>
            <a:ext cx="5492866" cy="375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900">
                <a:solidFill>
                  <a:srgbClr val="2D2D2D"/>
                </a:solidFill>
              </a:defRPr>
            </a:lvl1pPr>
          </a:lstStyle>
          <a:p>
            <a:pPr/>
            <a:r>
              <a:t>Cafés especiais Sumatra/Sulawesi afetados. Pausado a 10%, agora isenção, mas incerteza continua. Menor exposição que Brasil/Vietnam.</a:t>
            </a:r>
          </a:p>
        </p:txBody>
      </p:sp>
      <p:sp>
        <p:nvSpPr>
          <p:cNvPr id="1390" name="Rectangle 67"/>
          <p:cNvSpPr/>
          <p:nvPr/>
        </p:nvSpPr>
        <p:spPr>
          <a:xfrm>
            <a:off x="219227" y="6215015"/>
            <a:ext cx="11753025" cy="243587"/>
          </a:xfrm>
          <a:prstGeom prst="rect">
            <a:avLst/>
          </a:prstGeom>
          <a:solidFill>
            <a:srgbClr val="EDF3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1" name="TextBox 68"/>
          <p:cNvSpPr txBox="1"/>
          <p:nvPr/>
        </p:nvSpPr>
        <p:spPr>
          <a:xfrm>
            <a:off x="365379" y="6227194"/>
            <a:ext cx="11326749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Fontes: USITC HTS Database · EO 14257 (Liberation Day, Apr 2025) · EO Annex II (Nov 2025 exemption) · USTR CAFTA-DR · AGOA Extension Act 2026 · Fresh Cup Magazine (Dec 2025)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Rectangle 1"/>
          <p:cNvSpPr/>
          <p:nvPr/>
        </p:nvSpPr>
        <p:spPr>
          <a:xfrm>
            <a:off x="-1" y="3571"/>
            <a:ext cx="12179302" cy="68508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4" name="Rectangle 2"/>
          <p:cNvSpPr/>
          <p:nvPr/>
        </p:nvSpPr>
        <p:spPr>
          <a:xfrm>
            <a:off x="-1" y="3571"/>
            <a:ext cx="12179302" cy="133972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5" name="Rectangle 3"/>
          <p:cNvSpPr/>
          <p:nvPr/>
        </p:nvSpPr>
        <p:spPr>
          <a:xfrm>
            <a:off x="-1" y="1343294"/>
            <a:ext cx="121794" cy="5170114"/>
          </a:xfrm>
          <a:prstGeom prst="rect">
            <a:avLst/>
          </a:prstGeom>
          <a:solidFill>
            <a:srgbClr val="18501C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6" name="Rectangle 4"/>
          <p:cNvSpPr/>
          <p:nvPr/>
        </p:nvSpPr>
        <p:spPr>
          <a:xfrm>
            <a:off x="-1" y="6513407"/>
            <a:ext cx="12179302" cy="34102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397" name="TextBox 5"/>
          <p:cNvSpPr txBox="1"/>
          <p:nvPr/>
        </p:nvSpPr>
        <p:spPr>
          <a:xfrm>
            <a:off x="426275" y="88826"/>
            <a:ext cx="11570336" cy="236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IMPLICAÇÕES ESTRATÉGICAS · ORFEU SINGLE ORIGIN · ENTRADA NO MERCADO EUA</a:t>
            </a:r>
          </a:p>
        </p:txBody>
      </p:sp>
      <p:sp>
        <p:nvSpPr>
          <p:cNvPr id="1398" name="TextBox 6"/>
          <p:cNvSpPr txBox="1"/>
          <p:nvPr/>
        </p:nvSpPr>
        <p:spPr>
          <a:xfrm>
            <a:off x="426275" y="344592"/>
            <a:ext cx="11570336" cy="42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Tarifas, Origem e Posicionamento — Riscos e Oportunidades para a Orfeu</a:t>
            </a:r>
          </a:p>
        </p:txBody>
      </p:sp>
      <p:sp>
        <p:nvSpPr>
          <p:cNvPr id="1399" name="TextBox 7"/>
          <p:cNvSpPr txBox="1"/>
          <p:nvPr/>
        </p:nvSpPr>
        <p:spPr>
          <a:xfrm>
            <a:off x="426275" y="1026633"/>
            <a:ext cx="11570336" cy="2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200">
                <a:solidFill>
                  <a:srgbClr val="CCE8CC"/>
                </a:solidFill>
              </a:defRPr>
            </a:lvl1pPr>
          </a:lstStyle>
          <a:p>
            <a:pPr/>
            <a:r>
              <a:t>O mercado americano de café premium está sob pressão de preços — o que representa ameaça e janela ao mesmo tempo</a:t>
            </a:r>
          </a:p>
        </p:txBody>
      </p:sp>
      <p:sp>
        <p:nvSpPr>
          <p:cNvPr id="1400" name="TextBox 8"/>
          <p:cNvSpPr txBox="1"/>
          <p:nvPr/>
        </p:nvSpPr>
        <p:spPr>
          <a:xfrm>
            <a:off x="426275" y="6525587"/>
            <a:ext cx="11448543" cy="23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Alquemia Consulting para Orfeu  ·  Documento Estratégico Interno  ·  2026</a:t>
            </a:r>
          </a:p>
        </p:txBody>
      </p:sp>
      <p:sp>
        <p:nvSpPr>
          <p:cNvPr id="1401" name="Rectangle 9"/>
          <p:cNvSpPr/>
          <p:nvPr/>
        </p:nvSpPr>
        <p:spPr>
          <a:xfrm>
            <a:off x="219227" y="1440729"/>
            <a:ext cx="3653791" cy="304483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02" name="TextBox 10"/>
          <p:cNvSpPr txBox="1"/>
          <p:nvPr/>
        </p:nvSpPr>
        <p:spPr>
          <a:xfrm>
            <a:off x="401916" y="1489446"/>
            <a:ext cx="3361488" cy="31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USD 9,14/lb</a:t>
            </a:r>
          </a:p>
        </p:txBody>
      </p:sp>
      <p:sp>
        <p:nvSpPr>
          <p:cNvPr id="1403" name="Rectangle 11"/>
          <p:cNvSpPr/>
          <p:nvPr/>
        </p:nvSpPr>
        <p:spPr>
          <a:xfrm>
            <a:off x="219227" y="1745211"/>
            <a:ext cx="3653791" cy="572428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04" name="TextBox 12"/>
          <p:cNvSpPr txBox="1"/>
          <p:nvPr/>
        </p:nvSpPr>
        <p:spPr>
          <a:xfrm>
            <a:off x="401916" y="1781749"/>
            <a:ext cx="3337130" cy="440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Preço recorde café moído (set/2025)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+21,7% YoY pós-tarifa brasileira</a:t>
            </a:r>
          </a:p>
        </p:txBody>
      </p:sp>
      <p:sp>
        <p:nvSpPr>
          <p:cNvPr id="1405" name="Rectangle 13"/>
          <p:cNvSpPr/>
          <p:nvPr/>
        </p:nvSpPr>
        <p:spPr>
          <a:xfrm>
            <a:off x="4116603" y="1440729"/>
            <a:ext cx="3653791" cy="304483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06" name="TextBox 14"/>
          <p:cNvSpPr txBox="1"/>
          <p:nvPr/>
        </p:nvSpPr>
        <p:spPr>
          <a:xfrm>
            <a:off x="4299292" y="1489446"/>
            <a:ext cx="3361488" cy="31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BRASIL = alvo político</a:t>
            </a:r>
          </a:p>
        </p:txBody>
      </p:sp>
      <p:sp>
        <p:nvSpPr>
          <p:cNvPr id="1407" name="Rectangle 15"/>
          <p:cNvSpPr/>
          <p:nvPr/>
        </p:nvSpPr>
        <p:spPr>
          <a:xfrm>
            <a:off x="4116603" y="1745211"/>
            <a:ext cx="3653791" cy="572428"/>
          </a:xfrm>
          <a:prstGeom prst="rect">
            <a:avLst/>
          </a:prstGeom>
          <a:solidFill>
            <a:srgbClr val="FDE8E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08" name="TextBox 16"/>
          <p:cNvSpPr txBox="1"/>
          <p:nvPr/>
        </p:nvSpPr>
        <p:spPr>
          <a:xfrm>
            <a:off x="4299292" y="1781749"/>
            <a:ext cx="3337130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Sem FTA com os EUA. Pode ser re-atingido por EO sem processo legislativo.</a:t>
            </a:r>
          </a:p>
        </p:txBody>
      </p:sp>
      <p:sp>
        <p:nvSpPr>
          <p:cNvPr id="1409" name="Rectangle 17"/>
          <p:cNvSpPr/>
          <p:nvPr/>
        </p:nvSpPr>
        <p:spPr>
          <a:xfrm>
            <a:off x="8013979" y="1440729"/>
            <a:ext cx="3653791" cy="304483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0" name="TextBox 18"/>
          <p:cNvSpPr txBox="1"/>
          <p:nvPr/>
        </p:nvSpPr>
        <p:spPr>
          <a:xfrm>
            <a:off x="8196668" y="1489446"/>
            <a:ext cx="3361488" cy="31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Isenção = frágil</a:t>
            </a:r>
          </a:p>
        </p:txBody>
      </p:sp>
      <p:sp>
        <p:nvSpPr>
          <p:cNvPr id="1411" name="Rectangle 19"/>
          <p:cNvSpPr/>
          <p:nvPr/>
        </p:nvSpPr>
        <p:spPr>
          <a:xfrm>
            <a:off x="8013979" y="1745211"/>
            <a:ext cx="3653791" cy="572428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2" name="TextBox 20"/>
          <p:cNvSpPr txBox="1"/>
          <p:nvPr/>
        </p:nvSpPr>
        <p:spPr>
          <a:xfrm>
            <a:off x="8196668" y="1781749"/>
            <a:ext cx="3337130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lvl1pPr>
          </a:lstStyle>
          <a:p>
            <a:pPr/>
            <a:r>
              <a:t>Nov/2025: café verde isento via EO. Um novo decreto reverte. Não é lei.</a:t>
            </a:r>
          </a:p>
        </p:txBody>
      </p:sp>
      <p:sp>
        <p:nvSpPr>
          <p:cNvPr id="1413" name="Rectangle 21"/>
          <p:cNvSpPr/>
          <p:nvPr/>
        </p:nvSpPr>
        <p:spPr>
          <a:xfrm>
            <a:off x="219227" y="2439431"/>
            <a:ext cx="11753025" cy="2436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4" name="Rectangle 22"/>
          <p:cNvSpPr/>
          <p:nvPr/>
        </p:nvSpPr>
        <p:spPr>
          <a:xfrm>
            <a:off x="219227" y="2536866"/>
            <a:ext cx="3653791" cy="341021"/>
          </a:xfrm>
          <a:prstGeom prst="rect">
            <a:avLst/>
          </a:prstGeom>
          <a:solidFill>
            <a:srgbClr val="C0302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5" name="TextBox 23"/>
          <p:cNvSpPr txBox="1"/>
          <p:nvPr/>
        </p:nvSpPr>
        <p:spPr>
          <a:xfrm>
            <a:off x="377558" y="2597762"/>
            <a:ext cx="3385846" cy="27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  </a:t>
            </a:r>
            <a:r>
              <a:t>RISCOS PARA A ORFEU</a:t>
            </a:r>
          </a:p>
        </p:txBody>
      </p:sp>
      <p:sp>
        <p:nvSpPr>
          <p:cNvPr id="1416" name="Rectangle 24"/>
          <p:cNvSpPr/>
          <p:nvPr/>
        </p:nvSpPr>
        <p:spPr>
          <a:xfrm>
            <a:off x="219227" y="2877886"/>
            <a:ext cx="3653791" cy="3190978"/>
          </a:xfrm>
          <a:prstGeom prst="rect">
            <a:avLst/>
          </a:prstGeom>
          <a:solidFill>
            <a:srgbClr val="FDE8E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7" name="TextBox 25"/>
          <p:cNvSpPr txBox="1"/>
          <p:nvPr/>
        </p:nvSpPr>
        <p:spPr>
          <a:xfrm>
            <a:off x="401917" y="2950962"/>
            <a:ext cx="3312770" cy="2599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3020"/>
                </a:solidFill>
              </a:defRPr>
            </a:pPr>
            <a:r>
              <a:t>1. Concentração em uma origem (Brasil)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Sem FTA, o Brasil pode ser re-atingido por EO a qualquer momento. 100% de dependência de um único país é o maior risco estrutural.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3020"/>
                </a:solidFill>
              </a:defRPr>
            </a:pPr>
            <a:r>
              <a:t>2. Café verde isento hoje — não amanhã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A isenção de nov/2025 é uma EO, não legislação. Uma crise diplomática Brasil-EUA (como a da Colômbia em jan) pode reverter em horas.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3020"/>
                </a:solidFill>
              </a:defRPr>
            </a:pPr>
            <a:r>
              <a:t>3. Volatilidade de custo → pricing instável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Durante ago–nov/2025, o café brasileiro no US subiu +33%. Para uma marca premium, instabilidade de preço compromete o posicionamento.</a:t>
            </a:r>
          </a:p>
        </p:txBody>
      </p:sp>
      <p:sp>
        <p:nvSpPr>
          <p:cNvPr id="1418" name="Rectangle 26"/>
          <p:cNvSpPr/>
          <p:nvPr/>
        </p:nvSpPr>
        <p:spPr>
          <a:xfrm>
            <a:off x="4116603" y="2536866"/>
            <a:ext cx="3653791" cy="34102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9" name="TextBox 27"/>
          <p:cNvSpPr txBox="1"/>
          <p:nvPr/>
        </p:nvSpPr>
        <p:spPr>
          <a:xfrm>
            <a:off x="4274934" y="2597762"/>
            <a:ext cx="3385846" cy="27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defRPr b="1"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OPORTUNIDADES ABERTAS</a:t>
            </a:r>
          </a:p>
        </p:txBody>
      </p:sp>
      <p:sp>
        <p:nvSpPr>
          <p:cNvPr id="1420" name="Rectangle 28"/>
          <p:cNvSpPr/>
          <p:nvPr/>
        </p:nvSpPr>
        <p:spPr>
          <a:xfrm>
            <a:off x="4116603" y="2877886"/>
            <a:ext cx="3653791" cy="3190978"/>
          </a:xfrm>
          <a:prstGeom prst="rect">
            <a:avLst/>
          </a:prstGeom>
          <a:solidFill>
            <a:srgbClr val="EDF7ED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1" name="TextBox 29"/>
          <p:cNvSpPr txBox="1"/>
          <p:nvPr/>
        </p:nvSpPr>
        <p:spPr>
          <a:xfrm>
            <a:off x="4299292" y="2950962"/>
            <a:ext cx="3312771" cy="2599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1. Mercado premium sob pressão = receptivo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O consumidor americano já pagou USD 9,14/lb. O teto de preço percebido subiu. A Orfeu entra em um mercado "treinado" para aceitar preços mais altos.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2. Robusta vietnamita fora do mercado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A tarifa de 46% sobre o Vietnam devastou o café comercial. O espaço de prateleira que era de blends baratos está migrando para arábica premium.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2A5C2E"/>
                </a:solidFill>
              </a:defRPr>
            </a:pPr>
            <a:r>
              <a:t>3. Origens africanas como hedge narrativo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Etiópia e Quênia têm proteção AGOA e cresceram durante a crise brasileira. Orfeu pode ancorar um 2º SKU em origem africana como hedge estratégico.</a:t>
            </a:r>
          </a:p>
        </p:txBody>
      </p:sp>
      <p:sp>
        <p:nvSpPr>
          <p:cNvPr id="1422" name="Rectangle 30"/>
          <p:cNvSpPr/>
          <p:nvPr/>
        </p:nvSpPr>
        <p:spPr>
          <a:xfrm>
            <a:off x="8013979" y="2536866"/>
            <a:ext cx="3653791" cy="34102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3" name="TextBox 31"/>
          <p:cNvSpPr txBox="1"/>
          <p:nvPr/>
        </p:nvSpPr>
        <p:spPr>
          <a:xfrm>
            <a:off x="8172310" y="2597762"/>
            <a:ext cx="3385846" cy="258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→  MOVIMENTOS PARA A ORFEU</a:t>
            </a:r>
          </a:p>
        </p:txBody>
      </p:sp>
      <p:sp>
        <p:nvSpPr>
          <p:cNvPr id="1424" name="Rectangle 32"/>
          <p:cNvSpPr/>
          <p:nvPr/>
        </p:nvSpPr>
        <p:spPr>
          <a:xfrm>
            <a:off x="8013979" y="2877886"/>
            <a:ext cx="3653791" cy="3190978"/>
          </a:xfrm>
          <a:prstGeom prst="rect">
            <a:avLst/>
          </a:prstGeom>
          <a:solidFill>
            <a:srgbClr val="FDF0E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5" name="TextBox 33"/>
          <p:cNvSpPr txBox="1"/>
          <p:nvPr/>
        </p:nvSpPr>
        <p:spPr>
          <a:xfrm>
            <a:off x="8196668" y="2950962"/>
            <a:ext cx="3312771" cy="2434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/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A. Lobbying e proteção contratual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Associar-se à NCA (National Coffee Association) como exportadora. Ter contratos de fornecimento com cláusula de force majeure em tarifa.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B. Pricing de entrada que absorve volatilidade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Lançar com margem que suporta +15% de custo. Comunicar ao consumidor: "preço reflete origem, não tarifa".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</a:p>
          <a:p>
            <a:pPr defTabSz="609600">
              <a:spcBef>
                <a:spcPts val="100"/>
              </a:spcBef>
              <a:defRPr b="1" sz="1200">
                <a:solidFill>
                  <a:srgbClr val="C07028"/>
                </a:solidFill>
              </a:defRPr>
            </a:pPr>
            <a:r>
              <a:t>C. 2º SKU como hedge: Colômbia ou Etiópia</a:t>
            </a:r>
          </a:p>
          <a:p>
            <a:pPr defTabSz="609600">
              <a:spcBef>
                <a:spcPts val="100"/>
              </a:spcBef>
              <a:defRPr sz="1000">
                <a:solidFill>
                  <a:srgbClr val="2D2D2D"/>
                </a:solidFill>
              </a:defRPr>
            </a:pPr>
            <a:r>
              <a:t>Lançar "Orfeu Seleção Etiópia" ou "Seleção Colômbia" simultaneamente. Ambos têm proteção legal mais robusta e diversificam o risco geopolítico.</a:t>
            </a:r>
          </a:p>
        </p:txBody>
      </p:sp>
      <p:sp>
        <p:nvSpPr>
          <p:cNvPr id="1426" name="Rectangle 34"/>
          <p:cNvSpPr/>
          <p:nvPr/>
        </p:nvSpPr>
        <p:spPr>
          <a:xfrm>
            <a:off x="219227" y="6154118"/>
            <a:ext cx="11753025" cy="304484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p:spPr>
        <p:txBody>
          <a:bodyPr lIns="60896" tIns="60896" rIns="60896" bIns="60896" anchor="ctr"/>
          <a:lstStyle/>
          <a:p>
            <a:pPr algn="ctr" defTabSz="6096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7" name="TextBox 35"/>
          <p:cNvSpPr txBox="1"/>
          <p:nvPr/>
        </p:nvSpPr>
        <p:spPr>
          <a:xfrm>
            <a:off x="401917" y="6190656"/>
            <a:ext cx="11204956" cy="42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896" tIns="60896" rIns="60896" bIns="60896">
            <a:spAutoFit/>
          </a:bodyPr>
          <a:lstStyle>
            <a:lvl1pPr defTabSz="609600">
              <a:defRPr i="1" sz="1000">
                <a:solidFill>
                  <a:srgbClr val="FFFFFF"/>
                </a:solidFill>
              </a:defRPr>
            </a:lvl1pPr>
          </a:lstStyle>
          <a:p>
            <a:pPr/>
            <a:r>
              <a:t>SÍNTESE: O caos tarifário de 2025 foi ruim para o Brasil no curto prazo e bom para o premium no longo. A Orfeu entra em um mercado com consumidores sensibilizados para preço alto, menor oferta de robusta barato e abertura para origens com narrativa. O risco é estrutural: Brasil sem FTA = alvo recorrente.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