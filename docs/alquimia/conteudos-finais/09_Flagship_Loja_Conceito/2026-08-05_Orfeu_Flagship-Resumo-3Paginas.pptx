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ORFEU FLAGSHIP STORE  ·  VISÃO E OBJETIVO — PRÓXIMOS 3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E4221"/>
                </a:solidFill>
                <a:latin typeface="Avenir Next LT Pro"/>
              </a:rPr>
              <a:t>Casa Orfeu: a personalidade urbana da marca,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E4221"/>
                </a:solidFill>
                <a:latin typeface="Avenir Next LT Pro"/>
              </a:rPr>
              <a:t>tornada tangível.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1353820" cy="29260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1E4221"/>
                </a:solidFill>
                <a:latin typeface="Avenir Next LT Pro"/>
              </a:rPr>
              <a:t>Destino de marca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9036" y="1719072"/>
            <a:ext cx="1036320" cy="29260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1E4221"/>
                </a:solidFill>
                <a:latin typeface="Avenir Next LT Pro"/>
              </a:rPr>
              <a:t>Hub cultural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3372" y="1719072"/>
            <a:ext cx="2128519" cy="29260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1E4221"/>
                </a:solidFill>
                <a:latin typeface="Avenir Next LT Pro"/>
              </a:rPr>
              <a:t>Prova de excelência brasileira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9908" y="1719072"/>
            <a:ext cx="1776095" cy="292608"/>
          </a:xfrm>
          <a:prstGeom prst="roundRect">
            <a:avLst>
              <a:gd name="adj" fmla="val 50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1E4221"/>
                </a:solidFill>
                <a:latin typeface="Avenir Next LT Pro"/>
              </a:rPr>
              <a:t>Laboratório de inovação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8229600" cy="129844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4864" cy="12984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0428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07028"/>
                </a:solidFill>
                <a:latin typeface="Avenir Next LT Pro"/>
              </a:rPr>
              <a:t>OBJETIVO — 3 ANOS  (2º SEMESTRE 2026 → 2028)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96896"/>
            <a:ext cx="7818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venir Next LT Pro"/>
              </a:rPr>
              <a:t>Abrir e consolidar o primeiro flagship Orfeu em São Paulo até o final de 2028, como prova viva do posicionamento da marca — uma casa que recebe, cria e transforma, com sucesso comprovado em marca, cultura e operação.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12463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C07028"/>
                </a:solidFill>
                <a:latin typeface="Avenir Next LT Pro"/>
              </a:rPr>
              <a:t>“</a:t>
            </a:r>
            <a:r>
              <a:rPr sz="1300" b="0" i="1">
                <a:solidFill>
                  <a:srgbClr val="1E4221"/>
                </a:solidFill>
                <a:latin typeface="Avenir Next LT Pro"/>
              </a:rPr>
              <a:t>Greco resolveu o conceito. Ginga resolveu a narrativa. A estratégia resolveu o modelo.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1">
                <a:solidFill>
                  <a:srgbClr val="C07028"/>
                </a:solidFill>
                <a:latin typeface="Avenir Next LT Pro"/>
              </a:rPr>
              <a:t>Falta decidir e agir.</a:t>
            </a:r>
            <a:r>
              <a:rPr sz="2200" b="1" i="1">
                <a:solidFill>
                  <a:srgbClr val="C07028"/>
                </a:solidFill>
                <a:latin typeface="Avenir Next LT Pro"/>
              </a:rPr>
              <a:t>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— síntese final do material Flagship Strategy (Alquemia × Greco × Ginga)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× Alquemia — Flagship Strategy, Resumo Executivo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LIÇÕES DO MATERIAL  ·  REFORÇANDO O QUE DISCUTIMOS (BOM · DIFÍCIL · DIFERENTE)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4221"/>
                </a:solidFill>
                <a:latin typeface="Avenir Next LT Pro"/>
              </a:rPr>
              <a:t>5 lições do material que confirmam nossa direção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371600"/>
            <a:ext cx="7699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venir Next LT Pro"/>
              </a:rPr>
              <a:t>Um flagship é prova de marca, não motor de receita.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645920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→ </a:t>
            </a:r>
            <a:r>
              <a:rPr sz="1000" b="0" i="1">
                <a:solidFill>
                  <a:srgbClr val="6E6E6E"/>
                </a:solidFill>
                <a:latin typeface="Avenir Next LT Pro"/>
              </a:rPr>
              <a:t>Reforça: construção de marca, brand lovers, virar estilo de vida, canal para comunicar.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97379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1979675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7967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933955"/>
            <a:ext cx="7699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venir Next LT Pro"/>
              </a:rPr>
              <a:t>Localização é sofisticação discreta — nem Faria Lima, nem alternativo demais.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208276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→ </a:t>
            </a:r>
            <a:r>
              <a:rPr sz="1000" b="0" i="1">
                <a:solidFill>
                  <a:srgbClr val="6E6E6E"/>
                </a:solidFill>
                <a:latin typeface="Avenir Next LT Pro"/>
              </a:rPr>
              <a:t>Reforça: diferenciação dos players atuais, fugir do padrão e das tendências óbvias.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59736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2542032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420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496312"/>
            <a:ext cx="7699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venir Next LT Pro"/>
              </a:rPr>
              <a:t>“Impecável, impecável, impecável” — e nunca virar restaurante.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770632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→ </a:t>
            </a:r>
            <a:r>
              <a:rPr sz="1000" b="0" i="1">
                <a:solidFill>
                  <a:srgbClr val="6E6E6E"/>
                </a:solidFill>
                <a:latin typeface="Avenir Next LT Pro"/>
              </a:rPr>
              <a:t>Reforça: dificuldade da operação de A&amp;B, ter alma sem perder o foco no café.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22092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104388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043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058668"/>
            <a:ext cx="7699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venir Next LT Pro"/>
              </a:rPr>
              <a:t>Casa Orfeu: receber, criar e transformar — hub de conteúdo, não só cafeteria.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332988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→ </a:t>
            </a:r>
            <a:r>
              <a:rPr sz="1000" b="0" i="1">
                <a:solidFill>
                  <a:srgbClr val="6E6E6E"/>
                </a:solidFill>
                <a:latin typeface="Avenir Next LT Pro"/>
              </a:rPr>
              <a:t>Reforça: comunidade, pertencimento, campanha de anfitrião, conteúdo para PR.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84448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3666744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66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621024"/>
            <a:ext cx="7699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venir Next LT Pro"/>
              </a:rPr>
              <a:t>ROI é de marca (5–20× o CapEx), não financeiro puro — payback tradicional pode nunca vir.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3895344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→ </a:t>
            </a:r>
            <a:r>
              <a:rPr sz="1000" b="0" i="1">
                <a:solidFill>
                  <a:srgbClr val="6E6E6E"/>
                </a:solidFill>
                <a:latin typeface="Avenir Next LT Pro"/>
              </a:rPr>
              <a:t>Reforça: sustentação do negócio, retorno sobre investimento, riscos e escolhas.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× Alquemia — Flagship Strategy, Resumo Executivo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MODELO DE CALENDÁRIO  ·  PRINCIPAIS PROJETOS ATÉ O LANÇAMENTO DO FLAGSHIP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4221"/>
                </a:solidFill>
                <a:latin typeface="Avenir Next LT Pro"/>
              </a:rPr>
              <a:t>Jornada de 3 anos: 2º semestre 2026 →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298448"/>
            <a:ext cx="2093976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1298448"/>
            <a:ext cx="20939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venir Next LT Pro"/>
              </a:rPr>
              <a:t>2º SEM. 2026 — FUNDAÇÃO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98448"/>
            <a:ext cx="2093976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98448"/>
            <a:ext cx="20939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venir Next LT Pro"/>
              </a:rPr>
              <a:t>2027 — CONSTRUÇÃO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298448"/>
            <a:ext cx="2093976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20939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venir Next LT Pro"/>
              </a:rPr>
              <a:t>2028 — LANÇAMENTO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18488"/>
            <a:ext cx="172821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65506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Localização &amp; Relevância 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952244"/>
            <a:ext cx="1600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7028"/>
                </a:solidFill>
                <a:latin typeface="Avenir Next LT Pro"/>
              </a:rPr>
              <a:t>CRÍTICO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618488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1664208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Shortlist de bairros + pesquisa imobiliária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18488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1664208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Fechar endereço + presença cultural local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18488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664208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Consolidar como referência do bairro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23236"/>
            <a:ext cx="172821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1598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Calendário de Ativações Orfeu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456992"/>
            <a:ext cx="1600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7028"/>
                </a:solidFill>
                <a:latin typeface="Avenir Next LT Pro"/>
              </a:rPr>
              <a:t>CRÍTICO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2123236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13432" y="216895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Piloto “flagship de 1 dia” (teste de conceito)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123236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216895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Desenhar calendário de lançamento + parceria editorial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123236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16895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Executar calendário cheio, medir recorrência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27985"/>
            <a:ext cx="172821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664561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Linha de Artigos Orfeu (casa &amp; cafés)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2961741"/>
            <a:ext cx="1600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7028"/>
                </a:solidFill>
                <a:latin typeface="Avenir Next LT Pro"/>
              </a:rPr>
              <a:t>CRÍTICO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2627985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2673705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Briefing de conceito (louças, microlotes, presentes)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2627985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2673705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Produzir 1ª coleção para a abertura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2627985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2673705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Expandir para e-commerce e outros canais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32734"/>
            <a:ext cx="1728216" cy="4754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16931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Desenvolvimento do Projeto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3466490"/>
            <a:ext cx="1600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6E6E6E"/>
                </a:solidFill>
                <a:latin typeface="Avenir Next LT Pro"/>
              </a:rPr>
              <a:t>CONSEQUÊNCIA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3132734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317845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Aprovação de budget/modelo + GM contratado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132734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317845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Arquitetura + construção do espaço (~500m²)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3132734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1112" y="317845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Scorecard de sucesso + modelo replicável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637483"/>
            <a:ext cx="1728216" cy="47548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3674059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Capacitação Alimentos &amp; Bebidas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3971239"/>
            <a:ext cx="1600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6E6E6E"/>
                </a:solidFill>
                <a:latin typeface="Avenir Next LT Pro"/>
              </a:rPr>
              <a:t>CONSEQUÊNCIA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80" y="3637483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683203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Mapear parceiros gastronômicos de referência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3637483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62272" y="3683203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Fechar parceiro + cardápio (sem virar restaurante)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637483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1112" y="3683203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Operação consolidada, KPIs estáveis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142232"/>
            <a:ext cx="1728216" cy="4754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41788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Fazenda como Lab. de Hospitalidade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4475988"/>
            <a:ext cx="1600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2A5C2E"/>
                </a:solidFill>
                <a:latin typeface="Avenir Next LT Pro"/>
              </a:rPr>
              <a:t>COMEÇAR JÁ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0280" y="4142232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13432" y="4187952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Iniciar imersão da equipe na Fazenda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142232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62272" y="4187952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Formar primeiros baristas-embaixadores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60" y="4142232"/>
            <a:ext cx="20939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11112" y="4187952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Programa maduro, treina toda a rede Orfeu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6652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Fim do ano 3: </a:t>
            </a:r>
            <a:r>
              <a:rPr sz="950" b="0" i="1">
                <a:solidFill>
                  <a:srgbClr val="1E4221"/>
                </a:solidFill>
                <a:latin typeface="Avenir Next LT Pro"/>
              </a:rPr>
              <a:t>Flagship SP lançado e com sucesso comprovado — prontos para decidir os próximos passos (2º ponto Brasil / EUA).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