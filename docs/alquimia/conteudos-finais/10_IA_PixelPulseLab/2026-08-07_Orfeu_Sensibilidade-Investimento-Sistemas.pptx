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PROPOSTA PIXELPULSELAB · SISTEMAS (ORDER-TO-DELIVERY)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 i="0">
                <a:solidFill>
                  <a:srgbClr val="1E4221"/>
                </a:solidFill>
                <a:latin typeface="Avenir Next LT Pro"/>
              </a:rPr>
              <a:t>Como o investimento de R$ 960k–1.040k está distribuído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E6E6E"/>
                </a:solidFill>
                <a:latin typeface="Avenir Next LT Pro"/>
              </a:rPr>
              <a:t>Squad dedicado, 8 meses · base da análise: ponto médio de R$ 1.000.000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9776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5C2E"/>
                </a:solidFill>
                <a:latin typeface="Avenir Next LT Pro"/>
              </a:rPr>
              <a:t>POR MEIOS — squad alocado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Dev back-end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947672"/>
            <a:ext cx="1874519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1947672"/>
            <a:ext cx="684199" cy="155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920240"/>
            <a:ext cx="548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E6E6E"/>
                </a:solidFill>
                <a:latin typeface="Avenir Next LT Pro"/>
              </a:rPr>
              <a:t>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Dev full-stack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267712"/>
            <a:ext cx="1874519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267712"/>
            <a:ext cx="537987" cy="155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240280"/>
            <a:ext cx="548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E6E6E"/>
                </a:solidFill>
                <a:latin typeface="Avenir Next LT Pro"/>
              </a:rPr>
              <a:t>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Tech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587752"/>
            <a:ext cx="1874519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587752"/>
            <a:ext cx="243687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2560320"/>
            <a:ext cx="548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E6E6E"/>
                </a:solidFill>
                <a:latin typeface="Avenir Next LT Pro"/>
              </a:rPr>
              <a:t>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IA / agentes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907792"/>
            <a:ext cx="1874519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2907792"/>
            <a:ext cx="204322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2880360"/>
            <a:ext cx="548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E6E6E"/>
                </a:solidFill>
                <a:latin typeface="Avenir Next LT Pro"/>
              </a:rPr>
              <a:t>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3227832"/>
            <a:ext cx="1874519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240" y="3227832"/>
            <a:ext cx="204322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3200400"/>
            <a:ext cx="5486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E6E6E"/>
                </a:solidFill>
                <a:latin typeface="Avenir Next LT Pro"/>
              </a:rPr>
              <a:t>11%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1600200"/>
            <a:ext cx="39776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5C2E"/>
                </a:solidFill>
                <a:latin typeface="Avenir Next LT Pro"/>
              </a:rPr>
              <a:t>POR CANAL/ÁREA — 10 quick wins mapeados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92024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Comercial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94767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947672"/>
            <a:ext cx="1508760" cy="155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8" y="192024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3 QW · Receita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24028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Financeiro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26771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267712"/>
            <a:ext cx="1005839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8" y="224028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2 QW · QLP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56032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Logística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58775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2587752"/>
            <a:ext cx="1005839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4968" y="256032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2 QW · QLP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88036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Jurídico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90779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2907792"/>
            <a:ext cx="502919" cy="1554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4968" y="288036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1 QW · QLP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320040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Backoffice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22783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3227832"/>
            <a:ext cx="502919" cy="155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4968" y="320040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1 QW · Receita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352044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Pós-venda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3547872"/>
            <a:ext cx="1508760" cy="155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3547872"/>
            <a:ext cx="502919" cy="155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44968" y="352044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E6E6E"/>
                </a:solidFill>
                <a:latin typeface="Avenir Next LT Pro"/>
              </a:rPr>
              <a:t>1 QW · Receita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42900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Legenda: </a:t>
            </a:r>
            <a:r>
              <a:rPr sz="850" b="1" i="0">
                <a:solidFill>
                  <a:srgbClr val="C07028"/>
                </a:solidFill>
                <a:latin typeface="Avenir Next LT Pro"/>
              </a:rPr>
              <a:t>laranja = lente Receita</a:t>
            </a:r>
            <a:r>
              <a:rPr sz="850" b="0" i="0">
                <a:solidFill>
                  <a:srgbClr val="6E6E6E"/>
                </a:solidFill>
                <a:latin typeface="Avenir Next LT Pro"/>
              </a:rPr>
              <a:t>   ·   </a:t>
            </a:r>
            <a:r>
              <a:rPr sz="850" b="1" i="0">
                <a:solidFill>
                  <a:srgbClr val="2A5C2E"/>
                </a:solidFill>
                <a:latin typeface="Avenir Next LT Pro"/>
              </a:rPr>
              <a:t>verde = lente QLP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3749039"/>
            <a:ext cx="54864" cy="10058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3840480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E4221"/>
                </a:solidFill>
                <a:latin typeface="Avenir Next LT Pro"/>
              </a:rPr>
              <a:t>INVESTIMENTO POR LENTE DE BENEFÍCIO (área-específico + parcela de infraestrutura compartilhada)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1330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07028"/>
                </a:solidFill>
                <a:latin typeface="Avenir Next LT Pro"/>
              </a:rPr>
              <a:t>Lente Receita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R$ 500.000  (Comercial + Backoffice + Pós-venda)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133087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2A5C2E"/>
                </a:solidFill>
                <a:latin typeface="Avenir Next LT Pro"/>
              </a:rPr>
              <a:t>Lente QLP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R$ 500.000  (Financeiro + Logística + Jurídico)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Análise de Sensibilidade · Proposta PixelPulseLab (Sistemas)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SENSIBILIDADE · CENÁRIO RECEITA — margem de contribuição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 i="0">
                <a:solidFill>
                  <a:srgbClr val="1E4221"/>
                </a:solidFill>
                <a:latin typeface="Avenir Next LT Pro"/>
              </a:rPr>
              <a:t>Quanto de aumento de receita paga o investimento?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Lente Receita: R$ 500.000 · drivers = Comercial (lead/proposta), Backoffice (ruptura), Pós-venda (recompra)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4864" cy="777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BREAKEVEN EM 12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4221"/>
                </a:solidFill>
                <a:latin typeface="Avenir Next LT Pro"/>
              </a:rPr>
              <a:t>0,98% de aumento na receita 2026 (R$ 170M) </a:t>
            </a:r>
            <a:r>
              <a:rPr sz="1100" b="0" i="0">
                <a:solidFill>
                  <a:srgbClr val="1A1A1A"/>
                </a:solidFill>
                <a:latin typeface="Avenir Next LT Pro"/>
              </a:rPr>
              <a:t>≈ R$ 1.666.667 de receita incremental/ano paga o investimento em 1 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210312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% aumento receita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487168"/>
            <a:ext cx="224028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48716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Receita incremental/ano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487168"/>
            <a:ext cx="224028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248716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Benefício anual (30%)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487168"/>
            <a:ext cx="731519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48716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Payback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61488"/>
            <a:ext cx="2103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761488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0.5%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761488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76148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R$ 850.000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761488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276148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R$ 255.000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761488"/>
            <a:ext cx="73151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276148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23,5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35808"/>
            <a:ext cx="210312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35808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1.0%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035808"/>
            <a:ext cx="224028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303580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R$ 1.700.000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3035808"/>
            <a:ext cx="224028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303580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R$ 510.000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035808"/>
            <a:ext cx="731519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5512" y="303580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11,8 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10127"/>
            <a:ext cx="2103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310127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1.5%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3310127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632" y="3310127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R$ 2.550.000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3310127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3310127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R$ 765.000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310127"/>
            <a:ext cx="73151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25512" y="3310127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7,8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584447"/>
            <a:ext cx="210312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584447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2.0%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3584447"/>
            <a:ext cx="224028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0632" y="3584447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R$ 3.400.000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584447"/>
            <a:ext cx="224028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584447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R$ 1.020.000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3584447"/>
            <a:ext cx="731519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25512" y="3584447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5,9 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858768"/>
            <a:ext cx="2103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858768"/>
            <a:ext cx="20025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3.0%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3858768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70632" y="385876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R$ 5.100.000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3858768"/>
            <a:ext cx="22402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48072" y="3858768"/>
            <a:ext cx="2139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R$ 1.530.000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60" y="3858768"/>
            <a:ext cx="73151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5512" y="3858768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3,9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270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Leitura: mesmo o cenário mais conservador (0,5% de receita incremental) paga o investimento em menos de 2 anos; a partir de 1% o payback fica abaixo de 1 ano.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Análise de Sensibilidade · Proposta PixelPulseLab (Sistemas)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SENSIBILIDADE · CENÁRIO QLP — R$ 15k/pessoa/mês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 i="0">
                <a:solidFill>
                  <a:srgbClr val="1E4221"/>
                </a:solidFill>
                <a:latin typeface="Avenir Next LT Pro"/>
              </a:rPr>
              <a:t>Quanto de economia de QLP paga o investimento?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Lente QLP: R$ 500.000 · drivers = Financeiro (faturamento/crédito), Logística (separação/tracking), Jurídico (contrato)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4864" cy="7772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BREAKEVEN EM 12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4221"/>
                </a:solidFill>
                <a:latin typeface="Avenir Next LT Pro"/>
              </a:rPr>
              <a:t>2,78 pessoas </a:t>
            </a:r>
            <a:r>
              <a:rPr sz="1100" b="0" i="0">
                <a:solidFill>
                  <a:srgbClr val="1A1A1A"/>
                </a:solidFill>
                <a:latin typeface="Avenir Next LT Pro"/>
              </a:rPr>
              <a:t>de trabalho manual eliminado/redirecionado (R$ 15k/pessoa/mês) paga o investimento em 1 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2560320" cy="24688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FTEs eliminados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487168"/>
            <a:ext cx="2560320" cy="24688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487168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Economia 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487168"/>
            <a:ext cx="2377440" cy="24688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2487168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Payback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34056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734056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1,0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734056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2112" y="2734056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R$ 180.000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734056"/>
            <a:ext cx="237744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2734056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33,3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80944"/>
            <a:ext cx="256032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980944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2,0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980944"/>
            <a:ext cx="256032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2980944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R$ 360.000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980944"/>
            <a:ext cx="237744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2980944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16,7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27832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227832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2,78 (breakeven)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27832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2" y="3227832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R$ 500.000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227832"/>
            <a:ext cx="237744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2" y="3227832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12,0 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74720"/>
            <a:ext cx="256032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474720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4,0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474720"/>
            <a:ext cx="256032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3474720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R$ 720.000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474720"/>
            <a:ext cx="2377440" cy="2468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3872" y="3474720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8,3 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721608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3721608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5,0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721608"/>
            <a:ext cx="25603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82112" y="3721608"/>
            <a:ext cx="2459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R$ 900.000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721608"/>
            <a:ext cx="237744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3872" y="3721608"/>
            <a:ext cx="227685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6,7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059935"/>
            <a:ext cx="8229600" cy="73152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059935"/>
            <a:ext cx="54864" cy="7315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133087"/>
            <a:ext cx="7863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RECOMENDAÇÃO — LEITURA COMBINADA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343399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Os 10 quick wins ativam as duas lentes ao mesmo tempo (5 Receita + 5 QLP). Num cenário realista de 1% de receita + 2 FTEs, o payback do programa completo (R$ 1M) cai para ~13,8 meses — próximo de 1 ano mesmo sem depender de uma lente isolada no limite.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Análise de Sensibilidade · Proposta PixelPulseLab (Sistemas)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