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feu_pattern_nologo_s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84048"/>
          </a:xfrm>
          <a:prstGeom prst="rect">
            <a:avLst/>
          </a:prstGeom>
        </p:spPr>
      </p:pic>
      <p:pic>
        <p:nvPicPr>
          <p:cNvPr id="3" name="Picture 2" descr="orfeu_icon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45720"/>
            <a:ext cx="43030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C07028"/>
                </a:solidFill>
                <a:latin typeface="Avenir Next LT Pro"/>
              </a:rPr>
              <a:t>PROPOSTA PIXELPULSELAB · BENCHMARK DE RATES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 i="0">
                <a:solidFill>
                  <a:srgbClr val="1E4221"/>
                </a:solidFill>
                <a:latin typeface="Avenir Next LT Pro"/>
              </a:rPr>
              <a:t>PixelPulseLab vs. mercado vs. contratação direta (CLT)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6E6E6E"/>
                </a:solidFill>
                <a:latin typeface="Avenir Next LT Pro"/>
              </a:rPr>
              <a:t>R$/hora por papel · CLT com encargos calculado a ×1,8 sobre salário bruto (INSS + FGTS + 13º + férias + rescisão)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752344" cy="310896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54480"/>
            <a:ext cx="264261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venir Next LT Pro"/>
              </a:rPr>
              <a:t>Papel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554480"/>
            <a:ext cx="1975104" cy="310896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1554480"/>
            <a:ext cx="18653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venir Next LT Pro"/>
              </a:rPr>
              <a:t>PixelPulseLab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57800" y="1554480"/>
            <a:ext cx="1975104" cy="310896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30952" y="1554480"/>
            <a:ext cx="18653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venir Next LT Pro"/>
              </a:rPr>
              <a:t>CLT + encargos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69480" y="1554480"/>
            <a:ext cx="1380744" cy="310896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42631" y="1554480"/>
            <a:ext cx="12710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venir Next LT Pro"/>
              </a:rPr>
              <a:t>Freelance/boutique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865376"/>
            <a:ext cx="2752344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1865376"/>
            <a:ext cx="2642615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Avenir Next LT Pro"/>
              </a:rPr>
              <a:t>Tech Lead / Arquiteto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1865376"/>
            <a:ext cx="1975104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9272" y="1865376"/>
            <a:ext cx="1865376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R$ 300–450/h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57800" y="1865376"/>
            <a:ext cx="1975104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30952" y="1865376"/>
            <a:ext cx="1865376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R$ 166–278/h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9480" y="1865376"/>
            <a:ext cx="1380744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42631" y="1865376"/>
            <a:ext cx="1271016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n/d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185416"/>
            <a:ext cx="2752344" cy="32004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2185416"/>
            <a:ext cx="2642615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Avenir Next LT Pro"/>
              </a:rPr>
              <a:t>Dev sênior back-end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2185416"/>
            <a:ext cx="1975104" cy="32004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19272" y="2185416"/>
            <a:ext cx="1865376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R$ 220–380/h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57800" y="2185416"/>
            <a:ext cx="1975104" cy="32004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30952" y="2185416"/>
            <a:ext cx="1865376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R$ 133–224/h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69480" y="2185416"/>
            <a:ext cx="1380744" cy="32004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42631" y="2185416"/>
            <a:ext cx="1271016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R$ 100–200/h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505456"/>
            <a:ext cx="2752344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2505456"/>
            <a:ext cx="2642615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Avenir Next LT Pro"/>
              </a:rPr>
              <a:t>Dev pleno full-stack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46120" y="2505456"/>
            <a:ext cx="1975104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19272" y="2505456"/>
            <a:ext cx="1865376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R$ 150–240/h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57800" y="2505456"/>
            <a:ext cx="1975104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30952" y="2505456"/>
            <a:ext cx="1865376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R$ 102–171/h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69480" y="2505456"/>
            <a:ext cx="1380744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42631" y="2505456"/>
            <a:ext cx="1271016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R$ 100–200/h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825496"/>
            <a:ext cx="2752344" cy="32004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2825496"/>
            <a:ext cx="2642615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Avenir Next LT Pro"/>
              </a:rPr>
              <a:t>Especialista IA/agentes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46120" y="2825496"/>
            <a:ext cx="1975104" cy="32004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19272" y="2825496"/>
            <a:ext cx="1865376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R$ 350–600/h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57800" y="2825496"/>
            <a:ext cx="1975104" cy="32004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30952" y="2825496"/>
            <a:ext cx="1865376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R$ 209–408/h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69480" y="2825496"/>
            <a:ext cx="1380744" cy="32004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42631" y="2825496"/>
            <a:ext cx="1271016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até R$ 1.500/h *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145536"/>
            <a:ext cx="2752344" cy="320040"/>
          </a:xfrm>
          <a:prstGeom prst="rect">
            <a:avLst/>
          </a:prstGeom>
          <a:solidFill>
            <a:srgbClr val="FB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0352" y="3145536"/>
            <a:ext cx="2642615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Avenir Next LT Pro"/>
              </a:rPr>
              <a:t>QA / automação de testes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46120" y="3145536"/>
            <a:ext cx="1975104" cy="320040"/>
          </a:xfrm>
          <a:prstGeom prst="rect">
            <a:avLst/>
          </a:prstGeom>
          <a:solidFill>
            <a:srgbClr val="FB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19272" y="3145536"/>
            <a:ext cx="1865376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B03020"/>
                </a:solidFill>
                <a:latin typeface="Avenir Next LT Pro"/>
              </a:rPr>
              <a:t>R$ 160–300/h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57800" y="3145536"/>
            <a:ext cx="1975104" cy="320040"/>
          </a:xfrm>
          <a:prstGeom prst="rect">
            <a:avLst/>
          </a:prstGeom>
          <a:solidFill>
            <a:srgbClr val="FB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30952" y="3145536"/>
            <a:ext cx="1865376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B03020"/>
                </a:solidFill>
                <a:latin typeface="Avenir Next LT Pro"/>
              </a:rPr>
              <a:t>não encontrado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69480" y="3145536"/>
            <a:ext cx="1380744" cy="320040"/>
          </a:xfrm>
          <a:prstGeom prst="rect">
            <a:avLst/>
          </a:prstGeom>
          <a:solidFill>
            <a:srgbClr val="FB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42631" y="3145536"/>
            <a:ext cx="1271016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B03020"/>
                </a:solidFill>
                <a:latin typeface="Avenir Next LT Pro"/>
              </a:rPr>
              <a:t>não encontrado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35387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 i="1">
                <a:solidFill>
                  <a:srgbClr val="6E6E6E"/>
                </a:solidFill>
                <a:latin typeface="Avenir Next LT Pro"/>
              </a:rPr>
              <a:t>* Referência de consultoria de IA sênior no Brasil — escopo ambíguo. Vermelho = dado não encontrado em fontes de mercado, não estimado.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3941064"/>
            <a:ext cx="8229600" cy="713232"/>
          </a:xfrm>
          <a:prstGeom prst="rect">
            <a:avLst/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7200" y="3941064"/>
            <a:ext cx="54864" cy="713232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8" y="4014216"/>
            <a:ext cx="7863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2A5C2E"/>
                </a:solidFill>
                <a:latin typeface="Avenir Next LT Pro"/>
              </a:rPr>
              <a:t>LEITURA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4224528"/>
            <a:ext cx="7863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PixelPulseLab cobra, em média, 1,4x–1,8x o custo-hora totalmente carregado de contratar o papel equivalente via CLT — mas fica abaixo do teto de consultoria especializada de IA no mercado.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491947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Orfeu — Comparador de Rates · PixelPulseLab vs. Mercado vs. CLT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55279" y="4919472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1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feu_pattern_nologo_s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84048"/>
          </a:xfrm>
          <a:prstGeom prst="rect">
            <a:avLst/>
          </a:prstGeom>
        </p:spPr>
      </p:pic>
      <p:pic>
        <p:nvPicPr>
          <p:cNvPr id="3" name="Picture 2" descr="orfeu_icon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45720"/>
            <a:ext cx="43030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C07028"/>
                </a:solidFill>
                <a:latin typeface="Avenir Next LT Pro"/>
              </a:rPr>
              <a:t>MESMO PROJETO (3.680H) · CUSTO SOB CADA CENÁRIO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 i="0">
                <a:solidFill>
                  <a:srgbClr val="1E4221"/>
                </a:solidFill>
                <a:latin typeface="Avenir Next LT Pro"/>
              </a:rPr>
              <a:t>O mesmo projeto custaria quanto em cada cenário?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6E6E6E"/>
                </a:solidFill>
                <a:latin typeface="Avenir Next LT Pro"/>
              </a:rPr>
              <a:t>3.680h totais (8 meses) · CLT equivalente exclui QA (400h, 10,9% das horas — sem dado de mercado)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Avenir Next LT Pro"/>
              </a:rPr>
              <a:t>PixelPulseLab (contratado)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618488"/>
            <a:ext cx="3474720" cy="27432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618488"/>
            <a:ext cx="3474720" cy="274320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0" y="1600200"/>
            <a:ext cx="1600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C07028"/>
                </a:solidFill>
                <a:latin typeface="Avenir Next LT Pro"/>
              </a:rPr>
              <a:t>R$ 960.000 – R$ 1.040.000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03120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Avenir Next LT Pro"/>
              </a:rPr>
              <a:t>CLT equivalente (parcial, excl. QA)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2121408"/>
            <a:ext cx="3474720" cy="27432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2121408"/>
            <a:ext cx="2606040" cy="27432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2103120"/>
            <a:ext cx="1600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2A5C2E"/>
                </a:solidFill>
                <a:latin typeface="Avenir Next LT Pro"/>
              </a:rPr>
              <a:t>R$ 450.000 – R$ 778.000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51759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1">
                <a:solidFill>
                  <a:srgbClr val="6E6E6E"/>
                </a:solidFill>
                <a:latin typeface="Avenir Next LT Pro"/>
              </a:rPr>
              <a:t>QA (400h): PixelPulseLab R$ 64.000–120.000 · CLT não encontrado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08959"/>
            <a:ext cx="8229600" cy="169164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108959"/>
            <a:ext cx="54864" cy="1691640"/>
          </a:xfrm>
          <a:prstGeom prst="rect">
            <a:avLst/>
          </a:prstGeom>
          <a:solidFill>
            <a:srgbClr val="1E4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236975"/>
            <a:ext cx="7863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1E4221"/>
                </a:solidFill>
                <a:latin typeface="Avenir Next LT Pro"/>
              </a:rPr>
              <a:t>O QUE ISSO SIGNIFICA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493007"/>
            <a:ext cx="7863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50" b="0" i="0">
                <a:solidFill>
                  <a:srgbClr val="1A1A1A"/>
                </a:solidFill>
                <a:latin typeface="Avenir Next LT Pro"/>
              </a:rPr>
              <a:t>O valor cobrado pela PixelPulseLab fica acima da soma dos custos CLT+encargos — isso é esperado. O custo CLT não inclui recrutamento, tempo de ramp-up, risco de rotatividade, gestão de pessoas, nem o compromisso de manter esse headcount depois que o projeto de 8 meses terminar.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50" b="0" i="0">
                <a:solidFill>
                  <a:srgbClr val="1A1A1A"/>
                </a:solidFill>
                <a:latin typeface="Avenir Next LT Pro"/>
              </a:rPr>
              <a:t>A decisão não é 'mais barato vs. mais caro' isolado — é </a:t>
            </a:r>
            <a:r>
              <a:rPr sz="950" b="1" i="0">
                <a:solidFill>
                  <a:srgbClr val="C07028"/>
                </a:solidFill>
                <a:latin typeface="Avenir Next LT Pro"/>
              </a:rPr>
              <a:t>capacidade temporária e pronta (PixelPulseLab)</a:t>
            </a:r>
            <a:r>
              <a:rPr sz="950" b="0" i="0">
                <a:solidFill>
                  <a:srgbClr val="1A1A1A"/>
                </a:solidFill>
                <a:latin typeface="Avenir Next LT Pro"/>
              </a:rPr>
              <a:t> vs. </a:t>
            </a:r>
            <a:r>
              <a:rPr sz="950" b="1" i="0">
                <a:solidFill>
                  <a:srgbClr val="2A5C2E"/>
                </a:solidFill>
                <a:latin typeface="Avenir Next LT Pro"/>
              </a:rPr>
              <a:t>capacidade permanente, mais barata por hora, mas com custo e tempo de montagem (contratação direta)</a:t>
            </a:r>
            <a:r>
              <a:rPr sz="950" b="0" i="0">
                <a:solidFill>
                  <a:srgbClr val="1A1A1A"/>
                </a:solidFill>
                <a:latin typeface="Avenir Next LT Pro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1947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Orfeu — Comparador de Rates · PixelPulseLab vs. Mercado vs. CLT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919472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