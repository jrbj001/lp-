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PROPOSTA PIXELPULSELAB · PARA DISCUSSÃO NO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E4221"/>
                </a:solidFill>
                <a:latin typeface="Avenir Next LT Pro"/>
              </a:rPr>
              <a:t>O frame proposto — o que já sabemos e o que precisa de 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E6E6E"/>
                </a:solidFill>
                <a:latin typeface="Avenir Next LT Pro"/>
              </a:rPr>
              <a:t>Order-to-Delivery → Adaptive Layer™ → LLM/Agentes  ·  R$ 960k–1.040k  ·  8 meses  ·  10 quick wins, 6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5C2E"/>
                </a:solidFill>
                <a:latin typeface="Avenir Next LT Pro"/>
              </a:rPr>
              <a:t>ACHADOS-CHAVE DA PRÓPRIA PROPOSTA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856231"/>
            <a:ext cx="64008" cy="6400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1051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O problema central não é falta de sistemas — são as 10 passagens manuais entre eles, mapeadas nas 9 etapas do pedido (lead → recompra).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276856"/>
            <a:ext cx="64008" cy="6400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31136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Cada quick win alimenta o mesmo Adaptive Layer™; o LLM só entra depois do fluxo estar limpo e estável (Gate M4).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697479"/>
            <a:ext cx="64008" cy="64008"/>
          </a:xfrm>
          <a:prstGeom prst="ellipse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5176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venir Next LT Pro"/>
              </a:rPr>
              <a:t>O piloto que a própria PixelPulseLab escolheu (M1) já aponta os 3 maiores atritos hoje: proposta/pricing, ruptura de estoque e faturamento.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18103"/>
            <a:ext cx="8229600" cy="169164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18103"/>
            <a:ext cx="54864" cy="169164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7863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GAPS — PERGUNTAS PARA O WORKSHOP RESOLVER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529584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•  </a:t>
            </a:r>
            <a:r>
              <a:rPr sz="1000" b="0" i="0">
                <a:solidFill>
                  <a:srgbClr val="1A1A1A"/>
                </a:solidFill>
                <a:latin typeface="Avenir Next LT Pro"/>
              </a:rPr>
              <a:t>Os 10 quick wins de uma vez, em 8 meses, é o ritmo certo para o time Orfeu absorver — ou fica melhor em duas rodadas?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49624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•  </a:t>
            </a:r>
            <a:r>
              <a:rPr sz="1000" b="0" i="0">
                <a:solidFill>
                  <a:srgbClr val="1A1A1A"/>
                </a:solidFill>
                <a:latin typeface="Avenir Next LT Pro"/>
              </a:rPr>
              <a:t>Faz sentido investir em LLM/Command Center (14% do orçamento) antes do fluxo core estar estável em produção?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169663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•  </a:t>
            </a:r>
            <a:r>
              <a:rPr sz="1000" b="0" i="0">
                <a:solidFill>
                  <a:srgbClr val="1A1A1A"/>
                </a:solidFill>
                <a:latin typeface="Avenir Next LT Pro"/>
              </a:rPr>
              <a:t>Qual sequência reduz risco, mostra valor mais rápido para o board e não trava a operação atual?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89703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C07028"/>
                </a:solidFill>
                <a:latin typeface="Avenir Next LT Pro"/>
              </a:rPr>
              <a:t>•  </a:t>
            </a:r>
            <a:r>
              <a:rPr sz="1000" b="0" i="0">
                <a:solidFill>
                  <a:srgbClr val="1A1A1A"/>
                </a:solidFill>
                <a:latin typeface="Avenir Next LT Pro"/>
              </a:rPr>
              <a:t>Quais áreas (Comercial, Financeiro, Logística, Jurídico) têm disponibilidade real para homologar no mesmo ciclo?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Workshop de Priorização · Proposta PixelPulseLab (Sistemas)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PROPOSTA DE PRIORIZAÇÃO · PARA VALIDAR NO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E4221"/>
                </a:solidFill>
                <a:latin typeface="Avenir Next LT Pro"/>
              </a:rPr>
              <a:t>Onde focar primeiro — Order-to-Cash + B2B como 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E6E6E"/>
                </a:solidFill>
                <a:latin typeface="Avenir Next LT Pro"/>
              </a:rPr>
              <a:t>Os 10 quick wins ao longo da jornada do pedido — reagrupados por prioridade de sequência, não por milestone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859536" cy="4754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859536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66420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30" b="1" i="0">
                <a:solidFill>
                  <a:srgbClr val="1A1A1A"/>
                </a:solidFill>
                <a:latin typeface="Avenir Next LT Pro"/>
              </a:rPr>
              <a:t>s1 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9888" y="1572768"/>
            <a:ext cx="859536" cy="4754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89888" y="1572768"/>
            <a:ext cx="859536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166420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30" b="1" i="0">
                <a:solidFill>
                  <a:srgbClr val="1A1A1A"/>
                </a:solidFill>
                <a:latin typeface="Avenir Next LT Pro"/>
              </a:rPr>
              <a:t>s2 Negociação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1572768"/>
            <a:ext cx="859536" cy="4754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04288" y="1572768"/>
            <a:ext cx="859536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166420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30" b="1" i="0">
                <a:solidFill>
                  <a:srgbClr val="1A1A1A"/>
                </a:solidFill>
                <a:latin typeface="Avenir Next LT Pro"/>
              </a:rPr>
              <a:t>s3 Cadastro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1572768"/>
            <a:ext cx="859536" cy="4754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18688" y="1572768"/>
            <a:ext cx="859536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6976" y="166420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30" b="1" i="0">
                <a:solidFill>
                  <a:srgbClr val="1A1A1A"/>
                </a:solidFill>
                <a:latin typeface="Avenir Next LT Pro"/>
              </a:rPr>
              <a:t>s4 Contrato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087" y="1572768"/>
            <a:ext cx="859536" cy="4754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33087" y="1572768"/>
            <a:ext cx="859536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1376" y="166420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30" b="1" i="0">
                <a:solidFill>
                  <a:srgbClr val="1A1A1A"/>
                </a:solidFill>
                <a:latin typeface="Avenir Next LT Pro"/>
              </a:rPr>
              <a:t>s5 Pedido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7488" y="1572768"/>
            <a:ext cx="859536" cy="4754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47488" y="1572768"/>
            <a:ext cx="859536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166420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30" b="1" i="0">
                <a:solidFill>
                  <a:srgbClr val="1A1A1A"/>
                </a:solidFill>
                <a:latin typeface="Avenir Next LT Pro"/>
              </a:rPr>
              <a:t>s6 Processamento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61888" y="1572768"/>
            <a:ext cx="859536" cy="4754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61888" y="1572768"/>
            <a:ext cx="859536" cy="54864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0176" y="166420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30" b="1" i="0">
                <a:solidFill>
                  <a:srgbClr val="1A1A1A"/>
                </a:solidFill>
                <a:latin typeface="Avenir Next LT Pro"/>
              </a:rPr>
              <a:t>s7 Contas a Receber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1572768"/>
            <a:ext cx="859536" cy="47548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76288" y="1572768"/>
            <a:ext cx="859536" cy="54864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94576" y="166420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30" b="1" i="0">
                <a:solidFill>
                  <a:srgbClr val="1A1A1A"/>
                </a:solidFill>
                <a:latin typeface="Avenir Next LT Pro"/>
              </a:rPr>
              <a:t>s8 Tracking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0688" y="1572768"/>
            <a:ext cx="859536" cy="47548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90688" y="1572768"/>
            <a:ext cx="859536" cy="54864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8975" y="1664208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30" b="1" i="0">
                <a:solidFill>
                  <a:srgbClr val="1A1A1A"/>
                </a:solidFill>
                <a:latin typeface="Avenir Next LT Pro"/>
              </a:rPr>
              <a:t>s9 Recompra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03120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■ </a:t>
            </a:r>
            <a:r>
              <a:rPr sz="900" b="1" i="0">
                <a:solidFill>
                  <a:srgbClr val="6E6E6E"/>
                </a:solidFill>
                <a:latin typeface="Avenir Next LT Pro"/>
              </a:rPr>
              <a:t>Round 1 — Order-to-Cash + B2B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103120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■ </a:t>
            </a:r>
            <a:r>
              <a:rPr sz="900" b="1" i="0">
                <a:solidFill>
                  <a:srgbClr val="6E6E6E"/>
                </a:solidFill>
                <a:latin typeface="Avenir Next LT Pro"/>
              </a:rPr>
              <a:t>Round 2 — Pós-venda + Inteligência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41448"/>
            <a:ext cx="3794760" cy="27432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2441448"/>
            <a:ext cx="3611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 LT Pro"/>
              </a:rPr>
              <a:t>ROUND 1 — 8 quick wins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2770632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QW-01 Lead na Jornada do Vendedor (Comercial)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99466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QW-02 Proposta e pricing no fluxo · piloto (Comercial)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218688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QW-03 Cadastro e crédito no portal (Comercial)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442716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QW-04 Contrato digital (Jurídico)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666744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QW-05 Ruptura/estoque visível · piloto (Backoffice)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890772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QW-06 Liberação de crédito (Financeiro)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114800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QW-08 Separação/WMS sem papel (Logística)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338828"/>
            <a:ext cx="3611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QW-07 Faturamento automático · piloto (Financeiro)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34840" y="2441448"/>
            <a:ext cx="4251960" cy="2743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79" y="2441448"/>
            <a:ext cx="4069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venir Next LT Pro"/>
              </a:rPr>
              <a:t>ROUND 2 — 2 quick wins + camada de 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79" y="2770632"/>
            <a:ext cx="4069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QW-09 Expedição e EDI no tracking (Logística)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79" y="2994660"/>
            <a:ext cx="4069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QW-10 Alerta de recompra automático (Pós-venda)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79" y="3218688"/>
            <a:ext cx="4069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6E6E6E"/>
                </a:solidFill>
                <a:latin typeface="Avenir Next LT Pro"/>
              </a:rPr>
              <a:t>· </a:t>
            </a:r>
            <a:r>
              <a:rPr sz="850" b="0" i="0">
                <a:solidFill>
                  <a:srgbClr val="1A1A1A"/>
                </a:solidFill>
                <a:latin typeface="Avenir Next LT Pro"/>
              </a:rPr>
              <a:t>M5 · LLM, Command Center e 6 agentes — aplicados sobre o fluxo já limpo (Gate M4)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Workshop de Priorização · Proposta PixelPulseLab (Sistemas)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SE PRIORIZARMOS · ENTREGAS E INVESTIMENTO POR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1E4221"/>
                </a:solidFill>
                <a:latin typeface="Avenir Next LT Pro"/>
              </a:rPr>
              <a:t>Entregas, investimento e importância no curto prazo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E6E6E"/>
                </a:solidFill>
                <a:latin typeface="Avenir Next LT Pro"/>
              </a:rPr>
              <a:t>Mesmo escopo total (R$ 1.000.000 · 8 meses) — reorganizado em duas rodadas de decisão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3931920" cy="196596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3931920" cy="4572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664207"/>
            <a:ext cx="36027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E4221"/>
                </a:solidFill>
                <a:latin typeface="Avenir Next LT Pro"/>
              </a:rPr>
              <a:t>ROUND 1 — Order-to-Cash + B2B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920240"/>
            <a:ext cx="3602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C07028"/>
                </a:solidFill>
                <a:latin typeface="Avenir Next LT Pro"/>
              </a:rPr>
              <a:t>R$ 780.000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94560"/>
            <a:ext cx="36027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1">
                <a:solidFill>
                  <a:srgbClr val="6E6E6E"/>
                </a:solidFill>
                <a:latin typeface="Avenir Next LT Pro"/>
              </a:rPr>
              <a:t>78% do investimento · meses 1–6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32304"/>
            <a:ext cx="36027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ENTREGA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15184"/>
            <a:ext cx="3602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Fluxo B2B + Order-to-Cash ponta a ponta sem intervenção manual (8 de 10 quick wins) + fundação do Adaptive Layer™ (M0+M2+M4).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999232"/>
            <a:ext cx="36027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C07028"/>
                </a:solidFill>
                <a:latin typeface="Avenir Next LT Pro"/>
              </a:rPr>
              <a:t>POR QUE IMPORTA / PODE ESPERAR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182112"/>
            <a:ext cx="3602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É onde o caixa entra e sai — proposta, crédito, faturamento. Resolve o gargalo que mais trava receita e capital de giro hoje.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536192"/>
            <a:ext cx="4206240" cy="1965960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536192"/>
            <a:ext cx="4206240" cy="457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664207"/>
            <a:ext cx="38770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1E4221"/>
                </a:solidFill>
                <a:latin typeface="Avenir Next LT Pro"/>
              </a:rPr>
              <a:t>ROUND 2 — Pós-venda +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1920240"/>
            <a:ext cx="38770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A5C2E"/>
                </a:solidFill>
                <a:latin typeface="Avenir Next LT Pro"/>
              </a:rPr>
              <a:t>R$ 220.000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194560"/>
            <a:ext cx="38770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1">
                <a:solidFill>
                  <a:srgbClr val="6E6E6E"/>
                </a:solidFill>
                <a:latin typeface="Avenir Next LT Pro"/>
              </a:rPr>
              <a:t>22% do investimento · meses 6–8+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2432304"/>
            <a:ext cx="38770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2A5C2E"/>
                </a:solidFill>
                <a:latin typeface="Avenir Next LT Pro"/>
              </a:rPr>
              <a:t>ENTREGA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2615184"/>
            <a:ext cx="38770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Tracking/EDI proativo, alerta de recompra automático, e a camada LLM/Command Center com 6 agentes (M5).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2999232"/>
            <a:ext cx="38770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2A5C2E"/>
                </a:solidFill>
                <a:latin typeface="Avenir Next LT Pro"/>
              </a:rPr>
              <a:t>POR QUE IMPORTA / PODE ESPERAR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3182112"/>
            <a:ext cx="3877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Otimização e inteligência preditiva — vale mais depois que o fluxo core estiver limpo e estável (Gate M4 aprovado).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39312"/>
            <a:ext cx="8229600" cy="105156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639312"/>
            <a:ext cx="54864" cy="1051560"/>
          </a:xfrm>
          <a:prstGeom prst="rect">
            <a:avLst/>
          </a:prstGeom>
          <a:solidFill>
            <a:srgbClr val="1E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730752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E4221"/>
                </a:solidFill>
                <a:latin typeface="Avenir Next LT Pro"/>
              </a:rPr>
              <a:t>PARA DECIDIR NO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6849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E4221"/>
                </a:solidFill>
                <a:latin typeface="Avenir Next LT Pro"/>
              </a:rPr>
              <a:t>→  </a:t>
            </a:r>
            <a:r>
              <a:rPr sz="900" b="0" i="0">
                <a:solidFill>
                  <a:srgbClr val="1A1A1A"/>
                </a:solidFill>
                <a:latin typeface="Avenir Next LT Pro"/>
              </a:rPr>
              <a:t>Concordamos que Order-to-Cash + B2B é o Round 1?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192524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E4221"/>
                </a:solidFill>
                <a:latin typeface="Avenir Next LT Pro"/>
              </a:rPr>
              <a:t>→  </a:t>
            </a:r>
            <a:r>
              <a:rPr sz="900" b="0" i="0">
                <a:solidFill>
                  <a:srgbClr val="1A1A1A"/>
                </a:solidFill>
                <a:latin typeface="Avenir Next LT Pro"/>
              </a:rPr>
              <a:t>O que precisa estar provado no Round 1 para liberar o Round 2 sem nova aprovação?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416552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E4221"/>
                </a:solidFill>
                <a:latin typeface="Avenir Next LT Pro"/>
              </a:rPr>
              <a:t>→  </a:t>
            </a:r>
            <a:r>
              <a:rPr sz="900" b="0" i="0">
                <a:solidFill>
                  <a:srgbClr val="1A1A1A"/>
                </a:solidFill>
                <a:latin typeface="Avenir Next LT Pro"/>
              </a:rPr>
              <a:t>Quem são os owners Orfeu com disponibilidade garantida nos primeiros 6 meses?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Workshop de Priorização · Proposta PixelPulseLab (Sistemas)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