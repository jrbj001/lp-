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half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half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5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429000" y="411480"/>
            <a:ext cx="2286000" cy="1792224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Rectangle 3"/>
          <p:cNvSpPr/>
          <p:nvPr/>
        </p:nvSpPr>
        <p:spPr>
          <a:xfrm>
            <a:off x="0" y="3291840"/>
            <a:ext cx="9144000" cy="1828801"/>
          </a:xfrm>
          <a:prstGeom prst="rect">
            <a:avLst/>
          </a:prstGeom>
          <a:solidFill>
            <a:srgbClr val="0E30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" name="TextBox 4"/>
          <p:cNvSpPr txBox="1"/>
          <p:nvPr/>
        </p:nvSpPr>
        <p:spPr>
          <a:xfrm>
            <a:off x="502919" y="3337559"/>
            <a:ext cx="8138162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0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Omnichannel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502919" y="3950208"/>
            <a:ext cx="8138162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E8D5B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Fechamento Brasil &amp; Piloto Estados Unidos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502919" y="4370832"/>
            <a:ext cx="813816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AAAAA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Workshop Fazenda  ·  11–13 Agosto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50976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TextBox 2"/>
          <p:cNvSpPr txBox="1"/>
          <p:nvPr/>
        </p:nvSpPr>
        <p:spPr>
          <a:xfrm>
            <a:off x="393192" y="274320"/>
            <a:ext cx="67665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7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 Jornada da Orfeu — Contexto</a:t>
            </a:r>
          </a:p>
        </p:txBody>
      </p:sp>
      <p:sp>
        <p:nvSpPr>
          <p:cNvPr id="103" name="Rectangle 3"/>
          <p:cNvSpPr/>
          <p:nvPr/>
        </p:nvSpPr>
        <p:spPr>
          <a:xfrm>
            <a:off x="320040" y="1097280"/>
            <a:ext cx="54865" cy="914401"/>
          </a:xfrm>
          <a:prstGeom prst="rect">
            <a:avLst/>
          </a:prstGeom>
          <a:solidFill>
            <a:srgbClr val="BF5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TextBox 4"/>
          <p:cNvSpPr txBox="1"/>
          <p:nvPr/>
        </p:nvSpPr>
        <p:spPr>
          <a:xfrm>
            <a:off x="548639" y="1078991"/>
            <a:ext cx="393192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A5C32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De onde viemos</a:t>
            </a:r>
          </a:p>
        </p:txBody>
      </p:sp>
      <p:sp>
        <p:nvSpPr>
          <p:cNvPr id="105" name="TextBox 5"/>
          <p:cNvSpPr txBox="1"/>
          <p:nvPr/>
        </p:nvSpPr>
        <p:spPr>
          <a:xfrm>
            <a:off x="548639" y="1417319"/>
            <a:ext cx="3931921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5E5E5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Em 5 anos, a Orfeu cresceu de ~R$ 60M para ~R$ 200M com rentabilidade.</a:t>
            </a:r>
          </a:p>
          <a:p>
            <a:pPr>
              <a:spcBef>
                <a:spcPts val="400"/>
              </a:spcBef>
              <a:defRPr sz="1000">
                <a:solidFill>
                  <a:srgbClr val="5E5E5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Entregamos a visão de 5 anos com 1 ano de antecipação.</a:t>
            </a:r>
          </a:p>
          <a:p>
            <a:pPr>
              <a:spcBef>
                <a:spcPts val="400"/>
              </a:spcBef>
              <a:defRPr sz="1000">
                <a:solidFill>
                  <a:srgbClr val="5E5E5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Isso não acontece por acaso — acontece quando há visão clara, disciplina operacional e produto de verdade.</a:t>
            </a:r>
          </a:p>
        </p:txBody>
      </p:sp>
      <p:sp>
        <p:nvSpPr>
          <p:cNvPr id="106" name="Rectangle 6"/>
          <p:cNvSpPr/>
          <p:nvPr/>
        </p:nvSpPr>
        <p:spPr>
          <a:xfrm>
            <a:off x="320039" y="2879953"/>
            <a:ext cx="4160522" cy="12701"/>
          </a:xfrm>
          <a:prstGeom prst="rect">
            <a:avLst/>
          </a:prstGeom>
          <a:solidFill>
            <a:srgbClr val="CCCC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TextBox 7"/>
          <p:cNvSpPr txBox="1"/>
          <p:nvPr/>
        </p:nvSpPr>
        <p:spPr>
          <a:xfrm>
            <a:off x="548639" y="2999232"/>
            <a:ext cx="393192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A5C32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Para onde vamos — Visão 2030</a:t>
            </a:r>
          </a:p>
        </p:txBody>
      </p:sp>
      <p:sp>
        <p:nvSpPr>
          <p:cNvPr id="108" name="TextBox 8"/>
          <p:cNvSpPr txBox="1"/>
          <p:nvPr/>
        </p:nvSpPr>
        <p:spPr>
          <a:xfrm>
            <a:off x="548639" y="3337559"/>
            <a:ext cx="3931921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2A2A2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De R$ 170M (2026) para R$ 500M (2030). “Ser o café brasileiro referência de qualidade e premium, desenvolvendo pessoas e preservando o meio ambiente, crescendo de forma significativa, consistente e mantendo a excelência.”</a:t>
            </a:r>
          </a:p>
        </p:txBody>
      </p:sp>
      <p:sp>
        <p:nvSpPr>
          <p:cNvPr id="109" name="Rectangle 9"/>
          <p:cNvSpPr/>
          <p:nvPr/>
        </p:nvSpPr>
        <p:spPr>
          <a:xfrm>
            <a:off x="4663440" y="1078991"/>
            <a:ext cx="54865" cy="3520442"/>
          </a:xfrm>
          <a:prstGeom prst="rect">
            <a:avLst/>
          </a:prstGeom>
          <a:solidFill>
            <a:srgbClr val="BF5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TextBox 10"/>
          <p:cNvSpPr txBox="1"/>
          <p:nvPr/>
        </p:nvSpPr>
        <p:spPr>
          <a:xfrm>
            <a:off x="4892040" y="1078991"/>
            <a:ext cx="38862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A5C32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 nova fase — O que nos pede</a:t>
            </a:r>
          </a:p>
        </p:txBody>
      </p:sp>
      <p:sp>
        <p:nvSpPr>
          <p:cNvPr id="111" name="TextBox 11"/>
          <p:cNvSpPr txBox="1"/>
          <p:nvPr/>
        </p:nvSpPr>
        <p:spPr>
          <a:xfrm>
            <a:off x="4892040" y="1444752"/>
            <a:ext cx="3886200" cy="2072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2A2A2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Como levar a Orfeu a onde ela ainda não foi — de forma replicável, com velocidade, sem perder o que a faz única?</a:t>
            </a:r>
          </a:p>
          <a:p>
            <a:pPr>
              <a:spcBef>
                <a:spcPts val="400"/>
              </a:spcBef>
              <a:defRPr sz="1000">
                <a:solidFill>
                  <a:srgbClr val="2A2A2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</a:p>
          <a:p>
            <a:pPr>
              <a:spcBef>
                <a:spcPts val="400"/>
              </a:spcBef>
              <a:defRPr b="1" sz="1000">
                <a:solidFill>
                  <a:srgbClr val="1A5C32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O ativo central é o playbook.</a:t>
            </a:r>
          </a:p>
          <a:p>
            <a:pPr>
              <a:spcBef>
                <a:spcPts val="400"/>
              </a:spcBef>
              <a:defRPr sz="1000">
                <a:solidFill>
                  <a:srgbClr val="5E5E5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A Orfeu tem, na história da empresa e nas pessoas, mais sabedoria do que imagina sobre como entrar e ganhar em um mercado.</a:t>
            </a:r>
          </a:p>
          <a:p>
            <a:pPr>
              <a:spcBef>
                <a:spcPts val="400"/>
              </a:spcBef>
              <a:defRPr sz="1000">
                <a:solidFill>
                  <a:srgbClr val="2A2A2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</a:p>
          <a:p>
            <a:pPr>
              <a:spcBef>
                <a:spcPts val="400"/>
              </a:spcBef>
              <a:defRPr b="1" sz="1000">
                <a:solidFill>
                  <a:srgbClr val="2A2A2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O desafio desta fase — e desta Fazenda:</a:t>
            </a:r>
          </a:p>
          <a:p>
            <a:pPr>
              <a:spcBef>
                <a:spcPts val="400"/>
              </a:spcBef>
              <a:defRPr sz="1000">
                <a:solidFill>
                  <a:srgbClr val="5E5E5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Fechar o Playbook Brasil (Colheita SP/RJ + Plantio expansão) e construir a proposta de piloto para os Estados Unidos. Falta decidir e agir.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50976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2"/>
          <p:cNvSpPr txBox="1"/>
          <p:nvPr/>
        </p:nvSpPr>
        <p:spPr>
          <a:xfrm>
            <a:off x="393192" y="274320"/>
            <a:ext cx="67665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7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Workshop Fazenda — Fechamento BR + Piloto EUA</a:t>
            </a:r>
          </a:p>
        </p:txBody>
      </p:sp>
      <p:sp>
        <p:nvSpPr>
          <p:cNvPr id="115" name="TextBox 3"/>
          <p:cNvSpPr txBox="1"/>
          <p:nvPr/>
        </p:nvSpPr>
        <p:spPr>
          <a:xfrm>
            <a:off x="365760" y="1051560"/>
            <a:ext cx="841248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i="1" sz="1200">
                <a:solidFill>
                  <a:srgbClr val="1A5C32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Fechar o playbook de expansão no Brasil e aprofundar o piloto de lançamento nos EUA</a:t>
            </a:r>
          </a:p>
        </p:txBody>
      </p:sp>
      <p:sp>
        <p:nvSpPr>
          <p:cNvPr id="116" name="Rectangle 4"/>
          <p:cNvSpPr/>
          <p:nvPr/>
        </p:nvSpPr>
        <p:spPr>
          <a:xfrm>
            <a:off x="320040" y="1389481"/>
            <a:ext cx="8503920" cy="12701"/>
          </a:xfrm>
          <a:prstGeom prst="rect">
            <a:avLst/>
          </a:prstGeom>
          <a:solidFill>
            <a:srgbClr val="CCCC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Rectangle 5"/>
          <p:cNvSpPr/>
          <p:nvPr/>
        </p:nvSpPr>
        <p:spPr>
          <a:xfrm>
            <a:off x="320040" y="1481327"/>
            <a:ext cx="2743201" cy="36577"/>
          </a:xfrm>
          <a:prstGeom prst="rect">
            <a:avLst/>
          </a:prstGeom>
          <a:solidFill>
            <a:srgbClr val="BF5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TextBox 6"/>
          <p:cNvSpPr txBox="1"/>
          <p:nvPr/>
        </p:nvSpPr>
        <p:spPr>
          <a:xfrm>
            <a:off x="365760" y="1572767"/>
            <a:ext cx="26517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A5C32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Bloco BR — Fechamento</a:t>
            </a:r>
          </a:p>
        </p:txBody>
      </p:sp>
      <p:sp>
        <p:nvSpPr>
          <p:cNvPr id="119" name="TextBox 7"/>
          <p:cNvSpPr txBox="1"/>
          <p:nvPr/>
        </p:nvSpPr>
        <p:spPr>
          <a:xfrm>
            <a:off x="365760" y="1938527"/>
            <a:ext cx="2651761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5E5E5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Playbook Omnichannel Nacional v1 (Colheita SP/RJ + Plantio expansão), indicadores N2 consolidados e modelagem financeira do plano de expansão.</a:t>
            </a:r>
          </a:p>
        </p:txBody>
      </p:sp>
      <p:sp>
        <p:nvSpPr>
          <p:cNvPr id="120" name="Rectangle 8"/>
          <p:cNvSpPr/>
          <p:nvPr/>
        </p:nvSpPr>
        <p:spPr>
          <a:xfrm>
            <a:off x="3264408" y="1481327"/>
            <a:ext cx="2743201" cy="36577"/>
          </a:xfrm>
          <a:prstGeom prst="rect">
            <a:avLst/>
          </a:prstGeom>
          <a:solidFill>
            <a:srgbClr val="BF5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TextBox 9"/>
          <p:cNvSpPr txBox="1"/>
          <p:nvPr/>
        </p:nvSpPr>
        <p:spPr>
          <a:xfrm>
            <a:off x="3310128" y="1572767"/>
            <a:ext cx="26517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A5C32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Bloco EUA — Piloto Flórida</a:t>
            </a:r>
          </a:p>
        </p:txBody>
      </p:sp>
      <p:sp>
        <p:nvSpPr>
          <p:cNvPr id="122" name="TextBox 10"/>
          <p:cNvSpPr txBox="1"/>
          <p:nvPr/>
        </p:nvSpPr>
        <p:spPr>
          <a:xfrm>
            <a:off x="3310128" y="1938527"/>
            <a:ext cx="2651761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5E5E5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10 tendências do mercado americano, proposta de lançamento Sul da Flórida (18 meses) e simulador de DRE e investimento — Miami-Dade, Broward, Palm Beach.</a:t>
            </a:r>
          </a:p>
        </p:txBody>
      </p:sp>
      <p:sp>
        <p:nvSpPr>
          <p:cNvPr id="123" name="Rectangle 11"/>
          <p:cNvSpPr/>
          <p:nvPr/>
        </p:nvSpPr>
        <p:spPr>
          <a:xfrm>
            <a:off x="6208776" y="1481327"/>
            <a:ext cx="2743201" cy="36577"/>
          </a:xfrm>
          <a:prstGeom prst="rect">
            <a:avLst/>
          </a:prstGeom>
          <a:solidFill>
            <a:srgbClr val="BF5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TextBox 12"/>
          <p:cNvSpPr txBox="1"/>
          <p:nvPr/>
        </p:nvSpPr>
        <p:spPr>
          <a:xfrm>
            <a:off x="6254496" y="1572767"/>
            <a:ext cx="26517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A5C32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Formato</a:t>
            </a:r>
          </a:p>
        </p:txBody>
      </p:sp>
      <p:sp>
        <p:nvSpPr>
          <p:cNvPr id="125" name="TextBox 13"/>
          <p:cNvSpPr txBox="1"/>
          <p:nvPr/>
        </p:nvSpPr>
        <p:spPr>
          <a:xfrm>
            <a:off x="6254496" y="1938527"/>
            <a:ext cx="2651761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5E5E5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CEO + Diretor de Marketing + Diretor de Vendas + Inteligência. Co-criação do plano de ação, priorização das iniciativas e alinhamento de responsabilidades.</a:t>
            </a:r>
          </a:p>
        </p:txBody>
      </p:sp>
      <p:sp>
        <p:nvSpPr>
          <p:cNvPr id="126" name="Rectangle 14"/>
          <p:cNvSpPr/>
          <p:nvPr/>
        </p:nvSpPr>
        <p:spPr>
          <a:xfrm>
            <a:off x="320040" y="3492601"/>
            <a:ext cx="8503920" cy="12701"/>
          </a:xfrm>
          <a:prstGeom prst="rect">
            <a:avLst/>
          </a:prstGeom>
          <a:solidFill>
            <a:srgbClr val="CCCC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TextBox 15"/>
          <p:cNvSpPr txBox="1"/>
          <p:nvPr/>
        </p:nvSpPr>
        <p:spPr>
          <a:xfrm>
            <a:off x="365760" y="3611879"/>
            <a:ext cx="841248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2A2A2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Objetivos do workshop:</a:t>
            </a:r>
          </a:p>
        </p:txBody>
      </p:sp>
      <p:sp>
        <p:nvSpPr>
          <p:cNvPr id="128" name="TextBox 16"/>
          <p:cNvSpPr txBox="1"/>
          <p:nvPr/>
        </p:nvSpPr>
        <p:spPr>
          <a:xfrm>
            <a:off x="365759" y="3931920"/>
            <a:ext cx="411480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5E5E5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1.  Fechar o Playbook Omnichannel Nacional — Colheita (SP/RJ) e Plantio (expansão)</a:t>
            </a:r>
          </a:p>
        </p:txBody>
      </p:sp>
      <p:sp>
        <p:nvSpPr>
          <p:cNvPr id="129" name="TextBox 17"/>
          <p:cNvSpPr txBox="1"/>
          <p:nvPr/>
        </p:nvSpPr>
        <p:spPr>
          <a:xfrm>
            <a:off x="365759" y="4370830"/>
            <a:ext cx="411480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5E5E5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2.  Aprovar a proposta de piloto EUA — mercado, canais e investimento</a:t>
            </a:r>
          </a:p>
        </p:txBody>
      </p:sp>
      <p:sp>
        <p:nvSpPr>
          <p:cNvPr id="130" name="TextBox 18"/>
          <p:cNvSpPr txBox="1"/>
          <p:nvPr/>
        </p:nvSpPr>
        <p:spPr>
          <a:xfrm>
            <a:off x="4709160" y="3931920"/>
            <a:ext cx="41148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5E5E5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3.  Time alinhado com responsabilidades definidas (Responsáveis e Consultados)</a:t>
            </a:r>
          </a:p>
        </p:txBody>
      </p:sp>
      <p:sp>
        <p:nvSpPr>
          <p:cNvPr id="131" name="TextBox 19"/>
          <p:cNvSpPr txBox="1"/>
          <p:nvPr/>
        </p:nvSpPr>
        <p:spPr>
          <a:xfrm>
            <a:off x="4709160" y="4370830"/>
            <a:ext cx="41148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5E5E5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4.  Rotina de gestão integrada — acompanhamento da expansão com o CEO e os times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50976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Rectangle 57"/>
          <p:cNvSpPr/>
          <p:nvPr/>
        </p:nvSpPr>
        <p:spPr>
          <a:xfrm>
            <a:off x="320040" y="4818888"/>
            <a:ext cx="8503920" cy="22861"/>
          </a:xfrm>
          <a:prstGeom prst="rect">
            <a:avLst/>
          </a:prstGeom>
          <a:solidFill>
            <a:srgbClr val="BF5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0" name="TextBox 58"/>
          <p:cNvSpPr txBox="1"/>
          <p:nvPr/>
        </p:nvSpPr>
        <p:spPr>
          <a:xfrm>
            <a:off x="365760" y="4864608"/>
            <a:ext cx="8412480" cy="220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BF5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Bloco EUA neste workshop  ·  Ver Plano Piloto Sul da Flórida (18 meses) e Simulador DRE — material de apoio anexo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93192" y="274320"/>
            <a:ext cx="7772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venir Next LT Pro"/>
              </a:rPr>
              <a:t>Status Geral do Plano de Ação — 19 Iniciativas  ·  atualizado 07/08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20040" y="1024128"/>
            <a:ext cx="4206240" cy="347472"/>
          </a:xfrm>
          <a:prstGeom prst="rect">
            <a:avLst/>
          </a:prstGeom>
          <a:solidFill>
            <a:srgbClr val="1A5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457200" y="1051560"/>
            <a:ext cx="39319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venir Next LT Pro"/>
              </a:rPr>
              <a:t>Concluídas &amp; Em Andamento (13)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4681728" y="1024128"/>
            <a:ext cx="4206240" cy="347472"/>
          </a:xfrm>
          <a:prstGeom prst="rect">
            <a:avLst/>
          </a:prstGeom>
          <a:solidFill>
            <a:srgbClr val="BF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4818888" y="1051560"/>
            <a:ext cx="39319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venir Next LT Pro"/>
              </a:rPr>
              <a:t>Atenção — Ação Necessária (6)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65760" y="1444752"/>
            <a:ext cx="2743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A5C32"/>
                </a:solidFill>
                <a:latin typeface="Avenir Next LT Pro"/>
              </a:rPr>
              <a:t>✅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21792" y="1444752"/>
            <a:ext cx="5029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A5C32"/>
                </a:solidFill>
                <a:latin typeface="Avenir Next LT Pro"/>
              </a:rPr>
              <a:t>A1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97280" y="1444752"/>
            <a:ext cx="33375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9" b="0" i="0">
                <a:solidFill>
                  <a:srgbClr val="2A2A2A"/>
                </a:solidFill>
                <a:latin typeface="Avenir Next LT Pro"/>
              </a:rPr>
              <a:t>Calendário Anual de Atividades e Playbook v1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65760" y="1691640"/>
            <a:ext cx="2743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A5C32"/>
                </a:solidFill>
                <a:latin typeface="Avenir Next LT Pro"/>
              </a:rPr>
              <a:t>✅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21792" y="16916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A5C32"/>
                </a:solidFill>
                <a:latin typeface="Avenir Next LT Pro"/>
              </a:rPr>
              <a:t>A3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97280" y="1691640"/>
            <a:ext cx="33375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9" b="0" i="0">
                <a:solidFill>
                  <a:srgbClr val="2A2A2A"/>
                </a:solidFill>
                <a:latin typeface="Avenir Next LT Pro"/>
              </a:rPr>
              <a:t>Prospecção B2B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65760" y="1938528"/>
            <a:ext cx="2743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A5C32"/>
                </a:solidFill>
                <a:latin typeface="Avenir Next LT Pro"/>
              </a:rPr>
              <a:t>✅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21792" y="1938528"/>
            <a:ext cx="5029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A5C32"/>
                </a:solidFill>
                <a:latin typeface="Avenir Next LT Pro"/>
              </a:rPr>
              <a:t>A6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097280" y="1938528"/>
            <a:ext cx="33375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9" b="0" i="0">
                <a:solidFill>
                  <a:srgbClr val="2A2A2A"/>
                </a:solidFill>
                <a:latin typeface="Avenir Next LT Pro"/>
              </a:rPr>
              <a:t>Jornada Digital B2B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5760" y="2185416"/>
            <a:ext cx="2743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A5C32"/>
                </a:solidFill>
                <a:latin typeface="Avenir Next LT Pro"/>
              </a:rPr>
              <a:t>✅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21792" y="2185416"/>
            <a:ext cx="5029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A5C32"/>
                </a:solidFill>
                <a:latin typeface="Avenir Next LT Pro"/>
              </a:rPr>
              <a:t>A7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97280" y="2185416"/>
            <a:ext cx="33375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9" b="0" i="0">
                <a:solidFill>
                  <a:srgbClr val="2A2A2A"/>
                </a:solidFill>
                <a:latin typeface="Avenir Next LT Pro"/>
              </a:rPr>
              <a:t>Solução Hotel / Turismo / Office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365760" y="2432304"/>
            <a:ext cx="2743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A5C32"/>
                </a:solidFill>
                <a:latin typeface="Avenir Next LT Pro"/>
              </a:rPr>
              <a:t>✅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21792" y="2432304"/>
            <a:ext cx="5029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A5C32"/>
                </a:solidFill>
                <a:latin typeface="Avenir Next LT Pro"/>
              </a:rPr>
              <a:t>A9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097280" y="2432304"/>
            <a:ext cx="33375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9" b="0" i="0">
                <a:solidFill>
                  <a:srgbClr val="2A2A2A"/>
                </a:solidFill>
                <a:latin typeface="Avenir Next LT Pro"/>
              </a:rPr>
              <a:t>Marketing 5.0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365760" y="2679192"/>
            <a:ext cx="2743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A5C32"/>
                </a:solidFill>
                <a:latin typeface="Avenir Next LT Pro"/>
              </a:rPr>
              <a:t>✅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621792" y="2679192"/>
            <a:ext cx="5029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A5C32"/>
                </a:solidFill>
                <a:latin typeface="Avenir Next LT Pro"/>
              </a:rPr>
              <a:t>A10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097280" y="2679192"/>
            <a:ext cx="33375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9" b="0" i="0">
                <a:solidFill>
                  <a:srgbClr val="2A2A2A"/>
                </a:solidFill>
                <a:latin typeface="Avenir Next LT Pro"/>
              </a:rPr>
              <a:t>Trade 2.0 — Atividades e RaCi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365760" y="2926080"/>
            <a:ext cx="2743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A5C32"/>
                </a:solidFill>
                <a:latin typeface="Avenir Next LT Pro"/>
              </a:rPr>
              <a:t>✅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621792" y="292608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A5C32"/>
                </a:solidFill>
                <a:latin typeface="Avenir Next LT Pro"/>
              </a:rPr>
              <a:t>A14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097280" y="2926080"/>
            <a:ext cx="33375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9" b="0" i="0">
                <a:solidFill>
                  <a:srgbClr val="2A2A2A"/>
                </a:solidFill>
                <a:latin typeface="Avenir Next LT Pro"/>
              </a:rPr>
              <a:t>Alinhamento Geográfico Omnichannel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365760" y="3172968"/>
            <a:ext cx="2743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A5C32"/>
                </a:solidFill>
                <a:latin typeface="Avenir Next LT Pro"/>
              </a:rPr>
              <a:t>✅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21792" y="3172968"/>
            <a:ext cx="5029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A5C32"/>
                </a:solidFill>
                <a:latin typeface="Avenir Next LT Pro"/>
              </a:rPr>
              <a:t>A17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097280" y="3172968"/>
            <a:ext cx="33375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9" b="0" i="0">
                <a:solidFill>
                  <a:srgbClr val="2A2A2A"/>
                </a:solidFill>
                <a:latin typeface="Avenir Next LT Pro"/>
              </a:rPr>
              <a:t>Projeto Máquina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365760" y="3419856"/>
            <a:ext cx="2743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A5C32"/>
                </a:solidFill>
                <a:latin typeface="Avenir Next LT Pro"/>
              </a:rPr>
              <a:t>✅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621792" y="3419856"/>
            <a:ext cx="5029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A5C32"/>
                </a:solidFill>
                <a:latin typeface="Avenir Next LT Pro"/>
              </a:rPr>
              <a:t>A19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097280" y="3419856"/>
            <a:ext cx="33375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9" b="0" i="0">
                <a:solidFill>
                  <a:srgbClr val="2A2A2A"/>
                </a:solidFill>
                <a:latin typeface="Avenir Next LT Pro"/>
              </a:rPr>
              <a:t>Projeto Flagship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365760" y="3666744"/>
            <a:ext cx="2743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F5A1A"/>
                </a:solidFill>
                <a:latin typeface="Avenir Next LT Pro"/>
              </a:rPr>
              <a:t>🔄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621792" y="3666744"/>
            <a:ext cx="5029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F5A1A"/>
                </a:solidFill>
                <a:latin typeface="Avenir Next LT Pro"/>
              </a:rPr>
              <a:t>A11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097280" y="3666744"/>
            <a:ext cx="33375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9" b="0" i="0">
                <a:solidFill>
                  <a:srgbClr val="2A2A2A"/>
                </a:solidFill>
                <a:latin typeface="Avenir Next LT Pro"/>
              </a:rPr>
              <a:t>Trade Insights — Analíticos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365760" y="3913631"/>
            <a:ext cx="2743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F5A1A"/>
                </a:solidFill>
                <a:latin typeface="Avenir Next LT Pro"/>
              </a:rPr>
              <a:t>🔄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621792" y="3913631"/>
            <a:ext cx="5029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F5A1A"/>
                </a:solidFill>
                <a:latin typeface="Avenir Next LT Pro"/>
              </a:rPr>
              <a:t>A12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097280" y="3913631"/>
            <a:ext cx="33375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9" b="0" i="0">
                <a:solidFill>
                  <a:srgbClr val="2A2A2A"/>
                </a:solidFill>
                <a:latin typeface="Avenir Next LT Pro"/>
              </a:rPr>
              <a:t>Estrutura de Vendas — Expansão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365760" y="4160519"/>
            <a:ext cx="2743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F5A1A"/>
                </a:solidFill>
                <a:latin typeface="Avenir Next LT Pro"/>
              </a:rPr>
              <a:t>🔄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21792" y="4160519"/>
            <a:ext cx="5029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F5A1A"/>
                </a:solidFill>
                <a:latin typeface="Avenir Next LT Pro"/>
              </a:rPr>
              <a:t>A13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1097280" y="4160519"/>
            <a:ext cx="33375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9" b="0" i="0">
                <a:solidFill>
                  <a:srgbClr val="2A2A2A"/>
                </a:solidFill>
                <a:latin typeface="Avenir Next LT Pro"/>
              </a:rPr>
              <a:t>Visão de Gente 2030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365760" y="4407407"/>
            <a:ext cx="2743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F5A1A"/>
                </a:solidFill>
                <a:latin typeface="Avenir Next LT Pro"/>
              </a:rPr>
              <a:t>🔄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621792" y="4407407"/>
            <a:ext cx="5029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F5A1A"/>
                </a:solidFill>
                <a:latin typeface="Avenir Next LT Pro"/>
              </a:rPr>
              <a:t>A16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097280" y="4407407"/>
            <a:ext cx="33375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9" b="0" i="0">
                <a:solidFill>
                  <a:srgbClr val="2A2A2A"/>
                </a:solidFill>
                <a:latin typeface="Avenir Next LT Pro"/>
              </a:rPr>
              <a:t>Modelagem Financeira — Expansão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4727448" y="1472184"/>
            <a:ext cx="320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F5A1A"/>
                </a:solidFill>
                <a:latin typeface="Avenir Next LT Pro"/>
              </a:rPr>
              <a:t>A2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5166360" y="1472184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A2A2A"/>
                </a:solidFill>
                <a:latin typeface="Avenir Next LT Pro"/>
              </a:rPr>
              <a:t>GTM B2B — Árvore de Decisão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5166360" y="1691640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E5E5E"/>
                </a:solidFill>
                <a:latin typeface="Avenir Next LT Pro"/>
              </a:rPr>
              <a:t>⚠ Pendente apresentar no WS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4681728" y="1874520"/>
            <a:ext cx="4206240" cy="9144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4727448" y="1965960"/>
            <a:ext cx="320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F5A1A"/>
                </a:solidFill>
                <a:latin typeface="Avenir Next LT Pro"/>
              </a:rPr>
              <a:t>A4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5166360" y="196596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A2A2A"/>
                </a:solidFill>
                <a:latin typeface="Avenir Next LT Pro"/>
              </a:rPr>
              <a:t>Gaps Varejo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66360" y="2185416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E5E5E"/>
                </a:solidFill>
                <a:latin typeface="Avenir Next LT Pro"/>
              </a:rPr>
              <a:t>⚠ Pendente apresentar no WS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4681728" y="2368296"/>
            <a:ext cx="4206240" cy="9144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4727448" y="2459736"/>
            <a:ext cx="320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F5A1A"/>
                </a:solidFill>
                <a:latin typeface="Avenir Next LT Pro"/>
              </a:rPr>
              <a:t>A5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5166360" y="2459736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A2A2A"/>
                </a:solidFill>
                <a:latin typeface="Avenir Next LT Pro"/>
              </a:rPr>
              <a:t>Online B2B / Marketplaces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5166360" y="2679192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E5E5E"/>
                </a:solidFill>
                <a:latin typeface="Avenir Next LT Pro"/>
              </a:rPr>
              <a:t>⚠ Decisão MELI vs. loja própria pendente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4681728" y="2862072"/>
            <a:ext cx="4206240" cy="9144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4727448" y="2953512"/>
            <a:ext cx="320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F5A1A"/>
                </a:solidFill>
                <a:latin typeface="Avenir Next LT Pro"/>
              </a:rPr>
              <a:t>A8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5166360" y="2953512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A2A2A"/>
                </a:solidFill>
                <a:latin typeface="Avenir Next LT Pro"/>
              </a:rPr>
              <a:t>Expansão Online — Business Plan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5166360" y="3172968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E5E5E"/>
                </a:solidFill>
                <a:latin typeface="Avenir Next LT Pro"/>
              </a:rPr>
              <a:t>⚠ Pendente apresentar no WS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4681728" y="3355848"/>
            <a:ext cx="4206240" cy="9144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4727448" y="3447288"/>
            <a:ext cx="320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F5A1A"/>
                </a:solidFill>
                <a:latin typeface="Avenir Next LT Pro"/>
              </a:rPr>
              <a:t>A15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5166360" y="3447288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A2A2A"/>
                </a:solidFill>
                <a:latin typeface="Avenir Next LT Pro"/>
              </a:rPr>
              <a:t>Rotina de Gestão — Expansão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5166360" y="3666744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E5E5E"/>
                </a:solidFill>
                <a:latin typeface="Avenir Next LT Pro"/>
              </a:rPr>
              <a:t>⚠ N2 com oportunidades · pendente no WS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4681728" y="3849624"/>
            <a:ext cx="4206240" cy="9144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4727448" y="3941064"/>
            <a:ext cx="320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F5A1A"/>
                </a:solidFill>
                <a:latin typeface="Avenir Next LT Pro"/>
              </a:rPr>
              <a:t>A18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5166360" y="3941064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A2A2A"/>
                </a:solidFill>
                <a:latin typeface="Avenir Next LT Pro"/>
              </a:rPr>
              <a:t>Projeto Time to Sell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5166360" y="4160520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E5E5E"/>
                </a:solidFill>
                <a:latin typeface="Avenir Next LT Pro"/>
              </a:rPr>
              <a:t>⚠ Garantir entrega das ações do WS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4681728" y="4343400"/>
            <a:ext cx="4206240" cy="9144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4727448" y="4434840"/>
            <a:ext cx="320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F5A1A"/>
                </a:solidFill>
                <a:latin typeface="Avenir Next LT Pro"/>
              </a:rPr>
              <a:t>—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5166360" y="443484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A2A2A"/>
                </a:solidFill>
                <a:latin typeface="Avenir Next LT Pro"/>
              </a:rPr>
              <a:t>Resumo geral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5166360" y="4654296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E5E5E"/>
                </a:solidFill>
                <a:latin typeface="Avenir Next LT Pro"/>
              </a:rPr>
              <a:t>9 concluídas · 4 em andamento · 6 atenção · 19 total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50976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TextBox 2"/>
          <p:cNvSpPr txBox="1"/>
          <p:nvPr/>
        </p:nvSpPr>
        <p:spPr>
          <a:xfrm>
            <a:off x="393192" y="274320"/>
            <a:ext cx="67665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7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O Que Vem A Seguir</a:t>
            </a:r>
          </a:p>
        </p:txBody>
      </p:sp>
      <p:sp>
        <p:nvSpPr>
          <p:cNvPr id="194" name="Rectangle 3"/>
          <p:cNvSpPr/>
          <p:nvPr/>
        </p:nvSpPr>
        <p:spPr>
          <a:xfrm>
            <a:off x="320040" y="1078991"/>
            <a:ext cx="64009" cy="749809"/>
          </a:xfrm>
          <a:prstGeom prst="rect">
            <a:avLst/>
          </a:prstGeom>
          <a:solidFill>
            <a:srgbClr val="BF5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" name="TextBox 4"/>
          <p:cNvSpPr txBox="1"/>
          <p:nvPr/>
        </p:nvSpPr>
        <p:spPr>
          <a:xfrm>
            <a:off x="557783" y="1115567"/>
            <a:ext cx="26517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BF5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11–13 Ago 2026  —  Workshop Fazenda</a:t>
            </a:r>
          </a:p>
        </p:txBody>
      </p:sp>
      <p:sp>
        <p:nvSpPr>
          <p:cNvPr id="196" name="TextBox 5"/>
          <p:cNvSpPr txBox="1"/>
          <p:nvPr/>
        </p:nvSpPr>
        <p:spPr>
          <a:xfrm>
            <a:off x="3474719" y="1133855"/>
            <a:ext cx="530352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5E5E5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Fechamento do Playbook Omnichannel Nacional (Colheita + Plantio) e aprovação da proposta de piloto EUA — Sul da Flórida.</a:t>
            </a:r>
          </a:p>
        </p:txBody>
      </p:sp>
      <p:sp>
        <p:nvSpPr>
          <p:cNvPr id="197" name="Rectangle 6"/>
          <p:cNvSpPr/>
          <p:nvPr/>
        </p:nvSpPr>
        <p:spPr>
          <a:xfrm>
            <a:off x="320040" y="1883257"/>
            <a:ext cx="8503920" cy="12701"/>
          </a:xfrm>
          <a:prstGeom prst="rect">
            <a:avLst/>
          </a:prstGeom>
          <a:solidFill>
            <a:srgbClr val="CCCC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" name="Rectangle 7"/>
          <p:cNvSpPr/>
          <p:nvPr/>
        </p:nvSpPr>
        <p:spPr>
          <a:xfrm>
            <a:off x="320040" y="2029966"/>
            <a:ext cx="64009" cy="749809"/>
          </a:xfrm>
          <a:prstGeom prst="rect">
            <a:avLst/>
          </a:prstGeom>
          <a:solidFill>
            <a:srgbClr val="1A5C3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" name="TextBox 8"/>
          <p:cNvSpPr txBox="1"/>
          <p:nvPr/>
        </p:nvSpPr>
        <p:spPr>
          <a:xfrm>
            <a:off x="557783" y="2066543"/>
            <a:ext cx="26517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1A5C32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Set 2026  —  Ativação Brasil</a:t>
            </a:r>
          </a:p>
        </p:txBody>
      </p:sp>
      <p:sp>
        <p:nvSpPr>
          <p:cNvPr id="200" name="TextBox 9"/>
          <p:cNvSpPr txBox="1"/>
          <p:nvPr/>
        </p:nvSpPr>
        <p:spPr>
          <a:xfrm>
            <a:off x="3474719" y="2084831"/>
            <a:ext cx="530352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5E5E5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Início da execução do Playbook Nacional. Rotina N2 com indicadores consolidados (Colheita/Plantio). Formalização da rotina de gestão Omnichannel (A15).</a:t>
            </a:r>
          </a:p>
        </p:txBody>
      </p:sp>
      <p:sp>
        <p:nvSpPr>
          <p:cNvPr id="201" name="Rectangle 10"/>
          <p:cNvSpPr/>
          <p:nvPr/>
        </p:nvSpPr>
        <p:spPr>
          <a:xfrm>
            <a:off x="320040" y="2834232"/>
            <a:ext cx="8503920" cy="12701"/>
          </a:xfrm>
          <a:prstGeom prst="rect">
            <a:avLst/>
          </a:prstGeom>
          <a:solidFill>
            <a:srgbClr val="CCCC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" name="Rectangle 11"/>
          <p:cNvSpPr/>
          <p:nvPr/>
        </p:nvSpPr>
        <p:spPr>
          <a:xfrm>
            <a:off x="320040" y="2980944"/>
            <a:ext cx="64009" cy="749809"/>
          </a:xfrm>
          <a:prstGeom prst="rect">
            <a:avLst/>
          </a:prstGeom>
          <a:solidFill>
            <a:srgbClr val="BF5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" name="TextBox 12"/>
          <p:cNvSpPr txBox="1"/>
          <p:nvPr/>
        </p:nvSpPr>
        <p:spPr>
          <a:xfrm>
            <a:off x="557783" y="3017520"/>
            <a:ext cx="26517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BF5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Set / Out 2026  —  Piloto EUA — Go/No-Go</a:t>
            </a:r>
          </a:p>
        </p:txBody>
      </p:sp>
      <p:sp>
        <p:nvSpPr>
          <p:cNvPr id="204" name="TextBox 13"/>
          <p:cNvSpPr txBox="1"/>
          <p:nvPr/>
        </p:nvSpPr>
        <p:spPr>
          <a:xfrm>
            <a:off x="3474719" y="3035807"/>
            <a:ext cx="530352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5E5E5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Validação do modelo de entrada Flórida: broker regional, distribuidores (KeHE/UNFI), varejistas premium e HoReCa-alvo. Aprovação de investimento inicial.</a:t>
            </a:r>
          </a:p>
        </p:txBody>
      </p:sp>
      <p:sp>
        <p:nvSpPr>
          <p:cNvPr id="205" name="Rectangle 14"/>
          <p:cNvSpPr/>
          <p:nvPr/>
        </p:nvSpPr>
        <p:spPr>
          <a:xfrm>
            <a:off x="320040" y="3785208"/>
            <a:ext cx="8503920" cy="12701"/>
          </a:xfrm>
          <a:prstGeom prst="rect">
            <a:avLst/>
          </a:prstGeom>
          <a:solidFill>
            <a:srgbClr val="CCCC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" name="Rectangle 15"/>
          <p:cNvSpPr/>
          <p:nvPr/>
        </p:nvSpPr>
        <p:spPr>
          <a:xfrm>
            <a:off x="320040" y="3931920"/>
            <a:ext cx="64009" cy="749809"/>
          </a:xfrm>
          <a:prstGeom prst="rect">
            <a:avLst/>
          </a:prstGeom>
          <a:solidFill>
            <a:srgbClr val="1A5C3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" name="TextBox 16"/>
          <p:cNvSpPr txBox="1"/>
          <p:nvPr/>
        </p:nvSpPr>
        <p:spPr>
          <a:xfrm>
            <a:off x="557783" y="3968496"/>
            <a:ext cx="26517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1A5C32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Q4 2026  —  Execução</a:t>
            </a:r>
          </a:p>
        </p:txBody>
      </p:sp>
      <p:sp>
        <p:nvSpPr>
          <p:cNvPr id="208" name="TextBox 17"/>
          <p:cNvSpPr txBox="1"/>
          <p:nvPr/>
        </p:nvSpPr>
        <p:spPr>
          <a:xfrm>
            <a:off x="3474719" y="3986783"/>
            <a:ext cx="530352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5E5E5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Primeiros pilotos ativos em BR (mercados Plantio) e EUA (Sul da Flórida). Rotina mensal de acompanhamento com o CEO — indicadores de marca e operação.</a:t>
            </a:r>
          </a:p>
        </p:txBody>
      </p:sp>
      <p:sp>
        <p:nvSpPr>
          <p:cNvPr id="209" name="Rectangle 18"/>
          <p:cNvSpPr/>
          <p:nvPr/>
        </p:nvSpPr>
        <p:spPr>
          <a:xfrm>
            <a:off x="320040" y="4736185"/>
            <a:ext cx="8503920" cy="12701"/>
          </a:xfrm>
          <a:prstGeom prst="rect">
            <a:avLst/>
          </a:prstGeom>
          <a:solidFill>
            <a:srgbClr val="CCCC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557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3192" y="274320"/>
            <a:ext cx="6766560" cy="347472"/>
          </a:xfrm>
          <a:prstGeom prst="rect">
            <a:avLst/>
          </a:prstGeom>
          <a:noFill/>
        </p:spPr>
        <p:txBody>
          <a:bodyPr wrap="square" lIns="41148" rIns="41148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venir Next LT Pro"/>
              </a:rPr>
              <a:t>Bloco EUA — Piloto Sul da Flórida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8412480" cy="265176"/>
          </a:xfrm>
          <a:prstGeom prst="rect">
            <a:avLst/>
          </a:prstGeom>
          <a:noFill/>
        </p:spPr>
        <p:txBody>
          <a:bodyPr wrap="square" lIns="41148" rIns="41148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5C32"/>
                </a:solidFill>
                <a:latin typeface="Avenir Next LT Pro"/>
              </a:rPr>
              <a:t>Material de apoio já pronto para a discussão do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8503920" cy="9144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81328"/>
            <a:ext cx="2651760" cy="36576"/>
          </a:xfrm>
          <a:prstGeom prst="rect">
            <a:avLst/>
          </a:prstGeom>
          <a:solidFill>
            <a:srgbClr val="BF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572768"/>
            <a:ext cx="2651760" cy="256032"/>
          </a:xfrm>
          <a:prstGeom prst="rect">
            <a:avLst/>
          </a:prstGeom>
          <a:noFill/>
        </p:spPr>
        <p:txBody>
          <a:bodyPr wrap="square" lIns="41148" rIns="41148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5C32"/>
                </a:solidFill>
                <a:latin typeface="Avenir Next LT Pro"/>
              </a:rPr>
              <a:t>10 Provocações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59" y="1810512"/>
            <a:ext cx="2651760" cy="201168"/>
          </a:xfrm>
          <a:prstGeom prst="rect">
            <a:avLst/>
          </a:prstGeom>
          <a:noFill/>
        </p:spPr>
        <p:txBody>
          <a:bodyPr wrap="square" lIns="41148" rIns="41148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F5A1A"/>
                </a:solidFill>
                <a:latin typeface="Avenir Next LT Pro"/>
              </a:rPr>
              <a:t>Mercado americano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59" y="2048256"/>
            <a:ext cx="2651760" cy="1417320"/>
          </a:xfrm>
          <a:prstGeom prst="rect">
            <a:avLst/>
          </a:prstGeom>
          <a:noFill/>
        </p:spPr>
        <p:txBody>
          <a:bodyPr wrap="square" lIns="41148" rIns="41148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2A2A2A"/>
                </a:solidFill>
                <a:latin typeface="Avenir Next LT Pro"/>
              </a:rPr>
              <a:t>Specialty já é 59% das xícaras · ciclo de caixa de 90-120 dias · slotting fees de US$500-50k/SKU · todo parceiro exige time local dedicado.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" y="3520440"/>
            <a:ext cx="2651760" cy="502920"/>
          </a:xfrm>
          <a:prstGeom prst="rect">
            <a:avLst/>
          </a:prstGeom>
          <a:noFill/>
        </p:spPr>
        <p:txBody>
          <a:bodyPr wrap="square" lIns="41148" rIns="41148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E5E5E"/>
                </a:solidFill>
                <a:latin typeface="Avenir Next LT Pro"/>
              </a:rPr>
              <a:t>2026-08-05_Orfeu_10-Provocacoes-Mercado-US.pptx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481328"/>
            <a:ext cx="2651760" cy="36576"/>
          </a:xfrm>
          <a:prstGeom prst="rect">
            <a:avLst/>
          </a:prstGeom>
          <a:solidFill>
            <a:srgbClr val="BF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572768"/>
            <a:ext cx="2651760" cy="256032"/>
          </a:xfrm>
          <a:prstGeom prst="rect">
            <a:avLst/>
          </a:prstGeom>
          <a:noFill/>
        </p:spPr>
        <p:txBody>
          <a:bodyPr wrap="square" lIns="41148" rIns="41148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5C32"/>
                </a:solidFill>
                <a:latin typeface="Avenir Next LT Pro"/>
              </a:rPr>
              <a:t>Plano Comercial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810512"/>
            <a:ext cx="2651760" cy="201168"/>
          </a:xfrm>
          <a:prstGeom prst="rect">
            <a:avLst/>
          </a:prstGeom>
          <a:noFill/>
        </p:spPr>
        <p:txBody>
          <a:bodyPr wrap="square" lIns="41148" rIns="41148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F5A1A"/>
                </a:solidFill>
                <a:latin typeface="Avenir Next LT Pro"/>
              </a:rPr>
              <a:t>Sul da Flórida — 18 meses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048256"/>
            <a:ext cx="2651760" cy="1417320"/>
          </a:xfrm>
          <a:prstGeom prst="rect">
            <a:avLst/>
          </a:prstGeom>
          <a:noFill/>
        </p:spPr>
        <p:txBody>
          <a:bodyPr wrap="square" lIns="41148" rIns="41148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2A2A2A"/>
                </a:solidFill>
                <a:latin typeface="Avenir Next LT Pro"/>
              </a:rPr>
              <a:t>Miami-Dade/Broward/Palm Beach. Varejo (Whole Foods, Publix GreenWise), HoReCa (Faena, Four Seasons, Ritz-Carlton), calendário de eventos e plano de validação.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520440"/>
            <a:ext cx="2651760" cy="502920"/>
          </a:xfrm>
          <a:prstGeom prst="rect">
            <a:avLst/>
          </a:prstGeom>
          <a:noFill/>
        </p:spPr>
        <p:txBody>
          <a:bodyPr wrap="square" lIns="41148" rIns="41148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E5E5E"/>
                </a:solidFill>
                <a:latin typeface="Avenir Next LT Pro"/>
              </a:rPr>
              <a:t>2026-08-05_Orfeu_Plano-Comercial-SulFlorida.pptx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481328"/>
            <a:ext cx="2651760" cy="36576"/>
          </a:xfrm>
          <a:prstGeom prst="rect">
            <a:avLst/>
          </a:prstGeom>
          <a:solidFill>
            <a:srgbClr val="BF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572768"/>
            <a:ext cx="2651760" cy="256032"/>
          </a:xfrm>
          <a:prstGeom prst="rect">
            <a:avLst/>
          </a:prstGeom>
          <a:noFill/>
        </p:spPr>
        <p:txBody>
          <a:bodyPr wrap="square" lIns="41148" rIns="41148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5C32"/>
                </a:solidFill>
                <a:latin typeface="Avenir Next LT Pro"/>
              </a:rPr>
              <a:t>Simulador DRE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1810512"/>
            <a:ext cx="2651760" cy="201168"/>
          </a:xfrm>
          <a:prstGeom prst="rect">
            <a:avLst/>
          </a:prstGeom>
          <a:noFill/>
        </p:spPr>
        <p:txBody>
          <a:bodyPr wrap="square" lIns="41148" rIns="41148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F5A1A"/>
                </a:solidFill>
                <a:latin typeface="Avenir Next LT Pro"/>
              </a:rPr>
              <a:t>Investimento e retorno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048256"/>
            <a:ext cx="2651760" cy="1417320"/>
          </a:xfrm>
          <a:prstGeom prst="rect">
            <a:avLst/>
          </a:prstGeom>
          <a:noFill/>
        </p:spPr>
        <p:txBody>
          <a:bodyPr wrap="square" lIns="41148" rIns="41148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2A2A2A"/>
                </a:solidFill>
                <a:latin typeface="Avenir Next LT Pro"/>
              </a:rPr>
              <a:t>Receita 24 meses ≈ US$659K · margem de contribuição ≈30% · Capex inicial US$211-431K · Opex mensal US$13-32K. Premissas a validar em campo.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520440"/>
            <a:ext cx="2651760" cy="502920"/>
          </a:xfrm>
          <a:prstGeom prst="rect">
            <a:avLst/>
          </a:prstGeom>
          <a:noFill/>
        </p:spPr>
        <p:txBody>
          <a:bodyPr wrap="square" lIns="41148" rIns="41148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E5E5E"/>
                </a:solidFill>
                <a:latin typeface="Avenir Next LT Pro"/>
              </a:rPr>
              <a:t>2026-08-05_Orfeu_Simulador-DRE-SulFlorida.xlsx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206240"/>
            <a:ext cx="8503920" cy="9144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325112"/>
            <a:ext cx="8412480" cy="246888"/>
          </a:xfrm>
          <a:prstGeom prst="rect">
            <a:avLst/>
          </a:prstGeom>
          <a:noFill/>
        </p:spPr>
        <p:txBody>
          <a:bodyPr wrap="square" lIns="41148" rIns="41148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A2A2A"/>
                </a:solidFill>
                <a:latin typeface="Avenir Next LT Pro"/>
              </a:rPr>
              <a:t>O que ainda falta validar: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626864"/>
            <a:ext cx="8412480" cy="411480"/>
          </a:xfrm>
          <a:prstGeom prst="rect">
            <a:avLst/>
          </a:prstGeom>
          <a:noFill/>
        </p:spPr>
        <p:txBody>
          <a:bodyPr wrap="square" lIns="41148" rIns="41148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E5E5E"/>
                </a:solidFill>
                <a:latin typeface="Avenir Next LT Pro"/>
              </a:rPr>
              <a:t>Broker regional confirmado · velocity real em loja · viabilidade de câmbio/hedge · aprovação de investimento inicial. Plano de validação de 18 meses detalhado no material de apoio.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