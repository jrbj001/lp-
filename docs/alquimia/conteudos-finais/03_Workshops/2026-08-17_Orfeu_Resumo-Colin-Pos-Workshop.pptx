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502920"/>
            <a:ext cx="1805078" cy="141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venir Next LT Pro"/>
              </a:rPr>
              <a:t>Omnichannel — Resumo Executivo Pós-Workshop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D8E4D6"/>
                </a:solidFill>
                <a:latin typeface="Avenir Next LT Pro"/>
              </a:rPr>
              <a:t>Fechamento Brasil &amp; Piloto Estados Unidos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C07028"/>
                </a:solidFill>
                <a:latin typeface="Avenir Next LT Pro"/>
              </a:rPr>
              <a:t>Preparado para Colin Butterfield  ·  Pós-Workshop Fazenda, 11–13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A Jornada da Orfeu —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1417320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79552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5C2E"/>
                </a:solidFill>
                <a:latin typeface="Avenir Next LT Pro"/>
              </a:rPr>
              <a:t>O ativo central é o playbook.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venir Next LT Pro"/>
              </a:rPr>
              <a:t>A Orfeu tem, na história da empresa e nas pessoas, mais sabedoria do que imagina sobre como entrar e ganhar em um mercado.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8412480" cy="1965960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79552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7028"/>
                </a:solidFill>
                <a:latin typeface="Avenir Next LT Pro"/>
              </a:rPr>
              <a:t>O que a Fazenda resolveu (11–13 de agosto):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53512"/>
            <a:ext cx="79552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venir Next LT Pro"/>
              </a:rPr>
              <a:t>Fechamos o Playbook Brasil (Colheita SP/RJ + Plantio expansão) e consolidamos a proposta de piloto para os Estados Unidos — agora organizada em 19 iniciativas próprias do Playbook EUA, com donos e prazos definidos. O plano de ação Brasil evoluiu de 19 para 25 iniciativas, incorporando os desdobramentos do workshop (ritual de alinhamento, IA aplicada a leads/GEO/order-to-cash, gestão de varietais, drinks de café).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Workshop Fazenda — O Que Foi Decidido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Fechar o playbook de expansão no Brasil e aprofundar o piloto de lançamento nos EUA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69848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5C2E"/>
                </a:solidFill>
                <a:latin typeface="Avenir Next LT Pro"/>
              </a:rPr>
              <a:t>Bloco BR — Fechamento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749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Playbook Omnichannel Nacional v1 (Colheita SP/RJ + Plantio expansão) fechado, indicadores N2 consolidados e modelagem financeira do plano de expansão em conjunto com RH/Financeiro.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96012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069848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07028"/>
                </a:solidFill>
                <a:latin typeface="Avenir Next LT Pro"/>
              </a:rPr>
              <a:t>Bloco EUA — Piloto Flórida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399032"/>
            <a:ext cx="3749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Playbook EUA estruturado em 19 iniciativas (modelo operacional, produto/posicionamento, comercial/preço, financeiro e governança). Proposta de piloto Sul da Flórida (18 meses) aprofundada — Miami-Dade, Broward, Palm Beach.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97480"/>
            <a:ext cx="8412480" cy="77724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7955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Avenir Next LT Pro"/>
              </a:rPr>
              <a:t>Formato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CEO + Diretor de Marketing + Diretor de Vendas + Inteligência. Co-criação do plano de ação, priorização das iniciativas e alinhamento de responsabilidades.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4221"/>
                </a:solidFill>
                <a:latin typeface="Avenir Next LT Pro"/>
              </a:rPr>
              <a:t>Objetivos do workshop — alcançados: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8"/>
            <a:ext cx="7955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1.  Playbook Omnichannel Nacional fechado — Colheita (SP/RJ) e Plantio (expansão)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7955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2.  Proposta de piloto EUA aprovada — mercado, canais e investimento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16552"/>
            <a:ext cx="7955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3.  Time alinhado com responsabilidades definidas (Responsáveis e Consultados)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72584"/>
            <a:ext cx="7955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4.  Rotina de gestão integrada — acompanhamento da expansão com o CEO e os 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Status do Plano de Ação Brasil — 25 Iniciativas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Atualizado 17/08 — pós-Workshop Fazenda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2743200" cy="274320"/>
          </a:xfrm>
          <a:prstGeom prst="roundRect">
            <a:avLst>
              <a:gd name="adj" fmla="val 6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Concluídas (9)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4358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4358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 · Calendário Anual de Atividades e Playbook v1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76612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47661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7661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A5 · Online B2B / Marketplaces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09640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709640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09640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A7 · Solução Hotel / Turismo / 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42668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1942668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42668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A8 · Expansão Online — Business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75696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175696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175696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A9 · Marketing 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08724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40872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40872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A14 · Alinhamento Geográfico Omnichannel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41752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64175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64175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A17 · Projeto Máquina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74780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2874780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874780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A18 · Projeto Time to Sell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07808"/>
            <a:ext cx="2743200" cy="2240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3107808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107808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A19 · Projeto Flagship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914400"/>
            <a:ext cx="2743200" cy="274320"/>
          </a:xfrm>
          <a:prstGeom prst="roundRect">
            <a:avLst>
              <a:gd name="adj" fmla="val 6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9144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Em Andamento (12)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1243584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9544" y="124358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124358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A10 · Trade 2.0 — Atividades e RaCi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1476612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9544" y="147661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147661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A11 · Trade Insights — Analíticos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1709640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9544" y="1709640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1709640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A12 · Estrutura de Vendas — Expansão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1942668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9544" y="1942668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1942668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A13 · Visão de Gente 2030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175696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9544" y="2175696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2175696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A15 · Rotina de Gestão — Expansão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2408724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9544" y="240872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240872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A16 · Modelagem Financeira — Expansão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2641752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9544" y="264175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264175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A20 · Ritual de Alinhamento do Playbook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2874780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9544" y="2874780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2874780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A21 · Semente à Xícara — Capacitação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54680" y="3107808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9544" y="3107808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11880" y="3107808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A22 · Cascatear 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3340836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9544" y="3340836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80" y="3340836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A23 · IA p/ Leads, GEO e Order-to-Cash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54680" y="3573864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9544" y="357386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11880" y="357386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A24 · Gerenciar Varietais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54680" y="3806892"/>
            <a:ext cx="2743200" cy="2240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9544" y="380689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1880" y="380689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A25 · Visão Orfeu — Drinks de Café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89320" y="914400"/>
            <a:ext cx="2743200" cy="274320"/>
          </a:xfrm>
          <a:prstGeom prst="roundRect">
            <a:avLst>
              <a:gd name="adj" fmla="val 6000"/>
            </a:avLst>
          </a:prstGeom>
          <a:solidFill>
            <a:srgbClr val="B03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89320" y="9144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Atenção (4)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1243584"/>
            <a:ext cx="2743200" cy="224028"/>
          </a:xfrm>
          <a:prstGeom prst="rect">
            <a:avLst/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44184" y="1243584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03020"/>
                </a:solidFill>
                <a:latin typeface="Avenir Next LT Pro"/>
              </a:rPr>
              <a:t>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6520" y="1243584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A2 · GTM B2B — Árvore de Decisão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1476612"/>
            <a:ext cx="2743200" cy="224028"/>
          </a:xfrm>
          <a:prstGeom prst="rect">
            <a:avLst/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44184" y="1476612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03020"/>
                </a:solidFill>
                <a:latin typeface="Avenir Next LT Pro"/>
              </a:rPr>
              <a:t>!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1476612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A3 · Prospecção B2B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89320" y="1709640"/>
            <a:ext cx="2743200" cy="224028"/>
          </a:xfrm>
          <a:prstGeom prst="rect">
            <a:avLst/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44184" y="1709640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03020"/>
                </a:solidFill>
                <a:latin typeface="Avenir Next LT Pro"/>
              </a:rPr>
              <a:t>!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6520" y="1709640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A4 · Gaps Varejo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89320" y="1942668"/>
            <a:ext cx="2743200" cy="224028"/>
          </a:xfrm>
          <a:prstGeom prst="rect">
            <a:avLst/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44184" y="1942668"/>
            <a:ext cx="3840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03020"/>
                </a:solidFill>
                <a:latin typeface="Avenir Next LT Pro"/>
              </a:rPr>
              <a:t>!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6520" y="1942668"/>
            <a:ext cx="2212848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A6 · Jornada Digital B2B — escopo Order-to-Cash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E4221"/>
                </a:solidFill>
                <a:latin typeface="Avenir Next LT Pro"/>
              </a:rPr>
              <a:t>Resumo geral: 9 concluídas · 12 em andamento · 4 atenção · 25 iniciativas totais  (+6 novas desde 31/07, originadas no Workshop Fazenda)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Status do Playbook EUA — 19 Iniciativas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Estruturado no Workshop Fazenda · execução formal inicia pós-workshop (todas em "não iniciado", 13/08)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1609344" cy="38404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517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Avenir Next LT Pro"/>
              </a:rPr>
              <a:t>Modelo &amp; Operação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53312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807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545336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Modelo HoReCa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20240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94767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112264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Cadeia de relacionamento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487168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5146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67919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Café verde vs. produto final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54096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0815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246120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Estrutura do time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75104" y="914400"/>
            <a:ext cx="1609344" cy="38404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0824" y="914400"/>
            <a:ext cx="1517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Avenir Next LT Pro"/>
              </a:rPr>
              <a:t>Mercado, Produto &amp; Marca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75104" y="1353312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48256" y="13807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1545336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Segmento Office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75104" y="1920240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8256" y="194767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2112264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Perfil sensorial do consumidor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75104" y="2487168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6" y="25146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267919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"Cavalo de Troia" de introdução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75104" y="3054096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8256" y="30815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48256" y="3246120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Posicionamento &amp; storytelling 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75887" y="914400"/>
            <a:ext cx="1609344" cy="38404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7" y="914400"/>
            <a:ext cx="1517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Avenir Next LT Pro"/>
              </a:rPr>
              <a:t>Comercial &amp; Canais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75887" y="1353312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13807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1545336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KeHE — parceria e preço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75887" y="1920240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194767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2112264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Critérios além-Flórida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75887" y="2487168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25146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267919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Mix ideal vs. investimento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75887" y="3054096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39" y="30815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3246120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Forecast SKU/Canal/Mês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75887" y="3621024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3648456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3813048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Preço — posicionamento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6672" y="914400"/>
            <a:ext cx="1609344" cy="38404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22392" y="914400"/>
            <a:ext cx="1517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Avenir Next LT Pro"/>
              </a:rPr>
              <a:t>Financeiro &amp; Estrutura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76672" y="1353312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9824" y="13807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9824" y="1545336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P&amp;L adaptado ao mercado US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76672" y="1920240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49824" y="194767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9824" y="2112264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Investimento &amp; capital de giro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76672" y="2487168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9824" y="25146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49824" y="2679192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Hedge câmbio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76672" y="3054096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49824" y="30815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9824" y="3246120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Abertura de empresa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77456" y="914400"/>
            <a:ext cx="1609344" cy="38404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23176" y="914400"/>
            <a:ext cx="1517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Avenir Next LT Pro"/>
              </a:rPr>
              <a:t>Governança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77456" y="1353312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50608" y="13807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50608" y="1545336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Versão light replicável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77456" y="1920240"/>
            <a:ext cx="1609344" cy="55792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50608" y="194767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US18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0608" y="2112264"/>
            <a:ext cx="1463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Dono do projeto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19 iniciativas · prazos entre set/2026 e out/2027 · donos definidos (Augusto, Rafaela, Fábio, Amanda, Diego, Gustavo, Felipe)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O Que Vem A Seguir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128016" cy="777240"/>
          </a:xfrm>
          <a:prstGeom prst="roundRect">
            <a:avLst>
              <a:gd name="adj" fmla="val 6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5C2E"/>
                </a:solidFill>
                <a:latin typeface="Avenir Next LT Pro"/>
              </a:rPr>
              <a:t>11–13 Ago 2026 — Workshop Fazenda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Concluído. Fechamento do Playbook Omnichannel Nacional (Colheita + Plantio) e aprovação da proposta de piloto EUA — Sul da Flórida.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92808"/>
            <a:ext cx="128016" cy="777240"/>
          </a:xfrm>
          <a:prstGeom prst="roundRect">
            <a:avLst>
              <a:gd name="adj" fmla="val 6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7028"/>
                </a:solidFill>
                <a:latin typeface="Avenir Next LT Pro"/>
              </a:rPr>
              <a:t>Set 2026 — Ativação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Início da execução do Playbook Nacional (25 iniciativas). Rotina N2 com indicadores consolidados. Ritual de alinhamento do Playbook formalizado (A20).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25496"/>
            <a:ext cx="128016" cy="777240"/>
          </a:xfrm>
          <a:prstGeom prst="roundRect">
            <a:avLst>
              <a:gd name="adj" fmla="val 6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7028"/>
                </a:solidFill>
                <a:latin typeface="Avenir Next LT Pro"/>
              </a:rPr>
              <a:t>Set / Out 2026 — Piloto EUA — Go/No-Go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Validação do modelo de entrada Flórida: broker/distribuidor (KeHE), varejistas premium e HoReCa-alvo. Aprovação de investimento inicial. Início da execução das 19 iniciativas do Playbook EUA.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58184"/>
            <a:ext cx="128016" cy="777240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221"/>
                </a:solidFill>
                <a:latin typeface="Avenir Next LT Pro"/>
              </a:rPr>
              <a:t>Q4 2026 em diante — Execução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1421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Primeiros pilotos ativos em BR (mercados Plantio) e EUA (Sul da Flórida). Rotina mensal de acompanhamento com o CEO — indicadores de marca e operação.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Bloco EUA — Piloto Sul da Flórida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Material de apoio detalhado, produzido para o workshop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8412480" cy="105156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5C2E"/>
                </a:solidFill>
                <a:latin typeface="Avenir Next LT Pro"/>
              </a:rPr>
              <a:t>10 Provocações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C07028"/>
                </a:solidFill>
                <a:latin typeface="Avenir Next LT Pro"/>
              </a:rPr>
              <a:t>Mercado americano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069848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Specialty já é 59% das xícaras · ciclo de caixa de 90-120 dias · slotting fees de US$500-50k/SKU · todo parceiro exige time local dedicado.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09928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2026-08-05_Orfeu_10-Provocacoes-Mercado-US.pptx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0552"/>
            <a:ext cx="8412480" cy="105156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2199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5C2E"/>
                </a:solidFill>
                <a:latin typeface="Avenir Next LT Pro"/>
              </a:rPr>
              <a:t>Plano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9631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C07028"/>
                </a:solidFill>
                <a:latin typeface="Avenir Next LT Pro"/>
              </a:rPr>
              <a:t>Sul da Flórida — 18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80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Miami-Dade/Broward/Palm Beach. Varejo (Whole Foods, Publix GreenWise), HoReCa (Faena, Four Seasons, Ritz-Carlton), calendário de eventos e plano de validação.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80360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2026-08-05_Orfeu_Plano-Comercial-SulFlorida.pptx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00984"/>
            <a:ext cx="8412480" cy="105156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9242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5C2E"/>
                </a:solidFill>
                <a:latin typeface="Avenir Next LT Pro"/>
              </a:rPr>
              <a:t>Simulador DRE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6674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C07028"/>
                </a:solidFill>
                <a:latin typeface="Avenir Next LT Pro"/>
              </a:rPr>
              <a:t>Investimento e retorno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10712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Receita 24 meses ≈ US$659K · margem de contribuição ≈40% · Capex inicial US$211-431K · Opex mensal US$13-32K. Premissas a validar em campo.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50792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2026-08-05_Orfeu_Simulador-DRE-SulFlorida.xlsx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17136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B03020"/>
                </a:solidFill>
                <a:latin typeface="Avenir Next LT Pro"/>
              </a:rPr>
              <a:t>O que ainda falta validar: broker regional confirmado · velocity real em loja · viabilidade de câmbio/hedge · aprovação de investimento inicial.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6858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venir Next LT Pro"/>
              </a:rPr>
              <a:t>Recomendações Originais de Colin  vs.  Decisões da Orfeu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Base: "Orfeu USA Entry Strategy Brainstorm" e "Specialty Coffee Market Overview" (Abril/2026)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96112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Dimensão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896112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896112"/>
            <a:ext cx="2788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Recomendação Colin (Abr/2026)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896112"/>
            <a:ext cx="2423160" cy="29260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896112"/>
            <a:ext cx="2423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Decisão / Direção Orfeu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896112"/>
            <a:ext cx="777240" cy="292608"/>
          </a:xfrm>
          <a:prstGeom prst="roundRect">
            <a:avLst>
              <a:gd name="adj" fmla="val 6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89611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07008"/>
            <a:ext cx="845820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25296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Segmento de entrada (Fase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225296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HoReCa boutique + DTC + corporate OCS em paralelo — explicitamente NÃO varejo/mass-market.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225296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Piloto Sul da Flórida combina HoReCa (Faena, Four Seasons, Ritz-Carlton) COM varejo premium (Whole Foods, Publix GreenWise) via KeHE.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32816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7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328166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07A1A"/>
                </a:solidFill>
                <a:latin typeface="Avenir Next LT Pro"/>
              </a:rPr>
              <a:t>Parcial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50492"/>
            <a:ext cx="8458200" cy="4434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668780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Geografia de entrada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668780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New York + Miami (HoReCa).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668780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Sul da Flórida — Miami-Dade, Broward, Palm Beach. Miami confirmado; NY não incluído na Fase 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77165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7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1771650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07A1A"/>
                </a:solidFill>
                <a:latin typeface="Avenir Next LT Pro"/>
              </a:rPr>
              <a:t>Parcial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93976"/>
            <a:ext cx="845820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112264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Produção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112264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Manter Brasil; outsourcing de toll-roasting/co-packing nos EUA na Fase 2 (Metropolis Coffee recomendado); não construir planta cedo.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112264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Brasil confirmado como base. US9 do Playbook ("café verde ou produto final?") ainda em aberto — decisão até mar/2027.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221513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2215134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A5C2E"/>
                </a:solidFill>
                <a:latin typeface="Avenir Next LT Pro"/>
              </a:rPr>
              <a:t>Alinhado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537460"/>
            <a:ext cx="8458200" cy="4434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555748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Modelo comercial / distribuição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555748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Broker + parceiros especializados por canal; machine-placement para corporate OCS.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555748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KeHE já em negociação como distribuidor/broker. US1 e US3 do Playbook seguem endereçando o modelo formal.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265861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2658618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A5C2E"/>
                </a:solidFill>
                <a:latin typeface="Avenir Next LT Pro"/>
              </a:rPr>
              <a:t>Alinhado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980944"/>
            <a:ext cx="845820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999232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Posicionamento &amp; storytelling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999232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Capsule/vintage storytelling, "campo à xícara", brand equity como o verdadeiro moat competitivo.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2999232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US16 do Playbook — adaptar "Anfitrião" e "Semente à Xícara" ao público americano.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3102102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8431" y="3102102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A5C2E"/>
                </a:solidFill>
                <a:latin typeface="Avenir Next LT Pro"/>
              </a:rPr>
              <a:t>Alinhado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424428"/>
            <a:ext cx="8458200" cy="4434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442716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Timeline de escala &amp; KPIs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442716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36 meses, 3 fases com KPIs explícitos por fase (ex.: 15+ contas hotel e 500+ assinantes DTC no Ano 1).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442716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Piloto de 18 meses definido; metas de volume/contas ainda não tão explícitas quanto as de Colin.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354558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28431" y="3545586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03020"/>
                </a:solidFill>
                <a:latin typeface="Avenir Next LT Pro"/>
              </a:rPr>
              <a:t>Gap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867912"/>
            <a:ext cx="845820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886200"/>
            <a:ext cx="228600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1" i="0">
                <a:solidFill>
                  <a:srgbClr val="1A1A1A"/>
                </a:solidFill>
                <a:latin typeface="Avenir Next LT Pro"/>
              </a:rPr>
              <a:t>Supply — arquitetura de fornecimento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3886200"/>
            <a:ext cx="269748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6E6E6E"/>
                </a:solidFill>
                <a:latin typeface="Avenir Next LT Pro"/>
              </a:rPr>
              <a:t>Tier 1 (Sertãozinho/Rainha protegido, alocação US priorizada mesmo em safra ruim) + Tier 2 (rede de 15-30 fazendas parceiras, RA Regenerative first-mover).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3886200"/>
            <a:ext cx="2331720" cy="406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A24 (Gerenciar Varietais) endereça forecast x cadeia de suprimento, sem essa arquitetura de 2 tiers explícita ainda.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28431" y="398907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28431" y="3989070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03020"/>
                </a:solidFill>
                <a:latin typeface="Avenir Next LT Pro"/>
              </a:rPr>
              <a:t>Gap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366260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1">
                <a:solidFill>
                  <a:srgbClr val="1E4221"/>
                </a:solidFill>
                <a:latin typeface="Avenir Next LT Pro"/>
              </a:rPr>
              <a:t>3 alinhados · 2 parciais · 2 gaps — recomenda-se incorporar KPIs de volume por fase e a arquitetura Tier 1/Tier 2 de fornecimento ao Playbook EUA.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4956048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Fontes: Specialty Coffee Market Overview (Colin, abr/2026) · Orfeu USA Entry Strategy Brainstorm (Colin, abr/2026)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