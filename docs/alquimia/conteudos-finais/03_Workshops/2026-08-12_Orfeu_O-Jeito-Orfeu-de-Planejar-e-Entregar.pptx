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51435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2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orfeu_pattern_nologo_shor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384048"/>
          </a:xfrm>
          <a:prstGeom prst="rect">
            <a:avLst/>
          </a:prstGeom>
        </p:spPr>
      </p:pic>
      <p:pic>
        <p:nvPicPr>
          <p:cNvPr id="3" name="Picture 2" descr="orfeu_icon_transparent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485632" y="45720"/>
            <a:ext cx="430306" cy="292608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457200" y="484632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050" b="1" i="0">
                <a:solidFill>
                  <a:srgbClr val="C07028"/>
                </a:solidFill>
                <a:latin typeface="Avenir Next LT Pro"/>
              </a:rPr>
              <a:t>PRINCÍPIOS DO PLAYBOOK · CULTURA DE EXECUÇÃO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786384"/>
            <a:ext cx="822960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2000" b="1" i="0">
                <a:solidFill>
                  <a:srgbClr val="1E4221"/>
                </a:solidFill>
                <a:latin typeface="Avenir Next LT Pro"/>
              </a:rPr>
              <a:t>O Jeito Orfeu de Planejar e Entregar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1170432"/>
            <a:ext cx="8229600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000" b="0" i="1">
                <a:solidFill>
                  <a:srgbClr val="6E6E6E"/>
                </a:solidFill>
                <a:latin typeface="Avenir Next LT Pro"/>
              </a:rPr>
              <a:t>“Isso não acontece por acaso — acontece quando há visão clara, disciplina operacional e produto de verdade.” </a:t>
            </a:r>
            <a:r>
              <a:rPr sz="1000" b="1" i="1">
                <a:solidFill>
                  <a:srgbClr val="6E6E6E"/>
                </a:solidFill>
                <a:latin typeface="Avenir Next LT Pro"/>
              </a:rPr>
              <a:t>— Ricardo Madureira, CEO</a:t>
            </a:r>
          </a:p>
        </p:txBody>
      </p:sp>
      <p:sp>
        <p:nvSpPr>
          <p:cNvPr id="7" name="Rectangle 6"/>
          <p:cNvSpPr/>
          <p:nvPr/>
        </p:nvSpPr>
        <p:spPr>
          <a:xfrm>
            <a:off x="365760" y="1591056"/>
            <a:ext cx="2041398" cy="1389888"/>
          </a:xfrm>
          <a:prstGeom prst="rect">
            <a:avLst/>
          </a:prstGeom>
          <a:solidFill>
            <a:srgbClr val="E8EE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365760" y="1591056"/>
            <a:ext cx="2041398" cy="41148"/>
          </a:xfrm>
          <a:prstGeom prst="rect">
            <a:avLst/>
          </a:prstGeom>
          <a:solidFill>
            <a:srgbClr val="2A5C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84632" y="1719072"/>
            <a:ext cx="1803654" cy="2194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900" b="1" i="0">
                <a:solidFill>
                  <a:srgbClr val="2A5C2E"/>
                </a:solidFill>
                <a:latin typeface="Avenir Next LT Pro"/>
              </a:rPr>
              <a:t>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84632" y="1920240"/>
            <a:ext cx="1803654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100" b="1" i="0">
                <a:solidFill>
                  <a:srgbClr val="1E4221"/>
                </a:solidFill>
                <a:latin typeface="Avenir Next LT Pro"/>
              </a:rPr>
              <a:t>Lideramos no Premium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84632" y="2267712"/>
            <a:ext cx="1803654" cy="6583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  <a:spcAft>
                <a:spcPts val="0"/>
              </a:spcAft>
            </a:pPr>
            <a:r>
              <a:rPr sz="830" b="0" i="0">
                <a:solidFill>
                  <a:srgbClr val="1A1A1A"/>
                </a:solidFill>
                <a:latin typeface="Avenir Next LT Pro"/>
              </a:rPr>
              <a:t>Jogamos onde temos mais graus de liberdade — para capturar e capitalizar valor, não para competir por preço.</a:t>
            </a:r>
          </a:p>
        </p:txBody>
      </p:sp>
      <p:sp>
        <p:nvSpPr>
          <p:cNvPr id="12" name="Rectangle 11"/>
          <p:cNvSpPr/>
          <p:nvPr/>
        </p:nvSpPr>
        <p:spPr>
          <a:xfrm>
            <a:off x="2489453" y="1591056"/>
            <a:ext cx="2041398" cy="1389888"/>
          </a:xfrm>
          <a:prstGeom prst="rect">
            <a:avLst/>
          </a:prstGeom>
          <a:solidFill>
            <a:srgbClr val="F7E9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2489453" y="1591056"/>
            <a:ext cx="2041398" cy="41148"/>
          </a:xfrm>
          <a:prstGeom prst="rect">
            <a:avLst/>
          </a:prstGeom>
          <a:solidFill>
            <a:srgbClr val="C070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2608325" y="1719072"/>
            <a:ext cx="1803654" cy="2194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900" b="1" i="0">
                <a:solidFill>
                  <a:srgbClr val="C07028"/>
                </a:solidFill>
                <a:latin typeface="Avenir Next LT Pro"/>
              </a:rPr>
              <a:t>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2608325" y="1920240"/>
            <a:ext cx="1803654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100" b="1" i="0">
                <a:solidFill>
                  <a:srgbClr val="1E4221"/>
                </a:solidFill>
                <a:latin typeface="Avenir Next LT Pro"/>
              </a:rPr>
              <a:t>Sonhamos Grande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2608325" y="2267712"/>
            <a:ext cx="1803654" cy="6583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  <a:spcAft>
                <a:spcPts val="0"/>
              </a:spcAft>
            </a:pPr>
            <a:r>
              <a:rPr sz="830" b="0" i="0">
                <a:solidFill>
                  <a:srgbClr val="1A1A1A"/>
                </a:solidFill>
                <a:latin typeface="Avenir Next LT Pro"/>
              </a:rPr>
              <a:t>Ambição com austeridade. O sonho da empresa só é real quando também é o sonho de quem a constrói.</a:t>
            </a:r>
          </a:p>
        </p:txBody>
      </p:sp>
      <p:sp>
        <p:nvSpPr>
          <p:cNvPr id="17" name="Rectangle 16"/>
          <p:cNvSpPr/>
          <p:nvPr/>
        </p:nvSpPr>
        <p:spPr>
          <a:xfrm>
            <a:off x="4613148" y="1591056"/>
            <a:ext cx="2041398" cy="1389888"/>
          </a:xfrm>
          <a:prstGeom prst="rect">
            <a:avLst/>
          </a:prstGeom>
          <a:solidFill>
            <a:srgbClr val="E8EE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4613148" y="1591056"/>
            <a:ext cx="2041398" cy="41148"/>
          </a:xfrm>
          <a:prstGeom prst="rect">
            <a:avLst/>
          </a:prstGeom>
          <a:solidFill>
            <a:srgbClr val="2A5C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4732020" y="1719072"/>
            <a:ext cx="1803654" cy="2194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900" b="1" i="0">
                <a:solidFill>
                  <a:srgbClr val="2A5C2E"/>
                </a:solidFill>
                <a:latin typeface="Avenir Next LT Pro"/>
              </a:rPr>
              <a:t>3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732020" y="1920240"/>
            <a:ext cx="1803654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100" b="1" i="0">
                <a:solidFill>
                  <a:srgbClr val="1E4221"/>
                </a:solidFill>
                <a:latin typeface="Avenir Next LT Pro"/>
              </a:rPr>
              <a:t>Uma Só Voz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732020" y="2267712"/>
            <a:ext cx="1803654" cy="6583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  <a:spcAft>
                <a:spcPts val="0"/>
              </a:spcAft>
            </a:pPr>
            <a:r>
              <a:rPr sz="830" b="0" i="0">
                <a:solidFill>
                  <a:srgbClr val="1A1A1A"/>
                </a:solidFill>
                <a:latin typeface="Avenir Next LT Pro"/>
              </a:rPr>
              <a:t>Alinhamento não é unanimidade — é um objetivo comum e claro que todo mundo carrega do mesmo jeito.</a:t>
            </a:r>
          </a:p>
        </p:txBody>
      </p:sp>
      <p:sp>
        <p:nvSpPr>
          <p:cNvPr id="22" name="Rectangle 21"/>
          <p:cNvSpPr/>
          <p:nvPr/>
        </p:nvSpPr>
        <p:spPr>
          <a:xfrm>
            <a:off x="6736842" y="1591056"/>
            <a:ext cx="2041398" cy="1389888"/>
          </a:xfrm>
          <a:prstGeom prst="rect">
            <a:avLst/>
          </a:prstGeom>
          <a:solidFill>
            <a:srgbClr val="F7E9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6736842" y="1591056"/>
            <a:ext cx="2041398" cy="41148"/>
          </a:xfrm>
          <a:prstGeom prst="rect">
            <a:avLst/>
          </a:prstGeom>
          <a:solidFill>
            <a:srgbClr val="C070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6855714" y="1719072"/>
            <a:ext cx="1803654" cy="2194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900" b="1" i="0">
                <a:solidFill>
                  <a:srgbClr val="C07028"/>
                </a:solidFill>
                <a:latin typeface="Avenir Next LT Pro"/>
              </a:rPr>
              <a:t>4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855714" y="1920240"/>
            <a:ext cx="1803654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100" b="1" i="0">
                <a:solidFill>
                  <a:srgbClr val="1E4221"/>
                </a:solidFill>
                <a:latin typeface="Avenir Next LT Pro"/>
              </a:rPr>
              <a:t>Mesma Língua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855714" y="2267712"/>
            <a:ext cx="1803654" cy="6583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  <a:spcAft>
                <a:spcPts val="0"/>
              </a:spcAft>
            </a:pPr>
            <a:r>
              <a:rPr sz="830" b="0" i="0">
                <a:solidFill>
                  <a:srgbClr val="1A1A1A"/>
                </a:solidFill>
                <a:latin typeface="Avenir Next LT Pro"/>
              </a:rPr>
              <a:t>Comunicação replicável, do CEO ao time de campo, para a estratégia nunca se perder na tradução.</a:t>
            </a:r>
          </a:p>
        </p:txBody>
      </p:sp>
      <p:sp>
        <p:nvSpPr>
          <p:cNvPr id="27" name="Rectangle 26"/>
          <p:cNvSpPr/>
          <p:nvPr/>
        </p:nvSpPr>
        <p:spPr>
          <a:xfrm>
            <a:off x="1427606" y="3108960"/>
            <a:ext cx="2041398" cy="1389888"/>
          </a:xfrm>
          <a:prstGeom prst="rect">
            <a:avLst/>
          </a:prstGeom>
          <a:solidFill>
            <a:srgbClr val="E8EE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>
            <a:off x="1427606" y="3108960"/>
            <a:ext cx="2041398" cy="41148"/>
          </a:xfrm>
          <a:prstGeom prst="rect">
            <a:avLst/>
          </a:prstGeom>
          <a:solidFill>
            <a:srgbClr val="2A5C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1546478" y="3236976"/>
            <a:ext cx="1803654" cy="2194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900" b="1" i="0">
                <a:solidFill>
                  <a:srgbClr val="2A5C2E"/>
                </a:solidFill>
                <a:latin typeface="Avenir Next LT Pro"/>
              </a:rPr>
              <a:t>5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1546478" y="3438144"/>
            <a:ext cx="1803654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100" b="1" i="0">
                <a:solidFill>
                  <a:srgbClr val="1E4221"/>
                </a:solidFill>
                <a:latin typeface="Avenir Next LT Pro"/>
              </a:rPr>
              <a:t>Planejamos para Investir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1546478" y="3785615"/>
            <a:ext cx="1803654" cy="6583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  <a:spcAft>
                <a:spcPts val="0"/>
              </a:spcAft>
            </a:pPr>
            <a:r>
              <a:rPr sz="830" b="0" i="0">
                <a:solidFill>
                  <a:srgbClr val="1A1A1A"/>
                </a:solidFill>
                <a:latin typeface="Avenir Next LT Pro"/>
              </a:rPr>
              <a:t>Orçamento não é controle — é desdobramento. Cada real tem uma meta e um dono.</a:t>
            </a:r>
          </a:p>
        </p:txBody>
      </p:sp>
      <p:sp>
        <p:nvSpPr>
          <p:cNvPr id="32" name="Rectangle 31"/>
          <p:cNvSpPr/>
          <p:nvPr/>
        </p:nvSpPr>
        <p:spPr>
          <a:xfrm>
            <a:off x="3551300" y="3108960"/>
            <a:ext cx="2041398" cy="1389888"/>
          </a:xfrm>
          <a:prstGeom prst="rect">
            <a:avLst/>
          </a:prstGeom>
          <a:solidFill>
            <a:srgbClr val="F7E9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Rectangle 32"/>
          <p:cNvSpPr/>
          <p:nvPr/>
        </p:nvSpPr>
        <p:spPr>
          <a:xfrm>
            <a:off x="3551300" y="3108960"/>
            <a:ext cx="2041398" cy="41148"/>
          </a:xfrm>
          <a:prstGeom prst="rect">
            <a:avLst/>
          </a:prstGeom>
          <a:solidFill>
            <a:srgbClr val="C070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3670173" y="3236976"/>
            <a:ext cx="1803654" cy="2194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900" b="1" i="0">
                <a:solidFill>
                  <a:srgbClr val="C07028"/>
                </a:solidFill>
                <a:latin typeface="Avenir Next LT Pro"/>
              </a:rPr>
              <a:t>6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3670173" y="3438144"/>
            <a:ext cx="1803654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100" b="1" i="0">
                <a:solidFill>
                  <a:srgbClr val="1E4221"/>
                </a:solidFill>
                <a:latin typeface="Avenir Next LT Pro"/>
              </a:rPr>
              <a:t>Paramos para Construir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3670173" y="3785615"/>
            <a:ext cx="1803654" cy="6583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  <a:spcAft>
                <a:spcPts val="0"/>
              </a:spcAft>
            </a:pPr>
            <a:r>
              <a:rPr sz="830" b="0" i="0">
                <a:solidFill>
                  <a:srgbClr val="1A1A1A"/>
                </a:solidFill>
                <a:latin typeface="Avenir Next LT Pro"/>
              </a:rPr>
              <a:t>Um ritual anual de alinhamento e construção — e uma rotina de gestão que evolui mês a mês.</a:t>
            </a:r>
          </a:p>
        </p:txBody>
      </p:sp>
      <p:sp>
        <p:nvSpPr>
          <p:cNvPr id="37" name="Rectangle 36"/>
          <p:cNvSpPr/>
          <p:nvPr/>
        </p:nvSpPr>
        <p:spPr>
          <a:xfrm>
            <a:off x="5674994" y="3108960"/>
            <a:ext cx="2041398" cy="1389888"/>
          </a:xfrm>
          <a:prstGeom prst="rect">
            <a:avLst/>
          </a:prstGeom>
          <a:solidFill>
            <a:srgbClr val="E8EE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Rectangle 37"/>
          <p:cNvSpPr/>
          <p:nvPr/>
        </p:nvSpPr>
        <p:spPr>
          <a:xfrm>
            <a:off x="5674994" y="3108960"/>
            <a:ext cx="2041398" cy="41148"/>
          </a:xfrm>
          <a:prstGeom prst="rect">
            <a:avLst/>
          </a:prstGeom>
          <a:solidFill>
            <a:srgbClr val="2A5C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5793866" y="3236976"/>
            <a:ext cx="1803654" cy="2194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900" b="1" i="0">
                <a:solidFill>
                  <a:srgbClr val="2A5C2E"/>
                </a:solidFill>
                <a:latin typeface="Avenir Next LT Pro"/>
              </a:rPr>
              <a:t>7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5793866" y="3438144"/>
            <a:ext cx="1803654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100" b="1" i="0">
                <a:solidFill>
                  <a:srgbClr val="1E4221"/>
                </a:solidFill>
                <a:latin typeface="Avenir Next LT Pro"/>
              </a:rPr>
              <a:t>Enxergamos Gente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5793866" y="3785615"/>
            <a:ext cx="1803654" cy="6583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  <a:spcAft>
                <a:spcPts val="0"/>
              </a:spcAft>
            </a:pPr>
            <a:r>
              <a:rPr sz="830" b="0" i="0">
                <a:solidFill>
                  <a:srgbClr val="1A1A1A"/>
                </a:solidFill>
                <a:latin typeface="Avenir Next LT Pro"/>
              </a:rPr>
              <a:t>Olhamos para dentro e para fora com humanidade — resultado sustentável se constrói com pessoas.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457200" y="4919472"/>
            <a:ext cx="7315200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750" b="0" i="0">
                <a:solidFill>
                  <a:srgbClr val="6E6E6E"/>
                </a:solidFill>
                <a:latin typeface="Avenir Next LT Pro"/>
              </a:rPr>
              <a:t>Orfeu — Playbook Omnichannel Nacional · Princípios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7955279" y="4919472"/>
            <a:ext cx="731520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  <a:spcAft>
                <a:spcPts val="0"/>
              </a:spcAft>
            </a:pPr>
            <a:r>
              <a:rPr sz="750" b="0" i="0">
                <a:solidFill>
                  <a:srgbClr val="6E6E6E"/>
                </a:solidFill>
                <a:latin typeface="Avenir Next LT Pro"/>
              </a:rPr>
              <a:t/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